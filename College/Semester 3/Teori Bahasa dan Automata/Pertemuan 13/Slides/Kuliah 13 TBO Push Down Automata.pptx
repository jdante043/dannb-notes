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handoutMasterIdLst>
    <p:handoutMasterId r:id="rId30"/>
  </p:handoutMasterIdLst>
  <p:sldIdLst>
    <p:sldId id="263" r:id="rId2"/>
    <p:sldId id="259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61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58"/>
    <a:srgbClr val="000000"/>
    <a:srgbClr val="00325A"/>
    <a:srgbClr val="FFE12E"/>
    <a:srgbClr val="E1FF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91" autoAdjust="0"/>
    <p:restoredTop sz="94660"/>
  </p:normalViewPr>
  <p:slideViewPr>
    <p:cSldViewPr snapToGrid="0">
      <p:cViewPr varScale="1">
        <p:scale>
          <a:sx n="63" d="100"/>
          <a:sy n="63" d="100"/>
        </p:scale>
        <p:origin x="14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79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CC9D74-A3DF-4807-B513-ED1C37684F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27127-C60F-48F1-9035-89750229E0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4E62F-46C1-49F8-AE8F-0B301CA791E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378E1E-86B5-4357-9195-4516B2D705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E2591-2F61-4136-BAB4-4DF68AAB17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D9A7E-B14A-4E32-B8E1-5B58813BD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32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8604-F9F9-4826-AFA2-26F2A8C8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83" y="392634"/>
            <a:ext cx="6353117" cy="4469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1A2C98-6B1D-4EE6-A033-426F392A5280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451" y="770164"/>
            <a:ext cx="62547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75D6B45-2776-4541-AA7D-3BCE7EF8CE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514" y="343835"/>
            <a:ext cx="1740068" cy="46375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B531BF4-3342-4DC8-8EE2-3BD3F7EC2E75}"/>
              </a:ext>
            </a:extLst>
          </p:cNvPr>
          <p:cNvSpPr txBox="1">
            <a:spLocks/>
          </p:cNvSpPr>
          <p:nvPr userDrawn="1"/>
        </p:nvSpPr>
        <p:spPr>
          <a:xfrm>
            <a:off x="404418" y="807591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00325A"/>
                </a:solidFill>
                <a:latin typeface="Montserrat" panose="02000505000000020004" pitchFamily="2" charset="0"/>
              </a:rPr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F738E19-97A3-4227-B257-7F949888D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1956435"/>
            <a:ext cx="3868737" cy="368458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Montserrat" panose="02000505000000020004" pitchFamily="2" charset="0"/>
              </a:defRPr>
            </a:lvl1pPr>
            <a:lvl2pPr>
              <a:defRPr sz="1400">
                <a:solidFill>
                  <a:schemeClr val="tx1"/>
                </a:solidFill>
                <a:latin typeface="Montserrat" panose="02000505000000020004" pitchFamily="2" charset="0"/>
              </a:defRPr>
            </a:lvl2pPr>
            <a:lvl3pPr>
              <a:defRPr sz="12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E0E760F-81DA-4BAE-AC97-982573EC6D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872831" y="1956435"/>
            <a:ext cx="3868737" cy="368458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Montserrat" panose="02000505000000020004" pitchFamily="2" charset="0"/>
              </a:defRPr>
            </a:lvl1pPr>
            <a:lvl2pPr>
              <a:defRPr sz="1400">
                <a:solidFill>
                  <a:schemeClr val="tx1"/>
                </a:solidFill>
                <a:latin typeface="Montserrat" panose="02000505000000020004" pitchFamily="2" charset="0"/>
              </a:defRPr>
            </a:lvl2pPr>
            <a:lvl3pPr>
              <a:defRPr sz="12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5468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8604-F9F9-4826-AFA2-26F2A8C8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83" y="323212"/>
            <a:ext cx="6353117" cy="4469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1A2C98-6B1D-4EE6-A033-426F392A5280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451" y="770164"/>
            <a:ext cx="62547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75D6B45-2776-4541-AA7D-3BCE7EF8CE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514" y="343835"/>
            <a:ext cx="1740068" cy="463756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F738E19-97A3-4227-B257-7F949888D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8309" y="1068539"/>
            <a:ext cx="8285499" cy="368458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Montserrat" panose="02000505000000020004" pitchFamily="2" charset="0"/>
              </a:defRPr>
            </a:lvl1pPr>
            <a:lvl2pPr>
              <a:defRPr sz="1400">
                <a:solidFill>
                  <a:schemeClr val="tx1"/>
                </a:solidFill>
                <a:latin typeface="Montserrat" panose="02000505000000020004" pitchFamily="2" charset="0"/>
              </a:defRPr>
            </a:lvl2pPr>
            <a:lvl3pPr>
              <a:defRPr sz="12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1609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03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F921CE-1BFB-4C33-9E39-9E365E85F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E4CF2-F9B2-4A2F-8879-48B31C82B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FEA90-32AA-4707-952A-6016A899B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C12DA-7C3F-4F5E-A3EF-25444230DB4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581A-1314-46EF-8E8C-577D4775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4EFBB-8EF2-4237-B64F-A4D165606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A2CBB-99DC-4D92-93F8-130B3B4D4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5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5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E306FF1-BEF2-43D4-B7EC-25BB33C881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" r="-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A60BCB-9860-40F9-A670-EE8D68304150}"/>
              </a:ext>
            </a:extLst>
          </p:cNvPr>
          <p:cNvSpPr txBox="1"/>
          <p:nvPr/>
        </p:nvSpPr>
        <p:spPr>
          <a:xfrm>
            <a:off x="348342" y="4360551"/>
            <a:ext cx="6977018" cy="1085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rgbClr val="003258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Kuliah 1</a:t>
            </a:r>
            <a:r>
              <a:rPr lang="en-US" sz="2800" dirty="0">
                <a:solidFill>
                  <a:srgbClr val="003258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3</a:t>
            </a:r>
            <a:r>
              <a:rPr lang="id-ID" sz="2800" dirty="0">
                <a:solidFill>
                  <a:srgbClr val="003258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 Teori Bahasa dan Otomata</a:t>
            </a:r>
          </a:p>
          <a:p>
            <a:pPr>
              <a:lnSpc>
                <a:spcPct val="120000"/>
              </a:lnSpc>
            </a:pPr>
            <a:r>
              <a:rPr lang="id-ID" sz="2800" dirty="0">
                <a:solidFill>
                  <a:srgbClr val="003258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Push Down Automata</a:t>
            </a:r>
            <a:endParaRPr lang="en-US" sz="2800" dirty="0">
              <a:solidFill>
                <a:srgbClr val="003258"/>
              </a:solidFill>
              <a:latin typeface="Montserrat" panose="02000505000000020004" pitchFamily="2" charset="0"/>
              <a:ea typeface="Roboto" pitchFamily="2" charset="0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36325F-D6C2-4013-B76D-978800568C36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</p:spTree>
    <p:extLst>
      <p:ext uri="{BB962C8B-B14F-4D97-AF65-F5344CB8AC3E}">
        <p14:creationId xmlns:p14="http://schemas.microsoft.com/office/powerpoint/2010/main" val="192733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003258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Push Down Automata (PDA)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42A3082-E464-4EF2-82DB-8F5DF1073FC3}"/>
              </a:ext>
            </a:extLst>
          </p:cNvPr>
          <p:cNvSpPr txBox="1">
            <a:spLocks/>
          </p:cNvSpPr>
          <p:nvPr/>
        </p:nvSpPr>
        <p:spPr>
          <a:xfrm>
            <a:off x="247357" y="1092626"/>
            <a:ext cx="7813431" cy="51549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PDA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mesih</a:t>
            </a:r>
            <a:r>
              <a:rPr lang="en-US" sz="2400" dirty="0"/>
              <a:t> </a:t>
            </a:r>
            <a:r>
              <a:rPr lang="en-US" sz="2400" dirty="0" err="1"/>
              <a:t>otomata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>
                <a:solidFill>
                  <a:schemeClr val="accent1"/>
                </a:solidFill>
              </a:rPr>
              <a:t>bebas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konteks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Mempunyai</a:t>
            </a:r>
            <a:r>
              <a:rPr lang="en-US" sz="2400" dirty="0"/>
              <a:t> </a:t>
            </a:r>
            <a:r>
              <a:rPr lang="en-US" sz="2400" dirty="0" err="1"/>
              <a:t>memori</a:t>
            </a:r>
            <a:r>
              <a:rPr lang="en-US" sz="2400" dirty="0"/>
              <a:t> </a:t>
            </a:r>
            <a:r>
              <a:rPr lang="en-US" sz="2400" dirty="0" err="1"/>
              <a:t>penyimpanan</a:t>
            </a:r>
            <a:r>
              <a:rPr lang="en-US" sz="2400" dirty="0"/>
              <a:t> yang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terbatas</a:t>
            </a:r>
            <a:r>
              <a:rPr lang="en-US" sz="2400" dirty="0"/>
              <a:t> </a:t>
            </a:r>
            <a:r>
              <a:rPr lang="en-US" sz="2400" dirty="0" err="1"/>
              <a:t>berupa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1"/>
                </a:solidFill>
              </a:rPr>
              <a:t>stack/</a:t>
            </a:r>
            <a:r>
              <a:rPr lang="en-US" sz="2400" dirty="0" err="1">
                <a:solidFill>
                  <a:schemeClr val="accent1"/>
                </a:solidFill>
              </a:rPr>
              <a:t>tumpukan</a:t>
            </a:r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dirty="0"/>
              <a:t>Stack/</a:t>
            </a:r>
            <a:r>
              <a:rPr lang="en-US" sz="2400" dirty="0" err="1"/>
              <a:t>tumpukan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ciri</a:t>
            </a:r>
            <a:r>
              <a:rPr lang="en-US" sz="2400" dirty="0"/>
              <a:t> </a:t>
            </a:r>
            <a:r>
              <a:rPr lang="en-US" sz="2400" dirty="0" err="1"/>
              <a:t>ciri</a:t>
            </a:r>
            <a:r>
              <a:rPr lang="en-US" sz="2400" dirty="0"/>
              <a:t>: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sz="2000" dirty="0" err="1"/>
              <a:t>Memiliki</a:t>
            </a:r>
            <a:r>
              <a:rPr lang="en-US" sz="2000" dirty="0"/>
              <a:t> Top of Stack/</a:t>
            </a:r>
            <a:r>
              <a:rPr lang="en-US" sz="2000" dirty="0" err="1"/>
              <a:t>puncak</a:t>
            </a:r>
            <a:endParaRPr lang="en-US" sz="2000" dirty="0"/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sz="2000" dirty="0" err="1"/>
              <a:t>Aturan</a:t>
            </a:r>
            <a:r>
              <a:rPr lang="en-US" sz="2000" dirty="0"/>
              <a:t> </a:t>
            </a:r>
            <a:r>
              <a:rPr lang="en-US" sz="2000" dirty="0" err="1"/>
              <a:t>peng</a:t>
            </a:r>
            <a:r>
              <a:rPr lang="id-ID" sz="2000" dirty="0"/>
              <a:t>i</a:t>
            </a:r>
            <a:r>
              <a:rPr lang="en-US" sz="2000" dirty="0" err="1"/>
              <a:t>sian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LIFO(Last In First Out)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sz="2000" dirty="0"/>
              <a:t>Pop: </a:t>
            </a:r>
            <a:r>
              <a:rPr lang="en-US" sz="2000" dirty="0" err="1"/>
              <a:t>pengambilan</a:t>
            </a:r>
            <a:r>
              <a:rPr lang="en-US" sz="2000" dirty="0"/>
              <a:t> </a:t>
            </a:r>
            <a:r>
              <a:rPr lang="en-US" sz="2000" dirty="0" err="1"/>
              <a:t>elemen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stack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sz="2000" dirty="0"/>
              <a:t>Push: </a:t>
            </a:r>
            <a:r>
              <a:rPr lang="en-US" sz="2000" dirty="0" err="1"/>
              <a:t>memasukan</a:t>
            </a:r>
            <a:r>
              <a:rPr lang="en-US" sz="2000" dirty="0"/>
              <a:t> element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stack </a:t>
            </a:r>
          </a:p>
        </p:txBody>
      </p:sp>
    </p:spTree>
    <p:extLst>
      <p:ext uri="{BB962C8B-B14F-4D97-AF65-F5344CB8AC3E}">
        <p14:creationId xmlns:p14="http://schemas.microsoft.com/office/powerpoint/2010/main" val="3360433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Stack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258"/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CC6E9A5C-8353-4F69-A816-527188D605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7575716"/>
              </p:ext>
            </p:extLst>
          </p:nvPr>
        </p:nvGraphicFramePr>
        <p:xfrm>
          <a:off x="632196" y="2246658"/>
          <a:ext cx="1655618" cy="888808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655618">
                  <a:extLst>
                    <a:ext uri="{9D8B030D-6E8A-4147-A177-3AD203B41FA5}">
                      <a16:colId xmlns:a16="http://schemas.microsoft.com/office/drawing/2014/main" val="3147983960"/>
                    </a:ext>
                  </a:extLst>
                </a:gridCol>
              </a:tblGrid>
              <a:tr h="444404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107522"/>
                  </a:ext>
                </a:extLst>
              </a:tr>
              <a:tr h="444404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483397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F7C4BA-DA73-4243-81B5-91545F255C12}"/>
              </a:ext>
            </a:extLst>
          </p:cNvPr>
          <p:cNvCxnSpPr/>
          <p:nvPr/>
        </p:nvCxnSpPr>
        <p:spPr>
          <a:xfrm>
            <a:off x="2287814" y="2482186"/>
            <a:ext cx="4017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B221FA8-91CB-409D-AA0B-6C97D2266E89}"/>
              </a:ext>
            </a:extLst>
          </p:cNvPr>
          <p:cNvSpPr/>
          <p:nvPr/>
        </p:nvSpPr>
        <p:spPr>
          <a:xfrm>
            <a:off x="2724233" y="2271191"/>
            <a:ext cx="1330037" cy="41880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Top of Stack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E444A1-A841-4B81-A1CC-BD6C5A34D66C}"/>
              </a:ext>
            </a:extLst>
          </p:cNvPr>
          <p:cNvSpPr/>
          <p:nvPr/>
        </p:nvSpPr>
        <p:spPr>
          <a:xfrm>
            <a:off x="990175" y="3764058"/>
            <a:ext cx="4828308" cy="762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Op</a:t>
            </a:r>
            <a:r>
              <a:rPr lang="id-ID" dirty="0"/>
              <a:t>er</a:t>
            </a:r>
            <a:r>
              <a:rPr lang="en-US" dirty="0" err="1"/>
              <a:t>asi</a:t>
            </a:r>
            <a:r>
              <a:rPr lang="en-US" dirty="0"/>
              <a:t> Pop, </a:t>
            </a:r>
            <a:r>
              <a:rPr lang="en-US" dirty="0" err="1"/>
              <a:t>konsidi</a:t>
            </a:r>
            <a:r>
              <a:rPr lang="en-US" dirty="0"/>
              <a:t> stack </a:t>
            </a:r>
            <a:r>
              <a:rPr lang="en-US" dirty="0" err="1"/>
              <a:t>menjadi</a:t>
            </a:r>
            <a:r>
              <a:rPr lang="en-US" dirty="0"/>
              <a:t> </a:t>
            </a:r>
          </a:p>
        </p:txBody>
      </p:sp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FC1B5613-9F23-4B21-AFAA-45253B9F1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809292"/>
              </p:ext>
            </p:extLst>
          </p:nvPr>
        </p:nvGraphicFramePr>
        <p:xfrm>
          <a:off x="2119322" y="4981959"/>
          <a:ext cx="1655618" cy="888808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655618">
                  <a:extLst>
                    <a:ext uri="{9D8B030D-6E8A-4147-A177-3AD203B41FA5}">
                      <a16:colId xmlns:a16="http://schemas.microsoft.com/office/drawing/2014/main" val="3147983960"/>
                    </a:ext>
                  </a:extLst>
                </a:gridCol>
              </a:tblGrid>
              <a:tr h="444404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483397"/>
                  </a:ext>
                </a:extLst>
              </a:tr>
              <a:tr h="444404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482755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BF8CBA-10D0-4DFB-A5CC-74984D4FF6DA}"/>
              </a:ext>
            </a:extLst>
          </p:cNvPr>
          <p:cNvCxnSpPr/>
          <p:nvPr/>
        </p:nvCxnSpPr>
        <p:spPr>
          <a:xfrm>
            <a:off x="3774940" y="5237685"/>
            <a:ext cx="4017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11775E4-6026-40D4-B4A4-C6B94102E94F}"/>
              </a:ext>
            </a:extLst>
          </p:cNvPr>
          <p:cNvSpPr/>
          <p:nvPr/>
        </p:nvSpPr>
        <p:spPr>
          <a:xfrm>
            <a:off x="4176722" y="5007560"/>
            <a:ext cx="1330037" cy="41880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Top of Stack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5B4736-5EC8-482A-ABB8-88F56CB0FF61}"/>
              </a:ext>
            </a:extLst>
          </p:cNvPr>
          <p:cNvSpPr/>
          <p:nvPr/>
        </p:nvSpPr>
        <p:spPr>
          <a:xfrm>
            <a:off x="4086345" y="1243297"/>
            <a:ext cx="4828308" cy="762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Op</a:t>
            </a:r>
            <a:r>
              <a:rPr lang="id-ID" dirty="0"/>
              <a:t>e</a:t>
            </a:r>
            <a:r>
              <a:rPr lang="en-US" dirty="0" err="1"/>
              <a:t>rasi</a:t>
            </a:r>
            <a:r>
              <a:rPr lang="en-US" dirty="0"/>
              <a:t> Push, </a:t>
            </a:r>
            <a:r>
              <a:rPr lang="en-US" dirty="0" err="1"/>
              <a:t>konsidi</a:t>
            </a:r>
            <a:r>
              <a:rPr lang="en-US" dirty="0"/>
              <a:t> stack </a:t>
            </a:r>
            <a:r>
              <a:rPr lang="en-US" dirty="0" err="1"/>
              <a:t>menjadi</a:t>
            </a:r>
            <a:r>
              <a:rPr lang="en-US" dirty="0"/>
              <a:t> </a:t>
            </a:r>
          </a:p>
        </p:txBody>
      </p:sp>
      <p:graphicFrame>
        <p:nvGraphicFramePr>
          <p:cNvPr id="19" name="Content Placeholder 6">
            <a:extLst>
              <a:ext uri="{FF2B5EF4-FFF2-40B4-BE49-F238E27FC236}">
                <a16:creationId xmlns:a16="http://schemas.microsoft.com/office/drawing/2014/main" id="{BAEDC08B-915D-4E51-8C3F-E015ED6EDD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3845955"/>
              </p:ext>
            </p:extLst>
          </p:nvPr>
        </p:nvGraphicFramePr>
        <p:xfrm>
          <a:off x="5457944" y="2029832"/>
          <a:ext cx="1655618" cy="1333212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655618">
                  <a:extLst>
                    <a:ext uri="{9D8B030D-6E8A-4147-A177-3AD203B41FA5}">
                      <a16:colId xmlns:a16="http://schemas.microsoft.com/office/drawing/2014/main" val="3147983960"/>
                    </a:ext>
                  </a:extLst>
                </a:gridCol>
              </a:tblGrid>
              <a:tr h="444404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107522"/>
                  </a:ext>
                </a:extLst>
              </a:tr>
              <a:tr h="444404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483397"/>
                  </a:ext>
                </a:extLst>
              </a:tr>
              <a:tr h="444404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482755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2EF4AE4-014F-482A-AABB-8CFA85E7BF40}"/>
              </a:ext>
            </a:extLst>
          </p:cNvPr>
          <p:cNvCxnSpPr/>
          <p:nvPr/>
        </p:nvCxnSpPr>
        <p:spPr>
          <a:xfrm>
            <a:off x="7113562" y="2239246"/>
            <a:ext cx="4017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8DD2A8A-0772-4A9A-AEF4-FDEA91304C0C}"/>
              </a:ext>
            </a:extLst>
          </p:cNvPr>
          <p:cNvSpPr/>
          <p:nvPr/>
        </p:nvSpPr>
        <p:spPr>
          <a:xfrm>
            <a:off x="7591545" y="2029844"/>
            <a:ext cx="1330037" cy="41880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Top of Stack</a:t>
            </a:r>
          </a:p>
        </p:txBody>
      </p:sp>
    </p:spTree>
    <p:extLst>
      <p:ext uri="{BB962C8B-B14F-4D97-AF65-F5344CB8AC3E}">
        <p14:creationId xmlns:p14="http://schemas.microsoft.com/office/powerpoint/2010/main" val="620017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2800" dirty="0"/>
              <a:t>7 tuple PDA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258"/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E2B394FC-1F5C-43CD-83A7-121A239B06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9221" y="1825625"/>
                <a:ext cx="3663462" cy="3407557"/>
              </a:xfrm>
              <a:prstGeom prst="rect">
                <a:avLst/>
              </a:prstGeom>
              <a:ln w="6350">
                <a:solidFill>
                  <a:schemeClr val="tx1"/>
                </a:solidFill>
              </a:ln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himpunan</a:t>
                </a:r>
                <a:r>
                  <a:rPr lang="en-US" sz="2000" dirty="0"/>
                  <a:t> State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himpunan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Simbol</a:t>
                </a:r>
                <a:r>
                  <a:rPr lang="en-US" sz="2000" dirty="0"/>
                  <a:t> input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simbol-simbol</a:t>
                </a:r>
                <a:r>
                  <a:rPr lang="en-US" sz="2000" dirty="0">
                    <a:solidFill>
                      <a:srgbClr val="FF0000"/>
                    </a:solidFill>
                  </a:rPr>
                  <a:t> stack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fungsi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transisi</a:t>
                </a:r>
                <a:endParaRPr lang="en-US" sz="2000" dirty="0"/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State </a:t>
                </a:r>
                <a:r>
                  <a:rPr lang="en-US" sz="2000" dirty="0" err="1"/>
                  <a:t>awal</a:t>
                </a:r>
                <a:endParaRPr lang="en-US" sz="2000" dirty="0"/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Himpunan</a:t>
                </a:r>
                <a:r>
                  <a:rPr lang="en-US" sz="2000" dirty="0"/>
                  <a:t> Final State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Simbol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awal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tumpukan</a:t>
                </a:r>
                <a:r>
                  <a:rPr lang="en-US" sz="2000" dirty="0">
                    <a:solidFill>
                      <a:srgbClr val="FF0000"/>
                    </a:solidFill>
                  </a:rPr>
                  <a:t>/top of stack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:endParaRPr lang="en-US" sz="2000" dirty="0"/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:endParaRPr lang="en-US" sz="2000" dirty="0"/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:endParaRPr lang="en-US" sz="2000" dirty="0"/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:endParaRPr lang="en-US" sz="2000" dirty="0"/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:endParaRPr lang="en-US" sz="2000" dirty="0"/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:endParaRPr lang="en-US" sz="2000" dirty="0"/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:endParaRPr lang="en-US" sz="200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E2B394FC-1F5C-43CD-83A7-121A239B0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21" y="1825625"/>
                <a:ext cx="3663462" cy="3407557"/>
              </a:xfrm>
              <a:prstGeom prst="rect">
                <a:avLst/>
              </a:prstGeom>
              <a:blipFill>
                <a:blip r:embed="rId4"/>
                <a:stretch>
                  <a:fillRect l="-1661" t="-1964"/>
                </a:stretch>
              </a:blipFill>
              <a:ln w="63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3">
                <a:extLst>
                  <a:ext uri="{FF2B5EF4-FFF2-40B4-BE49-F238E27FC236}">
                    <a16:creationId xmlns:a16="http://schemas.microsoft.com/office/drawing/2014/main" id="{4150D674-2755-4872-90C5-8E51E96992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48443" y="1825625"/>
                <a:ext cx="4547214" cy="2971456"/>
              </a:xfrm>
              <a:prstGeom prst="rect">
                <a:avLst/>
              </a:prstGeom>
              <a:ln w="6350">
                <a:solidFill>
                  <a:schemeClr val="tx1"/>
                </a:solidFill>
              </a:ln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Komponen yang </a:t>
                </a:r>
                <a:r>
                  <a:rPr lang="en-US" sz="2000" dirty="0" err="1"/>
                  <a:t>sama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dengan</a:t>
                </a:r>
                <a:r>
                  <a:rPr lang="en-US" sz="2000" dirty="0"/>
                  <a:t> FSA </a:t>
                </a:r>
                <a:r>
                  <a:rPr lang="en-US" sz="2000" dirty="0" err="1"/>
                  <a:t>adalah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,</a:t>
                </a:r>
                <a:r>
                  <a:rPr lang="el-GR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sz="2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</m:oMath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r>
                  <a:rPr lang="en-US" sz="2000" dirty="0"/>
                  <a:t>Tuple </a:t>
                </a:r>
                <a:r>
                  <a:rPr lang="en-US" sz="2000" dirty="0" err="1"/>
                  <a:t>baru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memiliki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kemiripan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dengan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id-ID" sz="2000" dirty="0"/>
                  <a:t>    </a:t>
                </a:r>
                <a:r>
                  <a:rPr lang="en-US" sz="2000" dirty="0"/>
                  <a:t>FSA </a:t>
                </a:r>
                <a:r>
                  <a:rPr lang="en-US" sz="2000" dirty="0" err="1"/>
                  <a:t>sebagai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transisi</a:t>
                </a:r>
                <a:endParaRPr lang="en-US" sz="2000" dirty="0"/>
              </a:p>
            </p:txBody>
          </p:sp>
        </mc:Choice>
        <mc:Fallback xmlns="">
          <p:sp>
            <p:nvSpPr>
              <p:cNvPr id="10" name="Content Placeholder 3">
                <a:extLst>
                  <a:ext uri="{FF2B5EF4-FFF2-40B4-BE49-F238E27FC236}">
                    <a16:creationId xmlns:a16="http://schemas.microsoft.com/office/drawing/2014/main" id="{4150D674-2755-4872-90C5-8E51E9699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443" y="1825625"/>
                <a:ext cx="4547214" cy="2971456"/>
              </a:xfrm>
              <a:prstGeom prst="rect">
                <a:avLst/>
              </a:prstGeom>
              <a:blipFill>
                <a:blip r:embed="rId5"/>
                <a:stretch>
                  <a:fillRect l="-1205" t="-2045"/>
                </a:stretch>
              </a:blipFill>
              <a:ln w="63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0002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4" y="1142751"/>
            <a:ext cx="7903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PDA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dianggap</a:t>
            </a:r>
            <a:r>
              <a:rPr lang="en-US" sz="2400" dirty="0"/>
              <a:t> </a:t>
            </a:r>
            <a:r>
              <a:rPr lang="en-US" sz="2400" dirty="0" err="1"/>
              <a:t>seperti</a:t>
            </a:r>
            <a:r>
              <a:rPr lang="en-US" sz="2400" dirty="0"/>
              <a:t> FSA </a:t>
            </a:r>
            <a:r>
              <a:rPr lang="en-US" sz="2400" dirty="0" err="1"/>
              <a:t>yg</a:t>
            </a:r>
            <a:r>
              <a:rPr lang="en-US" sz="2400" dirty="0"/>
              <a:t> </a:t>
            </a:r>
            <a:r>
              <a:rPr lang="en-US" sz="2400" dirty="0" err="1"/>
              <a:t>dilengkapi</a:t>
            </a:r>
            <a:r>
              <a:rPr lang="en-US" sz="2400" dirty="0"/>
              <a:t> stack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2800" dirty="0"/>
              <a:t>PDA Fin</a:t>
            </a:r>
            <a:r>
              <a:rPr lang="id-ID" sz="2800" dirty="0"/>
              <a:t>i</a:t>
            </a:r>
            <a:r>
              <a:rPr lang="en-US" sz="2800" dirty="0" err="1"/>
              <a:t>te</a:t>
            </a:r>
            <a:r>
              <a:rPr lang="en-US" sz="2800" dirty="0"/>
              <a:t> State Automata (FSA)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258"/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270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664158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2800" dirty="0" err="1"/>
              <a:t>Transisi</a:t>
            </a:r>
            <a:r>
              <a:rPr lang="en-US" sz="2800" dirty="0"/>
              <a:t> PDA (FSA + stack) </a:t>
            </a:r>
            <a:r>
              <a:rPr lang="en-US" sz="2800" dirty="0" err="1"/>
              <a:t>ada</a:t>
            </a:r>
            <a:r>
              <a:rPr lang="en-US" sz="2800" dirty="0"/>
              <a:t> 2 </a:t>
            </a:r>
            <a:r>
              <a:rPr lang="en-US" sz="2800" dirty="0" err="1"/>
              <a:t>jenis</a:t>
            </a:r>
            <a:r>
              <a:rPr lang="en-US" sz="2800" dirty="0"/>
              <a:t> 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258"/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AFC7AA2-4FAD-4860-BB3D-42587A705675}"/>
              </a:ext>
            </a:extLst>
          </p:cNvPr>
          <p:cNvSpPr txBox="1">
            <a:spLocks/>
          </p:cNvSpPr>
          <p:nvPr/>
        </p:nvSpPr>
        <p:spPr>
          <a:xfrm>
            <a:off x="348343" y="1094509"/>
            <a:ext cx="4261757" cy="40120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1. </a:t>
            </a:r>
            <a:r>
              <a:rPr lang="en-US" sz="2400" dirty="0" err="1"/>
              <a:t>transisi</a:t>
            </a:r>
            <a:r>
              <a:rPr lang="en-US" sz="2400" dirty="0"/>
              <a:t> </a:t>
            </a:r>
            <a:r>
              <a:rPr lang="en-US" sz="2400" dirty="0" err="1"/>
              <a:t>memakai</a:t>
            </a:r>
            <a:r>
              <a:rPr lang="en-US" sz="2400" dirty="0"/>
              <a:t> </a:t>
            </a:r>
            <a:r>
              <a:rPr lang="en-US" sz="2400" dirty="0" err="1"/>
              <a:t>simbol</a:t>
            </a:r>
            <a:r>
              <a:rPr lang="en-US" sz="2400" dirty="0"/>
              <a:t> input.</a:t>
            </a:r>
          </a:p>
          <a:p>
            <a:pPr>
              <a:buFontTx/>
              <a:buChar char="-"/>
            </a:pPr>
            <a:r>
              <a:rPr lang="en-US" sz="2400" dirty="0" err="1"/>
              <a:t>Bergantung</a:t>
            </a:r>
            <a:r>
              <a:rPr lang="en-US" sz="2400" dirty="0"/>
              <a:t> pada </a:t>
            </a:r>
            <a:r>
              <a:rPr lang="en-US" sz="2400" dirty="0" err="1"/>
              <a:t>simbol</a:t>
            </a:r>
            <a:r>
              <a:rPr lang="en-US" sz="2400" dirty="0"/>
              <a:t> pada top stack dan state</a:t>
            </a:r>
          </a:p>
          <a:p>
            <a:pPr>
              <a:buFontTx/>
              <a:buChar char="-"/>
            </a:pPr>
            <a:r>
              <a:rPr lang="en-US" sz="2400" dirty="0" err="1"/>
              <a:t>Terdapat</a:t>
            </a:r>
            <a:r>
              <a:rPr lang="en-US" sz="2400" dirty="0"/>
              <a:t> </a:t>
            </a:r>
            <a:r>
              <a:rPr lang="en-US" sz="2400" dirty="0" err="1"/>
              <a:t>sejumlah</a:t>
            </a:r>
            <a:r>
              <a:rPr lang="en-US" sz="2400" dirty="0"/>
              <a:t> </a:t>
            </a:r>
            <a:r>
              <a:rPr lang="en-US" sz="2400" dirty="0" err="1"/>
              <a:t>pilihan</a:t>
            </a:r>
            <a:r>
              <a:rPr lang="en-US" sz="2400" dirty="0"/>
              <a:t> yang </a:t>
            </a:r>
            <a:r>
              <a:rPr lang="en-US" sz="2400" dirty="0" err="1"/>
              <a:t>memungkinkan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bergerak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pilihan</a:t>
            </a:r>
            <a:r>
              <a:rPr lang="en-US" sz="2400" dirty="0"/>
              <a:t> </a:t>
            </a:r>
            <a:r>
              <a:rPr lang="en-US" sz="2400" dirty="0" err="1"/>
              <a:t>terdiri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state </a:t>
            </a:r>
            <a:r>
              <a:rPr lang="en-US" sz="2400" dirty="0" err="1"/>
              <a:t>berikutnya</a:t>
            </a:r>
            <a:r>
              <a:rPr lang="en-US" sz="2400" dirty="0"/>
              <a:t> dan symbol (</a:t>
            </a:r>
            <a:r>
              <a:rPr lang="en-US" sz="2400" dirty="0" err="1"/>
              <a:t>satu</a:t>
            </a:r>
            <a:r>
              <a:rPr lang="en-US" sz="2400" dirty="0"/>
              <a:t>, </a:t>
            </a:r>
            <a:r>
              <a:rPr lang="en-US" sz="2400" dirty="0" err="1"/>
              <a:t>beberapa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kosong</a:t>
            </a:r>
            <a:r>
              <a:rPr lang="en-US" sz="2400" dirty="0"/>
              <a:t>)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mengganti</a:t>
            </a:r>
            <a:r>
              <a:rPr lang="en-US" sz="2400" dirty="0"/>
              <a:t> top of stack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3">
                <a:extLst>
                  <a:ext uri="{FF2B5EF4-FFF2-40B4-BE49-F238E27FC236}">
                    <a16:creationId xmlns:a16="http://schemas.microsoft.com/office/drawing/2014/main" id="{9969DAAB-BCD7-4F18-98EC-FC294DB797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61336" y="1068436"/>
                <a:ext cx="3733800" cy="4012060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2. </a:t>
                </a:r>
                <a:r>
                  <a:rPr lang="en-US" sz="2400" dirty="0" err="1"/>
                  <a:t>transisi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>
                  <a:buFontTx/>
                  <a:buChar char="-"/>
                </a:pPr>
                <a:r>
                  <a:rPr lang="en-US" sz="2400" dirty="0" err="1"/>
                  <a:t>Mirip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dengan</a:t>
                </a:r>
                <a:r>
                  <a:rPr lang="en-US" sz="2400" dirty="0"/>
                  <a:t> yang </a:t>
                </a:r>
                <a:r>
                  <a:rPr lang="en-US" sz="2400" dirty="0" err="1"/>
                  <a:t>pertama</a:t>
                </a:r>
                <a:r>
                  <a:rPr lang="en-US" sz="2400" dirty="0"/>
                  <a:t> (</a:t>
                </a:r>
                <a:r>
                  <a:rPr lang="en-US" sz="2400" dirty="0" err="1"/>
                  <a:t>kecuali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dikalukan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tanpa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membaca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simbol</a:t>
                </a:r>
                <a:r>
                  <a:rPr lang="en-US" sz="2400" dirty="0"/>
                  <a:t> input)</a:t>
                </a:r>
              </a:p>
              <a:p>
                <a:pPr>
                  <a:buFontTx/>
                  <a:buChar char="-"/>
                </a:pPr>
                <a:r>
                  <a:rPr lang="en-US" sz="2400" dirty="0" err="1"/>
                  <a:t>Memungkinkan</a:t>
                </a:r>
                <a:r>
                  <a:rPr lang="en-US" sz="2400" dirty="0"/>
                  <a:t> PDA </a:t>
                </a:r>
                <a:r>
                  <a:rPr lang="en-US" sz="2400" dirty="0" err="1"/>
                  <a:t>memanipulasi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isi</a:t>
                </a:r>
                <a:r>
                  <a:rPr lang="en-US" sz="2400" dirty="0"/>
                  <a:t> stack </a:t>
                </a:r>
                <a:r>
                  <a:rPr lang="en-US" sz="2400" dirty="0" err="1"/>
                  <a:t>atau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berpindah</a:t>
                </a:r>
                <a:r>
                  <a:rPr lang="en-US" sz="2400" dirty="0"/>
                  <a:t> state </a:t>
                </a:r>
                <a:r>
                  <a:rPr lang="en-US" sz="2400" dirty="0" err="1"/>
                  <a:t>tanpa</a:t>
                </a:r>
                <a:r>
                  <a:rPr lang="en-US" sz="2400" dirty="0"/>
                  <a:t> me</a:t>
                </a:r>
                <a:r>
                  <a:rPr lang="id-ID" sz="2400" dirty="0"/>
                  <a:t>m</a:t>
                </a:r>
                <a:r>
                  <a:rPr lang="en-US" sz="2400" dirty="0" err="1"/>
                  <a:t>baca</a:t>
                </a:r>
                <a:r>
                  <a:rPr lang="en-US" sz="2400" dirty="0"/>
                  <a:t> input.</a:t>
                </a:r>
              </a:p>
            </p:txBody>
          </p:sp>
        </mc:Choice>
        <mc:Fallback xmlns="">
          <p:sp>
            <p:nvSpPr>
              <p:cNvPr id="10" name="Content Placeholder 3">
                <a:extLst>
                  <a:ext uri="{FF2B5EF4-FFF2-40B4-BE49-F238E27FC236}">
                    <a16:creationId xmlns:a16="http://schemas.microsoft.com/office/drawing/2014/main" id="{9969DAAB-BCD7-4F18-98EC-FC294DB79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336" y="1068436"/>
                <a:ext cx="3733800" cy="4012060"/>
              </a:xfrm>
              <a:prstGeom prst="rect">
                <a:avLst/>
              </a:prstGeom>
              <a:blipFill>
                <a:blip r:embed="rId4"/>
                <a:stretch>
                  <a:fillRect l="-2610" t="-2128" r="-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6854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568F8D-AB02-484F-A8AF-9963E27FDCE1}"/>
                  </a:ext>
                </a:extLst>
              </p:cNvPr>
              <p:cNvSpPr txBox="1"/>
              <p:nvPr/>
            </p:nvSpPr>
            <p:spPr>
              <a:xfrm>
                <a:off x="457200" y="288486"/>
                <a:ext cx="7687994" cy="573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20000"/>
                  </a:lnSpc>
                </a:pPr>
                <a:r>
                  <a:rPr lang="en-US" sz="2800" dirty="0">
                    <a:solidFill>
                      <a:schemeClr val="bg2"/>
                    </a:solidFill>
                  </a:rPr>
                  <a:t>Contoh 1 </a:t>
                </a:r>
                <a:r>
                  <a:rPr lang="en-US" sz="2800" dirty="0" err="1">
                    <a:solidFill>
                      <a:schemeClr val="bg2"/>
                    </a:solidFill>
                  </a:rPr>
                  <a:t>sebuah</a:t>
                </a:r>
                <a:r>
                  <a:rPr lang="en-US" sz="2800" dirty="0">
                    <a:solidFill>
                      <a:schemeClr val="bg2"/>
                    </a:solidFill>
                  </a:rPr>
                  <a:t> PDA (FSA + stack) </a:t>
                </a:r>
                <a:r>
                  <a:rPr lang="en-US" sz="2800" b="1" dirty="0">
                    <a:solidFill>
                      <a:schemeClr val="bg2"/>
                    </a:solidFill>
                  </a:rPr>
                  <a:t>null (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sz="2800" b="1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800" b="1" dirty="0">
                    <a:solidFill>
                      <a:schemeClr val="bg2"/>
                    </a:solidFill>
                  </a:rPr>
                  <a:t>stack</a:t>
                </a:r>
                <a:r>
                  <a:rPr lang="en-US" sz="2800" dirty="0">
                    <a:solidFill>
                      <a:schemeClr val="bg2"/>
                    </a:solidFill>
                  </a:rPr>
                  <a:t>:</a:t>
                </a: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Roboto" pitchFamily="2" charset="0"/>
                  <a:cs typeface="Arial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568F8D-AB02-484F-A8AF-9963E27FD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88486"/>
                <a:ext cx="7687994" cy="573811"/>
              </a:xfrm>
              <a:prstGeom prst="rect">
                <a:avLst/>
              </a:prstGeom>
              <a:blipFill>
                <a:blip r:embed="rId3"/>
                <a:stretch>
                  <a:fillRect l="-1586" t="-1064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3">
                <a:extLst>
                  <a:ext uri="{FF2B5EF4-FFF2-40B4-BE49-F238E27FC236}">
                    <a16:creationId xmlns:a16="http://schemas.microsoft.com/office/drawing/2014/main" id="{F35887B9-56ED-4C18-9FFB-744FDFB085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416" y="1616775"/>
                <a:ext cx="3582320" cy="4351338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}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//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simbol-simbol</a:t>
                </a:r>
                <a:r>
                  <a:rPr lang="en-US" sz="2000" dirty="0">
                    <a:solidFill>
                      <a:srgbClr val="FF0000"/>
                    </a:solidFill>
                  </a:rPr>
                  <a:t> stack</a:t>
                </a:r>
                <a:endParaRPr lang="en-US" sz="2000" dirty="0"/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000" dirty="0"/>
                  <a:t> //</a:t>
                </a:r>
                <a:r>
                  <a:rPr lang="en-US" sz="2000" dirty="0">
                    <a:solidFill>
                      <a:srgbClr val="FF0000"/>
                    </a:solidFill>
                  </a:rPr>
                  <a:t> top of stack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:endParaRPr lang="en-US" sz="2000" dirty="0"/>
              </a:p>
            </p:txBody>
          </p:sp>
        </mc:Choice>
        <mc:Fallback xmlns="">
          <p:sp>
            <p:nvSpPr>
              <p:cNvPr id="9" name="Content Placeholder 3">
                <a:extLst>
                  <a:ext uri="{FF2B5EF4-FFF2-40B4-BE49-F238E27FC236}">
                    <a16:creationId xmlns:a16="http://schemas.microsoft.com/office/drawing/2014/main" id="{F35887B9-56ED-4C18-9FFB-744FDFB08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16" y="1616775"/>
                <a:ext cx="3582320" cy="4351338"/>
              </a:xfrm>
              <a:prstGeom prst="rect">
                <a:avLst/>
              </a:prstGeom>
              <a:blipFill>
                <a:blip r:embed="rId5"/>
                <a:stretch>
                  <a:fillRect l="-1701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01DBC3F8-1046-4B3D-A630-A07EA9B162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39442" y="1235515"/>
                <a:ext cx="4504458" cy="5266707"/>
              </a:xfrm>
              <a:prstGeom prst="rect">
                <a:avLst/>
              </a:prstGeom>
              <a:solidFill>
                <a:srgbClr val="FFC000"/>
              </a:solidFill>
              <a:ln w="3175"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Memiliki </a:t>
                </a:r>
                <a:r>
                  <a:rPr lang="en-US" sz="2000" dirty="0" err="1"/>
                  <a:t>fungsi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transisi</a:t>
                </a:r>
                <a:r>
                  <a:rPr lang="en-US" sz="2000" dirty="0"/>
                  <a:t>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𝐴𝑍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𝐵𝑍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𝐴𝐴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𝐵𝐵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dirty="0"/>
                  <a:t>Kita </a:t>
                </a:r>
                <a:r>
                  <a:rPr lang="en-US" sz="2000" dirty="0" err="1"/>
                  <a:t>bisa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membaca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fungsi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transisi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tsb</a:t>
                </a:r>
                <a:r>
                  <a:rPr lang="en-US" sz="2000" dirty="0"/>
                  <a:t>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𝐴𝑍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dan</a:t>
                </a:r>
                <a:r>
                  <a:rPr lang="en-US" sz="2000" dirty="0"/>
                  <a:t> top stack Z </a:t>
                </a:r>
                <a:r>
                  <a:rPr lang="en-US" sz="2000" dirty="0" err="1"/>
                  <a:t>membaca</a:t>
                </a:r>
                <a:r>
                  <a:rPr lang="en-US" sz="2000" dirty="0"/>
                  <a:t> input ‘a’ = Konfigurasi </a:t>
                </a:r>
                <a:r>
                  <a:rPr lang="en-US" sz="2000" dirty="0" err="1"/>
                  <a:t>mesin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menjadi</a:t>
                </a:r>
                <a:r>
                  <a:rPr lang="en-US" sz="2000" dirty="0"/>
                  <a:t> :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 A di push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01DBC3F8-1046-4B3D-A630-A07EA9B16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442" y="1235515"/>
                <a:ext cx="4504458" cy="5266707"/>
              </a:xfrm>
              <a:prstGeom prst="rect">
                <a:avLst/>
              </a:prstGeom>
              <a:blipFill>
                <a:blip r:embed="rId6"/>
                <a:stretch>
                  <a:fillRect l="-1486" t="-1272" r="-1081"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705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CC4E19DE-CAFF-472E-B511-65E18172D7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809" y="252582"/>
                <a:ext cx="8592315" cy="68782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600" dirty="0"/>
                  <a:t>Misal </a:t>
                </a:r>
                <a:r>
                  <a:rPr lang="en-US" sz="1600" dirty="0" err="1"/>
                  <a:t>ingin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mengetahui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apakah</a:t>
                </a:r>
                <a:r>
                  <a:rPr lang="en-US" sz="1600" dirty="0"/>
                  <a:t> string ‘</a:t>
                </a:r>
                <a:r>
                  <a:rPr lang="en-US" sz="1600" b="1" dirty="0" err="1"/>
                  <a:t>abba</a:t>
                </a:r>
                <a:r>
                  <a:rPr lang="en-US" sz="1600" dirty="0"/>
                  <a:t>’ </a:t>
                </a:r>
                <a:r>
                  <a:rPr lang="en-US" sz="1600" dirty="0" err="1"/>
                  <a:t>diterima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oleh</a:t>
                </a:r>
                <a:r>
                  <a:rPr lang="en-US" sz="1600" dirty="0"/>
                  <a:t> PDA (FSA + stack) </a:t>
                </a:r>
                <a:r>
                  <a:rPr lang="en-US" sz="1600" b="1" dirty="0"/>
                  <a:t>null </a:t>
                </a:r>
                <a14:m>
                  <m:oMath xmlns:m="http://schemas.openxmlformats.org/officeDocument/2006/math">
                    <m:r>
                      <a:rPr lang="en-US" sz="1600" b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1" dirty="0"/>
                  <a:t>stack</a:t>
                </a:r>
                <a:r>
                  <a:rPr lang="en-US" sz="1600" dirty="0"/>
                  <a:t>?</a:t>
                </a:r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CC4E19DE-CAFF-472E-B511-65E18172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09" y="252582"/>
                <a:ext cx="8592315" cy="687820"/>
              </a:xfrm>
              <a:prstGeom prst="rect">
                <a:avLst/>
              </a:prstGeom>
              <a:blipFill>
                <a:blip r:embed="rId4"/>
                <a:stretch>
                  <a:fillRect l="-355" t="-6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B5FB1F35-9271-4394-99FF-687D670CDA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8648329"/>
              </p:ext>
            </p:extLst>
          </p:nvPr>
        </p:nvGraphicFramePr>
        <p:xfrm>
          <a:off x="64461" y="914399"/>
          <a:ext cx="110143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436">
                  <a:extLst>
                    <a:ext uri="{9D8B030D-6E8A-4147-A177-3AD203B41FA5}">
                      <a16:colId xmlns:a16="http://schemas.microsoft.com/office/drawing/2014/main" val="1320263319"/>
                    </a:ext>
                  </a:extLst>
                </a:gridCol>
              </a:tblGrid>
              <a:tr h="343910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377886"/>
                  </a:ext>
                </a:extLst>
              </a:tr>
              <a:tr h="3439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875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3">
                <a:extLst>
                  <a:ext uri="{FF2B5EF4-FFF2-40B4-BE49-F238E27FC236}">
                    <a16:creationId xmlns:a16="http://schemas.microsoft.com/office/drawing/2014/main" id="{7B9E29DF-0665-493C-8FC1-0F93550891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32227" y="914399"/>
                <a:ext cx="2716283" cy="2305793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={(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={(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𝐴𝑍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={(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𝐵𝑍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={(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𝐴𝐴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={(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={(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={(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𝐵𝐵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Content Placeholder 3">
                <a:extLst>
                  <a:ext uri="{FF2B5EF4-FFF2-40B4-BE49-F238E27FC236}">
                    <a16:creationId xmlns:a16="http://schemas.microsoft.com/office/drawing/2014/main" id="{7B9E29DF-0665-493C-8FC1-0F9355089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227" y="914399"/>
                <a:ext cx="2716283" cy="2305793"/>
              </a:xfrm>
              <a:prstGeom prst="rect">
                <a:avLst/>
              </a:prstGeom>
              <a:blipFill>
                <a:blip r:embed="rId5"/>
                <a:stretch>
                  <a:fillRect l="-89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404CCD2-B413-4254-9FCE-15918BEC3D32}"/>
                  </a:ext>
                </a:extLst>
              </p:cNvPr>
              <p:cNvSpPr/>
              <p:nvPr/>
            </p:nvSpPr>
            <p:spPr>
              <a:xfrm>
                <a:off x="2113" y="1745673"/>
                <a:ext cx="5574721" cy="10390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/>
                  <a:t>1. </a:t>
                </a:r>
                <a:r>
                  <a:rPr lang="en-US" sz="1600" dirty="0" err="1"/>
                  <a:t>Konfigurasi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awal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mesin</a:t>
                </a:r>
                <a:r>
                  <a:rPr lang="en-US" sz="1600" dirty="0"/>
                  <a:t>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top stack Z, </a:t>
                </a:r>
                <a:r>
                  <a:rPr lang="en-US" sz="1600" dirty="0" err="1"/>
                  <a:t>membaca</a:t>
                </a:r>
                <a:r>
                  <a:rPr lang="en-US" sz="1600" dirty="0"/>
                  <a:t> input ‘a’ </a:t>
                </a:r>
              </a:p>
              <a:p>
                <a:r>
                  <a:rPr lang="en-US" sz="1600" dirty="0" err="1"/>
                  <a:t>fungsi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transisinya</a:t>
                </a:r>
                <a:r>
                  <a:rPr lang="en-US" sz="1600" dirty="0"/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𝐴𝑍</m:t>
                            </m:r>
                          </m:e>
                        </m:d>
                      </m:e>
                    </m:d>
                  </m:oMath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r>
                  <a:rPr lang="en-US" sz="1600" dirty="0" err="1"/>
                  <a:t>Konfigurasi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mesin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menjadi</a:t>
                </a:r>
                <a:r>
                  <a:rPr lang="en-US" sz="1600" dirty="0"/>
                  <a:t> :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, A di push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404CCD2-B413-4254-9FCE-15918BEC3D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" y="1745673"/>
                <a:ext cx="5574721" cy="1039091"/>
              </a:xfrm>
              <a:prstGeom prst="rect">
                <a:avLst/>
              </a:prstGeom>
              <a:blipFill>
                <a:blip r:embed="rId6"/>
                <a:stretch>
                  <a:fillRect l="-436" r="-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33E467E7-4D1F-4C8A-8A37-61A1734C77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2378627"/>
              </p:ext>
            </p:extLst>
          </p:nvPr>
        </p:nvGraphicFramePr>
        <p:xfrm>
          <a:off x="64461" y="2784764"/>
          <a:ext cx="110143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436">
                  <a:extLst>
                    <a:ext uri="{9D8B030D-6E8A-4147-A177-3AD203B41FA5}">
                      <a16:colId xmlns:a16="http://schemas.microsoft.com/office/drawing/2014/main" val="1320263319"/>
                    </a:ext>
                  </a:extLst>
                </a:gridCol>
              </a:tblGrid>
              <a:tr h="34391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377886"/>
                  </a:ext>
                </a:extLst>
              </a:tr>
              <a:tr h="343910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909454"/>
                  </a:ext>
                </a:extLst>
              </a:tr>
              <a:tr h="3439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875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2D6B7F2-DF2E-4DD3-9BCE-27F4E6B54594}"/>
                  </a:ext>
                </a:extLst>
              </p:cNvPr>
              <p:cNvSpPr/>
              <p:nvPr/>
            </p:nvSpPr>
            <p:spPr>
              <a:xfrm>
                <a:off x="-67159" y="4045529"/>
                <a:ext cx="5458691" cy="10390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600" dirty="0"/>
              </a:p>
              <a:p>
                <a:r>
                  <a:rPr lang="en-US" sz="1600" dirty="0"/>
                  <a:t>2. </a:t>
                </a:r>
                <a:r>
                  <a:rPr lang="en-US" sz="1600" dirty="0" err="1"/>
                  <a:t>Membaca</a:t>
                </a:r>
                <a:r>
                  <a:rPr lang="en-US" sz="1600" dirty="0"/>
                  <a:t> input b </a:t>
                </a:r>
              </a:p>
              <a:p>
                <a:r>
                  <a:rPr lang="en-US" sz="1600" dirty="0" err="1"/>
                  <a:t>Fungsi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transisinya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r>
                  <a:rPr lang="en-US" sz="1600" dirty="0" err="1"/>
                  <a:t>Konfigurasi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mesin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menjadi</a:t>
                </a:r>
                <a:r>
                  <a:rPr lang="en-US" sz="1600" dirty="0"/>
                  <a:t> :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top stack di Pop</a:t>
                </a: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2D6B7F2-DF2E-4DD3-9BCE-27F4E6B545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7159" y="4045529"/>
                <a:ext cx="5458691" cy="1039091"/>
              </a:xfrm>
              <a:prstGeom prst="rect">
                <a:avLst/>
              </a:prstGeom>
              <a:blipFill>
                <a:blip r:embed="rId7"/>
                <a:stretch>
                  <a:fillRect l="-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id="{CDE48743-2E58-4312-8705-543F2B3A33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670729"/>
              </p:ext>
            </p:extLst>
          </p:nvPr>
        </p:nvGraphicFramePr>
        <p:xfrm>
          <a:off x="-67159" y="5035933"/>
          <a:ext cx="110143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436">
                  <a:extLst>
                    <a:ext uri="{9D8B030D-6E8A-4147-A177-3AD203B41FA5}">
                      <a16:colId xmlns:a16="http://schemas.microsoft.com/office/drawing/2014/main" val="1320263319"/>
                    </a:ext>
                  </a:extLst>
                </a:gridCol>
              </a:tblGrid>
              <a:tr h="343910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377886"/>
                  </a:ext>
                </a:extLst>
              </a:tr>
              <a:tr h="3439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875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84FFD4F-418D-4FC2-A791-321B606788BF}"/>
                  </a:ext>
                </a:extLst>
              </p:cNvPr>
              <p:cNvSpPr/>
              <p:nvPr/>
            </p:nvSpPr>
            <p:spPr>
              <a:xfrm>
                <a:off x="-136431" y="5868786"/>
                <a:ext cx="5458691" cy="9031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600" b="1" dirty="0"/>
              </a:p>
              <a:p>
                <a:r>
                  <a:rPr lang="en-US" sz="1600" dirty="0"/>
                  <a:t>3. </a:t>
                </a:r>
                <a:r>
                  <a:rPr lang="en-US" sz="1600" dirty="0" err="1"/>
                  <a:t>Membaca</a:t>
                </a:r>
                <a:r>
                  <a:rPr lang="en-US" sz="1600" dirty="0"/>
                  <a:t> input b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𝛥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𝐵𝑍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endParaRPr lang="en-US" sz="1600" b="1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84FFD4F-418D-4FC2-A791-321B606788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6431" y="5868786"/>
                <a:ext cx="5458691" cy="903147"/>
              </a:xfrm>
              <a:prstGeom prst="rect">
                <a:avLst/>
              </a:prstGeom>
              <a:blipFill>
                <a:blip r:embed="rId8"/>
                <a:stretch>
                  <a:fillRect l="-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Content Placeholder 4">
            <a:extLst>
              <a:ext uri="{FF2B5EF4-FFF2-40B4-BE49-F238E27FC236}">
                <a16:creationId xmlns:a16="http://schemas.microsoft.com/office/drawing/2014/main" id="{46C01BE4-715A-45E5-A6F7-070461848C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4351520"/>
              </p:ext>
            </p:extLst>
          </p:nvPr>
        </p:nvGraphicFramePr>
        <p:xfrm>
          <a:off x="4475399" y="5607673"/>
          <a:ext cx="110143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436">
                  <a:extLst>
                    <a:ext uri="{9D8B030D-6E8A-4147-A177-3AD203B41FA5}">
                      <a16:colId xmlns:a16="http://schemas.microsoft.com/office/drawing/2014/main" val="1320263319"/>
                    </a:ext>
                  </a:extLst>
                </a:gridCol>
              </a:tblGrid>
              <a:tr h="34391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377886"/>
                  </a:ext>
                </a:extLst>
              </a:tr>
              <a:tr h="343910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909454"/>
                  </a:ext>
                </a:extLst>
              </a:tr>
              <a:tr h="3439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875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B35FED2-DD08-4249-99DB-8442A41767CC}"/>
                  </a:ext>
                </a:extLst>
              </p:cNvPr>
              <p:cNvSpPr/>
              <p:nvPr/>
            </p:nvSpPr>
            <p:spPr>
              <a:xfrm>
                <a:off x="5843536" y="3394484"/>
                <a:ext cx="3236003" cy="81769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600" dirty="0"/>
              </a:p>
              <a:p>
                <a:r>
                  <a:rPr lang="en-US" sz="1600" dirty="0"/>
                  <a:t>4. </a:t>
                </a:r>
                <a:r>
                  <a:rPr lang="en-US" sz="1600" dirty="0" err="1"/>
                  <a:t>Membaca</a:t>
                </a:r>
                <a:r>
                  <a:rPr lang="en-US" sz="1600" dirty="0"/>
                  <a:t> input a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B35FED2-DD08-4249-99DB-8442A41767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536" y="3394484"/>
                <a:ext cx="3236003" cy="817699"/>
              </a:xfrm>
              <a:prstGeom prst="rect">
                <a:avLst/>
              </a:prstGeom>
              <a:blipFill>
                <a:blip r:embed="rId9"/>
                <a:stretch>
                  <a:fillRect l="-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id="{CB02BF90-A70F-432D-808F-2417931AB0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2541701"/>
              </p:ext>
            </p:extLst>
          </p:nvPr>
        </p:nvGraphicFramePr>
        <p:xfrm>
          <a:off x="5843535" y="4045529"/>
          <a:ext cx="110143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436">
                  <a:extLst>
                    <a:ext uri="{9D8B030D-6E8A-4147-A177-3AD203B41FA5}">
                      <a16:colId xmlns:a16="http://schemas.microsoft.com/office/drawing/2014/main" val="1320263319"/>
                    </a:ext>
                  </a:extLst>
                </a:gridCol>
              </a:tblGrid>
              <a:tr h="343910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377886"/>
                  </a:ext>
                </a:extLst>
              </a:tr>
              <a:tr h="3439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875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212ACCA-F3BE-4054-930C-2B4EE37BCD4D}"/>
                  </a:ext>
                </a:extLst>
              </p:cNvPr>
              <p:cNvSpPr/>
              <p:nvPr/>
            </p:nvSpPr>
            <p:spPr>
              <a:xfrm>
                <a:off x="5710185" y="4876153"/>
                <a:ext cx="3650005" cy="109173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/>
                  <a:t>5. </a:t>
                </a:r>
                <a:r>
                  <a:rPr lang="en-US" sz="1600" dirty="0" err="1"/>
                  <a:t>Semua</a:t>
                </a:r>
                <a:r>
                  <a:rPr lang="en-US" sz="1600" dirty="0"/>
                  <a:t> input </a:t>
                </a:r>
                <a:r>
                  <a:rPr lang="en-US" sz="1600" dirty="0" err="1"/>
                  <a:t>sudah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selesai</a:t>
                </a:r>
                <a:r>
                  <a:rPr lang="en-US" sz="1600" dirty="0"/>
                  <a:t> di </a:t>
                </a:r>
                <a:r>
                  <a:rPr lang="en-US" sz="1600" dirty="0" err="1"/>
                  <a:t>baca</a:t>
                </a:r>
                <a:r>
                  <a:rPr lang="en-US" sz="1600" dirty="0"/>
                  <a:t> </a:t>
                </a:r>
              </a:p>
              <a:p>
                <a:r>
                  <a:rPr lang="en-US" sz="1600" dirty="0" err="1"/>
                  <a:t>Fungsi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transisinya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r>
                  <a:rPr lang="en-US" sz="1600" dirty="0" err="1"/>
                  <a:t>Konfigurasi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mesin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menjadi</a:t>
                </a:r>
                <a:r>
                  <a:rPr lang="en-US" sz="1600" dirty="0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212ACCA-F3BE-4054-930C-2B4EE37BCD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185" y="4876153"/>
                <a:ext cx="3650005" cy="1091737"/>
              </a:xfrm>
              <a:prstGeom prst="rect">
                <a:avLst/>
              </a:prstGeom>
              <a:blipFill>
                <a:blip r:embed="rId10"/>
                <a:stretch>
                  <a:fillRect l="-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itle 1">
            <a:extLst>
              <a:ext uri="{FF2B5EF4-FFF2-40B4-BE49-F238E27FC236}">
                <a16:creationId xmlns:a16="http://schemas.microsoft.com/office/drawing/2014/main" id="{EDFE5B7E-08A7-4B91-B96C-D3882AAD4B42}"/>
              </a:ext>
            </a:extLst>
          </p:cNvPr>
          <p:cNvSpPr txBox="1">
            <a:spLocks/>
          </p:cNvSpPr>
          <p:nvPr/>
        </p:nvSpPr>
        <p:spPr>
          <a:xfrm>
            <a:off x="5778303" y="6084113"/>
            <a:ext cx="3365698" cy="6878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err="1"/>
              <a:t>Kesimpulan</a:t>
            </a:r>
            <a:r>
              <a:rPr lang="en-US" sz="1600" dirty="0"/>
              <a:t>: State q2 </a:t>
            </a:r>
            <a:r>
              <a:rPr lang="en-US" sz="1600" dirty="0" err="1"/>
              <a:t>berada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F (final state), </a:t>
            </a:r>
            <a:r>
              <a:rPr lang="en-US" sz="1600" dirty="0" err="1"/>
              <a:t>maka</a:t>
            </a:r>
            <a:r>
              <a:rPr lang="en-US" sz="1600" dirty="0"/>
              <a:t> ‘</a:t>
            </a:r>
            <a:r>
              <a:rPr lang="en-US" sz="1600" dirty="0" err="1"/>
              <a:t>abba</a:t>
            </a:r>
            <a:r>
              <a:rPr lang="en-US" sz="1600" dirty="0"/>
              <a:t>’ </a:t>
            </a:r>
            <a:r>
              <a:rPr lang="en-US" sz="1600" dirty="0" err="1"/>
              <a:t>diterima</a:t>
            </a:r>
            <a:r>
              <a:rPr lang="en-US" sz="1600" dirty="0"/>
              <a:t> </a:t>
            </a:r>
            <a:r>
              <a:rPr lang="en-US" sz="1600" dirty="0" err="1"/>
              <a:t>oleh</a:t>
            </a:r>
            <a:r>
              <a:rPr lang="en-US" sz="1600" dirty="0"/>
              <a:t> PDA </a:t>
            </a:r>
            <a:r>
              <a:rPr lang="en-US" sz="1600" dirty="0" err="1"/>
              <a:t>ini</a:t>
            </a:r>
            <a:endParaRPr lang="en-US" sz="16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DA7AF31-661B-42BA-BB4D-5BDE932045CA}"/>
              </a:ext>
            </a:extLst>
          </p:cNvPr>
          <p:cNvCxnSpPr>
            <a:cxnSpLocks/>
          </p:cNvCxnSpPr>
          <p:nvPr/>
        </p:nvCxnSpPr>
        <p:spPr>
          <a:xfrm flipH="1">
            <a:off x="3781227" y="1392702"/>
            <a:ext cx="2703980" cy="8176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9F3230A-F6C8-4F8C-AFDF-B84448E4F2E4}"/>
              </a:ext>
            </a:extLst>
          </p:cNvPr>
          <p:cNvCxnSpPr>
            <a:cxnSpLocks/>
          </p:cNvCxnSpPr>
          <p:nvPr/>
        </p:nvCxnSpPr>
        <p:spPr>
          <a:xfrm flipH="1">
            <a:off x="3418449" y="2364728"/>
            <a:ext cx="3231324" cy="22588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A7F9790-BA85-4BCE-85A8-4BD088F9C91E}"/>
              </a:ext>
            </a:extLst>
          </p:cNvPr>
          <p:cNvCxnSpPr>
            <a:cxnSpLocks/>
          </p:cNvCxnSpPr>
          <p:nvPr/>
        </p:nvCxnSpPr>
        <p:spPr>
          <a:xfrm flipH="1">
            <a:off x="3649607" y="1654242"/>
            <a:ext cx="3000166" cy="47737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91198BB-E96E-4D03-BBC2-965383C6B114}"/>
              </a:ext>
            </a:extLst>
          </p:cNvPr>
          <p:cNvCxnSpPr>
            <a:cxnSpLocks/>
          </p:cNvCxnSpPr>
          <p:nvPr/>
        </p:nvCxnSpPr>
        <p:spPr>
          <a:xfrm>
            <a:off x="6615545" y="2644522"/>
            <a:ext cx="1174823" cy="11240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252E432-2199-47E5-9718-FB858BC859E6}"/>
              </a:ext>
            </a:extLst>
          </p:cNvPr>
          <p:cNvCxnSpPr>
            <a:cxnSpLocks/>
          </p:cNvCxnSpPr>
          <p:nvPr/>
        </p:nvCxnSpPr>
        <p:spPr>
          <a:xfrm flipH="1">
            <a:off x="5827165" y="1052946"/>
            <a:ext cx="785690" cy="40316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66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8" grpId="0" animBg="1"/>
      <p:bldP spid="20" grpId="0" animBg="1"/>
      <p:bldP spid="22" grpId="0" animBg="1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6BC89EC-D40D-42F1-BD48-19B2C7F83B44}"/>
                  </a:ext>
                </a:extLst>
              </p:cNvPr>
              <p:cNvSpPr txBox="1"/>
              <p:nvPr/>
            </p:nvSpPr>
            <p:spPr>
              <a:xfrm>
                <a:off x="348344" y="1142751"/>
                <a:ext cx="833142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𝐴𝑍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sz="2400" dirty="0"/>
              </a:p>
              <a:p>
                <a:pPr defTabSz="914400">
                  <a:defRPr/>
                </a:pPr>
                <a:r>
                  <a:rPr lang="en-US" sz="24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dan</a:t>
                </a:r>
                <a:r>
                  <a:rPr lang="en-US" sz="2400" dirty="0"/>
                  <a:t> top stack Z </a:t>
                </a:r>
                <a:r>
                  <a:rPr lang="en-US" sz="2400" dirty="0" err="1"/>
                  <a:t>membaca</a:t>
                </a:r>
                <a:r>
                  <a:rPr lang="en-US" sz="2400" dirty="0"/>
                  <a:t> input ‘a’ </a:t>
                </a:r>
                <a:r>
                  <a:rPr lang="en-US" sz="2400" dirty="0">
                    <a:sym typeface="Wingdings" panose="05000000000000000000" pitchFamily="2" charset="2"/>
                  </a:rPr>
                  <a:t>= </a:t>
                </a:r>
                <a:r>
                  <a:rPr lang="en-US" sz="2400" dirty="0"/>
                  <a:t>Konfigurasi </a:t>
                </a:r>
                <a:r>
                  <a:rPr lang="en-US" sz="2400" dirty="0" err="1"/>
                  <a:t>mesin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menjadi</a:t>
                </a:r>
                <a:r>
                  <a:rPr lang="en-US" sz="2400" dirty="0"/>
                  <a:t> :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A di push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Montserrat Medium" panose="00000600000000000000" pitchFamily="50" charset="0"/>
                  <a:ea typeface="Roboto" pitchFamily="2" charset="0"/>
                  <a:cs typeface="Arial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6BC89EC-D40D-42F1-BD48-19B2C7F83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44" y="1142751"/>
                <a:ext cx="8331422" cy="1569660"/>
              </a:xfrm>
              <a:prstGeom prst="rect">
                <a:avLst/>
              </a:prstGeom>
              <a:blipFill>
                <a:blip r:embed="rId3"/>
                <a:stretch>
                  <a:fillRect l="-1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404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79A3AAD8-80DA-4982-949F-ABF319A1BA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924" y="1117768"/>
                <a:ext cx="10515600" cy="68782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400" dirty="0"/>
                  <a:t>Misal </a:t>
                </a:r>
                <a:r>
                  <a:rPr lang="en-US" sz="1400" dirty="0" err="1"/>
                  <a:t>ingin</a:t>
                </a:r>
                <a:r>
                  <a:rPr lang="en-US" sz="1400" dirty="0"/>
                  <a:t> </a:t>
                </a:r>
                <a:r>
                  <a:rPr lang="en-US" sz="1400" dirty="0" err="1"/>
                  <a:t>mengetahui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apakah</a:t>
                </a:r>
                <a:r>
                  <a:rPr lang="en-US" sz="1400" dirty="0"/>
                  <a:t> string ‘</a:t>
                </a:r>
                <a:r>
                  <a:rPr lang="en-US" sz="1400" b="1" dirty="0" err="1"/>
                  <a:t>abba</a:t>
                </a:r>
                <a:r>
                  <a:rPr lang="en-US" sz="1400" dirty="0"/>
                  <a:t>’ </a:t>
                </a:r>
                <a:r>
                  <a:rPr lang="en-US" sz="1400" dirty="0" err="1"/>
                  <a:t>diterima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oleh</a:t>
                </a:r>
                <a:r>
                  <a:rPr lang="en-US" sz="1400" dirty="0"/>
                  <a:t> PDA (FSA + stack) </a:t>
                </a:r>
                <a:r>
                  <a:rPr lang="en-US" sz="1400" b="1" dirty="0"/>
                  <a:t>null </a:t>
                </a:r>
                <a14:m>
                  <m:oMath xmlns:m="http://schemas.openxmlformats.org/officeDocument/2006/math">
                    <m:r>
                      <a:rPr lang="en-US" sz="1400" b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b="1" dirty="0"/>
                  <a:t>stack</a:t>
                </a:r>
                <a:r>
                  <a:rPr lang="en-US" sz="1400" dirty="0"/>
                  <a:t>?</a:t>
                </a:r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79A3AAD8-80DA-4982-949F-ABF319A1B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4" y="1117768"/>
                <a:ext cx="10515600" cy="687820"/>
              </a:xfrm>
              <a:prstGeom prst="rect">
                <a:avLst/>
              </a:prstGeom>
              <a:blipFill>
                <a:blip r:embed="rId4"/>
                <a:stretch>
                  <a:fillRect l="-174" t="-35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1BA7160E-A581-4896-8212-581A588D9B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3187579"/>
              </p:ext>
            </p:extLst>
          </p:nvPr>
        </p:nvGraphicFramePr>
        <p:xfrm>
          <a:off x="93924" y="2037516"/>
          <a:ext cx="98515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156">
                  <a:extLst>
                    <a:ext uri="{9D8B030D-6E8A-4147-A177-3AD203B41FA5}">
                      <a16:colId xmlns:a16="http://schemas.microsoft.com/office/drawing/2014/main" val="1320263319"/>
                    </a:ext>
                  </a:extLst>
                </a:gridCol>
              </a:tblGrid>
              <a:tr h="343910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377886"/>
                  </a:ext>
                </a:extLst>
              </a:tr>
              <a:tr h="3439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875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98720EB-96B1-49A7-AE53-B362E8CADD92}"/>
                  </a:ext>
                </a:extLst>
              </p:cNvPr>
              <p:cNvSpPr/>
              <p:nvPr/>
            </p:nvSpPr>
            <p:spPr>
              <a:xfrm>
                <a:off x="1214543" y="2051113"/>
                <a:ext cx="2539439" cy="6606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input ‘a’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𝐴𝑍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98720EB-96B1-49A7-AE53-B362E8CADD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543" y="2051113"/>
                <a:ext cx="2539439" cy="6606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97DABA65-950C-4C0D-BB26-D5CE2A6455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6491957"/>
              </p:ext>
            </p:extLst>
          </p:nvPr>
        </p:nvGraphicFramePr>
        <p:xfrm>
          <a:off x="3557742" y="1877064"/>
          <a:ext cx="87712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124">
                  <a:extLst>
                    <a:ext uri="{9D8B030D-6E8A-4147-A177-3AD203B41FA5}">
                      <a16:colId xmlns:a16="http://schemas.microsoft.com/office/drawing/2014/main" val="1320263319"/>
                    </a:ext>
                  </a:extLst>
                </a:gridCol>
              </a:tblGrid>
              <a:tr h="34391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377886"/>
                  </a:ext>
                </a:extLst>
              </a:tr>
              <a:tr h="343910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909454"/>
                  </a:ext>
                </a:extLst>
              </a:tr>
              <a:tr h="3439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87569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0D1B3C7C-1028-4F89-8777-9507A65D06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0361297"/>
              </p:ext>
            </p:extLst>
          </p:nvPr>
        </p:nvGraphicFramePr>
        <p:xfrm>
          <a:off x="6554353" y="2007922"/>
          <a:ext cx="110143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436">
                  <a:extLst>
                    <a:ext uri="{9D8B030D-6E8A-4147-A177-3AD203B41FA5}">
                      <a16:colId xmlns:a16="http://schemas.microsoft.com/office/drawing/2014/main" val="1320263319"/>
                    </a:ext>
                  </a:extLst>
                </a:gridCol>
              </a:tblGrid>
              <a:tr h="343910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377886"/>
                  </a:ext>
                </a:extLst>
              </a:tr>
              <a:tr h="3439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87569"/>
                  </a:ext>
                </a:extLst>
              </a:tr>
            </a:tbl>
          </a:graphicData>
        </a:graphic>
      </p:graphicFrame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6876BE6D-A34D-464E-8E32-8E76E53530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9996130"/>
              </p:ext>
            </p:extLst>
          </p:nvPr>
        </p:nvGraphicFramePr>
        <p:xfrm>
          <a:off x="7388173" y="3850177"/>
          <a:ext cx="110143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436">
                  <a:extLst>
                    <a:ext uri="{9D8B030D-6E8A-4147-A177-3AD203B41FA5}">
                      <a16:colId xmlns:a16="http://schemas.microsoft.com/office/drawing/2014/main" val="1320263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377886"/>
                  </a:ext>
                </a:extLst>
              </a:tr>
              <a:tr h="343910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909454"/>
                  </a:ext>
                </a:extLst>
              </a:tr>
              <a:tr h="3439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87569"/>
                  </a:ext>
                </a:extLst>
              </a:tr>
            </a:tbl>
          </a:graphicData>
        </a:graphic>
      </p:graphicFrame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id="{0A112963-81DF-44DF-B5F8-F2D20DF87A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7695469"/>
              </p:ext>
            </p:extLst>
          </p:nvPr>
        </p:nvGraphicFramePr>
        <p:xfrm>
          <a:off x="3731867" y="4086103"/>
          <a:ext cx="110143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436">
                  <a:extLst>
                    <a:ext uri="{9D8B030D-6E8A-4147-A177-3AD203B41FA5}">
                      <a16:colId xmlns:a16="http://schemas.microsoft.com/office/drawing/2014/main" val="1320263319"/>
                    </a:ext>
                  </a:extLst>
                </a:gridCol>
              </a:tblGrid>
              <a:tr h="343910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377886"/>
                  </a:ext>
                </a:extLst>
              </a:tr>
              <a:tr h="3439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87569"/>
                  </a:ext>
                </a:extLst>
              </a:tr>
            </a:tbl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AC6525A1-3CFF-4BA5-AFD6-DFA957D07D7F}"/>
              </a:ext>
            </a:extLst>
          </p:cNvPr>
          <p:cNvSpPr txBox="1">
            <a:spLocks/>
          </p:cNvSpPr>
          <p:nvPr/>
        </p:nvSpPr>
        <p:spPr>
          <a:xfrm>
            <a:off x="206802" y="5434711"/>
            <a:ext cx="4939147" cy="6878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 err="1"/>
              <a:t>Kesimpulan</a:t>
            </a:r>
            <a:r>
              <a:rPr lang="en-US" sz="1400" dirty="0"/>
              <a:t>: State q2 </a:t>
            </a:r>
            <a:r>
              <a:rPr lang="en-US" sz="1400" dirty="0" err="1"/>
              <a:t>berada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F (final state), </a:t>
            </a:r>
            <a:r>
              <a:rPr lang="en-US" sz="1400" dirty="0" err="1"/>
              <a:t>maka</a:t>
            </a:r>
            <a:r>
              <a:rPr lang="en-US" sz="1400" dirty="0"/>
              <a:t> ‘</a:t>
            </a:r>
            <a:r>
              <a:rPr lang="en-US" sz="1400" dirty="0" err="1"/>
              <a:t>abba</a:t>
            </a:r>
            <a:r>
              <a:rPr lang="en-US" sz="1400" dirty="0"/>
              <a:t>’ </a:t>
            </a:r>
            <a:r>
              <a:rPr lang="en-US" sz="1400" dirty="0" err="1"/>
              <a:t>diterima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 PDA </a:t>
            </a:r>
            <a:r>
              <a:rPr lang="en-US" sz="1400" dirty="0" err="1"/>
              <a:t>ini</a:t>
            </a:r>
            <a:endParaRPr lang="en-US" sz="1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34ACBF-6A04-4B3E-AEBF-7291AB14A11A}"/>
              </a:ext>
            </a:extLst>
          </p:cNvPr>
          <p:cNvCxnSpPr>
            <a:cxnSpLocks/>
          </p:cNvCxnSpPr>
          <p:nvPr/>
        </p:nvCxnSpPr>
        <p:spPr>
          <a:xfrm>
            <a:off x="1162959" y="2373682"/>
            <a:ext cx="2438887" cy="77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95B0C08-B21B-4C63-9557-29A7FBC50477}"/>
                  </a:ext>
                </a:extLst>
              </p:cNvPr>
              <p:cNvSpPr/>
              <p:nvPr/>
            </p:nvSpPr>
            <p:spPr>
              <a:xfrm>
                <a:off x="4646472" y="2043334"/>
                <a:ext cx="1978082" cy="6606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input ‘b’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95B0C08-B21B-4C63-9557-29A7FBC504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472" y="2043334"/>
                <a:ext cx="1978082" cy="6606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6329F64-2FE1-4080-A0FB-8BA49A9905CF}"/>
              </a:ext>
            </a:extLst>
          </p:cNvPr>
          <p:cNvCxnSpPr>
            <a:cxnSpLocks/>
            <a:endCxn id="20" idx="3"/>
          </p:cNvCxnSpPr>
          <p:nvPr/>
        </p:nvCxnSpPr>
        <p:spPr>
          <a:xfrm flipV="1">
            <a:off x="4394542" y="2373682"/>
            <a:ext cx="2230012" cy="77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FA3500-DA65-4CDA-A6CC-F9C5EE1953FF}"/>
              </a:ext>
            </a:extLst>
          </p:cNvPr>
          <p:cNvCxnSpPr>
            <a:cxnSpLocks/>
          </p:cNvCxnSpPr>
          <p:nvPr/>
        </p:nvCxnSpPr>
        <p:spPr>
          <a:xfrm>
            <a:off x="7628811" y="2349605"/>
            <a:ext cx="411008" cy="15005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5D3FE48-08F8-4EAF-B1B9-E2192AF0B19D}"/>
                  </a:ext>
                </a:extLst>
              </p:cNvPr>
              <p:cNvSpPr/>
              <p:nvPr/>
            </p:nvSpPr>
            <p:spPr>
              <a:xfrm>
                <a:off x="7628811" y="1947733"/>
                <a:ext cx="1515189" cy="6606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input ‘b’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𝛥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𝐵𝑍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5D3FE48-08F8-4EAF-B1B9-E2192AF0B1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8811" y="1947733"/>
                <a:ext cx="1515189" cy="660695"/>
              </a:xfrm>
              <a:prstGeom prst="rect">
                <a:avLst/>
              </a:prstGeom>
              <a:blipFill>
                <a:blip r:embed="rId7"/>
                <a:stretch>
                  <a:fillRect t="-7407" b="-64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A3E9DE4-1886-40F8-BBDA-B49246452904}"/>
                  </a:ext>
                </a:extLst>
              </p:cNvPr>
              <p:cNvSpPr/>
              <p:nvPr/>
            </p:nvSpPr>
            <p:spPr>
              <a:xfrm>
                <a:off x="4720774" y="4096387"/>
                <a:ext cx="2539439" cy="6606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input ‘a’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A3E9DE4-1886-40F8-BBDA-B492464529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0774" y="4096387"/>
                <a:ext cx="2539439" cy="6606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B18EF77-DEB8-4D02-9AFC-47AFA11DFF86}"/>
              </a:ext>
            </a:extLst>
          </p:cNvPr>
          <p:cNvCxnSpPr/>
          <p:nvPr/>
        </p:nvCxnSpPr>
        <p:spPr>
          <a:xfrm flipH="1">
            <a:off x="4713271" y="4418956"/>
            <a:ext cx="267490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6CBC26B-3DD8-41F3-A224-ED9D0B45F066}"/>
                  </a:ext>
                </a:extLst>
              </p:cNvPr>
              <p:cNvSpPr/>
              <p:nvPr/>
            </p:nvSpPr>
            <p:spPr>
              <a:xfrm>
                <a:off x="980372" y="4096387"/>
                <a:ext cx="2705361" cy="6606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dirty="0">
                    <a:solidFill>
                      <a:schemeClr val="tx1"/>
                    </a:solidFill>
                  </a:rPr>
                  <a:t>Semua input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sudah</a:t>
                </a:r>
                <a:r>
                  <a:rPr lang="en-US" sz="1400" dirty="0">
                    <a:solidFill>
                      <a:schemeClr val="tx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selesai</a:t>
                </a:r>
                <a:r>
                  <a:rPr lang="en-US" sz="1400" dirty="0">
                    <a:solidFill>
                      <a:schemeClr val="tx1"/>
                    </a:solidFill>
                  </a:rPr>
                  <a:t> di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baca</a:t>
                </a:r>
                <a:r>
                  <a:rPr lang="en-US" sz="1400" dirty="0">
                    <a:solidFill>
                      <a:schemeClr val="tx1"/>
                    </a:solidFill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6CBC26B-3DD8-41F3-A224-ED9D0B45F0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372" y="4096387"/>
                <a:ext cx="2705361" cy="660695"/>
              </a:xfrm>
              <a:prstGeom prst="rect">
                <a:avLst/>
              </a:prstGeom>
              <a:blipFill>
                <a:blip r:embed="rId9"/>
                <a:stretch>
                  <a:fillRect l="-6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60C0697-CF3C-4E97-B453-299A3D2311F6}"/>
              </a:ext>
            </a:extLst>
          </p:cNvPr>
          <p:cNvCxnSpPr>
            <a:cxnSpLocks/>
            <a:stCxn id="26" idx="3"/>
          </p:cNvCxnSpPr>
          <p:nvPr/>
        </p:nvCxnSpPr>
        <p:spPr>
          <a:xfrm flipH="1" flipV="1">
            <a:off x="759147" y="4418957"/>
            <a:ext cx="2926586" cy="77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id="{44C1E73C-87B3-40FC-A45B-6C9C7A2455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2891300"/>
              </p:ext>
            </p:extLst>
          </p:nvPr>
        </p:nvGraphicFramePr>
        <p:xfrm>
          <a:off x="37540" y="4096387"/>
          <a:ext cx="77775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752">
                  <a:extLst>
                    <a:ext uri="{9D8B030D-6E8A-4147-A177-3AD203B41FA5}">
                      <a16:colId xmlns:a16="http://schemas.microsoft.com/office/drawing/2014/main" val="1320263319"/>
                    </a:ext>
                  </a:extLst>
                </a:gridCol>
              </a:tblGrid>
              <a:tr h="343910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377886"/>
                  </a:ext>
                </a:extLst>
              </a:tr>
              <a:tr h="3439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87569"/>
                  </a:ext>
                </a:extLst>
              </a:tr>
            </a:tbl>
          </a:graphicData>
        </a:graphic>
      </p:graphicFrame>
      <p:sp>
        <p:nvSpPr>
          <p:cNvPr id="29" name="Title 1">
            <a:extLst>
              <a:ext uri="{FF2B5EF4-FFF2-40B4-BE49-F238E27FC236}">
                <a16:creationId xmlns:a16="http://schemas.microsoft.com/office/drawing/2014/main" id="{300065FE-38B3-4A6C-93DF-AE496B040E90}"/>
              </a:ext>
            </a:extLst>
          </p:cNvPr>
          <p:cNvSpPr txBox="1">
            <a:spLocks/>
          </p:cNvSpPr>
          <p:nvPr/>
        </p:nvSpPr>
        <p:spPr>
          <a:xfrm>
            <a:off x="301408" y="2759728"/>
            <a:ext cx="513884" cy="382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q1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81E03E05-FA93-4415-B7CA-260C4FB2C407}"/>
              </a:ext>
            </a:extLst>
          </p:cNvPr>
          <p:cNvSpPr txBox="1">
            <a:spLocks/>
          </p:cNvSpPr>
          <p:nvPr/>
        </p:nvSpPr>
        <p:spPr>
          <a:xfrm>
            <a:off x="3743851" y="2987714"/>
            <a:ext cx="513884" cy="382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q1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23FB397-38B8-4C75-834A-23238FA6199A}"/>
              </a:ext>
            </a:extLst>
          </p:cNvPr>
          <p:cNvSpPr txBox="1">
            <a:spLocks/>
          </p:cNvSpPr>
          <p:nvPr/>
        </p:nvSpPr>
        <p:spPr>
          <a:xfrm>
            <a:off x="6933083" y="2757928"/>
            <a:ext cx="513884" cy="382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q1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039EB435-E317-4F8F-BB2D-FE20962F9D29}"/>
              </a:ext>
            </a:extLst>
          </p:cNvPr>
          <p:cNvSpPr txBox="1">
            <a:spLocks/>
          </p:cNvSpPr>
          <p:nvPr/>
        </p:nvSpPr>
        <p:spPr>
          <a:xfrm>
            <a:off x="7633436" y="4947457"/>
            <a:ext cx="513884" cy="382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q1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7C510347-AB4E-4041-901B-A9EAC6BD92A8}"/>
              </a:ext>
            </a:extLst>
          </p:cNvPr>
          <p:cNvSpPr txBox="1">
            <a:spLocks/>
          </p:cNvSpPr>
          <p:nvPr/>
        </p:nvSpPr>
        <p:spPr>
          <a:xfrm>
            <a:off x="4059243" y="4827907"/>
            <a:ext cx="513884" cy="382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q1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5303BB3F-DACF-46D9-9F42-DD7B3336318E}"/>
              </a:ext>
            </a:extLst>
          </p:cNvPr>
          <p:cNvSpPr txBox="1">
            <a:spLocks/>
          </p:cNvSpPr>
          <p:nvPr/>
        </p:nvSpPr>
        <p:spPr>
          <a:xfrm>
            <a:off x="307094" y="4833895"/>
            <a:ext cx="513884" cy="382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q2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EEBFE4C-F07A-4899-B37A-2D186BB62179}"/>
                  </a:ext>
                </a:extLst>
              </p:cNvPr>
              <p:cNvSpPr/>
              <p:nvPr/>
            </p:nvSpPr>
            <p:spPr>
              <a:xfrm>
                <a:off x="1861185" y="6107863"/>
                <a:ext cx="4572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𝐴𝑍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sz="1200" dirty="0">
                  <a:solidFill>
                    <a:prstClr val="black"/>
                  </a:solidFill>
                </a:endParaRPr>
              </a:p>
              <a:p>
                <a:pPr lvl="0" defTabSz="914400">
                  <a:defRPr/>
                </a:pPr>
                <a:r>
                  <a:rPr lang="en-US" sz="1200" dirty="0">
                    <a:solidFill>
                      <a:prstClr val="black"/>
                    </a:solidFill>
                  </a:rPr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prstClr val="black"/>
                    </a:solidFill>
                  </a:rPr>
                  <a:t> </a:t>
                </a:r>
                <a:r>
                  <a:rPr lang="en-US" sz="1200" dirty="0" err="1">
                    <a:solidFill>
                      <a:prstClr val="black"/>
                    </a:solidFill>
                  </a:rPr>
                  <a:t>dan</a:t>
                </a:r>
                <a:r>
                  <a:rPr lang="en-US" sz="1200" dirty="0">
                    <a:solidFill>
                      <a:prstClr val="black"/>
                    </a:solidFill>
                  </a:rPr>
                  <a:t> top stack Z </a:t>
                </a:r>
                <a:r>
                  <a:rPr lang="en-US" sz="1200" dirty="0" err="1">
                    <a:solidFill>
                      <a:prstClr val="black"/>
                    </a:solidFill>
                  </a:rPr>
                  <a:t>membaca</a:t>
                </a:r>
                <a:r>
                  <a:rPr lang="en-US" sz="1200" dirty="0">
                    <a:solidFill>
                      <a:prstClr val="black"/>
                    </a:solidFill>
                  </a:rPr>
                  <a:t> input ‘a’ </a:t>
                </a:r>
                <a:r>
                  <a:rPr lang="en-US" sz="12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= </a:t>
                </a:r>
                <a:r>
                  <a:rPr lang="en-US" sz="1200" dirty="0">
                    <a:solidFill>
                      <a:prstClr val="black"/>
                    </a:solidFill>
                  </a:rPr>
                  <a:t>Konfigurasi </a:t>
                </a:r>
                <a:r>
                  <a:rPr lang="en-US" sz="1200" dirty="0" err="1">
                    <a:solidFill>
                      <a:prstClr val="black"/>
                    </a:solidFill>
                  </a:rPr>
                  <a:t>mesin</a:t>
                </a:r>
                <a:r>
                  <a:rPr lang="en-US" sz="1200" dirty="0">
                    <a:solidFill>
                      <a:prstClr val="black"/>
                    </a:solidFill>
                  </a:rPr>
                  <a:t> </a:t>
                </a:r>
                <a:r>
                  <a:rPr lang="en-US" sz="1200" dirty="0" err="1">
                    <a:solidFill>
                      <a:prstClr val="black"/>
                    </a:solidFill>
                  </a:rPr>
                  <a:t>menjadi</a:t>
                </a:r>
                <a:r>
                  <a:rPr lang="en-US" sz="1200" dirty="0">
                    <a:solidFill>
                      <a:prstClr val="black"/>
                    </a:solidFill>
                  </a:rPr>
                  <a:t> :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prstClr val="black"/>
                    </a:solidFill>
                  </a:rPr>
                  <a:t>, A di push</a:t>
                </a: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EEBFE4C-F07A-4899-B37A-2D186BB621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185" y="6107863"/>
                <a:ext cx="4572000" cy="646331"/>
              </a:xfrm>
              <a:prstGeom prst="rect">
                <a:avLst/>
              </a:prstGeom>
              <a:blipFill>
                <a:blip r:embed="rId10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273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7505114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2800" dirty="0" err="1"/>
              <a:t>Contoh</a:t>
            </a:r>
            <a:r>
              <a:rPr lang="en-US" sz="2800" dirty="0"/>
              <a:t> 2 </a:t>
            </a:r>
            <a:r>
              <a:rPr lang="en-US" sz="2800" dirty="0" err="1"/>
              <a:t>sebuah</a:t>
            </a:r>
            <a:r>
              <a:rPr lang="en-US" sz="2800" dirty="0"/>
              <a:t> PDA (FSA + stack) </a:t>
            </a:r>
            <a:r>
              <a:rPr lang="en-US" sz="2800" b="1" dirty="0"/>
              <a:t>stack </a:t>
            </a:r>
            <a:r>
              <a:rPr lang="en-US" sz="2800" b="1" dirty="0" err="1"/>
              <a:t>kosong</a:t>
            </a:r>
            <a:r>
              <a:rPr lang="en-US" sz="2800" dirty="0"/>
              <a:t>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258"/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3">
                <a:extLst>
                  <a:ext uri="{FF2B5EF4-FFF2-40B4-BE49-F238E27FC236}">
                    <a16:creationId xmlns:a16="http://schemas.microsoft.com/office/drawing/2014/main" id="{EF89B0A3-8208-4D93-9E87-764251A848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3424311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𝑄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}</a:t>
                </a: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l-GR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Σ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={0,1,2}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l-GR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Γ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={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𝑍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𝐵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𝐺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}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S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F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n-US" sz="28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Ø </m:t>
                        </m:r>
                      </m:e>
                      <m:sub>
                        <m:r>
                          <m:rPr>
                            <m:nor/>
                          </m:rPr>
                          <a:rPr kumimoji="0" lang="en-US" sz="28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 </m:t>
                        </m:r>
                      </m:sub>
                    </m:sSub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Z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𝑍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Content Placeholder 3">
                <a:extLst>
                  <a:ext uri="{FF2B5EF4-FFF2-40B4-BE49-F238E27FC236}">
                    <a16:creationId xmlns:a16="http://schemas.microsoft.com/office/drawing/2014/main" id="{EF89B0A3-8208-4D93-9E87-764251A84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3424311" cy="4351338"/>
              </a:xfrm>
              <a:prstGeom prst="rect">
                <a:avLst/>
              </a:prstGeom>
              <a:blipFill>
                <a:blip r:embed="rId4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6F9F6019-41BC-401E-8E5B-4752EEC117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2720" y="1482436"/>
                <a:ext cx="4049486" cy="52667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	</a:t>
                </a:r>
                <a:r>
                  <a:rPr kumimoji="0" lang="en-US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Memiliki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fungsi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transisi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</a:t>
                </a: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l-GR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Δ</m:t>
                    </m:r>
                    <m:d>
                      <m:d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0,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𝑍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={(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𝐵𝑍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)}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l-GR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Δ</m:t>
                    </m:r>
                    <m:d>
                      <m:d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,0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𝐵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={(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𝐵𝐵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)}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l-GR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Δ</m:t>
                    </m:r>
                    <m:d>
                      <m:d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,0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={(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𝐵𝐺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)}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l-G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Δ</m:t>
                    </m:r>
                    <m:d>
                      <m:d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𝑍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={(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𝑍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)}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l-G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Δ</m:t>
                    </m:r>
                    <m:d>
                      <m:d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𝐵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={(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𝐵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)}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l-G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Δ</m:t>
                    </m:r>
                    <m:d>
                      <m:d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</m:e>
                        </m:d>
                      </m:e>
                    </m:d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l-G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Δ</m:t>
                    </m:r>
                    <m:d>
                      <m:d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0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𝐵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={(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𝜀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)}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l-G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Δ</m:t>
                    </m:r>
                    <m:d>
                      <m:d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𝜀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𝑍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={(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𝜀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)}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l-G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Δ</m:t>
                    </m:r>
                    <m:d>
                      <m:d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𝑍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={(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𝐺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𝑍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)}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l-G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Δ</m:t>
                    </m:r>
                    <m:d>
                      <m:d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𝐵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={(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𝐺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𝐵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)}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l-G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Δ</m:t>
                    </m:r>
                    <m:d>
                      <m:d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={(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𝐺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𝐺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)}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l-GR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Δ</m:t>
                    </m:r>
                    <m:d>
                      <m:d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,1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={(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𝜀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)}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6F9F6019-41BC-401E-8E5B-4752EEC11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720" y="1482436"/>
                <a:ext cx="4049486" cy="5266707"/>
              </a:xfrm>
              <a:prstGeom prst="rect">
                <a:avLst/>
              </a:prstGeom>
              <a:blipFill>
                <a:blip r:embed="rId5"/>
                <a:stretch>
                  <a:fillRect l="-2256" t="-2662" r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05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C3FE951-F780-4465-94F8-6D09956A7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4515"/>
            <a:ext cx="9144000" cy="524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31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3068812-9019-4FA5-BFF6-A09D1B19E990}"/>
                  </a:ext>
                </a:extLst>
              </p:cNvPr>
              <p:cNvSpPr/>
              <p:nvPr/>
            </p:nvSpPr>
            <p:spPr>
              <a:xfrm>
                <a:off x="457200" y="1319927"/>
                <a:ext cx="7603588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914400"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simbol-simbol</a:t>
                </a:r>
                <a:r>
                  <a:rPr lang="en-US" dirty="0">
                    <a:solidFill>
                      <a:srgbClr val="FF0000"/>
                    </a:solidFill>
                  </a:rPr>
                  <a:t> stack</a:t>
                </a:r>
              </a:p>
              <a:p>
                <a:pPr defTabSz="914400"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Simbol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awal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tumpukan</a:t>
                </a:r>
                <a:r>
                  <a:rPr lang="en-US" dirty="0">
                    <a:solidFill>
                      <a:srgbClr val="FF0000"/>
                    </a:solidFill>
                  </a:rPr>
                  <a:t>/top of stack</a:t>
                </a:r>
              </a:p>
              <a:p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-----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𝐴𝑍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dirty="0"/>
              </a:p>
              <a:p>
                <a:pPr defTabSz="914400">
                  <a:defRPr/>
                </a:pPr>
                <a:r>
                  <a:rPr lang="en-US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dan</a:t>
                </a:r>
                <a:r>
                  <a:rPr lang="en-US" dirty="0"/>
                  <a:t> top stack Z </a:t>
                </a:r>
                <a:r>
                  <a:rPr lang="en-US" dirty="0" err="1"/>
                  <a:t>membaca</a:t>
                </a:r>
                <a:r>
                  <a:rPr lang="en-US" dirty="0"/>
                  <a:t> input ‘a’ = Konfigurasi </a:t>
                </a:r>
                <a:r>
                  <a:rPr lang="en-US" dirty="0" err="1"/>
                  <a:t>mesin</a:t>
                </a:r>
                <a:r>
                  <a:rPr lang="en-US" dirty="0"/>
                  <a:t> </a:t>
                </a:r>
                <a:r>
                  <a:rPr lang="en-US" dirty="0" err="1"/>
                  <a:t>menjadi</a:t>
                </a:r>
                <a:r>
                  <a:rPr lang="en-US" dirty="0"/>
                  <a:t> :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A di push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3068812-9019-4FA5-BFF6-A09D1B19E9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319927"/>
                <a:ext cx="7603588" cy="2308324"/>
              </a:xfrm>
              <a:prstGeom prst="rect">
                <a:avLst/>
              </a:prstGeom>
              <a:blipFill>
                <a:blip r:embed="rId4"/>
                <a:stretch>
                  <a:fillRect l="-642" t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2123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8BBE2F-42F3-4588-8FBB-114382031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12418"/>
            <a:ext cx="9144000" cy="383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927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6DEF738-F2C3-4137-BA48-7C430A6A13A4}"/>
                  </a:ext>
                </a:extLst>
              </p:cNvPr>
              <p:cNvSpPr/>
              <p:nvPr/>
            </p:nvSpPr>
            <p:spPr>
              <a:xfrm>
                <a:off x="348343" y="2274838"/>
                <a:ext cx="8429897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914400"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simbol-simbol</a:t>
                </a:r>
                <a:r>
                  <a:rPr lang="en-US" dirty="0">
                    <a:solidFill>
                      <a:srgbClr val="FF0000"/>
                    </a:solidFill>
                  </a:rPr>
                  <a:t> stack</a:t>
                </a:r>
              </a:p>
              <a:p>
                <a:pPr defTabSz="914400"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Simbol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awal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tumpukan</a:t>
                </a:r>
                <a:r>
                  <a:rPr lang="en-US" dirty="0">
                    <a:solidFill>
                      <a:srgbClr val="FF0000"/>
                    </a:solidFill>
                  </a:rPr>
                  <a:t>/top of stack</a:t>
                </a:r>
              </a:p>
              <a:p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-----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𝐴𝑍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dirty="0"/>
              </a:p>
              <a:p>
                <a:pPr defTabSz="914400">
                  <a:defRPr/>
                </a:pPr>
                <a:r>
                  <a:rPr lang="en-US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dan</a:t>
                </a:r>
                <a:r>
                  <a:rPr lang="en-US" dirty="0"/>
                  <a:t> top stack Z </a:t>
                </a:r>
                <a:r>
                  <a:rPr lang="en-US" dirty="0" err="1"/>
                  <a:t>membaca</a:t>
                </a:r>
                <a:r>
                  <a:rPr lang="en-US" dirty="0"/>
                  <a:t> input ‘a’ = Konfigurasi </a:t>
                </a:r>
                <a:r>
                  <a:rPr lang="en-US" dirty="0" err="1"/>
                  <a:t>mesin</a:t>
                </a:r>
                <a:r>
                  <a:rPr lang="en-US" dirty="0"/>
                  <a:t> </a:t>
                </a:r>
                <a:r>
                  <a:rPr lang="en-US" dirty="0" err="1"/>
                  <a:t>menjadi</a:t>
                </a:r>
                <a:r>
                  <a:rPr lang="en-US" dirty="0"/>
                  <a:t> :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A di push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6DEF738-F2C3-4137-BA48-7C430A6A13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43" y="2274838"/>
                <a:ext cx="8429897" cy="2308324"/>
              </a:xfrm>
              <a:prstGeom prst="rect">
                <a:avLst/>
              </a:prstGeom>
              <a:blipFill>
                <a:blip r:embed="rId4"/>
                <a:stretch>
                  <a:fillRect l="-57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4157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8475785" cy="1091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2800" dirty="0"/>
              <a:t>PDA </a:t>
            </a:r>
            <a:r>
              <a:rPr lang="en-US" sz="2800" dirty="0" err="1"/>
              <a:t>untuk</a:t>
            </a:r>
            <a:r>
              <a:rPr lang="en-US" sz="2800" dirty="0"/>
              <a:t> Tata Bahasa </a:t>
            </a:r>
            <a:r>
              <a:rPr lang="en-US" sz="2800" dirty="0" err="1"/>
              <a:t>Bebas</a:t>
            </a:r>
            <a:r>
              <a:rPr lang="en-US" sz="2800" dirty="0"/>
              <a:t> </a:t>
            </a:r>
            <a:r>
              <a:rPr lang="en-US" sz="2800" dirty="0" err="1"/>
              <a:t>Konteks</a:t>
            </a:r>
            <a:r>
              <a:rPr lang="en-US" sz="2800" dirty="0"/>
              <a:t>/ Context Free Grammar (CFG)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258"/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026F2B9-F3B9-4678-8E3B-EEEA57C86076}"/>
              </a:ext>
            </a:extLst>
          </p:cNvPr>
          <p:cNvSpPr txBox="1">
            <a:spLocks/>
          </p:cNvSpPr>
          <p:nvPr/>
        </p:nvSpPr>
        <p:spPr>
          <a:xfrm>
            <a:off x="123092" y="2323675"/>
            <a:ext cx="9144000" cy="10766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PDA bisa dibuat untuk kumpulan aturan produksi dari suatu tata bahasa bebas konteks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552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6787662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2800" dirty="0"/>
              <a:t>Push Down Automata </a:t>
            </a:r>
            <a:r>
              <a:rPr lang="en-US" sz="2800" dirty="0" err="1"/>
              <a:t>Bebas</a:t>
            </a:r>
            <a:r>
              <a:rPr lang="en-US" sz="2800" dirty="0"/>
              <a:t> </a:t>
            </a:r>
            <a:r>
              <a:rPr lang="en-US" sz="2800" dirty="0" err="1"/>
              <a:t>Konteks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258"/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0C9F6DE7-F1CA-4A51-A923-4E2B804D66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681" y="1507067"/>
                <a:ext cx="4465319" cy="466989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Definisi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himpunan</a:t>
                </a:r>
                <a:r>
                  <a:rPr lang="en-US" sz="2400" dirty="0"/>
                  <a:t> State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himpunan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Simbol</a:t>
                </a:r>
                <a:r>
                  <a:rPr lang="en-US" sz="2400" dirty="0"/>
                  <a:t> input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simbol-simbol</a:t>
                </a:r>
                <a:r>
                  <a:rPr lang="en-US" sz="2400" dirty="0">
                    <a:solidFill>
                      <a:srgbClr val="FF0000"/>
                    </a:solidFill>
                  </a:rPr>
                  <a:t> stack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fungsi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transisi</a:t>
                </a:r>
                <a:endParaRPr lang="en-US" sz="2400" dirty="0"/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State </a:t>
                </a:r>
                <a:r>
                  <a:rPr lang="en-US" sz="2400" dirty="0" err="1"/>
                  <a:t>awal</a:t>
                </a:r>
                <a:endParaRPr lang="en-US" sz="2400" dirty="0"/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Himpunan</a:t>
                </a:r>
                <a:r>
                  <a:rPr lang="en-US" sz="2400" dirty="0"/>
                  <a:t> Final State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Simbol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awal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tumpukan</a:t>
                </a:r>
                <a:r>
                  <a:rPr lang="en-US" sz="2400" dirty="0">
                    <a:solidFill>
                      <a:srgbClr val="FF0000"/>
                    </a:solidFill>
                  </a:rPr>
                  <a:t>/top of stack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0C9F6DE7-F1CA-4A51-A923-4E2B804D6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1" y="1507067"/>
                <a:ext cx="4465319" cy="4669896"/>
              </a:xfrm>
              <a:prstGeom prst="rect">
                <a:avLst/>
              </a:prstGeom>
              <a:blipFill>
                <a:blip r:embed="rId4"/>
                <a:stretch>
                  <a:fillRect l="-2049" t="-1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2B257-0A7F-477D-AEE0-B45DFD814C24}"/>
              </a:ext>
            </a:extLst>
          </p:cNvPr>
          <p:cNvSpPr txBox="1">
            <a:spLocks/>
          </p:cNvSpPr>
          <p:nvPr/>
        </p:nvSpPr>
        <p:spPr>
          <a:xfrm>
            <a:off x="4397829" y="1486817"/>
            <a:ext cx="4465319" cy="466989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Mesin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dimulai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mem-push Z pada top stack. Pada </a:t>
            </a:r>
            <a:r>
              <a:rPr lang="en-US" sz="2400" dirty="0" err="1"/>
              <a:t>langkah</a:t>
            </a:r>
            <a:r>
              <a:rPr lang="en-US" sz="2400" dirty="0"/>
              <a:t> </a:t>
            </a:r>
            <a:r>
              <a:rPr lang="en-US" sz="2400" dirty="0" err="1"/>
              <a:t>berikutnya</a:t>
            </a:r>
            <a:r>
              <a:rPr lang="en-US" sz="2400" dirty="0"/>
              <a:t>:</a:t>
            </a:r>
          </a:p>
          <a:p>
            <a:pPr>
              <a:buFontTx/>
              <a:buChar char="-"/>
            </a:pPr>
            <a:r>
              <a:rPr lang="en-US" sz="2400" dirty="0" err="1"/>
              <a:t>Jika</a:t>
            </a:r>
            <a:r>
              <a:rPr lang="en-US" sz="2400" dirty="0"/>
              <a:t> top stack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simbol</a:t>
            </a:r>
            <a:r>
              <a:rPr lang="en-US" sz="2400" dirty="0"/>
              <a:t> stack ad</a:t>
            </a:r>
            <a:r>
              <a:rPr lang="id-ID" sz="2400" dirty="0"/>
              <a:t>a</a:t>
            </a:r>
            <a:r>
              <a:rPr lang="en-US" sz="2400" dirty="0"/>
              <a:t>l</a:t>
            </a:r>
            <a:r>
              <a:rPr lang="id-ID" sz="2400" dirty="0"/>
              <a:t>ah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variable (missal A),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menggantinya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ruas</a:t>
            </a:r>
            <a:r>
              <a:rPr lang="en-US" sz="2400" dirty="0"/>
              <a:t> </a:t>
            </a:r>
            <a:r>
              <a:rPr lang="en-US" sz="2400" dirty="0" err="1"/>
              <a:t>kanan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A </a:t>
            </a:r>
            <a:r>
              <a:rPr lang="en-US" sz="2400" dirty="0" err="1"/>
              <a:t>misal</a:t>
            </a:r>
            <a:r>
              <a:rPr lang="en-US" sz="2400" dirty="0"/>
              <a:t> A-&gt;w, </a:t>
            </a:r>
            <a:r>
              <a:rPr lang="en-US" sz="2400" dirty="0" err="1"/>
              <a:t>maka</a:t>
            </a:r>
            <a:r>
              <a:rPr lang="en-US" sz="2400" dirty="0"/>
              <a:t> di </a:t>
            </a:r>
            <a:r>
              <a:rPr lang="en-US" sz="2400" dirty="0" err="1"/>
              <a:t>ganti</a:t>
            </a:r>
            <a:r>
              <a:rPr lang="en-US" sz="2400" dirty="0"/>
              <a:t> w</a:t>
            </a:r>
          </a:p>
          <a:p>
            <a:pPr>
              <a:buFontTx/>
              <a:buChar char="-"/>
            </a:pPr>
            <a:r>
              <a:rPr lang="en-US" sz="2400" dirty="0"/>
              <a:t> </a:t>
            </a:r>
            <a:r>
              <a:rPr lang="en-US" sz="2400" dirty="0" err="1"/>
              <a:t>jika</a:t>
            </a:r>
            <a:r>
              <a:rPr lang="en-US" sz="2400" dirty="0"/>
              <a:t> top stack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simbol</a:t>
            </a:r>
            <a:r>
              <a:rPr lang="en-US" sz="2400" dirty="0"/>
              <a:t> </a:t>
            </a:r>
            <a:r>
              <a:rPr lang="en-US" sz="2400" dirty="0" err="1"/>
              <a:t>tumpukan</a:t>
            </a:r>
            <a:r>
              <a:rPr lang="en-US" sz="2400" dirty="0"/>
              <a:t> ad</a:t>
            </a:r>
            <a:r>
              <a:rPr lang="id-ID" sz="2400" dirty="0"/>
              <a:t>alah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terminal dan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ia</a:t>
            </a:r>
            <a:r>
              <a:rPr lang="en-US" sz="2400" dirty="0"/>
              <a:t> </a:t>
            </a:r>
            <a:r>
              <a:rPr lang="en-US" sz="2400" dirty="0" err="1"/>
              <a:t>menyamai</a:t>
            </a:r>
            <a:r>
              <a:rPr lang="en-US" sz="2400" dirty="0"/>
              <a:t> </a:t>
            </a:r>
            <a:r>
              <a:rPr lang="en-US" sz="2400" dirty="0" err="1"/>
              <a:t>simbol</a:t>
            </a:r>
            <a:r>
              <a:rPr lang="en-US" sz="2400" dirty="0"/>
              <a:t> </a:t>
            </a:r>
            <a:r>
              <a:rPr lang="en-US" sz="2400" dirty="0" err="1"/>
              <a:t>masukan</a:t>
            </a:r>
            <a:r>
              <a:rPr lang="en-US" sz="2400" dirty="0"/>
              <a:t> </a:t>
            </a:r>
            <a:r>
              <a:rPr lang="en-US" sz="2400" dirty="0" err="1"/>
              <a:t>berikutnya</a:t>
            </a:r>
            <a:r>
              <a:rPr lang="en-US" sz="2400" dirty="0"/>
              <a:t> </a:t>
            </a:r>
            <a:r>
              <a:rPr lang="en-US" sz="2400" dirty="0" err="1"/>
              <a:t>kita</a:t>
            </a:r>
            <a:r>
              <a:rPr lang="en-US" sz="2400" dirty="0"/>
              <a:t> pop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tumpukan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8403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35248D94-9141-47EE-BFF6-D8E12BA961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608" y="1270000"/>
                <a:ext cx="4845152" cy="4906963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mempush</a:t>
                </a:r>
                <a:r>
                  <a:rPr lang="en-US" dirty="0"/>
                  <a:t> </a:t>
                </a:r>
                <a:r>
                  <a:rPr lang="en-US" dirty="0" err="1"/>
                  <a:t>simbol</a:t>
                </a:r>
                <a:r>
                  <a:rPr lang="en-US" dirty="0"/>
                  <a:t> S </a:t>
                </a:r>
                <a:r>
                  <a:rPr lang="en-US" dirty="0" err="1"/>
                  <a:t>ke</a:t>
                </a:r>
                <a:r>
                  <a:rPr lang="en-US" dirty="0"/>
                  <a:t> stack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 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adl</a:t>
                </a:r>
                <a:r>
                  <a:rPr lang="en-US" dirty="0"/>
                  <a:t> </a:t>
                </a:r>
                <a:r>
                  <a:rPr lang="en-US" dirty="0" err="1"/>
                  <a:t>sebuah</a:t>
                </a:r>
                <a:r>
                  <a:rPr lang="en-US" dirty="0"/>
                  <a:t> tata </a:t>
                </a:r>
                <a:r>
                  <a:rPr lang="en-US" dirty="0" err="1"/>
                  <a:t>bahasa</a:t>
                </a:r>
                <a:r>
                  <a:rPr lang="en-US" dirty="0"/>
                  <a:t> </a:t>
                </a:r>
                <a:r>
                  <a:rPr lang="en-US" dirty="0" err="1"/>
                  <a:t>bebas</a:t>
                </a:r>
                <a:r>
                  <a:rPr lang="en-US" dirty="0"/>
                  <a:t> </a:t>
                </a:r>
                <a:r>
                  <a:rPr lang="en-US" dirty="0" err="1"/>
                  <a:t>kontek</a:t>
                </a:r>
                <a:r>
                  <a:rPr lang="en-US" dirty="0"/>
                  <a:t> 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semua</a:t>
                </a:r>
                <a:r>
                  <a:rPr lang="en-US" dirty="0"/>
                  <a:t> variable A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setiap</a:t>
                </a:r>
                <a:r>
                  <a:rPr lang="en-US" dirty="0"/>
                  <a:t> </a:t>
                </a:r>
                <a:r>
                  <a:rPr lang="en-US" dirty="0" err="1"/>
                  <a:t>simbol</a:t>
                </a:r>
                <a:r>
                  <a:rPr lang="en-US" dirty="0"/>
                  <a:t> terminal (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mempop</a:t>
                </a:r>
                <a:r>
                  <a:rPr lang="en-US" dirty="0"/>
                  <a:t> </a:t>
                </a:r>
                <a:r>
                  <a:rPr lang="en-US" dirty="0" err="1"/>
                  <a:t>pembandingan</a:t>
                </a:r>
                <a:r>
                  <a:rPr lang="en-US" dirty="0"/>
                  <a:t> terminal)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bila</a:t>
                </a:r>
                <a:r>
                  <a:rPr lang="en-US" dirty="0"/>
                  <a:t> </a:t>
                </a:r>
                <a:r>
                  <a:rPr lang="en-US" dirty="0" err="1"/>
                  <a:t>selesai</a:t>
                </a:r>
                <a:r>
                  <a:rPr lang="en-US" dirty="0"/>
                  <a:t> </a:t>
                </a:r>
                <a:r>
                  <a:rPr lang="en-US" dirty="0" err="1"/>
                  <a:t>membaca</a:t>
                </a:r>
                <a:r>
                  <a:rPr lang="en-US" dirty="0"/>
                  <a:t> string. Top stack </a:t>
                </a:r>
                <a:r>
                  <a:rPr lang="en-US" dirty="0" err="1"/>
                  <a:t>adl</a:t>
                </a:r>
                <a:r>
                  <a:rPr lang="en-US" dirty="0"/>
                  <a:t> Z </a:t>
                </a:r>
                <a:r>
                  <a:rPr lang="en-US" dirty="0" err="1"/>
                  <a:t>berarti</a:t>
                </a:r>
                <a:r>
                  <a:rPr lang="en-US" dirty="0"/>
                  <a:t> string input </a:t>
                </a:r>
                <a:r>
                  <a:rPr lang="en-US" dirty="0" err="1"/>
                  <a:t>sukses</a:t>
                </a:r>
                <a:r>
                  <a:rPr lang="en-US" dirty="0"/>
                  <a:t> </a:t>
                </a:r>
                <a:r>
                  <a:rPr lang="en-US" dirty="0" err="1"/>
                  <a:t>diterima</a:t>
                </a:r>
                <a:r>
                  <a:rPr lang="en-US" dirty="0"/>
                  <a:t> </a:t>
                </a:r>
                <a:r>
                  <a:rPr lang="en-US" dirty="0" err="1"/>
                  <a:t>oleh</a:t>
                </a:r>
                <a:r>
                  <a:rPr lang="en-US" dirty="0"/>
                  <a:t> PDA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35248D94-9141-47EE-BFF6-D8E12BA96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08" y="1270000"/>
                <a:ext cx="4845152" cy="4906963"/>
              </a:xfrm>
              <a:prstGeom prst="rect">
                <a:avLst/>
              </a:prstGeom>
              <a:blipFill>
                <a:blip r:embed="rId4"/>
                <a:stretch>
                  <a:fillRect t="-2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3">
                <a:extLst>
                  <a:ext uri="{FF2B5EF4-FFF2-40B4-BE49-F238E27FC236}">
                    <a16:creationId xmlns:a16="http://schemas.microsoft.com/office/drawing/2014/main" id="{B7365627-C3CE-4284-BB30-423C020994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56095" y="1083733"/>
                <a:ext cx="4075012" cy="5093230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Contoh </a:t>
                </a:r>
                <a:r>
                  <a:rPr lang="en-US" dirty="0" err="1"/>
                  <a:t>penerapan</a:t>
                </a:r>
                <a:r>
                  <a:rPr lang="en-US" dirty="0"/>
                  <a:t>:</a:t>
                </a:r>
              </a:p>
              <a:p>
                <a:r>
                  <a:rPr lang="en-US" dirty="0" err="1"/>
                  <a:t>Misalkan</a:t>
                </a:r>
                <a:r>
                  <a:rPr lang="en-US" dirty="0"/>
                  <a:t> </a:t>
                </a:r>
                <a:r>
                  <a:rPr lang="en-US" dirty="0" err="1"/>
                  <a:t>sebuah</a:t>
                </a:r>
                <a:r>
                  <a:rPr lang="en-US" dirty="0"/>
                  <a:t> tata </a:t>
                </a:r>
                <a:r>
                  <a:rPr lang="en-US" dirty="0" err="1"/>
                  <a:t>bahasa</a:t>
                </a:r>
                <a:r>
                  <a:rPr lang="en-US" dirty="0"/>
                  <a:t> </a:t>
                </a:r>
                <a:r>
                  <a:rPr lang="en-US" dirty="0" err="1"/>
                  <a:t>bebas</a:t>
                </a:r>
                <a:r>
                  <a:rPr lang="en-US" dirty="0"/>
                  <a:t> </a:t>
                </a:r>
                <a:r>
                  <a:rPr lang="en-US" dirty="0" err="1"/>
                  <a:t>konteks</a:t>
                </a:r>
                <a:r>
                  <a:rPr lang="en-US" dirty="0"/>
                  <a:t> </a:t>
                </a:r>
                <a:r>
                  <a:rPr lang="en-US" dirty="0" err="1"/>
                  <a:t>dgn</a:t>
                </a:r>
                <a:r>
                  <a:rPr lang="en-US" dirty="0"/>
                  <a:t> </a:t>
                </a:r>
                <a:r>
                  <a:rPr lang="en-US" dirty="0" err="1"/>
                  <a:t>simbol</a:t>
                </a:r>
                <a:r>
                  <a:rPr lang="en-US" dirty="0"/>
                  <a:t> </a:t>
                </a:r>
                <a:r>
                  <a:rPr lang="en-US" dirty="0" err="1"/>
                  <a:t>awal</a:t>
                </a:r>
                <a:r>
                  <a:rPr lang="en-US" dirty="0"/>
                  <a:t> D: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aDa|bDb|c</a:t>
                </a: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 err="1"/>
                  <a:t>Dapat</a:t>
                </a:r>
                <a:r>
                  <a:rPr lang="en-US" dirty="0"/>
                  <a:t> </a:t>
                </a:r>
                <a:r>
                  <a:rPr lang="en-US" dirty="0" err="1"/>
                  <a:t>dikonstruksi</a:t>
                </a:r>
                <a:r>
                  <a:rPr lang="en-US" dirty="0"/>
                  <a:t> PDA-</a:t>
                </a:r>
                <a:r>
                  <a:rPr lang="en-US" dirty="0" err="1"/>
                  <a:t>nya</a:t>
                </a:r>
                <a:r>
                  <a:rPr lang="en-US" dirty="0"/>
                  <a:t>: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 err="1"/>
                  <a:t>Jawab</a:t>
                </a:r>
                <a:endParaRPr lang="en-US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}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{</a:t>
                </a:r>
                <a:r>
                  <a:rPr lang="en-US" dirty="0" err="1"/>
                  <a:t>D,a,b,c,</a:t>
                </a:r>
                <a:r>
                  <a:rPr lang="en-US" dirty="0" err="1">
                    <a:solidFill>
                      <a:srgbClr val="002060"/>
                    </a:solidFill>
                  </a:rPr>
                  <a:t>Z</a:t>
                </a:r>
                <a:r>
                  <a:rPr lang="en-US" dirty="0"/>
                  <a:t>}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0" name="Content Placeholder 3">
                <a:extLst>
                  <a:ext uri="{FF2B5EF4-FFF2-40B4-BE49-F238E27FC236}">
                    <a16:creationId xmlns:a16="http://schemas.microsoft.com/office/drawing/2014/main" id="{B7365627-C3CE-4284-BB30-423C02099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095" y="1083733"/>
                <a:ext cx="4075012" cy="5093230"/>
              </a:xfrm>
              <a:prstGeom prst="rect">
                <a:avLst/>
              </a:prstGeom>
              <a:blipFill>
                <a:blip r:embed="rId5"/>
                <a:stretch>
                  <a:fillRect l="-2695" t="-2395" r="-1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FD6726F4-FBCD-496B-8B12-AC20ACEB8E1C}"/>
              </a:ext>
            </a:extLst>
          </p:cNvPr>
          <p:cNvSpPr txBox="1">
            <a:spLocks/>
          </p:cNvSpPr>
          <p:nvPr/>
        </p:nvSpPr>
        <p:spPr>
          <a:xfrm>
            <a:off x="7983713" y="3881406"/>
            <a:ext cx="1133314" cy="4706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err="1">
                <a:solidFill>
                  <a:srgbClr val="002060"/>
                </a:solidFill>
              </a:rPr>
              <a:t>pasti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9702389-F841-42E3-BF2C-F372A0C61962}"/>
              </a:ext>
            </a:extLst>
          </p:cNvPr>
          <p:cNvSpPr txBox="1">
            <a:spLocks/>
          </p:cNvSpPr>
          <p:nvPr/>
        </p:nvSpPr>
        <p:spPr>
          <a:xfrm>
            <a:off x="7983713" y="4188847"/>
            <a:ext cx="1722130" cy="545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err="1">
                <a:solidFill>
                  <a:srgbClr val="002060"/>
                </a:solidFill>
              </a:rPr>
              <a:t>simbol</a:t>
            </a:r>
            <a:r>
              <a:rPr lang="en-US" sz="1600" dirty="0">
                <a:solidFill>
                  <a:srgbClr val="002060"/>
                </a:solidFill>
              </a:rPr>
              <a:t> terminal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36E3017-F220-43AF-808E-A0B343941E14}"/>
              </a:ext>
            </a:extLst>
          </p:cNvPr>
          <p:cNvSpPr txBox="1">
            <a:spLocks/>
          </p:cNvSpPr>
          <p:nvPr/>
        </p:nvSpPr>
        <p:spPr>
          <a:xfrm>
            <a:off x="7983713" y="5103145"/>
            <a:ext cx="1133314" cy="4706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err="1">
                <a:solidFill>
                  <a:srgbClr val="002060"/>
                </a:solidFill>
              </a:rPr>
              <a:t>pasti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1B21B22-E5B7-4A7D-9C82-845AD8BA56AE}"/>
              </a:ext>
            </a:extLst>
          </p:cNvPr>
          <p:cNvSpPr txBox="1">
            <a:spLocks/>
          </p:cNvSpPr>
          <p:nvPr/>
        </p:nvSpPr>
        <p:spPr>
          <a:xfrm>
            <a:off x="7979857" y="5515800"/>
            <a:ext cx="1133314" cy="4706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err="1">
                <a:solidFill>
                  <a:srgbClr val="002060"/>
                </a:solidFill>
              </a:rPr>
              <a:t>pasti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3BDA91A-F454-4778-8F9E-02B512DAE037}"/>
              </a:ext>
            </a:extLst>
          </p:cNvPr>
          <p:cNvSpPr txBox="1">
            <a:spLocks/>
          </p:cNvSpPr>
          <p:nvPr/>
        </p:nvSpPr>
        <p:spPr>
          <a:xfrm>
            <a:off x="7983713" y="4646251"/>
            <a:ext cx="1430740" cy="4706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err="1">
                <a:solidFill>
                  <a:srgbClr val="002060"/>
                </a:solidFill>
              </a:rPr>
              <a:t>lihat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soal</a:t>
            </a:r>
            <a:r>
              <a:rPr lang="en-US" sz="1600" dirty="0">
                <a:solidFill>
                  <a:srgbClr val="002060"/>
                </a:solidFill>
              </a:rPr>
              <a:t> + Z</a:t>
            </a:r>
          </a:p>
        </p:txBody>
      </p:sp>
    </p:spTree>
    <p:extLst>
      <p:ext uri="{BB962C8B-B14F-4D97-AF65-F5344CB8AC3E}">
        <p14:creationId xmlns:p14="http://schemas.microsoft.com/office/powerpoint/2010/main" val="1779931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E6BD4F7-077A-4AD4-A6B2-9FA68A659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64870"/>
            <a:ext cx="9144000" cy="492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27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Something as title goes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037C39B-2EAF-4CB8-AC03-27FEC0192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55424"/>
            <a:ext cx="9144000" cy="494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63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Something as title goes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A9503B0-3199-4C8B-90F8-C90CB414A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76320"/>
            <a:ext cx="9144000" cy="530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495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Something as title goes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960558C-190D-4155-9C97-72CBDDDA0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0857"/>
            <a:ext cx="9144000" cy="443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5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4A33189-516A-441F-AAE6-2DEDF8E4A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17416"/>
            <a:ext cx="9144000" cy="502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CFACF66-A7D7-4B8C-958D-1378B457D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55424"/>
            <a:ext cx="9144000" cy="494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16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5F7CCE0-C71D-4019-8E63-F90492160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76320"/>
            <a:ext cx="9144000" cy="530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2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BF124F-AD9B-441A-874B-421B1D21D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0857"/>
            <a:ext cx="9144000" cy="443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151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4" y="1142751"/>
            <a:ext cx="79030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Something as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divider page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goes here.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Something as title goes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892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F9E33A-672E-4499-A7BA-EE4327F4D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94092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5332903"/>
            <a:ext cx="404948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FFE12E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Thank You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bg1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</p:spTree>
    <p:extLst>
      <p:ext uri="{BB962C8B-B14F-4D97-AF65-F5344CB8AC3E}">
        <p14:creationId xmlns:p14="http://schemas.microsoft.com/office/powerpoint/2010/main" val="284873852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Ukrida Color">
      <a:dk1>
        <a:srgbClr val="00325A"/>
      </a:dk1>
      <a:lt1>
        <a:srgbClr val="FFFFFF"/>
      </a:lt1>
      <a:dk2>
        <a:srgbClr val="00325A"/>
      </a:dk2>
      <a:lt2>
        <a:srgbClr val="FFE12D"/>
      </a:lt2>
      <a:accent1>
        <a:srgbClr val="0080C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2DA1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532</TotalTime>
  <Words>1408</Words>
  <Application>Microsoft Office PowerPoint</Application>
  <PresentationFormat>On-screen Show (4:3)</PresentationFormat>
  <Paragraphs>241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Montserrat</vt:lpstr>
      <vt:lpstr>Montserrat Light</vt:lpstr>
      <vt:lpstr>Montserrat Medium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Admin1152072</dc:creator>
  <cp:lastModifiedBy>floren rp</cp:lastModifiedBy>
  <cp:revision>56</cp:revision>
  <dcterms:created xsi:type="dcterms:W3CDTF">2017-09-11T12:08:03Z</dcterms:created>
  <dcterms:modified xsi:type="dcterms:W3CDTF">2025-11-20T03:33:05Z</dcterms:modified>
</cp:coreProperties>
</file>