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handoutMasterIdLst>
    <p:handoutMasterId r:id="rId65"/>
  </p:handoutMasterIdLst>
  <p:sldIdLst>
    <p:sldId id="264" r:id="rId2"/>
    <p:sldId id="263" r:id="rId3"/>
    <p:sldId id="268" r:id="rId4"/>
    <p:sldId id="365" r:id="rId5"/>
    <p:sldId id="366" r:id="rId6"/>
    <p:sldId id="367" r:id="rId7"/>
    <p:sldId id="368" r:id="rId8"/>
    <p:sldId id="369" r:id="rId9"/>
    <p:sldId id="371" r:id="rId10"/>
    <p:sldId id="370" r:id="rId11"/>
    <p:sldId id="346" r:id="rId12"/>
    <p:sldId id="372" r:id="rId13"/>
    <p:sldId id="373" r:id="rId14"/>
    <p:sldId id="374" r:id="rId15"/>
    <p:sldId id="347" r:id="rId16"/>
    <p:sldId id="375" r:id="rId17"/>
    <p:sldId id="376" r:id="rId18"/>
    <p:sldId id="377" r:id="rId19"/>
    <p:sldId id="378" r:id="rId20"/>
    <p:sldId id="379" r:id="rId21"/>
    <p:sldId id="380" r:id="rId22"/>
    <p:sldId id="381" r:id="rId23"/>
    <p:sldId id="382" r:id="rId24"/>
    <p:sldId id="383" r:id="rId25"/>
    <p:sldId id="384" r:id="rId26"/>
    <p:sldId id="385" r:id="rId27"/>
    <p:sldId id="386" r:id="rId28"/>
    <p:sldId id="387" r:id="rId29"/>
    <p:sldId id="388" r:id="rId30"/>
    <p:sldId id="389" r:id="rId31"/>
    <p:sldId id="390" r:id="rId32"/>
    <p:sldId id="391" r:id="rId33"/>
    <p:sldId id="392" r:id="rId34"/>
    <p:sldId id="393" r:id="rId35"/>
    <p:sldId id="394" r:id="rId36"/>
    <p:sldId id="395" r:id="rId37"/>
    <p:sldId id="396" r:id="rId38"/>
    <p:sldId id="397" r:id="rId39"/>
    <p:sldId id="398" r:id="rId40"/>
    <p:sldId id="399" r:id="rId41"/>
    <p:sldId id="400" r:id="rId42"/>
    <p:sldId id="401" r:id="rId43"/>
    <p:sldId id="402" r:id="rId44"/>
    <p:sldId id="403" r:id="rId45"/>
    <p:sldId id="404" r:id="rId46"/>
    <p:sldId id="405" r:id="rId47"/>
    <p:sldId id="406" r:id="rId48"/>
    <p:sldId id="407" r:id="rId49"/>
    <p:sldId id="408" r:id="rId50"/>
    <p:sldId id="409" r:id="rId51"/>
    <p:sldId id="410" r:id="rId52"/>
    <p:sldId id="411" r:id="rId53"/>
    <p:sldId id="413" r:id="rId54"/>
    <p:sldId id="414" r:id="rId55"/>
    <p:sldId id="415" r:id="rId56"/>
    <p:sldId id="416" r:id="rId57"/>
    <p:sldId id="412" r:id="rId58"/>
    <p:sldId id="417" r:id="rId59"/>
    <p:sldId id="418" r:id="rId60"/>
    <p:sldId id="419" r:id="rId61"/>
    <p:sldId id="420" r:id="rId62"/>
    <p:sldId id="421" r:id="rId63"/>
    <p:sldId id="261"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25A"/>
    <a:srgbClr val="FFE12E"/>
    <a:srgbClr val="003258"/>
    <a:srgbClr val="E1FF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91" autoAdjust="0"/>
    <p:restoredTop sz="94660"/>
  </p:normalViewPr>
  <p:slideViewPr>
    <p:cSldViewPr snapToGrid="0">
      <p:cViewPr varScale="1">
        <p:scale>
          <a:sx n="63" d="100"/>
          <a:sy n="63" d="100"/>
        </p:scale>
        <p:origin x="1432" y="56"/>
      </p:cViewPr>
      <p:guideLst/>
    </p:cSldViewPr>
  </p:slideViewPr>
  <p:notesTextViewPr>
    <p:cViewPr>
      <p:scale>
        <a:sx n="1" d="1"/>
        <a:sy n="1" d="1"/>
      </p:scale>
      <p:origin x="0" y="0"/>
    </p:cViewPr>
  </p:notesTextViewPr>
  <p:notesViewPr>
    <p:cSldViewPr snapToGrid="0">
      <p:cViewPr varScale="1">
        <p:scale>
          <a:sx n="59" d="100"/>
          <a:sy n="59" d="100"/>
        </p:scale>
        <p:origin x="2790"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CC9D74-A3DF-4807-B513-ED1C37684F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8727127-C60F-48F1-9035-89750229E0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34E62F-46C1-49F8-AE8F-0B301CA791E4}" type="datetimeFigureOut">
              <a:rPr lang="en-US" smtClean="0"/>
              <a:t>11/6/2025</a:t>
            </a:fld>
            <a:endParaRPr lang="en-US"/>
          </a:p>
        </p:txBody>
      </p:sp>
      <p:sp>
        <p:nvSpPr>
          <p:cNvPr id="4" name="Footer Placeholder 3">
            <a:extLst>
              <a:ext uri="{FF2B5EF4-FFF2-40B4-BE49-F238E27FC236}">
                <a16:creationId xmlns:a16="http://schemas.microsoft.com/office/drawing/2014/main" id="{F6378E1E-86B5-4357-9195-4516B2D705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7E2591-2F61-4136-BAB4-4DF68AAB178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82D9A7E-B14A-4E32-B8E1-5B58813BDD93}" type="slidenum">
              <a:rPr lang="en-US" smtClean="0"/>
              <a:t>‹#›</a:t>
            </a:fld>
            <a:endParaRPr lang="en-US"/>
          </a:p>
        </p:txBody>
      </p:sp>
    </p:spTree>
    <p:extLst>
      <p:ext uri="{BB962C8B-B14F-4D97-AF65-F5344CB8AC3E}">
        <p14:creationId xmlns:p14="http://schemas.microsoft.com/office/powerpoint/2010/main" val="52523283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8604-F9F9-4826-AFA2-26F2A8C8E9EE}"/>
              </a:ext>
            </a:extLst>
          </p:cNvPr>
          <p:cNvSpPr>
            <a:spLocks noGrp="1"/>
          </p:cNvSpPr>
          <p:nvPr>
            <p:ph type="title"/>
          </p:nvPr>
        </p:nvSpPr>
        <p:spPr>
          <a:xfrm>
            <a:off x="454083" y="392634"/>
            <a:ext cx="6353117" cy="446952"/>
          </a:xfrm>
          <a:prstGeom prst="rect">
            <a:avLst/>
          </a:prstGeom>
        </p:spPr>
        <p:txBody>
          <a:bodyPr>
            <a:normAutofit/>
          </a:bodyPr>
          <a:lstStyle>
            <a:lvl1pPr>
              <a:defRPr sz="1400">
                <a:latin typeface="Montserrat Light" panose="00000400000000000000" pitchFamily="50" charset="0"/>
              </a:defRPr>
            </a:lvl1pPr>
          </a:lstStyle>
          <a:p>
            <a:endParaRPr lang="en-US" dirty="0"/>
          </a:p>
        </p:txBody>
      </p:sp>
      <p:cxnSp>
        <p:nvCxnSpPr>
          <p:cNvPr id="6" name="Straight Connector 5">
            <a:extLst>
              <a:ext uri="{FF2B5EF4-FFF2-40B4-BE49-F238E27FC236}">
                <a16:creationId xmlns:a16="http://schemas.microsoft.com/office/drawing/2014/main" id="{C01A2C98-6B1D-4EE6-A033-426F392A5280}"/>
              </a:ext>
            </a:extLst>
          </p:cNvPr>
          <p:cNvCxnSpPr>
            <a:cxnSpLocks/>
          </p:cNvCxnSpPr>
          <p:nvPr userDrawn="1"/>
        </p:nvCxnSpPr>
        <p:spPr>
          <a:xfrm flipH="1">
            <a:off x="552451" y="770164"/>
            <a:ext cx="6254749"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075D6B45-2776-4541-AA7D-3BCE7EF8CE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99514" y="343835"/>
            <a:ext cx="1740068" cy="463756"/>
          </a:xfrm>
          <a:prstGeom prst="rect">
            <a:avLst/>
          </a:prstGeom>
        </p:spPr>
      </p:pic>
      <p:sp>
        <p:nvSpPr>
          <p:cNvPr id="8" name="Title 1">
            <a:extLst>
              <a:ext uri="{FF2B5EF4-FFF2-40B4-BE49-F238E27FC236}">
                <a16:creationId xmlns:a16="http://schemas.microsoft.com/office/drawing/2014/main" id="{CB531BF4-3342-4DC8-8EE2-3BD3F7EC2E75}"/>
              </a:ext>
            </a:extLst>
          </p:cNvPr>
          <p:cNvSpPr txBox="1">
            <a:spLocks/>
          </p:cNvSpPr>
          <p:nvPr userDrawn="1"/>
        </p:nvSpPr>
        <p:spPr>
          <a:xfrm>
            <a:off x="404418" y="80759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00325A"/>
                </a:solidFill>
                <a:latin typeface="Montserrat" panose="02000505000000020004" pitchFamily="2" charset="0"/>
              </a:rPr>
              <a:t>Click to edit Master title style</a:t>
            </a:r>
          </a:p>
        </p:txBody>
      </p:sp>
      <p:sp>
        <p:nvSpPr>
          <p:cNvPr id="9" name="Content Placeholder 3">
            <a:extLst>
              <a:ext uri="{FF2B5EF4-FFF2-40B4-BE49-F238E27FC236}">
                <a16:creationId xmlns:a16="http://schemas.microsoft.com/office/drawing/2014/main" id="{8F738E19-97A3-4227-B257-7F949888D109}"/>
              </a:ext>
            </a:extLst>
          </p:cNvPr>
          <p:cNvSpPr>
            <a:spLocks noGrp="1"/>
          </p:cNvSpPr>
          <p:nvPr>
            <p:ph sz="half" idx="2"/>
          </p:nvPr>
        </p:nvSpPr>
        <p:spPr>
          <a:xfrm>
            <a:off x="454083" y="1956435"/>
            <a:ext cx="3868737" cy="3684588"/>
          </a:xfrm>
        </p:spPr>
        <p:txBody>
          <a:bodyPr/>
          <a:lstStyle>
            <a:lvl1pPr>
              <a:defRPr sz="1600">
                <a:solidFill>
                  <a:schemeClr val="tx1"/>
                </a:solidFill>
                <a:latin typeface="Montserrat" panose="02000505000000020004" pitchFamily="2" charset="0"/>
              </a:defRPr>
            </a:lvl1pPr>
            <a:lvl2pPr>
              <a:defRPr sz="1400">
                <a:solidFill>
                  <a:schemeClr val="tx1"/>
                </a:solidFill>
                <a:latin typeface="Montserrat" panose="02000505000000020004" pitchFamily="2" charset="0"/>
              </a:defRPr>
            </a:lvl2pPr>
            <a:lvl3pPr>
              <a:defRPr sz="1200">
                <a:solidFill>
                  <a:schemeClr val="tx1"/>
                </a:solidFill>
                <a:latin typeface="Montserrat Light" panose="00000400000000000000" pitchFamily="50" charset="0"/>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1E0E760F-81DA-4BAE-AC97-982573EC6DDE}"/>
              </a:ext>
            </a:extLst>
          </p:cNvPr>
          <p:cNvSpPr>
            <a:spLocks noGrp="1"/>
          </p:cNvSpPr>
          <p:nvPr>
            <p:ph sz="half" idx="10"/>
          </p:nvPr>
        </p:nvSpPr>
        <p:spPr>
          <a:xfrm>
            <a:off x="4872831" y="1956435"/>
            <a:ext cx="3868737" cy="3684588"/>
          </a:xfrm>
        </p:spPr>
        <p:txBody>
          <a:bodyPr/>
          <a:lstStyle>
            <a:lvl1pPr>
              <a:defRPr sz="1600">
                <a:solidFill>
                  <a:schemeClr val="tx1"/>
                </a:solidFill>
                <a:latin typeface="Montserrat" panose="02000505000000020004" pitchFamily="2" charset="0"/>
              </a:defRPr>
            </a:lvl1pPr>
            <a:lvl2pPr>
              <a:defRPr sz="1400">
                <a:solidFill>
                  <a:schemeClr val="tx1"/>
                </a:solidFill>
                <a:latin typeface="Montserrat" panose="02000505000000020004" pitchFamily="2" charset="0"/>
              </a:defRPr>
            </a:lvl2pPr>
            <a:lvl3pPr>
              <a:defRPr sz="1200">
                <a:solidFill>
                  <a:schemeClr val="tx1"/>
                </a:solidFill>
                <a:latin typeface="Montserrat Light" panose="00000400000000000000" pitchFamily="50" charset="0"/>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5468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8604-F9F9-4826-AFA2-26F2A8C8E9EE}"/>
              </a:ext>
            </a:extLst>
          </p:cNvPr>
          <p:cNvSpPr>
            <a:spLocks noGrp="1"/>
          </p:cNvSpPr>
          <p:nvPr>
            <p:ph type="title"/>
          </p:nvPr>
        </p:nvSpPr>
        <p:spPr>
          <a:xfrm>
            <a:off x="454083" y="323212"/>
            <a:ext cx="6353117" cy="446952"/>
          </a:xfrm>
          <a:prstGeom prst="rect">
            <a:avLst/>
          </a:prstGeom>
        </p:spPr>
        <p:txBody>
          <a:bodyPr>
            <a:normAutofit/>
          </a:bodyPr>
          <a:lstStyle>
            <a:lvl1pPr>
              <a:defRPr sz="2000">
                <a:latin typeface="Montserrat Light" panose="00000400000000000000" pitchFamily="50" charset="0"/>
              </a:defRPr>
            </a:lvl1pPr>
          </a:lstStyle>
          <a:p>
            <a:endParaRPr lang="en-US" dirty="0"/>
          </a:p>
        </p:txBody>
      </p:sp>
      <p:cxnSp>
        <p:nvCxnSpPr>
          <p:cNvPr id="6" name="Straight Connector 5">
            <a:extLst>
              <a:ext uri="{FF2B5EF4-FFF2-40B4-BE49-F238E27FC236}">
                <a16:creationId xmlns:a16="http://schemas.microsoft.com/office/drawing/2014/main" id="{C01A2C98-6B1D-4EE6-A033-426F392A5280}"/>
              </a:ext>
            </a:extLst>
          </p:cNvPr>
          <p:cNvCxnSpPr>
            <a:cxnSpLocks/>
          </p:cNvCxnSpPr>
          <p:nvPr userDrawn="1"/>
        </p:nvCxnSpPr>
        <p:spPr>
          <a:xfrm flipH="1">
            <a:off x="552451" y="770164"/>
            <a:ext cx="6254749"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075D6B45-2776-4541-AA7D-3BCE7EF8CE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99514" y="343835"/>
            <a:ext cx="1740068" cy="463756"/>
          </a:xfrm>
          <a:prstGeom prst="rect">
            <a:avLst/>
          </a:prstGeom>
        </p:spPr>
      </p:pic>
      <p:sp>
        <p:nvSpPr>
          <p:cNvPr id="9" name="Content Placeholder 3">
            <a:extLst>
              <a:ext uri="{FF2B5EF4-FFF2-40B4-BE49-F238E27FC236}">
                <a16:creationId xmlns:a16="http://schemas.microsoft.com/office/drawing/2014/main" id="{8F738E19-97A3-4227-B257-7F949888D109}"/>
              </a:ext>
            </a:extLst>
          </p:cNvPr>
          <p:cNvSpPr>
            <a:spLocks noGrp="1"/>
          </p:cNvSpPr>
          <p:nvPr>
            <p:ph sz="half" idx="2"/>
          </p:nvPr>
        </p:nvSpPr>
        <p:spPr>
          <a:xfrm>
            <a:off x="308309" y="1068539"/>
            <a:ext cx="8285499" cy="3684588"/>
          </a:xfrm>
        </p:spPr>
        <p:txBody>
          <a:bodyPr/>
          <a:lstStyle>
            <a:lvl1pPr>
              <a:defRPr sz="1600">
                <a:solidFill>
                  <a:schemeClr val="tx1"/>
                </a:solidFill>
                <a:latin typeface="Montserrat" panose="02000505000000020004" pitchFamily="2" charset="0"/>
              </a:defRPr>
            </a:lvl1pPr>
            <a:lvl2pPr>
              <a:defRPr sz="1400">
                <a:solidFill>
                  <a:schemeClr val="tx1"/>
                </a:solidFill>
                <a:latin typeface="Montserrat" panose="02000505000000020004" pitchFamily="2" charset="0"/>
              </a:defRPr>
            </a:lvl2pPr>
            <a:lvl3pPr>
              <a:defRPr sz="1200">
                <a:solidFill>
                  <a:schemeClr val="tx1"/>
                </a:solidFill>
                <a:latin typeface="Montserrat Light" panose="00000400000000000000" pitchFamily="50" charset="0"/>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131609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0390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921CE-1BFB-4C33-9E39-9E365E85FFB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8E4CF2-F9B2-4A2F-8879-48B31C82B1B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A3FEA90-32AA-4707-952A-6016A899B155}"/>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5C12DA-7C3F-4F5E-A3EF-25444230DB43}" type="datetimeFigureOut">
              <a:rPr lang="en-US" smtClean="0"/>
              <a:t>11/6/2025</a:t>
            </a:fld>
            <a:endParaRPr lang="en-US"/>
          </a:p>
        </p:txBody>
      </p:sp>
      <p:sp>
        <p:nvSpPr>
          <p:cNvPr id="5" name="Footer Placeholder 4">
            <a:extLst>
              <a:ext uri="{FF2B5EF4-FFF2-40B4-BE49-F238E27FC236}">
                <a16:creationId xmlns:a16="http://schemas.microsoft.com/office/drawing/2014/main" id="{DFA2581A-1314-46EF-8E8C-577D4775892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B4EFBB-8EF2-4237-B64F-A4D1656066C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9A2CBB-99DC-4D92-93F8-130B3B4D489E}" type="slidenum">
              <a:rPr lang="en-US" smtClean="0"/>
              <a:t>‹#›</a:t>
            </a:fld>
            <a:endParaRPr lang="en-US"/>
          </a:p>
        </p:txBody>
      </p:sp>
    </p:spTree>
    <p:extLst>
      <p:ext uri="{BB962C8B-B14F-4D97-AF65-F5344CB8AC3E}">
        <p14:creationId xmlns:p14="http://schemas.microsoft.com/office/powerpoint/2010/main" val="1748154731"/>
      </p:ext>
    </p:extLst>
  </p:cSld>
  <p:clrMap bg1="lt1" tx1="dk1" bg2="lt2" tx2="dk2" accent1="accent1" accent2="accent2" accent3="accent3" accent4="accent4" accent5="accent5" accent6="accent6" hlink="hlink" folHlink="folHlink"/>
  <p:sldLayoutIdLst>
    <p:sldLayoutId id="2147483668" r:id="rId1"/>
    <p:sldLayoutId id="2147483675"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0.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E306FF1-BEF2-43D4-B7EC-25BB33C881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508" y="0"/>
            <a:ext cx="9197508" cy="6858000"/>
          </a:xfrm>
          <a:prstGeom prst="rect">
            <a:avLst/>
          </a:prstGeom>
        </p:spPr>
      </p:pic>
      <p:sp>
        <p:nvSpPr>
          <p:cNvPr id="16" name="TextBox 15">
            <a:extLst>
              <a:ext uri="{FF2B5EF4-FFF2-40B4-BE49-F238E27FC236}">
                <a16:creationId xmlns:a16="http://schemas.microsoft.com/office/drawing/2014/main" id="{26BC89EC-D40D-42F1-BD48-19B2C7F83B44}"/>
              </a:ext>
            </a:extLst>
          </p:cNvPr>
          <p:cNvSpPr txBox="1"/>
          <p:nvPr/>
        </p:nvSpPr>
        <p:spPr>
          <a:xfrm>
            <a:off x="348343" y="4404184"/>
            <a:ext cx="4049486" cy="1367747"/>
          </a:xfrm>
          <a:prstGeom prst="rect">
            <a:avLst/>
          </a:prstGeom>
          <a:noFill/>
        </p:spPr>
        <p:txBody>
          <a:bodyPr wrap="square" rtlCol="0">
            <a:spAutoFit/>
          </a:bodyPr>
          <a:lstStyle/>
          <a:p>
            <a:pPr>
              <a:lnSpc>
                <a:spcPct val="120000"/>
              </a:lnSpc>
            </a:pPr>
            <a:r>
              <a:rPr lang="en-US" sz="2800" dirty="0">
                <a:solidFill>
                  <a:srgbClr val="FFFF00"/>
                </a:solidFill>
                <a:latin typeface="Montserrat" panose="02000505000000020004" pitchFamily="2" charset="0"/>
                <a:ea typeface="Roboto" pitchFamily="2" charset="0"/>
                <a:cs typeface="Arial"/>
              </a:rPr>
              <a:t>Kuliah 11 Teori Bahasa dan </a:t>
            </a:r>
            <a:r>
              <a:rPr lang="en-US" sz="2800" dirty="0" err="1">
                <a:solidFill>
                  <a:srgbClr val="FFFF00"/>
                </a:solidFill>
                <a:latin typeface="Montserrat" panose="02000505000000020004" pitchFamily="2" charset="0"/>
                <a:ea typeface="Roboto" pitchFamily="2" charset="0"/>
                <a:cs typeface="Arial"/>
              </a:rPr>
              <a:t>Otomata</a:t>
            </a:r>
            <a:endParaRPr lang="id-ID" sz="2800" dirty="0">
              <a:solidFill>
                <a:srgbClr val="FFE12E"/>
              </a:solidFill>
              <a:latin typeface="Montserrat" panose="02000505000000020004" pitchFamily="2" charset="0"/>
              <a:ea typeface="Roboto" pitchFamily="2" charset="0"/>
              <a:cs typeface="Arial"/>
            </a:endParaRPr>
          </a:p>
          <a:p>
            <a:pPr>
              <a:lnSpc>
                <a:spcPct val="120000"/>
              </a:lnSpc>
            </a:pPr>
            <a:r>
              <a:rPr lang="id-ID" sz="1400" dirty="0">
                <a:solidFill>
                  <a:srgbClr val="FFE12E"/>
                </a:solidFill>
                <a:latin typeface="Montserrat" panose="02000505000000020004" pitchFamily="2" charset="0"/>
                <a:ea typeface="Roboto" pitchFamily="2" charset="0"/>
                <a:cs typeface="Arial"/>
              </a:rPr>
              <a:t>(</a:t>
            </a:r>
            <a:r>
              <a:rPr lang="en-US" sz="1400" dirty="0">
                <a:solidFill>
                  <a:srgbClr val="FFE12E"/>
                </a:solidFill>
                <a:latin typeface="Montserrat" panose="02000505000000020004" pitchFamily="2" charset="0"/>
                <a:ea typeface="Roboto" pitchFamily="2" charset="0"/>
                <a:cs typeface="Arial"/>
              </a:rPr>
              <a:t>Grammar</a:t>
            </a:r>
            <a:r>
              <a:rPr lang="id-ID" sz="1400" dirty="0">
                <a:solidFill>
                  <a:srgbClr val="FFE12E"/>
                </a:solidFill>
                <a:latin typeface="Montserrat" panose="02000505000000020004" pitchFamily="2" charset="0"/>
                <a:ea typeface="Roboto" pitchFamily="2" charset="0"/>
                <a:cs typeface="Arial"/>
              </a:rPr>
              <a:t>)</a:t>
            </a:r>
            <a:endParaRPr lang="en-US" sz="2800" dirty="0">
              <a:solidFill>
                <a:srgbClr val="FFE12E"/>
              </a:solidFill>
              <a:latin typeface="Montserrat" panose="02000505000000020004" pitchFamily="2" charset="0"/>
              <a:ea typeface="Roboto" pitchFamily="2" charset="0"/>
              <a:cs typeface="Arial"/>
            </a:endParaRPr>
          </a:p>
        </p:txBody>
      </p:sp>
      <p:sp>
        <p:nvSpPr>
          <p:cNvPr id="17" name="TextBox 16">
            <a:extLst>
              <a:ext uri="{FF2B5EF4-FFF2-40B4-BE49-F238E27FC236}">
                <a16:creationId xmlns:a16="http://schemas.microsoft.com/office/drawing/2014/main" id="{E0171AE4-0AA8-41EE-9C53-D4398596FF8A}"/>
              </a:ext>
            </a:extLst>
          </p:cNvPr>
          <p:cNvSpPr txBox="1"/>
          <p:nvPr/>
        </p:nvSpPr>
        <p:spPr>
          <a:xfrm>
            <a:off x="348343" y="5968113"/>
            <a:ext cx="4049486" cy="279500"/>
          </a:xfrm>
          <a:prstGeom prst="rect">
            <a:avLst/>
          </a:prstGeom>
          <a:noFill/>
        </p:spPr>
        <p:txBody>
          <a:bodyPr wrap="square" rtlCol="0">
            <a:spAutoFit/>
          </a:bodyPr>
          <a:lstStyle/>
          <a:p>
            <a:pPr>
              <a:lnSpc>
                <a:spcPct val="120000"/>
              </a:lnSpc>
            </a:pPr>
            <a:r>
              <a:rPr lang="en-US" sz="1100" dirty="0">
                <a:solidFill>
                  <a:schemeClr val="bg1"/>
                </a:solidFill>
                <a:latin typeface="Montserrat" panose="02000505000000020004" pitchFamily="2" charset="0"/>
                <a:ea typeface="Roboto" pitchFamily="2" charset="0"/>
                <a:cs typeface="Arial"/>
              </a:rPr>
              <a:t>ukrida.ac.id</a:t>
            </a:r>
          </a:p>
        </p:txBody>
      </p:sp>
    </p:spTree>
    <p:extLst>
      <p:ext uri="{BB962C8B-B14F-4D97-AF65-F5344CB8AC3E}">
        <p14:creationId xmlns:p14="http://schemas.microsoft.com/office/powerpoint/2010/main" val="3846087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r="7325"/>
          <a:stretch/>
        </p:blipFill>
        <p:spPr>
          <a:xfrm>
            <a:off x="2625765" y="0"/>
            <a:ext cx="6518235" cy="4688926"/>
          </a:xfrm>
          <a:prstGeom prst="rect">
            <a:avLst/>
          </a:prstGeom>
        </p:spPr>
      </p:pic>
      <p:pic>
        <p:nvPicPr>
          <p:cNvPr id="15" name="Picture 14">
            <a:extLst>
              <a:ext uri="{FF2B5EF4-FFF2-40B4-BE49-F238E27FC236}">
                <a16:creationId xmlns:a16="http://schemas.microsoft.com/office/drawing/2014/main" id="{DE306FF1-BEF2-43D4-B7EC-25BB33C8811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2" r="-1"/>
          <a:stretch/>
        </p:blipFill>
        <p:spPr>
          <a:xfrm>
            <a:off x="0" y="0"/>
            <a:ext cx="9144000" cy="6858000"/>
          </a:xfrm>
          <a:prstGeom prst="rect">
            <a:avLst/>
          </a:prstGeom>
        </p:spPr>
      </p:pic>
      <p:sp>
        <p:nvSpPr>
          <p:cNvPr id="6" name="TextBox 5">
            <a:extLst>
              <a:ext uri="{FF2B5EF4-FFF2-40B4-BE49-F238E27FC236}">
                <a16:creationId xmlns:a16="http://schemas.microsoft.com/office/drawing/2014/main" id="{85A60BCB-9860-40F9-A670-EE8D68304150}"/>
              </a:ext>
            </a:extLst>
          </p:cNvPr>
          <p:cNvSpPr txBox="1"/>
          <p:nvPr/>
        </p:nvSpPr>
        <p:spPr>
          <a:xfrm>
            <a:off x="348343" y="4430889"/>
            <a:ext cx="4049486" cy="57490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3258"/>
                </a:solidFill>
                <a:effectLst/>
                <a:uLnTx/>
                <a:uFillTx/>
                <a:latin typeface="Montserrat" panose="02000505000000020004" pitchFamily="2" charset="0"/>
                <a:ea typeface="Roboto" pitchFamily="2" charset="0"/>
                <a:cs typeface="Arial"/>
              </a:rPr>
              <a:t>2.1 Introduction</a:t>
            </a:r>
          </a:p>
        </p:txBody>
      </p:sp>
      <p:sp>
        <p:nvSpPr>
          <p:cNvPr id="7" name="TextBox 6">
            <a:extLst>
              <a:ext uri="{FF2B5EF4-FFF2-40B4-BE49-F238E27FC236}">
                <a16:creationId xmlns:a16="http://schemas.microsoft.com/office/drawing/2014/main" id="{2D36325F-D6C2-4013-B76D-978800568C36}"/>
              </a:ext>
            </a:extLst>
          </p:cNvPr>
          <p:cNvSpPr txBox="1"/>
          <p:nvPr/>
        </p:nvSpPr>
        <p:spPr>
          <a:xfrm>
            <a:off x="348343" y="5968113"/>
            <a:ext cx="4049486" cy="279500"/>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25A">
                    <a:lumMod val="50000"/>
                    <a:lumOff val="50000"/>
                  </a:srgbClr>
                </a:solidFill>
                <a:effectLst/>
                <a:uLnTx/>
                <a:uFillTx/>
                <a:latin typeface="Montserrat" panose="02000505000000020004" pitchFamily="2" charset="0"/>
                <a:ea typeface="Roboto" pitchFamily="2" charset="0"/>
                <a:cs typeface="Arial"/>
              </a:rPr>
              <a:t>ukrida.ac.id</a:t>
            </a:r>
          </a:p>
        </p:txBody>
      </p:sp>
    </p:spTree>
    <p:extLst>
      <p:ext uri="{BB962C8B-B14F-4D97-AF65-F5344CB8AC3E}">
        <p14:creationId xmlns:p14="http://schemas.microsoft.com/office/powerpoint/2010/main" val="192733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2.1.1 </a:t>
            </a:r>
            <a:r>
              <a:rPr lang="en-US" sz="2800" dirty="0" err="1"/>
              <a:t>Definisi</a:t>
            </a:r>
            <a:r>
              <a:rPr lang="en-US" sz="2800" dirty="0"/>
              <a:t> CFG (TC)</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2" y="910966"/>
            <a:ext cx="8226091" cy="4601938"/>
          </a:xfrm>
        </p:spPr>
        <p:txBody>
          <a:bodyPr>
            <a:noAutofit/>
          </a:bodyPr>
          <a:lstStyle/>
          <a:p>
            <a:pPr marL="0" indent="0" algn="just">
              <a:buNone/>
            </a:pPr>
            <a:r>
              <a:rPr lang="en-US" sz="2800" dirty="0">
                <a:solidFill>
                  <a:srgbClr val="000000"/>
                </a:solidFill>
                <a:latin typeface="Montserrat" panose="02000505000000020004"/>
              </a:rPr>
              <a:t>CFG(Context-Free Grammars) adalah </a:t>
            </a:r>
            <a:r>
              <a:rPr lang="it-IT" sz="2800" dirty="0">
                <a:solidFill>
                  <a:srgbClr val="000000"/>
                </a:solidFill>
                <a:latin typeface="Montserrat" panose="02000505000000020004"/>
              </a:rPr>
              <a:t>4-tuple (V, T, S, P) di mana:</a:t>
            </a:r>
          </a:p>
          <a:p>
            <a:pPr marL="0" indent="0" algn="just">
              <a:buNone/>
            </a:pPr>
            <a:endParaRPr lang="it-IT" sz="2800" dirty="0">
              <a:solidFill>
                <a:srgbClr val="000000"/>
              </a:solidFill>
              <a:latin typeface="Montserrat" panose="02000505000000020004"/>
            </a:endParaRPr>
          </a:p>
          <a:p>
            <a:pPr marL="1028700" lvl="1" indent="-571500" algn="just">
              <a:buFont typeface="+mj-lt"/>
              <a:buAutoNum type="romanUcPeriod"/>
            </a:pPr>
            <a:r>
              <a:rPr lang="en-US" sz="2800" dirty="0">
                <a:solidFill>
                  <a:srgbClr val="000000"/>
                </a:solidFill>
                <a:latin typeface="Montserrat" panose="02000505000000020004"/>
              </a:rPr>
              <a:t>V adalah </a:t>
            </a: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himpunan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berhingga</a:t>
            </a:r>
            <a:r>
              <a:rPr lang="en-US" sz="2800" dirty="0">
                <a:solidFill>
                  <a:srgbClr val="000000"/>
                </a:solidFill>
                <a:latin typeface="Montserrat" panose="02000505000000020004"/>
              </a:rPr>
              <a:t> yang disebut variable</a:t>
            </a:r>
          </a:p>
          <a:p>
            <a:pPr marL="1028700" lvl="1" indent="-571500" algn="just">
              <a:buFont typeface="+mj-lt"/>
              <a:buAutoNum type="romanUcPeriod"/>
            </a:pPr>
            <a:r>
              <a:rPr lang="en-US" sz="2800" dirty="0">
                <a:solidFill>
                  <a:srgbClr val="000000"/>
                </a:solidFill>
                <a:latin typeface="Montserrat" panose="02000505000000020004"/>
              </a:rPr>
              <a:t>T adalah </a:t>
            </a: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himpunan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berhingga</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terpisah</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dari</a:t>
            </a:r>
            <a:r>
              <a:rPr lang="en-US" sz="2800" dirty="0">
                <a:solidFill>
                  <a:srgbClr val="000000"/>
                </a:solidFill>
                <a:latin typeface="Montserrat" panose="02000505000000020004"/>
              </a:rPr>
              <a:t> V, yang disebut terminal</a:t>
            </a:r>
          </a:p>
          <a:p>
            <a:pPr marL="1028700" lvl="1" indent="-571500" algn="just">
              <a:buFont typeface="+mj-lt"/>
              <a:buAutoNum type="romanUcPeriod"/>
            </a:pPr>
            <a:r>
              <a:rPr lang="en-US" sz="2800" dirty="0">
                <a:solidFill>
                  <a:srgbClr val="000000"/>
                </a:solidFill>
                <a:latin typeface="Montserrat" panose="02000505000000020004"/>
              </a:rPr>
              <a:t>P adalah </a:t>
            </a:r>
            <a:r>
              <a:rPr lang="en-US" sz="2800" dirty="0" err="1">
                <a:solidFill>
                  <a:srgbClr val="000000"/>
                </a:solidFill>
                <a:latin typeface="Montserrat" panose="02000505000000020004"/>
              </a:rPr>
              <a:t>himpunan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berhingga</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dari</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aturan-aturan</a:t>
            </a:r>
            <a:r>
              <a:rPr lang="en-US" sz="2800" dirty="0">
                <a:solidFill>
                  <a:srgbClr val="000000"/>
                </a:solidFill>
                <a:latin typeface="Montserrat" panose="02000505000000020004"/>
              </a:rPr>
              <a:t>, dengan </a:t>
            </a:r>
            <a:r>
              <a:rPr lang="en-US" sz="2800" dirty="0" err="1">
                <a:solidFill>
                  <a:srgbClr val="000000"/>
                </a:solidFill>
                <a:latin typeface="Montserrat" panose="02000505000000020004"/>
              </a:rPr>
              <a:t>setiap</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aturan</a:t>
            </a:r>
            <a:r>
              <a:rPr lang="en-US" sz="2800" dirty="0">
                <a:solidFill>
                  <a:srgbClr val="000000"/>
                </a:solidFill>
                <a:latin typeface="Montserrat" panose="02000505000000020004"/>
              </a:rPr>
              <a:t> adalah </a:t>
            </a: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variabel</a:t>
            </a:r>
            <a:r>
              <a:rPr lang="en-US" sz="2800" dirty="0">
                <a:solidFill>
                  <a:srgbClr val="000000"/>
                </a:solidFill>
                <a:latin typeface="Montserrat" panose="02000505000000020004"/>
              </a:rPr>
              <a:t> dan </a:t>
            </a: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stringdari</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variabel</a:t>
            </a:r>
            <a:r>
              <a:rPr lang="en-US" sz="2800" dirty="0">
                <a:solidFill>
                  <a:srgbClr val="000000"/>
                </a:solidFill>
                <a:latin typeface="Montserrat" panose="02000505000000020004"/>
              </a:rPr>
              <a:t> dan terminal, dan</a:t>
            </a:r>
          </a:p>
          <a:p>
            <a:pPr marL="1028700" lvl="1" indent="-571500" algn="just">
              <a:buFont typeface="+mj-lt"/>
              <a:buAutoNum type="romanUcPeriod"/>
            </a:pPr>
            <a:r>
              <a:rPr lang="en-US" sz="2800" dirty="0">
                <a:solidFill>
                  <a:srgbClr val="000000"/>
                </a:solidFill>
                <a:latin typeface="Montserrat" panose="02000505000000020004"/>
              </a:rPr>
              <a:t>S ∈ V adalah </a:t>
            </a:r>
            <a:r>
              <a:rPr lang="en-US" sz="2800" dirty="0" err="1">
                <a:solidFill>
                  <a:srgbClr val="000000"/>
                </a:solidFill>
                <a:latin typeface="Montserrat" panose="02000505000000020004"/>
              </a:rPr>
              <a:t>variabel</a:t>
            </a:r>
            <a:r>
              <a:rPr lang="en-US" sz="2800" dirty="0">
                <a:solidFill>
                  <a:srgbClr val="000000"/>
                </a:solidFill>
                <a:latin typeface="Montserrat" panose="02000505000000020004"/>
              </a:rPr>
              <a:t> awal.</a:t>
            </a:r>
          </a:p>
          <a:p>
            <a:pPr marL="0" indent="0" algn="just">
              <a:buNone/>
            </a:pPr>
            <a:endParaRPr lang="en-US" sz="2800" dirty="0">
              <a:solidFill>
                <a:srgbClr val="000000"/>
              </a:solidFill>
              <a:latin typeface="Montserrat" panose="02000505000000020004"/>
            </a:endParaRPr>
          </a:p>
        </p:txBody>
      </p:sp>
    </p:spTree>
    <p:extLst>
      <p:ext uri="{BB962C8B-B14F-4D97-AF65-F5344CB8AC3E}">
        <p14:creationId xmlns:p14="http://schemas.microsoft.com/office/powerpoint/2010/main" val="1561554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2.1.1 </a:t>
            </a:r>
            <a:r>
              <a:rPr lang="en-US" sz="2800" dirty="0" err="1"/>
              <a:t>Definisi</a:t>
            </a:r>
            <a:r>
              <a:rPr lang="en-US" sz="2800" dirty="0"/>
              <a:t> CFG (TC)</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305604" cy="5623822"/>
          </a:xfrm>
        </p:spPr>
        <p:txBody>
          <a:bodyPr>
            <a:normAutofit/>
          </a:bodyPr>
          <a:lstStyle/>
          <a:p>
            <a:pPr marL="0" indent="0" algn="just">
              <a:buNone/>
            </a:pPr>
            <a:endParaRPr lang="en-US" sz="3200" dirty="0">
              <a:solidFill>
                <a:schemeClr val="tx2"/>
              </a:solidFill>
              <a:latin typeface="Montserrat" panose="02000505000000020004"/>
            </a:endParaRPr>
          </a:p>
          <a:p>
            <a:pPr marL="0" indent="0" algn="just">
              <a:buNone/>
            </a:pPr>
            <a:r>
              <a:rPr lang="en-US" sz="3200" dirty="0" err="1">
                <a:solidFill>
                  <a:schemeClr val="tx2"/>
                </a:solidFill>
                <a:latin typeface="Montserrat" panose="02000505000000020004"/>
              </a:rPr>
              <a:t>Jika</a:t>
            </a:r>
            <a:r>
              <a:rPr lang="en-US" sz="3200" dirty="0">
                <a:solidFill>
                  <a:schemeClr val="tx2"/>
                </a:solidFill>
                <a:latin typeface="Montserrat" panose="02000505000000020004"/>
              </a:rPr>
              <a:t> u, v dan w adalah string </a:t>
            </a:r>
            <a:r>
              <a:rPr lang="en-US" sz="3200" dirty="0" err="1">
                <a:solidFill>
                  <a:schemeClr val="tx2"/>
                </a:solidFill>
                <a:latin typeface="Montserrat" panose="02000505000000020004"/>
              </a:rPr>
              <a:t>variabel</a:t>
            </a:r>
            <a:r>
              <a:rPr lang="en-US" sz="3200" dirty="0">
                <a:solidFill>
                  <a:schemeClr val="tx2"/>
                </a:solidFill>
                <a:latin typeface="Montserrat" panose="02000505000000020004"/>
              </a:rPr>
              <a:t> dan terminal, dan A → w adalah </a:t>
            </a:r>
            <a:r>
              <a:rPr lang="en-US" sz="3200" dirty="0" err="1">
                <a:solidFill>
                  <a:schemeClr val="tx2"/>
                </a:solidFill>
                <a:latin typeface="Montserrat" panose="02000505000000020004"/>
              </a:rPr>
              <a:t>sebuah</a:t>
            </a:r>
            <a:r>
              <a:rPr lang="en-US" sz="3200" dirty="0">
                <a:solidFill>
                  <a:schemeClr val="tx2"/>
                </a:solidFill>
                <a:latin typeface="Montserrat" panose="02000505000000020004"/>
              </a:rPr>
              <a:t> </a:t>
            </a:r>
            <a:r>
              <a:rPr lang="en-US" sz="3200" dirty="0" err="1">
                <a:solidFill>
                  <a:schemeClr val="tx2"/>
                </a:solidFill>
                <a:latin typeface="Montserrat" panose="02000505000000020004"/>
              </a:rPr>
              <a:t>aturan</a:t>
            </a:r>
            <a:r>
              <a:rPr lang="en-US" sz="3200" dirty="0">
                <a:solidFill>
                  <a:schemeClr val="tx2"/>
                </a:solidFill>
                <a:latin typeface="Montserrat" panose="02000505000000020004"/>
              </a:rPr>
              <a:t> tata </a:t>
            </a:r>
            <a:r>
              <a:rPr lang="en-US" sz="3200" dirty="0" err="1">
                <a:solidFill>
                  <a:schemeClr val="tx2"/>
                </a:solidFill>
                <a:latin typeface="Montserrat" panose="02000505000000020004"/>
              </a:rPr>
              <a:t>bahasa</a:t>
            </a:r>
            <a:r>
              <a:rPr lang="en-US" sz="3200" dirty="0">
                <a:solidFill>
                  <a:schemeClr val="tx2"/>
                </a:solidFill>
                <a:latin typeface="Montserrat" panose="02000505000000020004"/>
              </a:rPr>
              <a:t>, </a:t>
            </a:r>
            <a:r>
              <a:rPr lang="en-US" sz="3200" dirty="0" err="1">
                <a:solidFill>
                  <a:schemeClr val="tx2"/>
                </a:solidFill>
                <a:latin typeface="Montserrat" panose="02000505000000020004"/>
              </a:rPr>
              <a:t>kita</a:t>
            </a:r>
            <a:r>
              <a:rPr lang="en-US" sz="3200" dirty="0">
                <a:solidFill>
                  <a:schemeClr val="tx2"/>
                </a:solidFill>
                <a:latin typeface="Montserrat" panose="02000505000000020004"/>
              </a:rPr>
              <a:t> </a:t>
            </a:r>
            <a:r>
              <a:rPr lang="en-US" sz="3200" dirty="0" err="1">
                <a:solidFill>
                  <a:schemeClr val="tx2"/>
                </a:solidFill>
                <a:latin typeface="Montserrat" panose="02000505000000020004"/>
              </a:rPr>
              <a:t>mengatakan</a:t>
            </a:r>
            <a:r>
              <a:rPr lang="en-US" sz="3200" dirty="0">
                <a:solidFill>
                  <a:schemeClr val="tx2"/>
                </a:solidFill>
                <a:latin typeface="Montserrat" panose="02000505000000020004"/>
              </a:rPr>
              <a:t> bahwa </a:t>
            </a:r>
            <a:r>
              <a:rPr lang="en-US" sz="3200" dirty="0" err="1">
                <a:solidFill>
                  <a:schemeClr val="tx2"/>
                </a:solidFill>
                <a:latin typeface="Montserrat" panose="02000505000000020004"/>
              </a:rPr>
              <a:t>uAv</a:t>
            </a:r>
            <a:r>
              <a:rPr lang="en-US" sz="3200" dirty="0">
                <a:solidFill>
                  <a:schemeClr val="tx2"/>
                </a:solidFill>
                <a:latin typeface="Montserrat" panose="02000505000000020004"/>
              </a:rPr>
              <a:t> </a:t>
            </a:r>
            <a:r>
              <a:rPr lang="en-US" sz="3200" dirty="0" err="1">
                <a:solidFill>
                  <a:schemeClr val="tx2"/>
                </a:solidFill>
                <a:latin typeface="Montserrat" panose="02000505000000020004"/>
              </a:rPr>
              <a:t>menghasilkan</a:t>
            </a:r>
            <a:r>
              <a:rPr lang="en-US" sz="3200" dirty="0">
                <a:solidFill>
                  <a:schemeClr val="tx2"/>
                </a:solidFill>
                <a:latin typeface="Montserrat" panose="02000505000000020004"/>
              </a:rPr>
              <a:t> </a:t>
            </a:r>
            <a:r>
              <a:rPr lang="en-US" sz="3200" dirty="0" err="1">
                <a:solidFill>
                  <a:schemeClr val="tx2"/>
                </a:solidFill>
                <a:latin typeface="Montserrat" panose="02000505000000020004"/>
              </a:rPr>
              <a:t>uwv</a:t>
            </a:r>
            <a:r>
              <a:rPr lang="en-US" sz="3200" dirty="0">
                <a:solidFill>
                  <a:schemeClr val="tx2"/>
                </a:solidFill>
                <a:latin typeface="Montserrat" panose="02000505000000020004"/>
              </a:rPr>
              <a:t>, </a:t>
            </a:r>
            <a:r>
              <a:rPr lang="en-US" sz="3200" dirty="0" err="1">
                <a:solidFill>
                  <a:schemeClr val="tx2"/>
                </a:solidFill>
                <a:latin typeface="Montserrat" panose="02000505000000020004"/>
              </a:rPr>
              <a:t>ditulis</a:t>
            </a:r>
            <a:r>
              <a:rPr lang="en-US" sz="3200" dirty="0">
                <a:solidFill>
                  <a:schemeClr val="tx2"/>
                </a:solidFill>
                <a:latin typeface="Montserrat" panose="02000505000000020004"/>
              </a:rPr>
              <a:t> </a:t>
            </a:r>
            <a:r>
              <a:rPr lang="en-US" sz="3200" dirty="0" err="1">
                <a:solidFill>
                  <a:schemeClr val="tx2"/>
                </a:solidFill>
                <a:latin typeface="Montserrat" panose="02000505000000020004"/>
              </a:rPr>
              <a:t>uAv</a:t>
            </a:r>
            <a:r>
              <a:rPr lang="en-US" sz="3200" dirty="0">
                <a:solidFill>
                  <a:schemeClr val="tx2"/>
                </a:solidFill>
                <a:latin typeface="Montserrat" panose="02000505000000020004"/>
              </a:rPr>
              <a:t> ⇒ </a:t>
            </a:r>
            <a:r>
              <a:rPr lang="en-US" sz="3200" dirty="0" err="1">
                <a:solidFill>
                  <a:schemeClr val="tx2"/>
                </a:solidFill>
                <a:latin typeface="Montserrat" panose="02000505000000020004"/>
              </a:rPr>
              <a:t>uwv</a:t>
            </a:r>
            <a:r>
              <a:rPr lang="en-US" sz="3200" dirty="0">
                <a:solidFill>
                  <a:schemeClr val="tx2"/>
                </a:solidFill>
                <a:latin typeface="Montserrat" panose="02000505000000020004"/>
              </a:rPr>
              <a:t>.</a:t>
            </a:r>
          </a:p>
          <a:p>
            <a:pPr marL="0" indent="0" algn="just">
              <a:buNone/>
            </a:pPr>
            <a:endParaRPr lang="en-US" sz="3200" dirty="0">
              <a:solidFill>
                <a:srgbClr val="000000"/>
              </a:solidFill>
              <a:latin typeface="Montserrat" panose="02000505000000020004"/>
            </a:endParaRPr>
          </a:p>
        </p:txBody>
      </p:sp>
      <p:pic>
        <p:nvPicPr>
          <p:cNvPr id="1026" name="Picture 2" descr="Variabel Penelitian: Pengertian, Jenis ...">
            <a:extLst>
              <a:ext uri="{FF2B5EF4-FFF2-40B4-BE49-F238E27FC236}">
                <a16:creationId xmlns:a16="http://schemas.microsoft.com/office/drawing/2014/main" id="{0A1B63D7-3F2F-471E-ADA9-3E71989CA64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96888" y="3722877"/>
            <a:ext cx="3750223" cy="2809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793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2.1.2 Contoh CFG (TC)</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2" y="910966"/>
            <a:ext cx="8226091" cy="4601938"/>
          </a:xfrm>
        </p:spPr>
        <p:txBody>
          <a:bodyPr>
            <a:noAutofit/>
          </a:bodyPr>
          <a:lstStyle/>
          <a:p>
            <a:pPr marL="0" indent="0" algn="just">
              <a:buNone/>
            </a:pPr>
            <a:r>
              <a:rPr lang="en-US" sz="2800" dirty="0">
                <a:solidFill>
                  <a:srgbClr val="000000"/>
                </a:solidFill>
                <a:latin typeface="Montserrat" panose="02000505000000020004"/>
              </a:rPr>
              <a:t>Diberikan </a:t>
            </a: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tata </a:t>
            </a:r>
            <a:r>
              <a:rPr lang="en-US" sz="2800" dirty="0" err="1">
                <a:solidFill>
                  <a:srgbClr val="000000"/>
                </a:solidFill>
                <a:latin typeface="Montserrat" panose="02000505000000020004"/>
              </a:rPr>
              <a:t>bahasa</a:t>
            </a:r>
            <a:r>
              <a:rPr lang="en-US" sz="2800" dirty="0">
                <a:solidFill>
                  <a:srgbClr val="000000"/>
                </a:solidFill>
                <a:latin typeface="Montserrat" panose="02000505000000020004"/>
              </a:rPr>
              <a:t> G = ({S}, {a, b}, R, S). </a:t>
            </a:r>
          </a:p>
          <a:p>
            <a:pPr marL="0" indent="0" algn="just">
              <a:buNone/>
            </a:pPr>
            <a:r>
              <a:rPr lang="en-US" sz="2800" dirty="0" err="1">
                <a:solidFill>
                  <a:srgbClr val="000000"/>
                </a:solidFill>
                <a:latin typeface="Montserrat" panose="02000505000000020004"/>
              </a:rPr>
              <a:t>Aturan</a:t>
            </a:r>
            <a:r>
              <a:rPr lang="en-US" sz="2800" dirty="0">
                <a:solidFill>
                  <a:srgbClr val="000000"/>
                </a:solidFill>
                <a:latin typeface="Montserrat" panose="02000505000000020004"/>
              </a:rPr>
              <a:t> Himpunan R adalah:</a:t>
            </a:r>
          </a:p>
          <a:p>
            <a:pPr marL="0" indent="0" algn="just">
              <a:buNone/>
            </a:pPr>
            <a:r>
              <a:rPr lang="en-US" sz="2800" dirty="0">
                <a:solidFill>
                  <a:srgbClr val="000000"/>
                </a:solidFill>
                <a:latin typeface="Courier New" panose="02070309020205020404" pitchFamily="49" charset="0"/>
                <a:cs typeface="Courier New" panose="02070309020205020404" pitchFamily="49" charset="0"/>
              </a:rPr>
              <a:t>			</a:t>
            </a:r>
            <a:r>
              <a:rPr lang="en-US" sz="2800" i="1" dirty="0">
                <a:solidFill>
                  <a:srgbClr val="000000"/>
                </a:solidFill>
                <a:latin typeface="Courier New" panose="02070309020205020404" pitchFamily="49" charset="0"/>
                <a:cs typeface="Courier New" panose="02070309020205020404" pitchFamily="49" charset="0"/>
              </a:rPr>
              <a:t>	</a:t>
            </a:r>
            <a:r>
              <a:rPr lang="en-US" sz="2800" i="1" dirty="0" err="1">
                <a:solidFill>
                  <a:srgbClr val="000000"/>
                </a:solidFill>
                <a:latin typeface="Courier New" panose="02070309020205020404" pitchFamily="49" charset="0"/>
                <a:cs typeface="Courier New" panose="02070309020205020404" pitchFamily="49" charset="0"/>
              </a:rPr>
              <a:t>S</a:t>
            </a:r>
            <a:r>
              <a:rPr lang="en-US" sz="28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t>
            </a:r>
            <a:r>
              <a:rPr lang="en-US" sz="2800" i="1"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aSb</a:t>
            </a:r>
            <a:endParaRPr lang="en-US" sz="2800" i="1"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just">
              <a:buNone/>
            </a:pPr>
            <a:r>
              <a:rPr lang="en-US" sz="2800" i="1"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S</a:t>
            </a:r>
            <a:r>
              <a:rPr lang="en-US" sz="28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r>
              <a:rPr lang="en-US" sz="2800" i="1" dirty="0">
                <a:solidFill>
                  <a:srgbClr val="000000"/>
                </a:solidFill>
                <a:latin typeface="Courier New" panose="02070309020205020404" pitchFamily="49" charset="0"/>
                <a:cs typeface="Courier New" panose="02070309020205020404" pitchFamily="49" charset="0"/>
                <a:sym typeface="Wingdings" panose="05000000000000000000" pitchFamily="2" charset="2"/>
              </a:rPr>
              <a:t>SS</a:t>
            </a:r>
          </a:p>
          <a:p>
            <a:pPr marL="0" indent="0" algn="just">
              <a:buNone/>
            </a:pPr>
            <a:r>
              <a:rPr lang="en-US" sz="2800" i="1"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S</a:t>
            </a:r>
            <a:r>
              <a:rPr lang="en-US" sz="28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r>
              <a:rPr lang="en-US" sz="2800" i="1" dirty="0">
                <a:solidFill>
                  <a:srgbClr val="000000"/>
                </a:solidFill>
                <a:latin typeface="Courier New" panose="02070309020205020404" pitchFamily="49" charset="0"/>
                <a:cs typeface="Courier New" panose="02070309020205020404" pitchFamily="49" charset="0"/>
              </a:rPr>
              <a:t>∈</a:t>
            </a:r>
            <a:endParaRPr lang="en-US" sz="2800" i="1"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just">
              <a:buNone/>
            </a:pPr>
            <a:r>
              <a:rPr lang="en-US" sz="2800" dirty="0">
                <a:solidFill>
                  <a:srgbClr val="000000"/>
                </a:solidFill>
                <a:latin typeface="Montserrat" panose="02000505000000020004"/>
              </a:rPr>
              <a:t>Tata </a:t>
            </a:r>
            <a:r>
              <a:rPr lang="en-US" sz="2800" dirty="0" err="1">
                <a:solidFill>
                  <a:srgbClr val="000000"/>
                </a:solidFill>
                <a:latin typeface="Montserrat" panose="02000505000000020004"/>
              </a:rPr>
              <a:t>bahasa</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seperti</a:t>
            </a:r>
            <a:r>
              <a:rPr lang="en-US" sz="2800" dirty="0">
                <a:solidFill>
                  <a:srgbClr val="000000"/>
                </a:solidFill>
                <a:latin typeface="Montserrat" panose="02000505000000020004"/>
              </a:rPr>
              <a:t> ini </a:t>
            </a:r>
            <a:r>
              <a:rPr lang="en-US" sz="2800" dirty="0" err="1">
                <a:solidFill>
                  <a:srgbClr val="000000"/>
                </a:solidFill>
                <a:latin typeface="Montserrat" panose="02000505000000020004"/>
              </a:rPr>
              <a:t>akan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menghasilkan</a:t>
            </a:r>
            <a:r>
              <a:rPr lang="en-US" sz="2800" dirty="0">
                <a:solidFill>
                  <a:srgbClr val="000000"/>
                </a:solidFill>
                <a:latin typeface="Montserrat" panose="02000505000000020004"/>
              </a:rPr>
              <a:t> string </a:t>
            </a:r>
            <a:r>
              <a:rPr lang="en-US" sz="2800" dirty="0" err="1">
                <a:solidFill>
                  <a:srgbClr val="000000"/>
                </a:solidFill>
                <a:latin typeface="Montserrat" panose="02000505000000020004"/>
              </a:rPr>
              <a:t>seperti</a:t>
            </a:r>
            <a:r>
              <a:rPr lang="en-US" sz="2800" dirty="0">
                <a:solidFill>
                  <a:srgbClr val="000000"/>
                </a:solidFill>
                <a:latin typeface="Montserrat" panose="02000505000000020004"/>
              </a:rPr>
              <a:t>:  	</a:t>
            </a:r>
            <a:r>
              <a:rPr lang="en-ID" sz="2800" dirty="0" err="1">
                <a:solidFill>
                  <a:srgbClr val="000000"/>
                </a:solidFill>
              </a:rPr>
              <a:t>abab</a:t>
            </a:r>
            <a:r>
              <a:rPr lang="en-ID" sz="2800" dirty="0">
                <a:solidFill>
                  <a:srgbClr val="000000"/>
                </a:solidFill>
              </a:rPr>
              <a:t>, </a:t>
            </a:r>
            <a:r>
              <a:rPr lang="en-ID" sz="2800" dirty="0" err="1">
                <a:solidFill>
                  <a:srgbClr val="000000"/>
                </a:solidFill>
              </a:rPr>
              <a:t>aaabbb</a:t>
            </a:r>
            <a:r>
              <a:rPr lang="en-ID" sz="2800" dirty="0">
                <a:solidFill>
                  <a:srgbClr val="000000"/>
                </a:solidFill>
              </a:rPr>
              <a:t>, dan </a:t>
            </a:r>
            <a:r>
              <a:rPr lang="en-ID" sz="2800" dirty="0" err="1">
                <a:solidFill>
                  <a:srgbClr val="000000"/>
                </a:solidFill>
              </a:rPr>
              <a:t>aababb</a:t>
            </a:r>
            <a:endParaRPr lang="en-ID" sz="2800" dirty="0">
              <a:solidFill>
                <a:srgbClr val="000000"/>
              </a:solidFill>
            </a:endParaRPr>
          </a:p>
          <a:p>
            <a:pPr marL="0" indent="0" algn="just">
              <a:buNone/>
            </a:pPr>
            <a:r>
              <a:rPr lang="en-US" sz="2800" dirty="0" err="1">
                <a:solidFill>
                  <a:srgbClr val="000000"/>
                </a:solidFill>
                <a:latin typeface="Montserrat" panose="02000505000000020004"/>
              </a:rPr>
              <a:t>Jika</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kita</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mengasumsikan</a:t>
            </a:r>
            <a:r>
              <a:rPr lang="en-US" sz="2800" dirty="0">
                <a:solidFill>
                  <a:srgbClr val="000000"/>
                </a:solidFill>
                <a:latin typeface="Montserrat" panose="02000505000000020004"/>
              </a:rPr>
              <a:t> bahwa a adalah </a:t>
            </a:r>
            <a:r>
              <a:rPr lang="en-US" sz="2800" dirty="0" err="1">
                <a:solidFill>
                  <a:srgbClr val="000000"/>
                </a:solidFill>
                <a:latin typeface="Montserrat" panose="02000505000000020004"/>
              </a:rPr>
              <a:t>paranthesis</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kiri</a:t>
            </a:r>
            <a:r>
              <a:rPr lang="en-US" sz="2800" dirty="0">
                <a:solidFill>
                  <a:srgbClr val="000000"/>
                </a:solidFill>
                <a:latin typeface="Montserrat" panose="02000505000000020004"/>
              </a:rPr>
              <a:t> '(' dan b adalah </a:t>
            </a:r>
            <a:r>
              <a:rPr lang="en-US" sz="2800" dirty="0" err="1">
                <a:solidFill>
                  <a:srgbClr val="000000"/>
                </a:solidFill>
                <a:latin typeface="Montserrat" panose="02000505000000020004"/>
              </a:rPr>
              <a:t>paranthesis</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kanan</a:t>
            </a:r>
            <a:r>
              <a:rPr lang="en-US" sz="2800" dirty="0">
                <a:solidFill>
                  <a:srgbClr val="000000"/>
                </a:solidFill>
                <a:latin typeface="Montserrat" panose="02000505000000020004"/>
              </a:rPr>
              <a:t> ')’, maka L(G) adalah </a:t>
            </a:r>
            <a:r>
              <a:rPr lang="en-US" sz="2800" dirty="0" err="1">
                <a:solidFill>
                  <a:srgbClr val="000000"/>
                </a:solidFill>
                <a:latin typeface="Montserrat" panose="02000505000000020004"/>
              </a:rPr>
              <a:t>bahasa</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dari</a:t>
            </a:r>
            <a:r>
              <a:rPr lang="en-US" sz="2800" dirty="0">
                <a:solidFill>
                  <a:srgbClr val="000000"/>
                </a:solidFill>
                <a:latin typeface="Montserrat" panose="02000505000000020004"/>
              </a:rPr>
              <a:t> semua string </a:t>
            </a:r>
            <a:r>
              <a:rPr lang="en-US" sz="2800" dirty="0" err="1">
                <a:solidFill>
                  <a:srgbClr val="000000"/>
                </a:solidFill>
                <a:latin typeface="Montserrat" panose="02000505000000020004"/>
              </a:rPr>
              <a:t>paranthesis</a:t>
            </a:r>
            <a:r>
              <a:rPr lang="en-US" sz="2800" dirty="0">
                <a:solidFill>
                  <a:srgbClr val="000000"/>
                </a:solidFill>
                <a:latin typeface="Montserrat" panose="02000505000000020004"/>
              </a:rPr>
              <a:t> yang </a:t>
            </a:r>
            <a:r>
              <a:rPr lang="en-US" sz="2800" dirty="0" err="1">
                <a:solidFill>
                  <a:srgbClr val="000000"/>
                </a:solidFill>
                <a:latin typeface="Montserrat" panose="02000505000000020004"/>
              </a:rPr>
              <a:t>bersarang</a:t>
            </a:r>
            <a:r>
              <a:rPr lang="en-US" sz="2800" dirty="0">
                <a:solidFill>
                  <a:srgbClr val="000000"/>
                </a:solidFill>
                <a:latin typeface="Montserrat" panose="02000505000000020004"/>
              </a:rPr>
              <a:t> dengan benar.</a:t>
            </a:r>
          </a:p>
        </p:txBody>
      </p:sp>
      <p:sp>
        <p:nvSpPr>
          <p:cNvPr id="4" name="Rectangle: Rounded Corners 3">
            <a:extLst>
              <a:ext uri="{FF2B5EF4-FFF2-40B4-BE49-F238E27FC236}">
                <a16:creationId xmlns:a16="http://schemas.microsoft.com/office/drawing/2014/main" id="{C1F92CA6-C805-4756-92B8-FB2286FA1D43}"/>
              </a:ext>
            </a:extLst>
          </p:cNvPr>
          <p:cNvSpPr/>
          <p:nvPr/>
        </p:nvSpPr>
        <p:spPr>
          <a:xfrm>
            <a:off x="3829878" y="2232991"/>
            <a:ext cx="1696279" cy="1533939"/>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9C3B3FCA-0284-4F85-A74E-AE95626AFDA9}"/>
              </a:ext>
            </a:extLst>
          </p:cNvPr>
          <p:cNvSpPr/>
          <p:nvPr/>
        </p:nvSpPr>
        <p:spPr>
          <a:xfrm>
            <a:off x="3255676" y="4267197"/>
            <a:ext cx="4865639" cy="364961"/>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8702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2.1.3 Right-Linear Grammar</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2" y="910965"/>
            <a:ext cx="8226091" cy="5251295"/>
          </a:xfrm>
        </p:spPr>
        <p:txBody>
          <a:bodyPr>
            <a:noAutofit/>
          </a:bodyPr>
          <a:lstStyle/>
          <a:p>
            <a:pPr marL="0" indent="0" algn="just">
              <a:buNone/>
            </a:pPr>
            <a:r>
              <a:rPr lang="en-US" sz="2400" dirty="0">
                <a:solidFill>
                  <a:srgbClr val="000000"/>
                </a:solidFill>
                <a:latin typeface="Montserrat" panose="02000505000000020004"/>
              </a:rPr>
              <a:t>Secara umum </a:t>
            </a:r>
            <a:r>
              <a:rPr lang="en-US" sz="2400" dirty="0" err="1">
                <a:solidFill>
                  <a:srgbClr val="000000"/>
                </a:solidFill>
                <a:latin typeface="Montserrat" panose="02000505000000020004"/>
              </a:rPr>
              <a:t>aturan</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produksi</a:t>
            </a:r>
            <a:r>
              <a:rPr lang="en-US" sz="2400" dirty="0">
                <a:solidFill>
                  <a:srgbClr val="000000"/>
                </a:solidFill>
                <a:latin typeface="Montserrat" panose="02000505000000020004"/>
              </a:rPr>
              <a:t> memiliki bentuk:</a:t>
            </a: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r>
              <a:rPr lang="en-US" sz="2400" dirty="0">
                <a:solidFill>
                  <a:srgbClr val="000000"/>
                </a:solidFill>
                <a:latin typeface="Montserrat" panose="02000505000000020004"/>
              </a:rPr>
              <a:t>Tetapi </a:t>
            </a:r>
            <a:r>
              <a:rPr lang="en-US" sz="2400" dirty="0" err="1">
                <a:solidFill>
                  <a:srgbClr val="000000"/>
                </a:solidFill>
                <a:latin typeface="Montserrat" panose="02000505000000020004"/>
              </a:rPr>
              <a:t>dalam</a:t>
            </a:r>
            <a:r>
              <a:rPr lang="en-US" sz="2400" dirty="0">
                <a:solidFill>
                  <a:srgbClr val="000000"/>
                </a:solidFill>
                <a:latin typeface="Montserrat" panose="02000505000000020004"/>
              </a:rPr>
              <a:t> Right-Linear Grammar, semua </a:t>
            </a:r>
            <a:r>
              <a:rPr lang="en-US" sz="2400" dirty="0" err="1">
                <a:solidFill>
                  <a:srgbClr val="000000"/>
                </a:solidFill>
                <a:latin typeface="Montserrat" panose="02000505000000020004"/>
              </a:rPr>
              <a:t>produksi</a:t>
            </a:r>
            <a:r>
              <a:rPr lang="en-US" sz="2400" dirty="0">
                <a:solidFill>
                  <a:srgbClr val="000000"/>
                </a:solidFill>
                <a:latin typeface="Montserrat" panose="02000505000000020004"/>
              </a:rPr>
              <a:t> memiliki salah </a:t>
            </a:r>
            <a:r>
              <a:rPr lang="en-US" sz="2400" dirty="0" err="1">
                <a:solidFill>
                  <a:srgbClr val="000000"/>
                </a:solidFill>
                <a:latin typeface="Montserrat" panose="02000505000000020004"/>
              </a:rPr>
              <a:t>satu</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dari</a:t>
            </a:r>
            <a:r>
              <a:rPr lang="en-US" sz="2400" dirty="0">
                <a:solidFill>
                  <a:srgbClr val="000000"/>
                </a:solidFill>
                <a:latin typeface="Montserrat" panose="02000505000000020004"/>
              </a:rPr>
              <a:t> dua bentuk Berikut.</a:t>
            </a:r>
          </a:p>
          <a:p>
            <a:pPr marL="0" indent="0" algn="just">
              <a:buNone/>
            </a:pPr>
            <a:r>
              <a:rPr lang="en-US" dirty="0">
                <a:solidFill>
                  <a:srgbClr val="000000"/>
                </a:solidFill>
                <a:latin typeface="Montserrat" panose="02000505000000020004"/>
              </a:rPr>
              <a:t>	Bentuk Pertama:</a:t>
            </a:r>
          </a:p>
          <a:p>
            <a:pPr marL="0" indent="0" algn="just">
              <a:buNone/>
            </a:pPr>
            <a:r>
              <a:rPr lang="en-US" dirty="0">
                <a:solidFill>
                  <a:srgbClr val="000000"/>
                </a:solidFill>
                <a:latin typeface="Montserrat" panose="02000505000000020004"/>
              </a:rPr>
              <a:t>	</a:t>
            </a:r>
          </a:p>
          <a:p>
            <a:pPr marL="0" indent="0" algn="just">
              <a:buNone/>
            </a:pPr>
            <a:r>
              <a:rPr lang="en-US" dirty="0">
                <a:solidFill>
                  <a:srgbClr val="000000"/>
                </a:solidFill>
                <a:latin typeface="Montserrat" panose="02000505000000020004"/>
              </a:rPr>
              <a:t>	ATAU</a:t>
            </a:r>
          </a:p>
          <a:p>
            <a:pPr marL="0" indent="0" algn="just">
              <a:buNone/>
            </a:pPr>
            <a:r>
              <a:rPr lang="en-US" sz="1400" dirty="0">
                <a:solidFill>
                  <a:srgbClr val="000000"/>
                </a:solidFill>
                <a:latin typeface="Montserrat" panose="02000505000000020004"/>
              </a:rPr>
              <a:t>	Bentuk Kedua:</a:t>
            </a:r>
          </a:p>
          <a:p>
            <a:pPr marL="0" indent="0" algn="just">
              <a:buNone/>
            </a:pPr>
            <a:endParaRPr lang="en-US" sz="1400" dirty="0">
              <a:solidFill>
                <a:srgbClr val="000000"/>
              </a:solidFill>
              <a:latin typeface="Montserrat" panose="02000505000000020004"/>
            </a:endParaRPr>
          </a:p>
          <a:p>
            <a:pPr marL="0" indent="0" algn="just">
              <a:buNone/>
            </a:pPr>
            <a:endParaRPr lang="en-US" sz="1400" dirty="0">
              <a:solidFill>
                <a:srgbClr val="000000"/>
              </a:solidFill>
              <a:latin typeface="Montserrat" panose="02000505000000020004"/>
            </a:endParaRPr>
          </a:p>
          <a:p>
            <a:pPr marL="0" indent="0" algn="just">
              <a:buNone/>
            </a:pPr>
            <a:r>
              <a:rPr lang="en-US" sz="2400" dirty="0" err="1">
                <a:solidFill>
                  <a:srgbClr val="000000"/>
                </a:solidFill>
                <a:latin typeface="Montserrat" panose="02000505000000020004"/>
              </a:rPr>
              <a:t>Setiap</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sisi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kiri</a:t>
            </a:r>
            <a:r>
              <a:rPr lang="en-US" sz="2400" dirty="0">
                <a:solidFill>
                  <a:srgbClr val="000000"/>
                </a:solidFill>
                <a:latin typeface="Montserrat" panose="02000505000000020004"/>
              </a:rPr>
              <a:t> harus memiliki </a:t>
            </a:r>
            <a:r>
              <a:rPr lang="en-US" sz="2400" dirty="0" err="1">
                <a:solidFill>
                  <a:srgbClr val="000000"/>
                </a:solidFill>
                <a:latin typeface="Montserrat" panose="02000505000000020004"/>
              </a:rPr>
              <a:t>satu</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variabel</a:t>
            </a:r>
            <a:r>
              <a:rPr lang="en-US" sz="2400" dirty="0">
                <a:solidFill>
                  <a:srgbClr val="000000"/>
                </a:solidFill>
                <a:latin typeface="Montserrat" panose="02000505000000020004"/>
              </a:rPr>
              <a:t> dan </a:t>
            </a:r>
            <a:r>
              <a:rPr lang="en-US" sz="2400" dirty="0" err="1">
                <a:solidFill>
                  <a:srgbClr val="000000"/>
                </a:solidFill>
                <a:latin typeface="Montserrat" panose="02000505000000020004"/>
              </a:rPr>
              <a:t>sisi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kanan</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terdiri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dari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sejumlah</a:t>
            </a:r>
            <a:r>
              <a:rPr lang="en-US" sz="2400" dirty="0">
                <a:solidFill>
                  <a:srgbClr val="000000"/>
                </a:solidFill>
                <a:latin typeface="Montserrat" panose="02000505000000020004"/>
              </a:rPr>
              <a:t> terminal (anggota T) yang secara </a:t>
            </a:r>
            <a:r>
              <a:rPr lang="en-US" sz="2400" dirty="0" err="1">
                <a:solidFill>
                  <a:srgbClr val="000000"/>
                </a:solidFill>
                <a:latin typeface="Montserrat" panose="02000505000000020004"/>
              </a:rPr>
              <a:t>opsional</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diikuti</a:t>
            </a:r>
            <a:r>
              <a:rPr lang="en-US" sz="2400" dirty="0">
                <a:solidFill>
                  <a:srgbClr val="000000"/>
                </a:solidFill>
                <a:latin typeface="Montserrat" panose="02000505000000020004"/>
              </a:rPr>
              <a:t> oleh </a:t>
            </a:r>
            <a:r>
              <a:rPr lang="en-US" sz="2400" dirty="0" err="1">
                <a:solidFill>
                  <a:srgbClr val="000000"/>
                </a:solidFill>
                <a:latin typeface="Montserrat" panose="02000505000000020004"/>
              </a:rPr>
              <a:t>satu</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variabel</a:t>
            </a:r>
            <a:r>
              <a:rPr lang="en-US" sz="2400" dirty="0">
                <a:solidFill>
                  <a:srgbClr val="000000"/>
                </a:solidFill>
                <a:latin typeface="Montserrat" panose="02000505000000020004"/>
              </a:rPr>
              <a:t>.</a:t>
            </a:r>
          </a:p>
        </p:txBody>
      </p:sp>
      <p:sp>
        <p:nvSpPr>
          <p:cNvPr id="5" name="Rectangle: Rounded Corners 4">
            <a:extLst>
              <a:ext uri="{FF2B5EF4-FFF2-40B4-BE49-F238E27FC236}">
                <a16:creationId xmlns:a16="http://schemas.microsoft.com/office/drawing/2014/main" id="{9C3B3FCA-0284-4F85-A74E-AE95626AFDA9}"/>
              </a:ext>
            </a:extLst>
          </p:cNvPr>
          <p:cNvSpPr/>
          <p:nvPr/>
        </p:nvSpPr>
        <p:spPr>
          <a:xfrm>
            <a:off x="2703443" y="1470991"/>
            <a:ext cx="3352800" cy="675861"/>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AEE0E0A4-AF7A-41B2-BB15-AEE83F8FD7CA}"/>
              </a:ext>
            </a:extLst>
          </p:cNvPr>
          <p:cNvPicPr>
            <a:picLocks noChangeAspect="1"/>
          </p:cNvPicPr>
          <p:nvPr/>
        </p:nvPicPr>
        <p:blipFill>
          <a:blip r:embed="rId2"/>
          <a:stretch>
            <a:fillRect/>
          </a:stretch>
        </p:blipFill>
        <p:spPr>
          <a:xfrm>
            <a:off x="2852318" y="1575114"/>
            <a:ext cx="3048425" cy="447737"/>
          </a:xfrm>
          <a:prstGeom prst="rect">
            <a:avLst/>
          </a:prstGeom>
        </p:spPr>
      </p:pic>
      <p:pic>
        <p:nvPicPr>
          <p:cNvPr id="7" name="Picture 6">
            <a:extLst>
              <a:ext uri="{FF2B5EF4-FFF2-40B4-BE49-F238E27FC236}">
                <a16:creationId xmlns:a16="http://schemas.microsoft.com/office/drawing/2014/main" id="{E62AE377-3379-4109-89A0-4DB6B150C29C}"/>
              </a:ext>
            </a:extLst>
          </p:cNvPr>
          <p:cNvPicPr>
            <a:picLocks noChangeAspect="1"/>
          </p:cNvPicPr>
          <p:nvPr/>
        </p:nvPicPr>
        <p:blipFill>
          <a:blip r:embed="rId3"/>
          <a:stretch>
            <a:fillRect/>
          </a:stretch>
        </p:blipFill>
        <p:spPr>
          <a:xfrm>
            <a:off x="3688906" y="3073802"/>
            <a:ext cx="1524213" cy="523948"/>
          </a:xfrm>
          <a:prstGeom prst="rect">
            <a:avLst/>
          </a:prstGeom>
        </p:spPr>
      </p:pic>
      <p:sp>
        <p:nvSpPr>
          <p:cNvPr id="8" name="Rectangle: Rounded Corners 7">
            <a:extLst>
              <a:ext uri="{FF2B5EF4-FFF2-40B4-BE49-F238E27FC236}">
                <a16:creationId xmlns:a16="http://schemas.microsoft.com/office/drawing/2014/main" id="{EE6CD6DD-4587-4D16-9597-D5D28522709C}"/>
              </a:ext>
            </a:extLst>
          </p:cNvPr>
          <p:cNvSpPr/>
          <p:nvPr/>
        </p:nvSpPr>
        <p:spPr>
          <a:xfrm>
            <a:off x="3514527" y="2997845"/>
            <a:ext cx="1908768" cy="599905"/>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EFECC94F-461A-4258-9597-1EFA6D12FAEE}"/>
              </a:ext>
            </a:extLst>
          </p:cNvPr>
          <p:cNvPicPr>
            <a:picLocks noChangeAspect="1"/>
          </p:cNvPicPr>
          <p:nvPr/>
        </p:nvPicPr>
        <p:blipFill>
          <a:blip r:embed="rId4"/>
          <a:stretch>
            <a:fillRect/>
          </a:stretch>
        </p:blipFill>
        <p:spPr>
          <a:xfrm>
            <a:off x="3874669" y="4044306"/>
            <a:ext cx="1152686" cy="666843"/>
          </a:xfrm>
          <a:prstGeom prst="rect">
            <a:avLst/>
          </a:prstGeom>
        </p:spPr>
      </p:pic>
      <p:sp>
        <p:nvSpPr>
          <p:cNvPr id="10" name="Rectangle: Rounded Corners 9">
            <a:extLst>
              <a:ext uri="{FF2B5EF4-FFF2-40B4-BE49-F238E27FC236}">
                <a16:creationId xmlns:a16="http://schemas.microsoft.com/office/drawing/2014/main" id="{3D50F48E-C0F7-4277-99B3-585F42923E08}"/>
              </a:ext>
            </a:extLst>
          </p:cNvPr>
          <p:cNvSpPr/>
          <p:nvPr/>
        </p:nvSpPr>
        <p:spPr>
          <a:xfrm>
            <a:off x="3514527" y="4034570"/>
            <a:ext cx="1908768" cy="599905"/>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8376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2.1.4 Right-Linear Grammars dan NFAs</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2" y="910965"/>
            <a:ext cx="8226091" cy="5251295"/>
          </a:xfrm>
        </p:spPr>
        <p:txBody>
          <a:bodyPr>
            <a:noAutofit/>
          </a:bodyPr>
          <a:lstStyle/>
          <a:p>
            <a:pPr marL="0" indent="0" algn="just">
              <a:buNone/>
            </a:pPr>
            <a:r>
              <a:rPr lang="en-US" sz="2400" dirty="0">
                <a:solidFill>
                  <a:srgbClr val="000000"/>
                </a:solidFill>
                <a:latin typeface="Montserrat" panose="02000505000000020004"/>
              </a:rPr>
              <a:t>Ada hubungan sederhana </a:t>
            </a:r>
            <a:r>
              <a:rPr lang="en-US" sz="2400" dirty="0" err="1">
                <a:solidFill>
                  <a:srgbClr val="000000"/>
                </a:solidFill>
                <a:latin typeface="Montserrat" panose="02000505000000020004"/>
              </a:rPr>
              <a:t>antara</a:t>
            </a:r>
            <a:r>
              <a:rPr lang="en-US" sz="2400" dirty="0">
                <a:solidFill>
                  <a:srgbClr val="000000"/>
                </a:solidFill>
                <a:latin typeface="Montserrat" panose="02000505000000020004"/>
              </a:rPr>
              <a:t> Right-Linear Grammar dan NFA, </a:t>
            </a:r>
            <a:r>
              <a:rPr lang="en-US" sz="2400" dirty="0" err="1">
                <a:solidFill>
                  <a:srgbClr val="000000"/>
                </a:solidFill>
                <a:latin typeface="Montserrat" panose="02000505000000020004"/>
              </a:rPr>
              <a:t>seperti</a:t>
            </a:r>
            <a:r>
              <a:rPr lang="en-US" sz="2400" dirty="0">
                <a:solidFill>
                  <a:srgbClr val="000000"/>
                </a:solidFill>
                <a:latin typeface="Montserrat" panose="02000505000000020004"/>
              </a:rPr>
              <a:t> yang </a:t>
            </a:r>
            <a:r>
              <a:rPr lang="en-US" sz="2400" dirty="0" err="1">
                <a:solidFill>
                  <a:srgbClr val="000000"/>
                </a:solidFill>
                <a:latin typeface="Montserrat" panose="02000505000000020004"/>
              </a:rPr>
              <a:t>ditunjukkan</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dalam</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ilustrasi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berikut</a:t>
            </a:r>
            <a:r>
              <a:rPr lang="en-US" sz="2400" dirty="0">
                <a:solidFill>
                  <a:srgbClr val="000000"/>
                </a:solidFill>
                <a:latin typeface="Montserrat" panose="02000505000000020004"/>
              </a:rPr>
              <a:t>.</a:t>
            </a:r>
          </a:p>
        </p:txBody>
      </p:sp>
      <p:sp>
        <p:nvSpPr>
          <p:cNvPr id="8" name="Rectangle: Rounded Corners 7">
            <a:extLst>
              <a:ext uri="{FF2B5EF4-FFF2-40B4-BE49-F238E27FC236}">
                <a16:creationId xmlns:a16="http://schemas.microsoft.com/office/drawing/2014/main" id="{EE6CD6DD-4587-4D16-9597-D5D28522709C}"/>
              </a:ext>
            </a:extLst>
          </p:cNvPr>
          <p:cNvSpPr/>
          <p:nvPr/>
        </p:nvSpPr>
        <p:spPr>
          <a:xfrm>
            <a:off x="1773673" y="2660834"/>
            <a:ext cx="1984960" cy="2448194"/>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3D50F48E-C0F7-4277-99B3-585F42923E08}"/>
              </a:ext>
            </a:extLst>
          </p:cNvPr>
          <p:cNvSpPr/>
          <p:nvPr/>
        </p:nvSpPr>
        <p:spPr>
          <a:xfrm>
            <a:off x="3901819" y="2660835"/>
            <a:ext cx="3587551" cy="2448194"/>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387C2F4-9CD4-4EA5-A25D-3F1D4D76FE8B}"/>
              </a:ext>
            </a:extLst>
          </p:cNvPr>
          <p:cNvPicPr>
            <a:picLocks noChangeAspect="1"/>
          </p:cNvPicPr>
          <p:nvPr/>
        </p:nvPicPr>
        <p:blipFill>
          <a:blip r:embed="rId2"/>
          <a:stretch>
            <a:fillRect/>
          </a:stretch>
        </p:blipFill>
        <p:spPr>
          <a:xfrm>
            <a:off x="2104244" y="2801636"/>
            <a:ext cx="1400010" cy="2155570"/>
          </a:xfrm>
          <a:prstGeom prst="rect">
            <a:avLst/>
          </a:prstGeom>
        </p:spPr>
      </p:pic>
      <p:pic>
        <p:nvPicPr>
          <p:cNvPr id="11" name="Picture 10">
            <a:extLst>
              <a:ext uri="{FF2B5EF4-FFF2-40B4-BE49-F238E27FC236}">
                <a16:creationId xmlns:a16="http://schemas.microsoft.com/office/drawing/2014/main" id="{6C09BCCA-2ED6-446C-BAD0-9DB23470F2B8}"/>
              </a:ext>
            </a:extLst>
          </p:cNvPr>
          <p:cNvPicPr>
            <a:picLocks noChangeAspect="1"/>
          </p:cNvPicPr>
          <p:nvPr/>
        </p:nvPicPr>
        <p:blipFill>
          <a:blip r:embed="rId3"/>
          <a:stretch>
            <a:fillRect/>
          </a:stretch>
        </p:blipFill>
        <p:spPr>
          <a:xfrm>
            <a:off x="4017220" y="2801636"/>
            <a:ext cx="3353107" cy="2155570"/>
          </a:xfrm>
          <a:prstGeom prst="rect">
            <a:avLst/>
          </a:prstGeom>
        </p:spPr>
      </p:pic>
    </p:spTree>
    <p:extLst>
      <p:ext uri="{BB962C8B-B14F-4D97-AF65-F5344CB8AC3E}">
        <p14:creationId xmlns:p14="http://schemas.microsoft.com/office/powerpoint/2010/main" val="1028765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2.1.4 Right-Linear Grammars dan NFAs</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2" y="910965"/>
            <a:ext cx="8226091" cy="5251295"/>
          </a:xfrm>
        </p:spPr>
        <p:txBody>
          <a:bodyPr>
            <a:noAutofit/>
          </a:bodyPr>
          <a:lstStyle/>
          <a:p>
            <a:pPr marL="0" indent="0" algn="just">
              <a:buNone/>
            </a:pPr>
            <a:r>
              <a:rPr lang="sv-SE" sz="2400" dirty="0">
                <a:solidFill>
                  <a:srgbClr val="000000"/>
                </a:solidFill>
                <a:latin typeface="Montserrat" panose="02000505000000020004"/>
              </a:rPr>
              <a:t>Sebagai contoh korespondensi antara NFA dan Right-Linear Grammar, Automata dan Grammar, berikut ini sama-sama mengenali himpunan set string yang terdiri dari angka 0 genap dan angka 1 genap.</a:t>
            </a:r>
            <a:endParaRPr lang="en-US" sz="2400" dirty="0">
              <a:solidFill>
                <a:srgbClr val="000000"/>
              </a:solidFill>
              <a:latin typeface="Montserrat" panose="02000505000000020004"/>
            </a:endParaRPr>
          </a:p>
        </p:txBody>
      </p:sp>
      <p:sp>
        <p:nvSpPr>
          <p:cNvPr id="8" name="Rectangle: Rounded Corners 7">
            <a:extLst>
              <a:ext uri="{FF2B5EF4-FFF2-40B4-BE49-F238E27FC236}">
                <a16:creationId xmlns:a16="http://schemas.microsoft.com/office/drawing/2014/main" id="{EE6CD6DD-4587-4D16-9597-D5D28522709C}"/>
              </a:ext>
            </a:extLst>
          </p:cNvPr>
          <p:cNvSpPr/>
          <p:nvPr/>
        </p:nvSpPr>
        <p:spPr>
          <a:xfrm>
            <a:off x="5029924" y="2845584"/>
            <a:ext cx="1984960" cy="2869109"/>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0DBC036-CB24-4E37-ABA4-EF4CFB68495B}"/>
              </a:ext>
            </a:extLst>
          </p:cNvPr>
          <p:cNvPicPr>
            <a:picLocks noChangeAspect="1"/>
          </p:cNvPicPr>
          <p:nvPr/>
        </p:nvPicPr>
        <p:blipFill>
          <a:blip r:embed="rId2"/>
          <a:stretch>
            <a:fillRect/>
          </a:stretch>
        </p:blipFill>
        <p:spPr>
          <a:xfrm>
            <a:off x="5443347" y="2928947"/>
            <a:ext cx="1158111" cy="2582019"/>
          </a:xfrm>
          <a:prstGeom prst="rect">
            <a:avLst/>
          </a:prstGeom>
        </p:spPr>
      </p:pic>
      <p:pic>
        <p:nvPicPr>
          <p:cNvPr id="6" name="Picture 5">
            <a:extLst>
              <a:ext uri="{FF2B5EF4-FFF2-40B4-BE49-F238E27FC236}">
                <a16:creationId xmlns:a16="http://schemas.microsoft.com/office/drawing/2014/main" id="{2C6E56CE-8144-482D-BF49-02241D17921F}"/>
              </a:ext>
            </a:extLst>
          </p:cNvPr>
          <p:cNvPicPr>
            <a:picLocks noChangeAspect="1"/>
          </p:cNvPicPr>
          <p:nvPr/>
        </p:nvPicPr>
        <p:blipFill>
          <a:blip r:embed="rId3"/>
          <a:stretch>
            <a:fillRect/>
          </a:stretch>
        </p:blipFill>
        <p:spPr>
          <a:xfrm>
            <a:off x="827313" y="2855324"/>
            <a:ext cx="3286765" cy="2869109"/>
          </a:xfrm>
          <a:prstGeom prst="rect">
            <a:avLst/>
          </a:prstGeom>
        </p:spPr>
      </p:pic>
    </p:spTree>
    <p:extLst>
      <p:ext uri="{BB962C8B-B14F-4D97-AF65-F5344CB8AC3E}">
        <p14:creationId xmlns:p14="http://schemas.microsoft.com/office/powerpoint/2010/main" val="87756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2.1.5 Left-Linear Grammars </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2" y="910965"/>
            <a:ext cx="8226091" cy="5251295"/>
          </a:xfrm>
        </p:spPr>
        <p:txBody>
          <a:bodyPr>
            <a:noAutofit/>
          </a:bodyPr>
          <a:lstStyle/>
          <a:p>
            <a:pPr marL="0" indent="0" algn="just">
              <a:buNone/>
            </a:pPr>
            <a:r>
              <a:rPr lang="en-US" sz="2400" dirty="0">
                <a:solidFill>
                  <a:srgbClr val="000000"/>
                </a:solidFill>
                <a:latin typeface="Montserrat" panose="02000505000000020004"/>
              </a:rPr>
              <a:t>Tetapi </a:t>
            </a:r>
            <a:r>
              <a:rPr lang="en-US" sz="2400" dirty="0" err="1">
                <a:solidFill>
                  <a:srgbClr val="000000"/>
                </a:solidFill>
                <a:latin typeface="Montserrat" panose="02000505000000020004"/>
              </a:rPr>
              <a:t>dalam</a:t>
            </a:r>
            <a:r>
              <a:rPr lang="en-US" sz="2400" dirty="0">
                <a:solidFill>
                  <a:srgbClr val="000000"/>
                </a:solidFill>
                <a:latin typeface="Montserrat" panose="02000505000000020004"/>
              </a:rPr>
              <a:t> Left-Linear Grammar, semua </a:t>
            </a:r>
            <a:r>
              <a:rPr lang="en-US" sz="2400" dirty="0" err="1">
                <a:solidFill>
                  <a:srgbClr val="000000"/>
                </a:solidFill>
                <a:latin typeface="Montserrat" panose="02000505000000020004"/>
              </a:rPr>
              <a:t>produksi</a:t>
            </a:r>
            <a:r>
              <a:rPr lang="en-US" sz="2400" dirty="0">
                <a:solidFill>
                  <a:srgbClr val="000000"/>
                </a:solidFill>
                <a:latin typeface="Montserrat" panose="02000505000000020004"/>
              </a:rPr>
              <a:t> memiliki salah </a:t>
            </a:r>
            <a:r>
              <a:rPr lang="en-US" sz="2400" dirty="0" err="1">
                <a:solidFill>
                  <a:srgbClr val="000000"/>
                </a:solidFill>
                <a:latin typeface="Montserrat" panose="02000505000000020004"/>
              </a:rPr>
              <a:t>satu</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dari</a:t>
            </a:r>
            <a:r>
              <a:rPr lang="en-US" sz="2400" dirty="0">
                <a:solidFill>
                  <a:srgbClr val="000000"/>
                </a:solidFill>
                <a:latin typeface="Montserrat" panose="02000505000000020004"/>
              </a:rPr>
              <a:t> dua bentuk Berikut.</a:t>
            </a:r>
          </a:p>
          <a:p>
            <a:pPr marL="0" indent="0" algn="just">
              <a:buNone/>
            </a:pPr>
            <a:endParaRPr lang="en-US" sz="2400" dirty="0">
              <a:solidFill>
                <a:srgbClr val="000000"/>
              </a:solidFill>
              <a:latin typeface="Montserrat" panose="02000505000000020004"/>
            </a:endParaRPr>
          </a:p>
          <a:p>
            <a:pPr marL="0" indent="0" algn="just">
              <a:buNone/>
            </a:pPr>
            <a:r>
              <a:rPr lang="en-US" dirty="0">
                <a:solidFill>
                  <a:srgbClr val="000000"/>
                </a:solidFill>
                <a:latin typeface="Montserrat" panose="02000505000000020004"/>
              </a:rPr>
              <a:t>	Bentuk Pertama:</a:t>
            </a:r>
          </a:p>
          <a:p>
            <a:pPr marL="0" indent="0" algn="just">
              <a:buNone/>
            </a:pPr>
            <a:endParaRPr lang="en-US" dirty="0">
              <a:solidFill>
                <a:srgbClr val="000000"/>
              </a:solidFill>
              <a:latin typeface="Montserrat" panose="02000505000000020004"/>
            </a:endParaRPr>
          </a:p>
          <a:p>
            <a:pPr marL="0" indent="0" algn="just">
              <a:buNone/>
            </a:pPr>
            <a:r>
              <a:rPr lang="en-US" dirty="0">
                <a:solidFill>
                  <a:srgbClr val="000000"/>
                </a:solidFill>
                <a:latin typeface="Montserrat" panose="02000505000000020004"/>
              </a:rPr>
              <a:t>	ATAU</a:t>
            </a:r>
          </a:p>
          <a:p>
            <a:pPr marL="0" indent="0" algn="just">
              <a:buNone/>
            </a:pPr>
            <a:endParaRPr lang="en-US" dirty="0">
              <a:solidFill>
                <a:srgbClr val="000000"/>
              </a:solidFill>
              <a:latin typeface="Montserrat" panose="02000505000000020004"/>
            </a:endParaRPr>
          </a:p>
          <a:p>
            <a:pPr marL="0" indent="0" algn="just">
              <a:buNone/>
            </a:pPr>
            <a:r>
              <a:rPr lang="en-US" sz="1400" dirty="0">
                <a:solidFill>
                  <a:srgbClr val="000000"/>
                </a:solidFill>
                <a:latin typeface="Montserrat" panose="02000505000000020004"/>
              </a:rPr>
              <a:t>	Bentuk Kedua:</a:t>
            </a:r>
          </a:p>
          <a:p>
            <a:pPr marL="0" indent="0" algn="just">
              <a:buNone/>
            </a:pPr>
            <a:endParaRPr lang="en-US" sz="1400" dirty="0">
              <a:solidFill>
                <a:srgbClr val="000000"/>
              </a:solidFill>
              <a:latin typeface="Montserrat" panose="02000505000000020004"/>
            </a:endParaRPr>
          </a:p>
          <a:p>
            <a:pPr marL="0" indent="0" algn="just">
              <a:buNone/>
            </a:pPr>
            <a:endParaRPr lang="en-US" sz="1400" dirty="0">
              <a:solidFill>
                <a:srgbClr val="000000"/>
              </a:solidFill>
              <a:latin typeface="Montserrat" panose="02000505000000020004"/>
            </a:endParaRPr>
          </a:p>
          <a:p>
            <a:pPr marL="0" indent="0" algn="just">
              <a:buNone/>
            </a:pPr>
            <a:endParaRPr lang="en-US" sz="1400" dirty="0">
              <a:solidFill>
                <a:srgbClr val="000000"/>
              </a:solidFill>
              <a:latin typeface="Montserrat" panose="02000505000000020004"/>
            </a:endParaRPr>
          </a:p>
          <a:p>
            <a:pPr marL="0" indent="0" algn="just">
              <a:buNone/>
            </a:pPr>
            <a:r>
              <a:rPr lang="en-US" sz="2400" dirty="0" err="1">
                <a:solidFill>
                  <a:srgbClr val="000000"/>
                </a:solidFill>
                <a:latin typeface="Montserrat" panose="02000505000000020004"/>
              </a:rPr>
              <a:t>Setiap</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sisi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kiri</a:t>
            </a:r>
            <a:r>
              <a:rPr lang="en-US" sz="2400" dirty="0">
                <a:solidFill>
                  <a:srgbClr val="000000"/>
                </a:solidFill>
                <a:latin typeface="Montserrat" panose="02000505000000020004"/>
              </a:rPr>
              <a:t> harus </a:t>
            </a:r>
            <a:r>
              <a:rPr lang="en-US" sz="2400" dirty="0" err="1">
                <a:solidFill>
                  <a:srgbClr val="000000"/>
                </a:solidFill>
                <a:latin typeface="Montserrat" panose="02000505000000020004"/>
              </a:rPr>
              <a:t>terdiri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dari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satu</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variabel</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tunggal</a:t>
            </a:r>
            <a:r>
              <a:rPr lang="en-US" sz="2400" dirty="0">
                <a:solidFill>
                  <a:srgbClr val="000000"/>
                </a:solidFill>
                <a:latin typeface="Montserrat" panose="02000505000000020004"/>
              </a:rPr>
              <a:t>, dan </a:t>
            </a:r>
            <a:r>
              <a:rPr lang="en-US" sz="2400" dirty="0" err="1">
                <a:solidFill>
                  <a:srgbClr val="000000"/>
                </a:solidFill>
                <a:latin typeface="Montserrat" panose="02000505000000020004"/>
              </a:rPr>
              <a:t>sisi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kanan</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terdiri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dari</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satu</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variabel</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tunggal</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opsional</a:t>
            </a:r>
            <a:r>
              <a:rPr lang="en-US" sz="2400" dirty="0">
                <a:solidFill>
                  <a:srgbClr val="000000"/>
                </a:solidFill>
                <a:latin typeface="Montserrat" panose="02000505000000020004"/>
              </a:rPr>
              <a:t> yang </a:t>
            </a:r>
            <a:r>
              <a:rPr lang="en-US" sz="2400" dirty="0" err="1">
                <a:solidFill>
                  <a:srgbClr val="000000"/>
                </a:solidFill>
                <a:latin typeface="Montserrat" panose="02000505000000020004"/>
              </a:rPr>
              <a:t>diikuti</a:t>
            </a:r>
            <a:r>
              <a:rPr lang="en-US" sz="2400" dirty="0">
                <a:solidFill>
                  <a:srgbClr val="000000"/>
                </a:solidFill>
                <a:latin typeface="Montserrat" panose="02000505000000020004"/>
              </a:rPr>
              <a:t> oleh </a:t>
            </a:r>
            <a:r>
              <a:rPr lang="en-US" sz="2400" dirty="0" err="1">
                <a:solidFill>
                  <a:srgbClr val="000000"/>
                </a:solidFill>
                <a:latin typeface="Montserrat" panose="02000505000000020004"/>
              </a:rPr>
              <a:t>satu</a:t>
            </a:r>
            <a:r>
              <a:rPr lang="en-US" sz="2400" dirty="0">
                <a:solidFill>
                  <a:srgbClr val="000000"/>
                </a:solidFill>
                <a:latin typeface="Montserrat" panose="02000505000000020004"/>
              </a:rPr>
              <a:t> nomor terminal. </a:t>
            </a:r>
          </a:p>
          <a:p>
            <a:pPr marL="0" indent="0" algn="just">
              <a:buNone/>
            </a:pPr>
            <a:endParaRPr lang="en-US" sz="1400" dirty="0">
              <a:solidFill>
                <a:srgbClr val="000000"/>
              </a:solidFill>
              <a:latin typeface="Montserrat" panose="02000505000000020004"/>
            </a:endParaRPr>
          </a:p>
        </p:txBody>
      </p:sp>
      <p:sp>
        <p:nvSpPr>
          <p:cNvPr id="8" name="Rectangle: Rounded Corners 7">
            <a:extLst>
              <a:ext uri="{FF2B5EF4-FFF2-40B4-BE49-F238E27FC236}">
                <a16:creationId xmlns:a16="http://schemas.microsoft.com/office/drawing/2014/main" id="{EE6CD6DD-4587-4D16-9597-D5D28522709C}"/>
              </a:ext>
            </a:extLst>
          </p:cNvPr>
          <p:cNvSpPr/>
          <p:nvPr/>
        </p:nvSpPr>
        <p:spPr>
          <a:xfrm>
            <a:off x="3171596" y="2141883"/>
            <a:ext cx="1908768" cy="708199"/>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3D50F48E-C0F7-4277-99B3-585F42923E08}"/>
              </a:ext>
            </a:extLst>
          </p:cNvPr>
          <p:cNvSpPr/>
          <p:nvPr/>
        </p:nvSpPr>
        <p:spPr>
          <a:xfrm>
            <a:off x="3171597" y="3125050"/>
            <a:ext cx="1908768" cy="823124"/>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F73996F-29E3-4068-A9ED-5C635A132CA9}"/>
              </a:ext>
            </a:extLst>
          </p:cNvPr>
          <p:cNvPicPr>
            <a:picLocks noChangeAspect="1"/>
          </p:cNvPicPr>
          <p:nvPr/>
        </p:nvPicPr>
        <p:blipFill>
          <a:blip r:embed="rId2"/>
          <a:stretch>
            <a:fillRect/>
          </a:stretch>
        </p:blipFill>
        <p:spPr>
          <a:xfrm>
            <a:off x="3272034" y="2200791"/>
            <a:ext cx="1707890" cy="590381"/>
          </a:xfrm>
          <a:prstGeom prst="rect">
            <a:avLst/>
          </a:prstGeom>
        </p:spPr>
      </p:pic>
      <p:pic>
        <p:nvPicPr>
          <p:cNvPr id="11" name="Picture 10">
            <a:extLst>
              <a:ext uri="{FF2B5EF4-FFF2-40B4-BE49-F238E27FC236}">
                <a16:creationId xmlns:a16="http://schemas.microsoft.com/office/drawing/2014/main" id="{2E00E063-0B59-4AFA-A943-7E77EEECF955}"/>
              </a:ext>
            </a:extLst>
          </p:cNvPr>
          <p:cNvPicPr>
            <a:picLocks noChangeAspect="1"/>
          </p:cNvPicPr>
          <p:nvPr/>
        </p:nvPicPr>
        <p:blipFill>
          <a:blip r:embed="rId3"/>
          <a:stretch>
            <a:fillRect/>
          </a:stretch>
        </p:blipFill>
        <p:spPr>
          <a:xfrm>
            <a:off x="3432341" y="3236659"/>
            <a:ext cx="1387277" cy="599905"/>
          </a:xfrm>
          <a:prstGeom prst="rect">
            <a:avLst/>
          </a:prstGeom>
        </p:spPr>
      </p:pic>
    </p:spTree>
    <p:extLst>
      <p:ext uri="{BB962C8B-B14F-4D97-AF65-F5344CB8AC3E}">
        <p14:creationId xmlns:p14="http://schemas.microsoft.com/office/powerpoint/2010/main" val="738063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59377"/>
            <a:ext cx="6353117" cy="610787"/>
          </a:xfrm>
        </p:spPr>
        <p:txBody>
          <a:bodyPr>
            <a:noAutofit/>
          </a:bodyPr>
          <a:lstStyle/>
          <a:p>
            <a:r>
              <a:rPr lang="en-US" sz="2400" dirty="0"/>
              <a:t>2.1.6 Conversion of Left-linear Grammar into Right-Linear Grammar</a:t>
            </a:r>
            <a:endParaRPr lang="id-ID" sz="24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2" y="910965"/>
            <a:ext cx="8226091" cy="5251295"/>
          </a:xfrm>
        </p:spPr>
        <p:txBody>
          <a:bodyPr>
            <a:noAutofit/>
          </a:bodyPr>
          <a:lstStyle/>
          <a:p>
            <a:pPr marL="0" indent="0" algn="just">
              <a:buNone/>
            </a:pPr>
            <a:r>
              <a:rPr lang="it-IT" sz="2400" dirty="0">
                <a:solidFill>
                  <a:srgbClr val="000000"/>
                </a:solidFill>
                <a:latin typeface="Montserrat" panose="02000505000000020004"/>
              </a:rPr>
              <a:t>Dalam Left-Linear Grammar, semua produksi memiliki salah satu dari dua bentuk berikut.</a:t>
            </a:r>
          </a:p>
          <a:p>
            <a:pPr marL="0" indent="0" algn="just">
              <a:buNone/>
            </a:pPr>
            <a:endParaRPr lang="en-US" sz="2400" dirty="0">
              <a:solidFill>
                <a:srgbClr val="000000"/>
              </a:solidFill>
              <a:latin typeface="Montserrat" panose="02000505000000020004"/>
            </a:endParaRPr>
          </a:p>
        </p:txBody>
      </p:sp>
      <mc:AlternateContent xmlns:mc="http://schemas.openxmlformats.org/markup-compatibility/2006" xmlns:a14="http://schemas.microsoft.com/office/drawing/2010/main">
        <mc:Choice Requires="a14">
          <p:graphicFrame>
            <p:nvGraphicFramePr>
              <p:cNvPr id="4" name="Table 6">
                <a:extLst>
                  <a:ext uri="{FF2B5EF4-FFF2-40B4-BE49-F238E27FC236}">
                    <a16:creationId xmlns:a16="http://schemas.microsoft.com/office/drawing/2014/main" id="{9930F5DF-1E44-4243-BA00-A7FF62A8E067}"/>
                  </a:ext>
                </a:extLst>
              </p:cNvPr>
              <p:cNvGraphicFramePr>
                <a:graphicFrameLocks noGrp="1"/>
              </p:cNvGraphicFramePr>
              <p:nvPr>
                <p:extLst>
                  <p:ext uri="{D42A27DB-BD31-4B8C-83A1-F6EECF244321}">
                    <p14:modId xmlns:p14="http://schemas.microsoft.com/office/powerpoint/2010/main" val="2452964129"/>
                  </p:ext>
                </p:extLst>
              </p:nvPr>
            </p:nvGraphicFramePr>
            <p:xfrm>
              <a:off x="669000" y="1570419"/>
              <a:ext cx="7796254" cy="5315742"/>
            </p:xfrm>
            <a:graphic>
              <a:graphicData uri="http://schemas.openxmlformats.org/drawingml/2006/table">
                <a:tbl>
                  <a:tblPr firstRow="1" bandRow="1">
                    <a:tableStyleId>{93296810-A885-4BE3-A3E7-6D5BEEA58F35}</a:tableStyleId>
                  </a:tblPr>
                  <a:tblGrid>
                    <a:gridCol w="3898127">
                      <a:extLst>
                        <a:ext uri="{9D8B030D-6E8A-4147-A177-3AD203B41FA5}">
                          <a16:colId xmlns:a16="http://schemas.microsoft.com/office/drawing/2014/main" val="1104952298"/>
                        </a:ext>
                      </a:extLst>
                    </a:gridCol>
                    <a:gridCol w="3898127">
                      <a:extLst>
                        <a:ext uri="{9D8B030D-6E8A-4147-A177-3AD203B41FA5}">
                          <a16:colId xmlns:a16="http://schemas.microsoft.com/office/drawing/2014/main" val="876539151"/>
                        </a:ext>
                      </a:extLst>
                    </a:gridCol>
                  </a:tblGrid>
                  <a:tr h="347502">
                    <a:tc>
                      <a:txBody>
                        <a:bodyPr/>
                        <a:lstStyle/>
                        <a:p>
                          <a:pPr algn="ctr"/>
                          <a:r>
                            <a:rPr lang="en-US" sz="1600" dirty="0">
                              <a:latin typeface="Montserrat" panose="02000505000000020004"/>
                            </a:rPr>
                            <a:t>STEP</a:t>
                          </a:r>
                          <a:endParaRPr lang="en-ID" sz="1600" dirty="0">
                            <a:latin typeface="Montserrat" panose="02000505000000020004"/>
                          </a:endParaRPr>
                        </a:p>
                      </a:txBody>
                      <a:tcPr/>
                    </a:tc>
                    <a:tc>
                      <a:txBody>
                        <a:bodyPr/>
                        <a:lstStyle/>
                        <a:p>
                          <a:pPr algn="ctr"/>
                          <a:r>
                            <a:rPr lang="en-US" sz="1600" dirty="0">
                              <a:latin typeface="Montserrat" panose="02000505000000020004"/>
                            </a:rPr>
                            <a:t>METHOD</a:t>
                          </a:r>
                          <a:endParaRPr lang="en-ID" sz="1600" dirty="0">
                            <a:latin typeface="Montserrat" panose="02000505000000020004"/>
                          </a:endParaRPr>
                        </a:p>
                      </a:txBody>
                      <a:tcPr/>
                    </a:tc>
                    <a:extLst>
                      <a:ext uri="{0D108BD9-81ED-4DB2-BD59-A6C34878D82A}">
                        <a16:rowId xmlns:a16="http://schemas.microsoft.com/office/drawing/2014/main" val="2403670531"/>
                      </a:ext>
                    </a:extLst>
                  </a:tr>
                  <a:tr h="4655572">
                    <a:tc>
                      <a:txBody>
                        <a:bodyPr/>
                        <a:lstStyle/>
                        <a:p>
                          <a:pPr marL="342900" indent="-342900" algn="l">
                            <a:buFont typeface="+mj-lt"/>
                            <a:buAutoNum type="alphaLcParenR"/>
                          </a:pPr>
                          <a:r>
                            <a:rPr lang="en-US" sz="1600" dirty="0">
                              <a:latin typeface="Montserrat" panose="02000505000000020004"/>
                            </a:rPr>
                            <a:t>Membangun Right-Linear Grammar untuk berbagai </a:t>
                          </a:r>
                          <a:r>
                            <a:rPr lang="en-US" sz="1600" dirty="0" err="1">
                              <a:latin typeface="Montserrat" panose="02000505000000020004"/>
                            </a:rPr>
                            <a:t>bahasa</a:t>
                          </a:r>
                          <a:r>
                            <a:rPr lang="en-US" sz="1600" dirty="0">
                              <a:latin typeface="Montserrat" panose="02000505000000020004"/>
                            </a:rPr>
                            <a:t> yang berbeda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𝐿</m:t>
                                  </m:r>
                                </m:e>
                                <m:sup>
                                  <m:r>
                                    <a:rPr lang="en-US" sz="1600" b="0" i="1" smtClean="0">
                                      <a:latin typeface="Cambria Math" panose="02040503050406030204" pitchFamily="18" charset="0"/>
                                    </a:rPr>
                                    <m:t>𝑅</m:t>
                                  </m:r>
                                </m:sup>
                              </m:sSup>
                            </m:oMath>
                          </a14:m>
                          <a:br>
                            <a:rPr lang="en-US" sz="1600" i="1" dirty="0">
                              <a:latin typeface="Montserrat" panose="02000505000000020004"/>
                            </a:rPr>
                          </a:br>
                          <a:endParaRPr lang="en-ID" sz="1600" i="1" dirty="0">
                            <a:latin typeface="Montserrat" panose="02000505000000020004"/>
                          </a:endParaRPr>
                        </a:p>
                        <a:p>
                          <a:pPr marL="342900" indent="-342900" algn="l">
                            <a:buFont typeface="+mj-lt"/>
                            <a:buAutoNum type="alphaLcParenR"/>
                          </a:pPr>
                          <a:r>
                            <a:rPr lang="en-ID" sz="1600" i="0" dirty="0" err="1">
                              <a:latin typeface="Montserrat" panose="02000505000000020004"/>
                            </a:rPr>
                            <a:t>Buatlah</a:t>
                          </a:r>
                          <a:r>
                            <a:rPr lang="en-ID" sz="1600" i="0" dirty="0">
                              <a:latin typeface="Montserrat" panose="02000505000000020004"/>
                            </a:rPr>
                            <a:t> </a:t>
                          </a:r>
                          <a:r>
                            <a:rPr lang="en-ID" sz="1600" i="0" dirty="0" err="1">
                              <a:latin typeface="Montserrat" panose="02000505000000020004"/>
                            </a:rPr>
                            <a:t>sebuah</a:t>
                          </a:r>
                          <a:r>
                            <a:rPr lang="en-ID" sz="1600" i="0" dirty="0">
                              <a:latin typeface="Montserrat" panose="02000505000000020004"/>
                            </a:rPr>
                            <a:t> NFA </a:t>
                          </a:r>
                          <a:r>
                            <a:rPr lang="en-ID" sz="1600" i="0" dirty="0" err="1">
                              <a:latin typeface="Montserrat" panose="02000505000000020004"/>
                            </a:rPr>
                            <a:t>untuk</a:t>
                          </a:r>
                          <a:r>
                            <a:rPr lang="en-ID" sz="1600" i="0" dirty="0">
                              <a:latin typeface="Montserrat" panose="02000505000000020004"/>
                            </a:rPr>
                            <a:t>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𝐿</m:t>
                                  </m:r>
                                </m:e>
                                <m:sup>
                                  <m:r>
                                    <a:rPr lang="en-US" sz="1600" b="0" i="1" smtClean="0">
                                      <a:latin typeface="Cambria Math" panose="02040503050406030204" pitchFamily="18" charset="0"/>
                                    </a:rPr>
                                    <m:t>𝑅</m:t>
                                  </m:r>
                                </m:sup>
                              </m:sSup>
                            </m:oMath>
                          </a14:m>
                          <a:r>
                            <a:rPr lang="en-ID" sz="1600" i="0" dirty="0">
                              <a:latin typeface="Montserrat" panose="02000505000000020004"/>
                            </a:rPr>
                            <a:t> </a:t>
                          </a:r>
                          <a:r>
                            <a:rPr lang="en-ID" sz="1600" i="0" dirty="0" err="1">
                              <a:latin typeface="Montserrat" panose="02000505000000020004"/>
                            </a:rPr>
                            <a:t>dari</a:t>
                          </a:r>
                          <a:r>
                            <a:rPr lang="en-ID" sz="1600" i="0" dirty="0">
                              <a:latin typeface="Montserrat" panose="02000505000000020004"/>
                            </a:rPr>
                            <a:t> Right</a:t>
                          </a:r>
                          <a:r>
                            <a:rPr lang="en-ID" sz="1600" i="0" baseline="0" dirty="0">
                              <a:latin typeface="Montserrat" panose="02000505000000020004"/>
                            </a:rPr>
                            <a:t>-Linear Grammar</a:t>
                          </a:r>
                          <a:r>
                            <a:rPr lang="en-ID" sz="1600" i="0" dirty="0">
                              <a:latin typeface="Montserrat" panose="02000505000000020004"/>
                            </a:rPr>
                            <a:t>. NFA </a:t>
                          </a:r>
                          <a:r>
                            <a:rPr lang="en-ID" sz="1600" i="0" dirty="0" err="1">
                              <a:latin typeface="Montserrat" panose="02000505000000020004"/>
                            </a:rPr>
                            <a:t>ini</a:t>
                          </a:r>
                          <a:r>
                            <a:rPr lang="en-ID" sz="1600" i="0" dirty="0">
                              <a:latin typeface="Montserrat" panose="02000505000000020004"/>
                            </a:rPr>
                            <a:t> </a:t>
                          </a:r>
                          <a:r>
                            <a:rPr lang="en-ID" sz="1600" i="0" dirty="0" err="1">
                              <a:latin typeface="Montserrat" panose="02000505000000020004"/>
                            </a:rPr>
                            <a:t>seharusnya</a:t>
                          </a:r>
                          <a:r>
                            <a:rPr lang="en-ID" sz="1600" i="0" dirty="0">
                              <a:latin typeface="Montserrat" panose="02000505000000020004"/>
                            </a:rPr>
                            <a:t> </a:t>
                          </a:r>
                          <a:r>
                            <a:rPr lang="en-ID" sz="1600" i="0" dirty="0" err="1">
                              <a:latin typeface="Montserrat" panose="02000505000000020004"/>
                            </a:rPr>
                            <a:t>hanya</a:t>
                          </a:r>
                          <a:r>
                            <a:rPr lang="en-ID" sz="1600" i="0" dirty="0">
                              <a:latin typeface="Montserrat" panose="02000505000000020004"/>
                            </a:rPr>
                            <a:t> </a:t>
                          </a:r>
                          <a:r>
                            <a:rPr lang="en-ID" sz="1600" i="0" dirty="0" err="1">
                              <a:latin typeface="Montserrat" panose="02000505000000020004"/>
                            </a:rPr>
                            <a:t>memiliki</a:t>
                          </a:r>
                          <a:r>
                            <a:rPr lang="en-ID" sz="1600" i="0" dirty="0">
                              <a:latin typeface="Montserrat" panose="02000505000000020004"/>
                            </a:rPr>
                            <a:t> </a:t>
                          </a:r>
                          <a:r>
                            <a:rPr lang="en-ID" sz="1600" i="0" dirty="0" err="1">
                              <a:latin typeface="Montserrat" panose="02000505000000020004"/>
                            </a:rPr>
                            <a:t>satu</a:t>
                          </a:r>
                          <a:r>
                            <a:rPr lang="en-ID" sz="1600" i="0" dirty="0">
                              <a:latin typeface="Montserrat" panose="02000505000000020004"/>
                            </a:rPr>
                            <a:t> state </a:t>
                          </a:r>
                          <a:r>
                            <a:rPr lang="en-ID" sz="1600" i="0" dirty="0" err="1">
                              <a:latin typeface="Montserrat" panose="02000505000000020004"/>
                            </a:rPr>
                            <a:t>akhir</a:t>
                          </a:r>
                          <a:r>
                            <a:rPr lang="en-ID" sz="1600" i="0" dirty="0">
                              <a:latin typeface="Montserrat" panose="02000505000000020004"/>
                            </a:rPr>
                            <a:t>.</a:t>
                          </a:r>
                          <a:br>
                            <a:rPr lang="en-ID" sz="1600" i="0" dirty="0">
                              <a:latin typeface="Montserrat" panose="02000505000000020004"/>
                            </a:rPr>
                          </a:br>
                          <a:endParaRPr lang="en-ID" sz="1600" i="0" dirty="0">
                            <a:latin typeface="Montserrat" panose="02000505000000020004"/>
                          </a:endParaRPr>
                        </a:p>
                        <a:p>
                          <a:pPr marL="342900" indent="-342900" algn="l">
                            <a:buFont typeface="+mj-lt"/>
                            <a:buAutoNum type="alphaLcParenR"/>
                          </a:pPr>
                          <a:r>
                            <a:rPr lang="en-ID" sz="1600" i="0" dirty="0" err="1">
                              <a:latin typeface="Montserrat" panose="02000505000000020004"/>
                            </a:rPr>
                            <a:t>Balikkan</a:t>
                          </a:r>
                          <a:r>
                            <a:rPr lang="en-ID" sz="1600" i="0" dirty="0">
                              <a:latin typeface="Montserrat" panose="02000505000000020004"/>
                            </a:rPr>
                            <a:t> NFA </a:t>
                          </a:r>
                          <a:r>
                            <a:rPr lang="en-ID" sz="1600" i="0" dirty="0" err="1">
                              <a:latin typeface="Montserrat" panose="02000505000000020004"/>
                            </a:rPr>
                            <a:t>untuk</a:t>
                          </a:r>
                          <a:r>
                            <a:rPr lang="en-ID" sz="1600" i="0" dirty="0">
                              <a:latin typeface="Montserrat" panose="02000505000000020004"/>
                            </a:rPr>
                            <a:t>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𝐿</m:t>
                                  </m:r>
                                </m:e>
                                <m:sup>
                                  <m:r>
                                    <a:rPr lang="en-US" sz="1600" b="0" i="1" smtClean="0">
                                      <a:latin typeface="Cambria Math" panose="02040503050406030204" pitchFamily="18" charset="0"/>
                                    </a:rPr>
                                    <m:t>𝑅</m:t>
                                  </m:r>
                                </m:sup>
                              </m:sSup>
                            </m:oMath>
                          </a14:m>
                          <a:r>
                            <a:rPr lang="en-ID" sz="1600" i="0" dirty="0">
                              <a:latin typeface="Montserrat" panose="02000505000000020004"/>
                            </a:rPr>
                            <a:t> </a:t>
                          </a:r>
                          <a:r>
                            <a:rPr lang="en-ID" sz="1600" i="0" dirty="0" err="1">
                              <a:latin typeface="Montserrat" panose="02000505000000020004"/>
                            </a:rPr>
                            <a:t>untuk</a:t>
                          </a:r>
                          <a:r>
                            <a:rPr lang="en-ID" sz="1600" i="0" dirty="0">
                              <a:latin typeface="Montserrat" panose="02000505000000020004"/>
                            </a:rPr>
                            <a:t> </a:t>
                          </a:r>
                          <a:r>
                            <a:rPr lang="en-ID" sz="1600" i="0" dirty="0" err="1">
                              <a:latin typeface="Montserrat" panose="02000505000000020004"/>
                            </a:rPr>
                            <a:t>mendapatkan</a:t>
                          </a:r>
                          <a:r>
                            <a:rPr lang="en-ID" sz="1600" i="0" dirty="0">
                              <a:latin typeface="Montserrat" panose="02000505000000020004"/>
                            </a:rPr>
                            <a:t> NFA </a:t>
                          </a:r>
                          <a:r>
                            <a:rPr lang="en-ID" sz="1600" i="0" dirty="0" err="1">
                              <a:latin typeface="Montserrat" panose="02000505000000020004"/>
                            </a:rPr>
                            <a:t>untuk</a:t>
                          </a:r>
                          <a:r>
                            <a:rPr lang="en-ID" sz="1600" i="0" dirty="0">
                              <a:latin typeface="Montserrat" panose="02000505000000020004"/>
                            </a:rPr>
                            <a:t> </a:t>
                          </a:r>
                          <a:r>
                            <a:rPr lang="en-ID" sz="1600" i="1" dirty="0">
                              <a:latin typeface="Montserrat" panose="02000505000000020004"/>
                            </a:rPr>
                            <a:t>L</a:t>
                          </a:r>
                          <a:r>
                            <a:rPr lang="en-ID" sz="1600" i="0" dirty="0">
                              <a:latin typeface="Montserrat" panose="02000505000000020004"/>
                            </a:rPr>
                            <a:t>.</a:t>
                          </a:r>
                          <a:br>
                            <a:rPr lang="en-ID" sz="1600" i="0" dirty="0">
                              <a:latin typeface="Montserrat" panose="02000505000000020004"/>
                            </a:rPr>
                          </a:br>
                          <a:br>
                            <a:rPr lang="en-ID" sz="1600" i="0" dirty="0">
                              <a:latin typeface="Montserrat" panose="02000505000000020004"/>
                            </a:rPr>
                          </a:br>
                          <a:br>
                            <a:rPr lang="en-ID" sz="1600" i="0" dirty="0">
                              <a:latin typeface="Montserrat" panose="02000505000000020004"/>
                            </a:rPr>
                          </a:br>
                          <a:br>
                            <a:rPr lang="en-ID" sz="1600" i="0" dirty="0">
                              <a:latin typeface="Montserrat" panose="02000505000000020004"/>
                            </a:rPr>
                          </a:br>
                          <a:br>
                            <a:rPr lang="en-ID" sz="1600" i="0" dirty="0">
                              <a:latin typeface="Montserrat" panose="02000505000000020004"/>
                            </a:rPr>
                          </a:br>
                          <a:br>
                            <a:rPr lang="en-ID" sz="1600" i="0" dirty="0">
                              <a:latin typeface="Montserrat" panose="02000505000000020004"/>
                            </a:rPr>
                          </a:br>
                          <a:r>
                            <a:rPr lang="en-ID" sz="1600" i="0" dirty="0">
                              <a:latin typeface="Montserrat" panose="02000505000000020004"/>
                            </a:rPr>
                            <a:t> </a:t>
                          </a:r>
                        </a:p>
                        <a:p>
                          <a:pPr marL="342900" indent="-342900" algn="l">
                            <a:buFont typeface="+mj-lt"/>
                            <a:buAutoNum type="alphaLcParenR"/>
                          </a:pPr>
                          <a:r>
                            <a:rPr lang="en-ID" sz="1600" i="0" dirty="0" err="1">
                              <a:latin typeface="Montserrat" panose="02000505000000020004"/>
                            </a:rPr>
                            <a:t>Membangun</a:t>
                          </a:r>
                          <a:r>
                            <a:rPr lang="en-ID" sz="1600" i="0" dirty="0">
                              <a:latin typeface="Montserrat" panose="02000505000000020004"/>
                            </a:rPr>
                            <a:t> Right-Linear Grammar </a:t>
                          </a:r>
                          <a:r>
                            <a:rPr lang="en-ID" sz="1600" i="0" dirty="0" err="1">
                              <a:latin typeface="Montserrat" panose="02000505000000020004"/>
                            </a:rPr>
                            <a:t>untuk</a:t>
                          </a:r>
                          <a:r>
                            <a:rPr lang="en-ID" sz="1600" i="0" dirty="0">
                              <a:latin typeface="Montserrat" panose="02000505000000020004"/>
                            </a:rPr>
                            <a:t> </a:t>
                          </a:r>
                          <a:r>
                            <a:rPr lang="en-ID" sz="1600" i="1" dirty="0">
                              <a:latin typeface="Montserrat" panose="02000505000000020004"/>
                            </a:rPr>
                            <a:t>L</a:t>
                          </a:r>
                          <a:r>
                            <a:rPr lang="en-ID" sz="1600" i="0" dirty="0">
                              <a:latin typeface="Montserrat" panose="02000505000000020004"/>
                            </a:rPr>
                            <a:t> </a:t>
                          </a:r>
                          <a:r>
                            <a:rPr lang="en-ID" sz="1600" i="0" dirty="0" err="1">
                              <a:latin typeface="Montserrat" panose="02000505000000020004"/>
                            </a:rPr>
                            <a:t>dari</a:t>
                          </a:r>
                          <a:r>
                            <a:rPr lang="en-ID" sz="1600" i="0" dirty="0">
                              <a:latin typeface="Montserrat" panose="02000505000000020004"/>
                            </a:rPr>
                            <a:t> NFA </a:t>
                          </a:r>
                          <a:r>
                            <a:rPr lang="en-ID" sz="1600" i="0" dirty="0" err="1">
                              <a:latin typeface="Montserrat" panose="02000505000000020004"/>
                            </a:rPr>
                            <a:t>untuk</a:t>
                          </a:r>
                          <a:r>
                            <a:rPr lang="en-ID" sz="1600" i="0" dirty="0">
                              <a:latin typeface="Montserrat" panose="02000505000000020004"/>
                            </a:rPr>
                            <a:t> </a:t>
                          </a:r>
                          <a:r>
                            <a:rPr lang="en-ID" sz="1600" i="1" dirty="0">
                              <a:latin typeface="Montserrat" panose="02000505000000020004"/>
                            </a:rPr>
                            <a:t>L</a:t>
                          </a:r>
                          <a:r>
                            <a:rPr lang="en-ID" sz="1600" i="0" dirty="0">
                              <a:latin typeface="Montserrat" panose="02000505000000020004"/>
                            </a:rPr>
                            <a:t>. </a:t>
                          </a:r>
                        </a:p>
                      </a:txBody>
                      <a:tcPr/>
                    </a:tc>
                    <a:tc>
                      <a:txBody>
                        <a:bodyPr/>
                        <a:lstStyle/>
                        <a:p>
                          <a:pPr algn="l"/>
                          <a:r>
                            <a:rPr lang="en-ID" sz="1600" dirty="0">
                              <a:latin typeface="Montserrat" panose="02000505000000020004"/>
                            </a:rPr>
                            <a:t>Gantilah </a:t>
                          </a:r>
                          <a:r>
                            <a:rPr lang="en-ID" sz="1600" dirty="0" err="1">
                              <a:latin typeface="Montserrat" panose="02000505000000020004"/>
                            </a:rPr>
                            <a:t>setiap</a:t>
                          </a:r>
                          <a:r>
                            <a:rPr lang="en-ID" sz="1600" dirty="0">
                              <a:latin typeface="Montserrat" panose="02000505000000020004"/>
                            </a:rPr>
                            <a:t> </a:t>
                          </a:r>
                          <a:r>
                            <a:rPr lang="en-ID" sz="1600" dirty="0" err="1">
                              <a:latin typeface="Montserrat" panose="02000505000000020004"/>
                            </a:rPr>
                            <a:t>produksi</a:t>
                          </a:r>
                          <a:r>
                            <a:rPr lang="en-ID" sz="1600" dirty="0">
                              <a:latin typeface="Montserrat" panose="02000505000000020004"/>
                            </a:rPr>
                            <a:t> </a:t>
                          </a:r>
                          <a:r>
                            <a:rPr lang="en-ID" sz="1600" i="1" dirty="0">
                              <a:latin typeface="Montserrat" panose="02000505000000020004"/>
                            </a:rPr>
                            <a:t>A</a:t>
                          </a:r>
                          <a:r>
                            <a:rPr lang="en-ID" sz="1600" dirty="0">
                              <a:latin typeface="Montserrat" panose="02000505000000020004"/>
                            </a:rPr>
                            <a:t> → </a:t>
                          </a:r>
                          <a:r>
                            <a:rPr lang="en-ID" sz="1600" i="1" dirty="0">
                              <a:latin typeface="Montserrat" panose="02000505000000020004"/>
                            </a:rPr>
                            <a:t>x</a:t>
                          </a:r>
                          <a:r>
                            <a:rPr lang="en-ID" sz="1600" dirty="0">
                              <a:latin typeface="Montserrat" panose="02000505000000020004"/>
                            </a:rPr>
                            <a:t> </a:t>
                          </a:r>
                          <a:r>
                            <a:rPr lang="en-ID" sz="1600" dirty="0" err="1">
                              <a:latin typeface="Montserrat" panose="02000505000000020004"/>
                            </a:rPr>
                            <a:t>dari</a:t>
                          </a:r>
                          <a:r>
                            <a:rPr lang="en-ID" sz="1600" dirty="0">
                              <a:latin typeface="Montserrat" panose="02000505000000020004"/>
                            </a:rPr>
                            <a:t> </a:t>
                          </a:r>
                          <a:r>
                            <a:rPr lang="en-ID" sz="1600" i="1" dirty="0">
                              <a:latin typeface="Montserrat" panose="02000505000000020004"/>
                            </a:rPr>
                            <a:t>L</a:t>
                          </a:r>
                          <a:r>
                            <a:rPr lang="en-ID" sz="1600" dirty="0">
                              <a:latin typeface="Montserrat" panose="02000505000000020004"/>
                            </a:rPr>
                            <a:t> </a:t>
                          </a:r>
                          <a:r>
                            <a:rPr lang="en-ID" sz="1600" dirty="0" err="1">
                              <a:latin typeface="Montserrat" panose="02000505000000020004"/>
                            </a:rPr>
                            <a:t>dengan</a:t>
                          </a:r>
                          <a:r>
                            <a:rPr lang="en-ID" sz="1600" dirty="0">
                              <a:latin typeface="Montserrat" panose="02000505000000020004"/>
                            </a:rPr>
                            <a:t> </a:t>
                          </a:r>
                          <a:r>
                            <a:rPr lang="en-ID" sz="1600" dirty="0" err="1">
                              <a:latin typeface="Montserrat" panose="02000505000000020004"/>
                            </a:rPr>
                            <a:t>produksi</a:t>
                          </a:r>
                          <a:r>
                            <a:rPr lang="en-ID" sz="1600" dirty="0">
                              <a:latin typeface="Montserrat" panose="02000505000000020004"/>
                            </a:rPr>
                            <a:t> </a:t>
                          </a:r>
                          <a:r>
                            <a:rPr lang="en-ID" sz="1600" i="1" dirty="0">
                              <a:latin typeface="Montserrat" panose="02000505000000020004"/>
                            </a:rPr>
                            <a:t>A</a:t>
                          </a:r>
                          <a:r>
                            <a:rPr lang="en-ID" sz="1600" dirty="0">
                              <a:latin typeface="Montserrat" panose="02000505000000020004"/>
                            </a:rPr>
                            <a:t>  →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𝑅</m:t>
                                  </m:r>
                                </m:sup>
                              </m:sSup>
                            </m:oMath>
                          </a14:m>
                          <a:r>
                            <a:rPr lang="en-ID" sz="1600" dirty="0">
                              <a:latin typeface="Montserrat" panose="02000505000000020004"/>
                            </a:rPr>
                            <a:t> dan </a:t>
                          </a:r>
                          <a:r>
                            <a:rPr lang="en-ID" sz="1600" dirty="0" err="1">
                              <a:latin typeface="Montserrat" panose="02000505000000020004"/>
                            </a:rPr>
                            <a:t>gantilah</a:t>
                          </a:r>
                          <a:r>
                            <a:rPr lang="en-ID" sz="1600" dirty="0">
                              <a:latin typeface="Montserrat" panose="02000505000000020004"/>
                            </a:rPr>
                            <a:t> </a:t>
                          </a:r>
                          <a:r>
                            <a:rPr lang="en-ID" sz="1600" dirty="0" err="1">
                              <a:latin typeface="Montserrat" panose="02000505000000020004"/>
                            </a:rPr>
                            <a:t>setiap</a:t>
                          </a:r>
                          <a:r>
                            <a:rPr lang="en-ID" sz="1600" dirty="0">
                              <a:latin typeface="Montserrat" panose="02000505000000020004"/>
                            </a:rPr>
                            <a:t> </a:t>
                          </a:r>
                          <a:r>
                            <a:rPr lang="en-ID" sz="1600" dirty="0" err="1">
                              <a:latin typeface="Montserrat" panose="02000505000000020004"/>
                            </a:rPr>
                            <a:t>produksi</a:t>
                          </a:r>
                          <a:r>
                            <a:rPr lang="en-ID" sz="1600" dirty="0">
                              <a:latin typeface="Montserrat" panose="02000505000000020004"/>
                            </a:rPr>
                            <a:t> </a:t>
                          </a:r>
                          <a:r>
                            <a:rPr lang="en-ID" sz="1600" i="1" dirty="0">
                              <a:latin typeface="Montserrat" panose="02000505000000020004"/>
                            </a:rPr>
                            <a:t>A</a:t>
                          </a:r>
                          <a:r>
                            <a:rPr lang="en-ID" sz="1600" dirty="0">
                              <a:latin typeface="Montserrat" panose="02000505000000020004"/>
                            </a:rPr>
                            <a:t> →</a:t>
                          </a:r>
                          <a:r>
                            <a:rPr lang="en-ID" sz="1600" i="1" dirty="0" err="1">
                              <a:latin typeface="Montserrat" panose="02000505000000020004"/>
                            </a:rPr>
                            <a:t>Bx</a:t>
                          </a:r>
                          <a:r>
                            <a:rPr lang="en-ID" sz="1600" dirty="0">
                              <a:latin typeface="Montserrat" panose="02000505000000020004"/>
                            </a:rPr>
                            <a:t> </a:t>
                          </a:r>
                          <a:r>
                            <a:rPr lang="en-ID" sz="1600" dirty="0" err="1">
                              <a:latin typeface="Montserrat" panose="02000505000000020004"/>
                            </a:rPr>
                            <a:t>dengan</a:t>
                          </a:r>
                          <a:r>
                            <a:rPr lang="en-ID" sz="1600" dirty="0">
                              <a:latin typeface="Montserrat" panose="02000505000000020004"/>
                            </a:rPr>
                            <a:t> </a:t>
                          </a:r>
                          <a:r>
                            <a:rPr lang="en-ID" sz="1600" dirty="0" err="1">
                              <a:latin typeface="Montserrat" panose="02000505000000020004"/>
                            </a:rPr>
                            <a:t>produksi</a:t>
                          </a:r>
                          <a:r>
                            <a:rPr lang="en-ID" sz="1600" dirty="0">
                              <a:latin typeface="Montserrat" panose="02000505000000020004"/>
                            </a:rPr>
                            <a:t>  </a:t>
                          </a:r>
                          <a:r>
                            <a:rPr lang="en-ID" sz="1600" i="1" dirty="0">
                              <a:latin typeface="Montserrat" panose="02000505000000020004"/>
                            </a:rPr>
                            <a:t>A</a:t>
                          </a:r>
                          <a:r>
                            <a:rPr lang="en-ID" sz="1600" dirty="0">
                              <a:latin typeface="Montserrat" panose="02000505000000020004"/>
                            </a:rPr>
                            <a:t> </a:t>
                          </a:r>
                          <a:r>
                            <a:rPr lang="en-ID" sz="1600" dirty="0">
                              <a:latin typeface="Montserrat" panose="02000505000000020004"/>
                              <a:sym typeface="Wingdings" panose="05000000000000000000" pitchFamily="2" charset="2"/>
                            </a:rPr>
                            <a:t></a:t>
                          </a:r>
                          <a:r>
                            <a:rPr lang="en-ID" sz="1600" dirty="0">
                              <a:latin typeface="Montserrat" panose="02000505000000020004"/>
                            </a:rPr>
                            <a:t>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𝑅</m:t>
                                  </m:r>
                                </m:sup>
                              </m:sSup>
                            </m:oMath>
                          </a14:m>
                          <a:r>
                            <a:rPr lang="en-ID" sz="1600" i="1" dirty="0">
                              <a:latin typeface="Montserrat" panose="02000505000000020004"/>
                            </a:rPr>
                            <a:t>B</a:t>
                          </a:r>
                          <a:r>
                            <a:rPr lang="en-ID" sz="1600" dirty="0">
                              <a:latin typeface="Montserrat" panose="02000505000000020004"/>
                            </a:rPr>
                            <a:t> </a:t>
                          </a:r>
                        </a:p>
                        <a:p>
                          <a:pPr algn="l"/>
                          <a:r>
                            <a:rPr lang="en-ID" sz="1600" dirty="0" err="1">
                              <a:latin typeface="Montserrat" panose="02000505000000020004"/>
                            </a:rPr>
                            <a:t>Lihat</a:t>
                          </a:r>
                          <a:r>
                            <a:rPr lang="en-ID" sz="1600" dirty="0">
                              <a:latin typeface="Montserrat" panose="02000505000000020004"/>
                            </a:rPr>
                            <a:t> </a:t>
                          </a:r>
                          <a:r>
                            <a:rPr lang="en-ID" sz="1600" dirty="0" err="1">
                              <a:latin typeface="Montserrat" panose="02000505000000020004"/>
                            </a:rPr>
                            <a:t>bagian</a:t>
                          </a:r>
                          <a:r>
                            <a:rPr lang="en-ID" sz="1600" dirty="0">
                              <a:latin typeface="Montserrat" panose="02000505000000020004"/>
                            </a:rPr>
                            <a:t> 2.1.4 </a:t>
                          </a:r>
                          <a:r>
                            <a:rPr lang="en-ID" sz="1600" dirty="0" err="1">
                              <a:latin typeface="Montserrat" panose="02000505000000020004"/>
                            </a:rPr>
                            <a:t>untuk</a:t>
                          </a:r>
                          <a:r>
                            <a:rPr lang="en-ID" sz="1600" dirty="0">
                              <a:latin typeface="Montserrat" panose="02000505000000020004"/>
                            </a:rPr>
                            <a:t> </a:t>
                          </a:r>
                          <a:r>
                            <a:rPr lang="en-ID" sz="1600" dirty="0" err="1">
                              <a:latin typeface="Montserrat" panose="02000505000000020004"/>
                            </a:rPr>
                            <a:t>menurunkan</a:t>
                          </a:r>
                          <a:r>
                            <a:rPr lang="en-ID" sz="1600" dirty="0">
                              <a:latin typeface="Montserrat" panose="02000505000000020004"/>
                            </a:rPr>
                            <a:t> NFA </a:t>
                          </a:r>
                          <a:r>
                            <a:rPr lang="en-ID" sz="1600" dirty="0" err="1">
                              <a:latin typeface="Montserrat" panose="02000505000000020004"/>
                            </a:rPr>
                            <a:t>dari</a:t>
                          </a:r>
                          <a:r>
                            <a:rPr lang="en-ID" sz="1600" dirty="0">
                              <a:latin typeface="Montserrat" panose="02000505000000020004"/>
                            </a:rPr>
                            <a:t> Right-Linear Grammar. </a:t>
                          </a:r>
                        </a:p>
                        <a:p>
                          <a:pPr algn="l"/>
                          <a:endParaRPr lang="en-ID" sz="1600" dirty="0">
                            <a:latin typeface="Montserrat" panose="02000505000000020004"/>
                          </a:endParaRPr>
                        </a:p>
                        <a:p>
                          <a:pPr algn="l"/>
                          <a:endParaRPr lang="en-ID" sz="1600" dirty="0">
                            <a:latin typeface="Montserrat" panose="02000505000000020004"/>
                          </a:endParaRPr>
                        </a:p>
                        <a:p>
                          <a:pPr marL="400050" indent="-400050" algn="l">
                            <a:buFont typeface="+mj-lt"/>
                            <a:buAutoNum type="romanLcPeriod"/>
                          </a:pPr>
                          <a:r>
                            <a:rPr lang="en-ID" sz="1600" dirty="0" err="1">
                              <a:latin typeface="Montserrat" panose="02000505000000020004"/>
                            </a:rPr>
                            <a:t>Membangun</a:t>
                          </a:r>
                          <a:r>
                            <a:rPr lang="en-ID" sz="1600" dirty="0">
                              <a:latin typeface="Montserrat" panose="02000505000000020004"/>
                            </a:rPr>
                            <a:t> NFA </a:t>
                          </a:r>
                          <a:r>
                            <a:rPr lang="en-ID" sz="1600" dirty="0" err="1">
                              <a:latin typeface="Montserrat" panose="02000505000000020004"/>
                            </a:rPr>
                            <a:t>untuk</a:t>
                          </a:r>
                          <a:r>
                            <a:rPr lang="en-ID" sz="1600" dirty="0">
                              <a:latin typeface="Montserrat" panose="02000505000000020004"/>
                            </a:rPr>
                            <a:t> </a:t>
                          </a:r>
                          <a:r>
                            <a:rPr lang="en-ID" sz="1600" dirty="0" err="1">
                              <a:latin typeface="Montserrat" panose="02000505000000020004"/>
                            </a:rPr>
                            <a:t>mengenali</a:t>
                          </a:r>
                          <a:r>
                            <a:rPr lang="en-ID" sz="1600" dirty="0">
                              <a:latin typeface="Montserrat" panose="02000505000000020004"/>
                            </a:rPr>
                            <a:t> </a:t>
                          </a:r>
                          <a:r>
                            <a:rPr lang="en-ID" sz="1600" dirty="0" err="1">
                              <a:latin typeface="Montserrat" panose="02000505000000020004"/>
                            </a:rPr>
                            <a:t>bahasa</a:t>
                          </a:r>
                          <a:r>
                            <a:rPr lang="en-ID" sz="1600" dirty="0">
                              <a:latin typeface="Montserrat" panose="02000505000000020004"/>
                            </a:rPr>
                            <a:t> </a:t>
                          </a:r>
                          <a:r>
                            <a:rPr lang="en-ID" sz="1600" i="1" dirty="0">
                              <a:latin typeface="Montserrat" panose="02000505000000020004"/>
                            </a:rPr>
                            <a:t>L</a:t>
                          </a:r>
                          <a:r>
                            <a:rPr lang="en-ID" sz="1600" dirty="0">
                              <a:latin typeface="Montserrat" panose="02000505000000020004"/>
                            </a:rPr>
                            <a:t>. </a:t>
                          </a:r>
                        </a:p>
                        <a:p>
                          <a:pPr marL="400050" indent="-400050" algn="l">
                            <a:buFont typeface="+mj-lt"/>
                            <a:buAutoNum type="romanLcPeriod"/>
                          </a:pPr>
                          <a:r>
                            <a:rPr lang="en-ID" sz="1600" dirty="0" err="1">
                              <a:latin typeface="Montserrat" panose="02000505000000020004"/>
                            </a:rPr>
                            <a:t>Memastikan</a:t>
                          </a:r>
                          <a:r>
                            <a:rPr lang="en-ID" sz="1600" dirty="0">
                              <a:latin typeface="Montserrat" panose="02000505000000020004"/>
                            </a:rPr>
                            <a:t> NFA </a:t>
                          </a:r>
                          <a:r>
                            <a:rPr lang="en-ID" sz="1600" dirty="0" err="1">
                              <a:latin typeface="Montserrat" panose="02000505000000020004"/>
                            </a:rPr>
                            <a:t>hanya</a:t>
                          </a:r>
                          <a:r>
                            <a:rPr lang="en-ID" sz="1600" dirty="0">
                              <a:latin typeface="Montserrat" panose="02000505000000020004"/>
                            </a:rPr>
                            <a:t> </a:t>
                          </a:r>
                          <a:r>
                            <a:rPr lang="en-ID" sz="1600" dirty="0" err="1">
                              <a:latin typeface="Montserrat" panose="02000505000000020004"/>
                            </a:rPr>
                            <a:t>memiliki</a:t>
                          </a:r>
                          <a:r>
                            <a:rPr lang="en-ID" sz="1600" dirty="0">
                              <a:latin typeface="Montserrat" panose="02000505000000020004"/>
                            </a:rPr>
                            <a:t> </a:t>
                          </a:r>
                          <a:r>
                            <a:rPr lang="en-ID" sz="1600" dirty="0" err="1">
                              <a:latin typeface="Montserrat" panose="02000505000000020004"/>
                            </a:rPr>
                            <a:t>satu</a:t>
                          </a:r>
                          <a:r>
                            <a:rPr lang="en-ID" sz="1600" dirty="0">
                              <a:latin typeface="Montserrat" panose="02000505000000020004"/>
                            </a:rPr>
                            <a:t> State </a:t>
                          </a:r>
                          <a:r>
                            <a:rPr lang="en-ID" sz="1600" dirty="0" err="1">
                              <a:latin typeface="Montserrat" panose="02000505000000020004"/>
                            </a:rPr>
                            <a:t>akhir</a:t>
                          </a:r>
                          <a:endParaRPr lang="en-ID" sz="1600" dirty="0">
                            <a:latin typeface="Montserrat" panose="02000505000000020004"/>
                          </a:endParaRPr>
                        </a:p>
                        <a:p>
                          <a:pPr marL="400050" indent="-400050" algn="l">
                            <a:buFont typeface="+mj-lt"/>
                            <a:buAutoNum type="romanLcPeriod"/>
                          </a:pPr>
                          <a:r>
                            <a:rPr lang="en-ID" sz="1600" dirty="0" err="1">
                              <a:latin typeface="Montserrat" panose="02000505000000020004"/>
                            </a:rPr>
                            <a:t>Membalikkan</a:t>
                          </a:r>
                          <a:r>
                            <a:rPr lang="en-ID" sz="1600" dirty="0">
                              <a:latin typeface="Montserrat" panose="02000505000000020004"/>
                            </a:rPr>
                            <a:t> </a:t>
                          </a:r>
                          <a:r>
                            <a:rPr lang="en-ID" sz="1600" dirty="0" err="1">
                              <a:latin typeface="Montserrat" panose="02000505000000020004"/>
                            </a:rPr>
                            <a:t>arah</a:t>
                          </a:r>
                          <a:r>
                            <a:rPr lang="en-ID" sz="1600" dirty="0">
                              <a:latin typeface="Montserrat" panose="02000505000000020004"/>
                            </a:rPr>
                            <a:t> </a:t>
                          </a:r>
                          <a:r>
                            <a:rPr lang="en-ID" sz="1600" dirty="0" err="1">
                              <a:latin typeface="Montserrat" panose="02000505000000020004"/>
                            </a:rPr>
                            <a:t>busur</a:t>
                          </a:r>
                          <a:r>
                            <a:rPr lang="en-ID" sz="1600" dirty="0">
                              <a:latin typeface="Montserrat" panose="02000505000000020004"/>
                            </a:rPr>
                            <a:t> </a:t>
                          </a:r>
                        </a:p>
                        <a:p>
                          <a:pPr marL="400050" indent="-400050" algn="l">
                            <a:buFont typeface="+mj-lt"/>
                            <a:buAutoNum type="romanLcPeriod"/>
                          </a:pPr>
                          <a:r>
                            <a:rPr lang="en-ID" sz="1600" dirty="0" err="1">
                              <a:latin typeface="Montserrat" panose="02000505000000020004"/>
                            </a:rPr>
                            <a:t>Membuat</a:t>
                          </a:r>
                          <a:r>
                            <a:rPr lang="en-ID" sz="1600" dirty="0">
                              <a:latin typeface="Montserrat" panose="02000505000000020004"/>
                            </a:rPr>
                            <a:t> state </a:t>
                          </a:r>
                          <a:r>
                            <a:rPr lang="en-ID" sz="1600" dirty="0" err="1">
                              <a:latin typeface="Montserrat" panose="02000505000000020004"/>
                            </a:rPr>
                            <a:t>awal</a:t>
                          </a:r>
                          <a:r>
                            <a:rPr lang="en-ID" sz="1600" dirty="0">
                              <a:latin typeface="Montserrat" panose="02000505000000020004"/>
                            </a:rPr>
                            <a:t> </a:t>
                          </a:r>
                          <a:r>
                            <a:rPr lang="en-ID" sz="1600" dirty="0" err="1">
                              <a:latin typeface="Montserrat" panose="02000505000000020004"/>
                            </a:rPr>
                            <a:t>menjadi</a:t>
                          </a:r>
                          <a:r>
                            <a:rPr lang="en-ID" sz="1600" dirty="0">
                              <a:latin typeface="Montserrat" panose="02000505000000020004"/>
                            </a:rPr>
                            <a:t> </a:t>
                          </a:r>
                          <a:r>
                            <a:rPr lang="en-ID" sz="1600" dirty="0" err="1">
                              <a:latin typeface="Montserrat" panose="02000505000000020004"/>
                            </a:rPr>
                            <a:t>akhir</a:t>
                          </a:r>
                          <a:r>
                            <a:rPr lang="en-ID" sz="1600" dirty="0">
                              <a:latin typeface="Montserrat" panose="02000505000000020004"/>
                            </a:rPr>
                            <a:t> dan state </a:t>
                          </a:r>
                          <a:r>
                            <a:rPr lang="en-ID" sz="1600" dirty="0" err="1">
                              <a:latin typeface="Montserrat" panose="02000505000000020004"/>
                            </a:rPr>
                            <a:t>akhir</a:t>
                          </a:r>
                          <a:r>
                            <a:rPr lang="en-ID" sz="1600" dirty="0">
                              <a:latin typeface="Montserrat" panose="02000505000000020004"/>
                            </a:rPr>
                            <a:t> </a:t>
                          </a:r>
                          <a:r>
                            <a:rPr lang="en-ID" sz="1600" dirty="0" err="1">
                              <a:latin typeface="Montserrat" panose="02000505000000020004"/>
                            </a:rPr>
                            <a:t>menjadi</a:t>
                          </a:r>
                          <a:r>
                            <a:rPr lang="en-ID" sz="1600" dirty="0">
                              <a:latin typeface="Montserrat" panose="02000505000000020004"/>
                            </a:rPr>
                            <a:t> </a:t>
                          </a:r>
                          <a:r>
                            <a:rPr lang="en-ID" sz="1600" dirty="0" err="1">
                              <a:latin typeface="Montserrat" panose="02000505000000020004"/>
                            </a:rPr>
                            <a:t>awal</a:t>
                          </a:r>
                          <a:r>
                            <a:rPr lang="en-ID" sz="1600" dirty="0">
                              <a:latin typeface="Montserrat" panose="02000505000000020004"/>
                            </a:rPr>
                            <a:t> </a:t>
                          </a:r>
                          <a:br>
                            <a:rPr lang="en-ID" sz="1600" dirty="0">
                              <a:latin typeface="Montserrat" panose="02000505000000020004"/>
                            </a:rPr>
                          </a:br>
                          <a:endParaRPr lang="en-ID" sz="1600" dirty="0">
                            <a:latin typeface="Montserrat" panose="02000505000000020004"/>
                          </a:endParaRPr>
                        </a:p>
                        <a:p>
                          <a:pPr marL="0" indent="0" algn="l">
                            <a:buFont typeface="+mj-lt"/>
                            <a:buNone/>
                          </a:pPr>
                          <a:r>
                            <a:rPr lang="en-ID" sz="1600" dirty="0" err="1">
                              <a:latin typeface="Montserrat" panose="02000505000000020004"/>
                            </a:rPr>
                            <a:t>Ini</a:t>
                          </a:r>
                          <a:r>
                            <a:rPr lang="en-ID" sz="1600" dirty="0">
                              <a:latin typeface="Montserrat" panose="02000505000000020004"/>
                            </a:rPr>
                            <a:t> </a:t>
                          </a:r>
                          <a:r>
                            <a:rPr lang="en-ID" sz="1600" dirty="0" err="1">
                              <a:latin typeface="Montserrat" panose="02000505000000020004"/>
                            </a:rPr>
                            <a:t>adalah</a:t>
                          </a:r>
                          <a:r>
                            <a:rPr lang="en-ID" sz="1600" dirty="0">
                              <a:latin typeface="Montserrat" panose="02000505000000020004"/>
                            </a:rPr>
                            <a:t> </a:t>
                          </a:r>
                          <a:r>
                            <a:rPr lang="en-ID" sz="1600" dirty="0" err="1">
                              <a:latin typeface="Montserrat" panose="02000505000000020004"/>
                            </a:rPr>
                            <a:t>teknik</a:t>
                          </a:r>
                          <a:r>
                            <a:rPr lang="en-ID" sz="1600" dirty="0">
                              <a:latin typeface="Montserrat" panose="02000505000000020004"/>
                            </a:rPr>
                            <a:t> yang </a:t>
                          </a:r>
                          <a:r>
                            <a:rPr lang="en-ID" sz="1600" dirty="0" err="1">
                              <a:latin typeface="Montserrat" panose="02000505000000020004"/>
                            </a:rPr>
                            <a:t>dijelaskan</a:t>
                          </a:r>
                          <a:r>
                            <a:rPr lang="en-ID" sz="1600" dirty="0">
                              <a:latin typeface="Montserrat" panose="02000505000000020004"/>
                            </a:rPr>
                            <a:t> </a:t>
                          </a:r>
                          <a:r>
                            <a:rPr lang="en-ID" sz="1600" dirty="0" err="1">
                              <a:latin typeface="Montserrat" panose="02000505000000020004"/>
                            </a:rPr>
                            <a:t>dalam</a:t>
                          </a:r>
                          <a:r>
                            <a:rPr lang="en-ID" sz="1600" dirty="0">
                              <a:latin typeface="Montserrat" panose="02000505000000020004"/>
                            </a:rPr>
                            <a:t> </a:t>
                          </a:r>
                          <a:r>
                            <a:rPr lang="en-ID" sz="1600" dirty="0" err="1">
                              <a:latin typeface="Montserrat" panose="02000505000000020004"/>
                            </a:rPr>
                            <a:t>bagian</a:t>
                          </a:r>
                          <a:r>
                            <a:rPr lang="en-ID" sz="1600" dirty="0">
                              <a:latin typeface="Montserrat" panose="02000505000000020004"/>
                            </a:rPr>
                            <a:t> </a:t>
                          </a:r>
                          <a:r>
                            <a:rPr lang="en-ID" sz="1600" dirty="0" err="1">
                              <a:latin typeface="Montserrat" panose="02000505000000020004"/>
                            </a:rPr>
                            <a:t>sebelumnya</a:t>
                          </a:r>
                          <a:r>
                            <a:rPr lang="en-ID" sz="1600" dirty="0">
                              <a:latin typeface="Montserrat" panose="02000505000000020004"/>
                            </a:rPr>
                            <a:t>. </a:t>
                          </a:r>
                        </a:p>
                      </a:txBody>
                      <a:tcPr/>
                    </a:tc>
                    <a:extLst>
                      <a:ext uri="{0D108BD9-81ED-4DB2-BD59-A6C34878D82A}">
                        <a16:rowId xmlns:a16="http://schemas.microsoft.com/office/drawing/2014/main" val="3830516414"/>
                      </a:ext>
                    </a:extLst>
                  </a:tr>
                </a:tbl>
              </a:graphicData>
            </a:graphic>
          </p:graphicFrame>
        </mc:Choice>
        <mc:Fallback xmlns="">
          <p:graphicFrame>
            <p:nvGraphicFramePr>
              <p:cNvPr id="4" name="Table 6">
                <a:extLst>
                  <a:ext uri="{FF2B5EF4-FFF2-40B4-BE49-F238E27FC236}">
                    <a16:creationId xmlns:a16="http://schemas.microsoft.com/office/drawing/2014/main" id="{9930F5DF-1E44-4243-BA00-A7FF62A8E067}"/>
                  </a:ext>
                </a:extLst>
              </p:cNvPr>
              <p:cNvGraphicFramePr>
                <a:graphicFrameLocks noGrp="1"/>
              </p:cNvGraphicFramePr>
              <p:nvPr>
                <p:extLst>
                  <p:ext uri="{D42A27DB-BD31-4B8C-83A1-F6EECF244321}">
                    <p14:modId xmlns:p14="http://schemas.microsoft.com/office/powerpoint/2010/main" val="2452964129"/>
                  </p:ext>
                </p:extLst>
              </p:nvPr>
            </p:nvGraphicFramePr>
            <p:xfrm>
              <a:off x="669000" y="1570419"/>
              <a:ext cx="7796254" cy="5315742"/>
            </p:xfrm>
            <a:graphic>
              <a:graphicData uri="http://schemas.openxmlformats.org/drawingml/2006/table">
                <a:tbl>
                  <a:tblPr firstRow="1" bandRow="1">
                    <a:tableStyleId>{93296810-A885-4BE3-A3E7-6D5BEEA58F35}</a:tableStyleId>
                  </a:tblPr>
                  <a:tblGrid>
                    <a:gridCol w="3898127">
                      <a:extLst>
                        <a:ext uri="{9D8B030D-6E8A-4147-A177-3AD203B41FA5}">
                          <a16:colId xmlns:a16="http://schemas.microsoft.com/office/drawing/2014/main" val="1104952298"/>
                        </a:ext>
                      </a:extLst>
                    </a:gridCol>
                    <a:gridCol w="3898127">
                      <a:extLst>
                        <a:ext uri="{9D8B030D-6E8A-4147-A177-3AD203B41FA5}">
                          <a16:colId xmlns:a16="http://schemas.microsoft.com/office/drawing/2014/main" val="876539151"/>
                        </a:ext>
                      </a:extLst>
                    </a:gridCol>
                  </a:tblGrid>
                  <a:tr h="347502">
                    <a:tc>
                      <a:txBody>
                        <a:bodyPr/>
                        <a:lstStyle/>
                        <a:p>
                          <a:pPr algn="ctr"/>
                          <a:r>
                            <a:rPr lang="en-US" sz="1600" dirty="0">
                              <a:latin typeface="Montserrat" panose="02000505000000020004"/>
                            </a:rPr>
                            <a:t>STEP</a:t>
                          </a:r>
                          <a:endParaRPr lang="en-ID" sz="1600" dirty="0">
                            <a:latin typeface="Montserrat" panose="02000505000000020004"/>
                          </a:endParaRPr>
                        </a:p>
                      </a:txBody>
                      <a:tcPr/>
                    </a:tc>
                    <a:tc>
                      <a:txBody>
                        <a:bodyPr/>
                        <a:lstStyle/>
                        <a:p>
                          <a:pPr algn="ctr"/>
                          <a:r>
                            <a:rPr lang="en-US" sz="1600" dirty="0">
                              <a:latin typeface="Montserrat" panose="02000505000000020004"/>
                            </a:rPr>
                            <a:t>METHOD</a:t>
                          </a:r>
                          <a:endParaRPr lang="en-ID" sz="1600" dirty="0">
                            <a:latin typeface="Montserrat" panose="02000505000000020004"/>
                          </a:endParaRPr>
                        </a:p>
                      </a:txBody>
                      <a:tcPr/>
                    </a:tc>
                    <a:extLst>
                      <a:ext uri="{0D108BD9-81ED-4DB2-BD59-A6C34878D82A}">
                        <a16:rowId xmlns:a16="http://schemas.microsoft.com/office/drawing/2014/main" val="2403670531"/>
                      </a:ext>
                    </a:extLst>
                  </a:tr>
                  <a:tr h="4968240">
                    <a:tc>
                      <a:txBody>
                        <a:bodyPr/>
                        <a:lstStyle/>
                        <a:p>
                          <a:endParaRPr lang="en-US"/>
                        </a:p>
                      </a:txBody>
                      <a:tcPr>
                        <a:blipFill>
                          <a:blip r:embed="rId2"/>
                          <a:stretch>
                            <a:fillRect l="-156" t="-7230" r="-100625" b="-1593"/>
                          </a:stretch>
                        </a:blipFill>
                      </a:tcPr>
                    </a:tc>
                    <a:tc>
                      <a:txBody>
                        <a:bodyPr/>
                        <a:lstStyle/>
                        <a:p>
                          <a:endParaRPr lang="en-US"/>
                        </a:p>
                      </a:txBody>
                      <a:tcPr>
                        <a:blipFill>
                          <a:blip r:embed="rId2"/>
                          <a:stretch>
                            <a:fillRect l="-100156" t="-7230" r="-625" b="-1593"/>
                          </a:stretch>
                        </a:blipFill>
                      </a:tcPr>
                    </a:tc>
                    <a:extLst>
                      <a:ext uri="{0D108BD9-81ED-4DB2-BD59-A6C34878D82A}">
                        <a16:rowId xmlns:a16="http://schemas.microsoft.com/office/drawing/2014/main" val="3830516414"/>
                      </a:ext>
                    </a:extLst>
                  </a:tr>
                </a:tbl>
              </a:graphicData>
            </a:graphic>
          </p:graphicFrame>
        </mc:Fallback>
      </mc:AlternateContent>
    </p:spTree>
    <p:extLst>
      <p:ext uri="{BB962C8B-B14F-4D97-AF65-F5344CB8AC3E}">
        <p14:creationId xmlns:p14="http://schemas.microsoft.com/office/powerpoint/2010/main" val="1243655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Contoh 2.1.1</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algn="just"/>
                <a:r>
                  <a:rPr lang="id-ID" sz="2800" dirty="0">
                    <a:solidFill>
                      <a:srgbClr val="000000"/>
                    </a:solidFill>
                    <a:latin typeface="Montserrat" panose="02000505000000020004"/>
                  </a:rPr>
                  <a:t>Berikan beberapa contoh </a:t>
                </a:r>
                <a:r>
                  <a:rPr lang="en-US" sz="2800" dirty="0">
                    <a:solidFill>
                      <a:srgbClr val="000000"/>
                    </a:solidFill>
                    <a:latin typeface="Montserrat" panose="02000505000000020004"/>
                  </a:rPr>
                  <a:t>Context-Free Grammar</a:t>
                </a:r>
              </a:p>
              <a:p>
                <a:pPr marL="0" indent="0" algn="just">
                  <a:buNone/>
                </a:pPr>
                <a:r>
                  <a:rPr lang="en-US" sz="2800" dirty="0">
                    <a:solidFill>
                      <a:srgbClr val="000000"/>
                    </a:solidFill>
                    <a:latin typeface="Montserrat" panose="02000505000000020004"/>
                  </a:rPr>
                  <a:t>Jawab</a:t>
                </a:r>
              </a:p>
              <a:p>
                <a:pPr marL="514350" indent="-514350">
                  <a:buFont typeface="+mj-lt"/>
                  <a:buAutoNum type="alphaLcParenR"/>
                </a:pPr>
                <a:r>
                  <a:rPr lang="en-US" sz="2800" dirty="0">
                    <a:solidFill>
                      <a:srgbClr val="000000"/>
                    </a:solidFill>
                    <a:latin typeface="Montserrat" panose="02000505000000020004"/>
                  </a:rPr>
                  <a:t>Grammar G = ({S}, {a, b}, S, P) dengan </a:t>
                </a:r>
                <a:r>
                  <a:rPr lang="en-US" sz="2800" dirty="0" err="1">
                    <a:solidFill>
                      <a:srgbClr val="000000"/>
                    </a:solidFill>
                    <a:latin typeface="Montserrat" panose="02000505000000020004"/>
                  </a:rPr>
                  <a:t>produksi</a:t>
                </a:r>
                <a:br>
                  <a:rPr lang="en-US" sz="2800" dirty="0">
                    <a:solidFill>
                      <a:srgbClr val="000000"/>
                    </a:solidFill>
                    <a:latin typeface="Montserrat" panose="02000505000000020004"/>
                  </a:rPr>
                </a:br>
                <a:r>
                  <a:rPr lang="en-US" sz="2800" i="1" dirty="0">
                    <a:solidFill>
                      <a:srgbClr val="000000"/>
                    </a:solidFill>
                    <a:latin typeface="Montserrat" panose="02000505000000020004"/>
                  </a:rPr>
                  <a:t>S </a:t>
                </a:r>
                <a:r>
                  <a:rPr lang="en-US" sz="2800" i="1" dirty="0">
                    <a:solidFill>
                      <a:srgbClr val="000000"/>
                    </a:solidFill>
                    <a:latin typeface="Montserrat" panose="02000505000000020004"/>
                    <a:sym typeface="Wingdings" panose="05000000000000000000" pitchFamily="2" charset="2"/>
                  </a:rPr>
                  <a:t> </a:t>
                </a:r>
                <a:r>
                  <a:rPr lang="en-US" sz="2800" i="1" dirty="0" err="1">
                    <a:solidFill>
                      <a:srgbClr val="000000"/>
                    </a:solidFill>
                    <a:latin typeface="Montserrat" panose="02000505000000020004"/>
                    <a:sym typeface="Wingdings" panose="05000000000000000000" pitchFamily="2" charset="2"/>
                  </a:rPr>
                  <a:t>aSa</a:t>
                </a:r>
                <a:r>
                  <a:rPr lang="en-US" sz="2800" i="1" dirty="0">
                    <a:solidFill>
                      <a:srgbClr val="000000"/>
                    </a:solidFill>
                    <a:latin typeface="Montserrat" panose="02000505000000020004"/>
                    <a:sym typeface="Wingdings" panose="05000000000000000000" pitchFamily="2" charset="2"/>
                  </a:rPr>
                  <a:t>, 	S  </a:t>
                </a:r>
                <a:r>
                  <a:rPr lang="en-US" sz="2800" i="1" dirty="0" err="1">
                    <a:solidFill>
                      <a:srgbClr val="000000"/>
                    </a:solidFill>
                    <a:latin typeface="Montserrat" panose="02000505000000020004"/>
                    <a:sym typeface="Wingdings" panose="05000000000000000000" pitchFamily="2" charset="2"/>
                  </a:rPr>
                  <a:t>bSb</a:t>
                </a:r>
                <a:r>
                  <a:rPr lang="en-US" sz="2800" i="1" dirty="0">
                    <a:solidFill>
                      <a:srgbClr val="000000"/>
                    </a:solidFill>
                    <a:latin typeface="Montserrat" panose="02000505000000020004"/>
                    <a:sym typeface="Wingdings" panose="05000000000000000000" pitchFamily="2" charset="2"/>
                  </a:rPr>
                  <a:t>, 		S</a:t>
                </a:r>
                <a:r>
                  <a:rPr lang="el-GR"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λ</a:t>
                </a:r>
                <a:r>
                  <a:rPr lang="en-US"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br>
                  <a:rPr lang="en-US"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b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itu</a:t>
                </a: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adalah</a:t>
                </a: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bebas </a:t>
                </a:r>
                <a:r>
                  <a:rPr lang="en-US" sz="28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konteks</a:t>
                </a:r>
                <a:r>
                  <a:rPr lang="en-US" sz="2800" dirty="0">
                    <a:solidFill>
                      <a:srgbClr val="000000"/>
                    </a:solidFill>
                    <a:latin typeface="Montserrat" panose="02000505000000020004"/>
                    <a:cs typeface="Times New Roman" panose="02020603050405020304" pitchFamily="18" charset="0"/>
                    <a:sym typeface="Wingdings" panose="05000000000000000000" pitchFamily="2" charset="2"/>
                  </a:rPr>
                  <a:t>.</a:t>
                </a:r>
                <a:br>
                  <a:rPr lang="en-US" sz="2800" dirty="0">
                    <a:solidFill>
                      <a:srgbClr val="000000"/>
                    </a:solidFill>
                    <a:latin typeface="Montserrat" panose="02000505000000020004"/>
                    <a:cs typeface="Times New Roman" panose="02020603050405020304" pitchFamily="18" charset="0"/>
                    <a:sym typeface="Wingdings" panose="05000000000000000000" pitchFamily="2" charset="2"/>
                  </a:rPr>
                </a:br>
                <a:r>
                  <a:rPr lang="en-US" sz="2800" i="1" dirty="0">
                    <a:solidFill>
                      <a:srgbClr val="000000"/>
                    </a:solidFill>
                    <a:latin typeface="Montserrat" panose="02000505000000020004"/>
                    <a:cs typeface="Times New Roman" panose="02020603050405020304" pitchFamily="18" charset="0"/>
                    <a:sym typeface="Wingdings" panose="05000000000000000000" pitchFamily="2" charset="2"/>
                  </a:rPr>
                  <a:t>S</a:t>
                </a:r>
                <a:r>
                  <a:rPr lang="en-US" sz="2800" dirty="0">
                    <a:solidFill>
                      <a:schemeClr val="tx2"/>
                    </a:solidFill>
                    <a:latin typeface="Montserrat" panose="02000505000000020004"/>
                  </a:rPr>
                  <a:t> </a:t>
                </a:r>
                <a:r>
                  <a:rPr lang="en-US" sz="2800" dirty="0">
                    <a:solidFill>
                      <a:srgbClr val="000000"/>
                    </a:solidFill>
                    <a:latin typeface="Montserrat" panose="02000505000000020004"/>
                  </a:rPr>
                  <a:t>⇒</a:t>
                </a:r>
                <a:r>
                  <a:rPr lang="en-US" sz="2800" dirty="0">
                    <a:solidFill>
                      <a:schemeClr val="tx2"/>
                    </a:solidFill>
                    <a:latin typeface="Montserrat" panose="02000505000000020004"/>
                  </a:rPr>
                  <a:t> </a:t>
                </a:r>
                <a:r>
                  <a:rPr lang="en-US" sz="2800" i="1"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aSa</a:t>
                </a:r>
                <a:r>
                  <a:rPr lang="en-US" sz="2800" dirty="0">
                    <a:solidFill>
                      <a:srgbClr val="000000"/>
                    </a:solidFill>
                    <a:latin typeface="Montserrat" panose="02000505000000020004"/>
                  </a:rPr>
                  <a:t> ⇒ </a:t>
                </a:r>
                <a:r>
                  <a:rPr lang="en-US" sz="2800" i="1"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aaSaa</a:t>
                </a:r>
                <a:r>
                  <a:rPr lang="en-US" sz="2800" dirty="0">
                    <a:solidFill>
                      <a:srgbClr val="000000"/>
                    </a:solidFill>
                    <a:latin typeface="Montserrat" panose="02000505000000020004"/>
                  </a:rPr>
                  <a:t> ⇒ </a:t>
                </a:r>
                <a:r>
                  <a:rPr lang="en-US" sz="2800" i="1"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aabSbaa</a:t>
                </a:r>
                <a:r>
                  <a:rPr lang="en-US" sz="2800" dirty="0">
                    <a:solidFill>
                      <a:srgbClr val="000000"/>
                    </a:solidFill>
                    <a:latin typeface="Montserrat" panose="02000505000000020004"/>
                  </a:rPr>
                  <a:t> ⇒ </a:t>
                </a:r>
                <a:r>
                  <a:rPr lang="en-US" sz="2800" i="1"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aabbaa</a:t>
                </a:r>
                <a:br>
                  <a:rPr lang="en-US"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b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Dengan demikian </a:t>
                </a:r>
                <a:r>
                  <a:rPr lang="en-US" sz="28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kita</a:t>
                </a: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memiliki </a:t>
                </a:r>
                <a:b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br>
                <a:r>
                  <a:rPr lang="en-US"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L</a:t>
                </a: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t>
                </a:r>
                <a:r>
                  <a:rPr lang="en-US"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a:t>
                </a: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 {</a:t>
                </a:r>
                <a:r>
                  <a:rPr lang="en-US"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w</a:t>
                </a:r>
                <a:r>
                  <a:rPr lang="en-US" sz="2800" dirty="0"/>
                  <a:t> </a:t>
                </a:r>
                <a14:m>
                  <m:oMath xmlns:m="http://schemas.openxmlformats.org/officeDocument/2006/math">
                    <m:sSup>
                      <m:sSupPr>
                        <m:ctrlPr>
                          <a:rPr lang="en-US" sz="2800" i="1" smtClean="0">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𝑤</m:t>
                        </m:r>
                      </m:e>
                      <m:sup>
                        <m:r>
                          <a:rPr lang="en-US" sz="2800" i="1">
                            <a:solidFill>
                              <a:srgbClr val="000000"/>
                            </a:solidFill>
                            <a:latin typeface="Cambria Math" panose="02040503050406030204" pitchFamily="18" charset="0"/>
                          </a:rPr>
                          <m:t>𝑅</m:t>
                        </m:r>
                      </m:sup>
                    </m:sSup>
                  </m:oMath>
                </a14:m>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 </a:t>
                </a:r>
                <a:r>
                  <a:rPr lang="en-US" sz="2800" i="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w</a:t>
                </a:r>
                <a:r>
                  <a:rPr lang="en-US" sz="2800" i="1" dirty="0">
                    <a:solidFill>
                      <a:srgbClr val="000000"/>
                    </a:solidFill>
                    <a:latin typeface="Courier New" panose="02070309020205020404" pitchFamily="49" charset="0"/>
                    <a:cs typeface="Courier New" panose="02070309020205020404" pitchFamily="49" charset="0"/>
                  </a:rPr>
                  <a:t>∈</a:t>
                </a:r>
                <a:r>
                  <a:rPr lang="en-US" sz="2800" dirty="0">
                    <a:solidFill>
                      <a:srgbClr val="000000"/>
                    </a:solidFill>
                    <a:latin typeface="Courier New" panose="02070309020205020404" pitchFamily="49" charset="0"/>
                    <a:cs typeface="Courier New" panose="02070309020205020404" pitchFamily="49" charset="0"/>
                  </a:rPr>
                  <a:t>{</a:t>
                </a:r>
                <a:r>
                  <a:rPr lang="en-US" sz="2800" i="1" dirty="0" err="1">
                    <a:solidFill>
                      <a:srgbClr val="000000"/>
                    </a:solidFill>
                    <a:latin typeface="Courier New" panose="02070309020205020404" pitchFamily="49" charset="0"/>
                    <a:cs typeface="Courier New" panose="02070309020205020404" pitchFamily="49" charset="0"/>
                  </a:rPr>
                  <a:t>a,b</a:t>
                </a:r>
                <a:r>
                  <a:rPr lang="en-US" sz="2800" dirty="0">
                    <a:solidFill>
                      <a:srgbClr val="000000"/>
                    </a:solidFill>
                    <a:latin typeface="Courier New" panose="02070309020205020404" pitchFamily="49" charset="0"/>
                    <a:cs typeface="Courier New" panose="02070309020205020404" pitchFamily="49" charset="0"/>
                  </a:rPr>
                  <a:t>}*}.</a:t>
                </a:r>
                <a:b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br>
                <a:r>
                  <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Bahasa diatas adalah bebas </a:t>
                </a:r>
                <a:r>
                  <a:rPr lang="en-US" sz="28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konteks</a:t>
                </a:r>
                <a:endParaRPr lang="en-US" sz="28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623822"/>
              </a:xfrm>
              <a:blipFill>
                <a:blip r:embed="rId2"/>
                <a:stretch>
                  <a:fillRect l="-1505" t="-1733" r="-1434"/>
                </a:stretch>
              </a:blipFill>
            </p:spPr>
            <p:txBody>
              <a:bodyPr/>
              <a:lstStyle/>
              <a:p>
                <a:r>
                  <a:rPr lang="en-ID">
                    <a:noFill/>
                  </a:rPr>
                  <a:t> </a:t>
                </a:r>
              </a:p>
            </p:txBody>
          </p:sp>
        </mc:Fallback>
      </mc:AlternateContent>
    </p:spTree>
    <p:extLst>
      <p:ext uri="{BB962C8B-B14F-4D97-AF65-F5344CB8AC3E}">
        <p14:creationId xmlns:p14="http://schemas.microsoft.com/office/powerpoint/2010/main" val="1845940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Contoh 2.1.1</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168101"/>
              </a:xfrm>
            </p:spPr>
            <p:txBody>
              <a:bodyPr>
                <a:normAutofit/>
              </a:bodyPr>
              <a:lstStyle/>
              <a:p>
                <a:pPr marL="0" indent="0" algn="just">
                  <a:buNone/>
                </a:pPr>
                <a:r>
                  <a:rPr lang="en-US" sz="2800" dirty="0">
                    <a:solidFill>
                      <a:srgbClr val="000000"/>
                    </a:solidFill>
                    <a:latin typeface="Montserrat" panose="02000505000000020004"/>
                    <a:cs typeface="Courier New" panose="02070309020205020404" pitchFamily="49" charset="0"/>
                  </a:rPr>
                  <a:t>b)Tata </a:t>
                </a:r>
                <a:r>
                  <a:rPr lang="en-US" sz="2800" dirty="0" err="1">
                    <a:solidFill>
                      <a:srgbClr val="000000"/>
                    </a:solidFill>
                    <a:latin typeface="Montserrat" panose="02000505000000020004"/>
                    <a:cs typeface="Courier New" panose="02070309020205020404" pitchFamily="49" charset="0"/>
                  </a:rPr>
                  <a:t>bahasa</a:t>
                </a:r>
                <a:r>
                  <a:rPr lang="en-US" sz="2800" dirty="0">
                    <a:solidFill>
                      <a:srgbClr val="000000"/>
                    </a:solidFill>
                    <a:latin typeface="Montserrat" panose="02000505000000020004"/>
                    <a:cs typeface="Courier New" panose="02070309020205020404" pitchFamily="49" charset="0"/>
                  </a:rPr>
                  <a:t> G, dengan </a:t>
                </a:r>
                <a:r>
                  <a:rPr lang="en-US" sz="2800" dirty="0" err="1">
                    <a:solidFill>
                      <a:srgbClr val="000000"/>
                    </a:solidFill>
                    <a:latin typeface="Montserrat" panose="02000505000000020004"/>
                    <a:cs typeface="Courier New" panose="02070309020205020404" pitchFamily="49" charset="0"/>
                  </a:rPr>
                  <a:t>aturan</a:t>
                </a:r>
                <a:r>
                  <a:rPr lang="en-US" sz="2800" dirty="0">
                    <a:solidFill>
                      <a:srgbClr val="000000"/>
                    </a:solidFill>
                    <a:latin typeface="Montserrat" panose="02000505000000020004"/>
                    <a:cs typeface="Courier New" panose="02070309020205020404" pitchFamily="49" charset="0"/>
                  </a:rPr>
                  <a:t> </a:t>
                </a:r>
                <a:r>
                  <a:rPr lang="en-US" sz="2800" dirty="0" err="1">
                    <a:solidFill>
                      <a:srgbClr val="000000"/>
                    </a:solidFill>
                    <a:latin typeface="Montserrat" panose="02000505000000020004"/>
                    <a:cs typeface="Courier New" panose="02070309020205020404" pitchFamily="49" charset="0"/>
                  </a:rPr>
                  <a:t>produksi</a:t>
                </a:r>
                <a:r>
                  <a:rPr lang="en-US" sz="2800" dirty="0">
                    <a:solidFill>
                      <a:srgbClr val="000000"/>
                    </a:solidFill>
                    <a:latin typeface="Montserrat" panose="02000505000000020004"/>
                    <a:cs typeface="Courier New" panose="02070309020205020404" pitchFamily="49" charset="0"/>
                  </a:rPr>
                  <a:t> yang diberikan oleh: </a:t>
                </a: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r>
                  <a:rPr lang="en-US" sz="2800" dirty="0" err="1">
                    <a:solidFill>
                      <a:srgbClr val="000000"/>
                    </a:solidFill>
                    <a:latin typeface="Montserrat" panose="02000505000000020004"/>
                    <a:cs typeface="Courier New" panose="02070309020205020404" pitchFamily="49" charset="0"/>
                  </a:rPr>
                  <a:t>Aturan</a:t>
                </a:r>
                <a:r>
                  <a:rPr lang="en-US" sz="2800" dirty="0">
                    <a:solidFill>
                      <a:srgbClr val="000000"/>
                    </a:solidFill>
                    <a:latin typeface="Montserrat" panose="02000505000000020004"/>
                    <a:cs typeface="Courier New" panose="02070309020205020404" pitchFamily="49" charset="0"/>
                  </a:rPr>
                  <a:t> di </a:t>
                </a:r>
                <a:r>
                  <a:rPr lang="en-US" sz="2800" dirty="0" err="1">
                    <a:solidFill>
                      <a:srgbClr val="000000"/>
                    </a:solidFill>
                    <a:latin typeface="Montserrat" panose="02000505000000020004"/>
                    <a:cs typeface="Courier New" panose="02070309020205020404" pitchFamily="49" charset="0"/>
                  </a:rPr>
                  <a:t>atas</a:t>
                </a:r>
                <a:r>
                  <a:rPr lang="en-US" sz="2800" dirty="0">
                    <a:solidFill>
                      <a:srgbClr val="000000"/>
                    </a:solidFill>
                    <a:latin typeface="Montserrat" panose="02000505000000020004"/>
                    <a:cs typeface="Courier New" panose="02070309020205020404" pitchFamily="49" charset="0"/>
                  </a:rPr>
                  <a:t> adalah bebas </a:t>
                </a:r>
                <a:r>
                  <a:rPr lang="en-US" sz="2800" dirty="0" err="1">
                    <a:solidFill>
                      <a:srgbClr val="000000"/>
                    </a:solidFill>
                    <a:latin typeface="Montserrat" panose="02000505000000020004"/>
                    <a:cs typeface="Courier New" panose="02070309020205020404" pitchFamily="49" charset="0"/>
                  </a:rPr>
                  <a:t>konteks</a:t>
                </a:r>
                <a:r>
                  <a:rPr lang="en-US" sz="2800" dirty="0">
                    <a:solidFill>
                      <a:srgbClr val="000000"/>
                    </a:solidFill>
                    <a:latin typeface="Montserrat" panose="02000505000000020004"/>
                    <a:cs typeface="Courier New" panose="02070309020205020404" pitchFamily="49" charset="0"/>
                  </a:rPr>
                  <a:t>.</a:t>
                </a:r>
              </a:p>
              <a:p>
                <a:pPr marL="0" indent="0" algn="just">
                  <a:buNone/>
                </a:pPr>
                <a:r>
                  <a:rPr lang="en-US" sz="2800" dirty="0">
                    <a:solidFill>
                      <a:srgbClr val="000000"/>
                    </a:solidFill>
                    <a:latin typeface="Montserrat" panose="02000505000000020004"/>
                    <a:cs typeface="Courier New" panose="02070309020205020404" pitchFamily="49" charset="0"/>
                  </a:rPr>
                  <a:t>Bahasanya adalah </a:t>
                </a:r>
                <a:r>
                  <a:rPr lang="en-US" sz="2800" i="1" dirty="0">
                    <a:solidFill>
                      <a:srgbClr val="000000"/>
                    </a:solidFill>
                    <a:latin typeface="Montserrat" panose="02000505000000020004"/>
                    <a:cs typeface="Courier New" panose="02070309020205020404" pitchFamily="49" charset="0"/>
                  </a:rPr>
                  <a:t>L</a:t>
                </a:r>
                <a:r>
                  <a:rPr lang="en-US" sz="2800" dirty="0">
                    <a:solidFill>
                      <a:srgbClr val="000000"/>
                    </a:solidFill>
                    <a:latin typeface="Montserrat" panose="02000505000000020004"/>
                    <a:cs typeface="Courier New" panose="02070309020205020404" pitchFamily="49" charset="0"/>
                  </a:rPr>
                  <a:t>(</a:t>
                </a:r>
                <a:r>
                  <a:rPr lang="en-US" sz="2800" i="1" dirty="0">
                    <a:solidFill>
                      <a:srgbClr val="000000"/>
                    </a:solidFill>
                    <a:latin typeface="Montserrat" panose="02000505000000020004"/>
                    <a:cs typeface="Courier New" panose="02070309020205020404" pitchFamily="49" charset="0"/>
                  </a:rPr>
                  <a:t>G</a:t>
                </a:r>
                <a:r>
                  <a:rPr lang="en-US" sz="2800" dirty="0">
                    <a:solidFill>
                      <a:srgbClr val="000000"/>
                    </a:solidFill>
                    <a:latin typeface="Montserrat" panose="02000505000000020004"/>
                    <a:cs typeface="Courier New" panose="02070309020205020404" pitchFamily="49" charset="0"/>
                  </a:rPr>
                  <a:t>) = {</a:t>
                </a:r>
                <a:r>
                  <a:rPr lang="en-US" sz="2800" i="1" dirty="0">
                    <a:solidFill>
                      <a:srgbClr val="000000"/>
                    </a:solidFill>
                    <a:latin typeface="Montserrat" panose="02000505000000020004"/>
                    <a:cs typeface="Courier New" panose="02070309020205020404" pitchFamily="49" charset="0"/>
                  </a:rPr>
                  <a:t>ab</a:t>
                </a:r>
                <a:r>
                  <a:rPr lang="en-US" sz="2800" dirty="0">
                    <a:solidFill>
                      <a:srgbClr val="000000"/>
                    </a:solidFill>
                  </a:rPr>
                  <a:t> </a:t>
                </a:r>
                <a14:m>
                  <m:oMath xmlns:m="http://schemas.openxmlformats.org/officeDocument/2006/math">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𝑏𝑏𝑎𝑎</m:t>
                        </m:r>
                        <m:r>
                          <a:rPr lang="en-US" sz="2800" b="0" i="1" smtClean="0">
                            <a:solidFill>
                              <a:srgbClr val="000000"/>
                            </a:solidFill>
                            <a:latin typeface="Cambria Math" panose="02040503050406030204" pitchFamily="18" charset="0"/>
                          </a:rPr>
                          <m:t>)</m:t>
                        </m:r>
                      </m:e>
                      <m:sup>
                        <m:r>
                          <a:rPr lang="en-US" sz="2800" b="0" i="1" smtClean="0">
                            <a:solidFill>
                              <a:srgbClr val="000000"/>
                            </a:solidFill>
                            <a:latin typeface="Cambria Math" panose="02040503050406030204" pitchFamily="18" charset="0"/>
                          </a:rPr>
                          <m:t>𝑛</m:t>
                        </m:r>
                      </m:sup>
                    </m:sSup>
                    <m:sSup>
                      <m:sSupPr>
                        <m:ctrlPr>
                          <a:rPr lang="en-US" sz="2800" i="1">
                            <a:solidFill>
                              <a:srgbClr val="000000"/>
                            </a:solidFill>
                            <a:latin typeface="Cambria Math" panose="02040503050406030204" pitchFamily="18" charset="0"/>
                          </a:rPr>
                        </m:ctrlPr>
                      </m:sSupPr>
                      <m:e>
                        <m:r>
                          <a:rPr lang="en-US" sz="2800" b="0" i="1" smtClean="0">
                            <a:solidFill>
                              <a:srgbClr val="000000"/>
                            </a:solidFill>
                            <a:latin typeface="Cambria Math" panose="02040503050406030204" pitchFamily="18" charset="0"/>
                          </a:rPr>
                          <m:t>𝑏𝑏𝑎</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𝑏𝑎</m:t>
                        </m:r>
                        <m:r>
                          <a:rPr lang="en-US" sz="2800" b="0" i="1" smtClean="0">
                            <a:solidFill>
                              <a:srgbClr val="000000"/>
                            </a:solidFill>
                            <a:latin typeface="Cambria Math" panose="02040503050406030204" pitchFamily="18" charset="0"/>
                          </a:rPr>
                          <m:t>)</m:t>
                        </m:r>
                      </m:e>
                      <m:sup>
                        <m:r>
                          <a:rPr lang="en-US" sz="2800" b="0" i="1" smtClean="0">
                            <a:solidFill>
                              <a:srgbClr val="000000"/>
                            </a:solidFill>
                            <a:latin typeface="Cambria Math" panose="02040503050406030204" pitchFamily="18" charset="0"/>
                          </a:rPr>
                          <m:t>𝑛</m:t>
                        </m:r>
                      </m:sup>
                    </m:sSup>
                  </m:oMath>
                </a14:m>
                <a:r>
                  <a:rPr lang="en-US" sz="2800" dirty="0">
                    <a:solidFill>
                      <a:srgbClr val="000000"/>
                    </a:solidFill>
                    <a:latin typeface="Montserrat" panose="02000505000000020004"/>
                    <a:cs typeface="Courier New" panose="02070309020205020404" pitchFamily="49" charset="0"/>
                  </a:rPr>
                  <a:t>: n≥0}</a:t>
                </a: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168101"/>
              </a:xfrm>
              <a:blipFill>
                <a:blip r:embed="rId2"/>
                <a:stretch>
                  <a:fillRect l="-1434" t="-1887" r="-1434"/>
                </a:stretch>
              </a:blipFill>
            </p:spPr>
            <p:txBody>
              <a:bodyPr/>
              <a:lstStyle/>
              <a:p>
                <a:r>
                  <a:rPr lang="en-ID">
                    <a:noFill/>
                  </a:rPr>
                  <a:t> </a:t>
                </a:r>
              </a:p>
            </p:txBody>
          </p:sp>
        </mc:Fallback>
      </mc:AlternateContent>
      <p:pic>
        <p:nvPicPr>
          <p:cNvPr id="4" name="Picture 3">
            <a:extLst>
              <a:ext uri="{FF2B5EF4-FFF2-40B4-BE49-F238E27FC236}">
                <a16:creationId xmlns:a16="http://schemas.microsoft.com/office/drawing/2014/main" id="{27168650-08CA-42CE-84B5-2A40E5C5CC07}"/>
              </a:ext>
            </a:extLst>
          </p:cNvPr>
          <p:cNvPicPr>
            <a:picLocks noChangeAspect="1"/>
          </p:cNvPicPr>
          <p:nvPr/>
        </p:nvPicPr>
        <p:blipFill>
          <a:blip r:embed="rId3"/>
          <a:stretch>
            <a:fillRect/>
          </a:stretch>
        </p:blipFill>
        <p:spPr>
          <a:xfrm>
            <a:off x="1686366" y="1596946"/>
            <a:ext cx="2064942" cy="1832054"/>
          </a:xfrm>
          <a:prstGeom prst="rect">
            <a:avLst/>
          </a:prstGeom>
        </p:spPr>
      </p:pic>
    </p:spTree>
    <p:extLst>
      <p:ext uri="{BB962C8B-B14F-4D97-AF65-F5344CB8AC3E}">
        <p14:creationId xmlns:p14="http://schemas.microsoft.com/office/powerpoint/2010/main" val="2851139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Contoh 2.1.2</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168101"/>
              </a:xfrm>
            </p:spPr>
            <p:txBody>
              <a:bodyPr>
                <a:normAutofit/>
              </a:bodyPr>
              <a:lstStyle/>
              <a:p>
                <a:pPr algn="just"/>
                <a:r>
                  <a:rPr lang="en-US" sz="2800" dirty="0">
                    <a:solidFill>
                      <a:srgbClr val="000000"/>
                    </a:solidFill>
                    <a:latin typeface="Montserrat" panose="02000505000000020004"/>
                    <a:cs typeface="Courier New" panose="02070309020205020404" pitchFamily="49" charset="0"/>
                  </a:rPr>
                  <a:t>Buat right and left-linear grammars untuk Bahasa </a:t>
                </a:r>
                <a:br>
                  <a:rPr lang="en-US" sz="2800" i="1" dirty="0">
                    <a:solidFill>
                      <a:srgbClr val="000000"/>
                    </a:solidFill>
                    <a:latin typeface="Montserrat" panose="02000505000000020004"/>
                    <a:cs typeface="Courier New" panose="02070309020205020404" pitchFamily="49" charset="0"/>
                  </a:rPr>
                </a:br>
                <a:r>
                  <a:rPr lang="en-US" sz="2800" i="1" dirty="0">
                    <a:solidFill>
                      <a:srgbClr val="000000"/>
                    </a:solidFill>
                    <a:latin typeface="Montserrat" panose="02000505000000020004"/>
                    <a:cs typeface="Courier New" panose="02070309020205020404" pitchFamily="49" charset="0"/>
                  </a:rPr>
                  <a:t>L=</a:t>
                </a:r>
                <a:r>
                  <a:rPr lang="en-US" sz="2800" dirty="0">
                    <a:solidFill>
                      <a:srgbClr val="000000"/>
                    </a:solidFill>
                    <a:latin typeface="Montserrat" panose="02000505000000020004"/>
                    <a:cs typeface="Courier New" panose="02070309020205020404" pitchFamily="49" charset="0"/>
                  </a:rPr>
                  <a:t>{</a:t>
                </a:r>
                <a14:m>
                  <m:oMath xmlns:m="http://schemas.openxmlformats.org/officeDocument/2006/math">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𝑎</m:t>
                        </m:r>
                        <m:r>
                          <a:rPr lang="en-US" sz="2800" i="1">
                            <a:solidFill>
                              <a:srgbClr val="000000"/>
                            </a:solidFill>
                            <a:latin typeface="Cambria Math" panose="02040503050406030204" pitchFamily="18" charset="0"/>
                          </a:rPr>
                          <m:t>)</m:t>
                        </m:r>
                      </m:e>
                      <m:sup>
                        <m:r>
                          <a:rPr lang="en-US" sz="2800" i="1">
                            <a:solidFill>
                              <a:srgbClr val="000000"/>
                            </a:solidFill>
                            <a:latin typeface="Cambria Math" panose="02040503050406030204" pitchFamily="18" charset="0"/>
                          </a:rPr>
                          <m:t>𝑛</m:t>
                        </m:r>
                      </m:sup>
                    </m:sSup>
                  </m:oMath>
                </a14:m>
                <a:r>
                  <a:rPr lang="en-US" sz="2800" dirty="0">
                    <a:solidFill>
                      <a:srgbClr val="000000"/>
                    </a:solidFill>
                  </a:rPr>
                  <a:t> </a:t>
                </a:r>
                <a14:m>
                  <m:oMath xmlns:m="http://schemas.openxmlformats.org/officeDocument/2006/math">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𝑏</m:t>
                        </m:r>
                        <m:r>
                          <a:rPr lang="en-US" sz="2800" i="1">
                            <a:solidFill>
                              <a:srgbClr val="000000"/>
                            </a:solidFill>
                            <a:latin typeface="Cambria Math" panose="02040503050406030204" pitchFamily="18" charset="0"/>
                          </a:rPr>
                          <m:t>)</m:t>
                        </m:r>
                      </m:e>
                      <m:sup>
                        <m:r>
                          <a:rPr lang="en-US" sz="2800" b="0" i="1" smtClean="0">
                            <a:solidFill>
                              <a:srgbClr val="000000"/>
                            </a:solidFill>
                            <a:latin typeface="Cambria Math" panose="02040503050406030204" pitchFamily="18" charset="0"/>
                          </a:rPr>
                          <m:t>𝑚</m:t>
                        </m:r>
                      </m:sup>
                    </m:sSup>
                  </m:oMath>
                </a14:m>
                <a:r>
                  <a:rPr lang="en-US" sz="2800" dirty="0">
                    <a:solidFill>
                      <a:srgbClr val="000000"/>
                    </a:solidFill>
                    <a:latin typeface="Montserrat" panose="02000505000000020004"/>
                    <a:cs typeface="Courier New" panose="02070309020205020404" pitchFamily="49" charset="0"/>
                  </a:rPr>
                  <a:t> : </a:t>
                </a:r>
                <a:r>
                  <a:rPr lang="en-US" sz="2800" i="1" dirty="0">
                    <a:solidFill>
                      <a:srgbClr val="000000"/>
                    </a:solidFill>
                    <a:latin typeface="Montserrat" panose="02000505000000020004"/>
                    <a:cs typeface="Courier New" panose="02070309020205020404" pitchFamily="49" charset="0"/>
                  </a:rPr>
                  <a:t>n</a:t>
                </a:r>
                <a:r>
                  <a:rPr lang="en-US" sz="2800" dirty="0">
                    <a:solidFill>
                      <a:srgbClr val="000000"/>
                    </a:solidFill>
                    <a:latin typeface="Montserrat" panose="02000505000000020004"/>
                    <a:cs typeface="Courier New" panose="02070309020205020404" pitchFamily="49" charset="0"/>
                  </a:rPr>
                  <a:t>≥2, </a:t>
                </a:r>
                <a:r>
                  <a:rPr lang="en-US" sz="2800" i="1" dirty="0">
                    <a:solidFill>
                      <a:srgbClr val="000000"/>
                    </a:solidFill>
                    <a:latin typeface="Montserrat" panose="02000505000000020004"/>
                    <a:cs typeface="Courier New" panose="02070309020205020404" pitchFamily="49" charset="0"/>
                  </a:rPr>
                  <a:t>m</a:t>
                </a:r>
                <a:r>
                  <a:rPr lang="en-US" sz="2800" dirty="0">
                    <a:solidFill>
                      <a:srgbClr val="000000"/>
                    </a:solidFill>
                    <a:latin typeface="Montserrat" panose="02000505000000020004"/>
                    <a:cs typeface="Courier New" panose="02070309020205020404" pitchFamily="49" charset="0"/>
                  </a:rPr>
                  <a:t>≥3}.</a:t>
                </a:r>
              </a:p>
              <a:p>
                <a:pPr marL="0" indent="0" algn="just">
                  <a:buNone/>
                </a:pPr>
                <a:r>
                  <a:rPr lang="en-US" sz="2800" dirty="0">
                    <a:solidFill>
                      <a:srgbClr val="000000"/>
                    </a:solidFill>
                    <a:latin typeface="Montserrat" panose="02000505000000020004"/>
                    <a:cs typeface="Courier New" panose="02070309020205020404" pitchFamily="49" charset="0"/>
                  </a:rPr>
                  <a:t>Jawab:</a:t>
                </a:r>
              </a:p>
              <a:p>
                <a:pPr marL="0" indent="0" algn="just">
                  <a:buNone/>
                </a:pPr>
                <a:r>
                  <a:rPr lang="en-US" sz="2800" dirty="0">
                    <a:solidFill>
                      <a:srgbClr val="000000"/>
                    </a:solidFill>
                    <a:latin typeface="Montserrat" panose="02000505000000020004"/>
                    <a:cs typeface="Courier New" panose="02070309020205020404" pitchFamily="49" charset="0"/>
                  </a:rPr>
                  <a:t>Right-Linear Grammar:</a:t>
                </a: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r>
                  <a:rPr lang="en-US" sz="2800" dirty="0">
                    <a:solidFill>
                      <a:srgbClr val="000000"/>
                    </a:solidFill>
                    <a:latin typeface="Montserrat" panose="02000505000000020004"/>
                    <a:cs typeface="Courier New" panose="02070309020205020404" pitchFamily="49" charset="0"/>
                  </a:rPr>
                  <a:t>Left-Linear Grammar:</a:t>
                </a: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168101"/>
              </a:xfrm>
              <a:blipFill>
                <a:blip r:embed="rId2"/>
                <a:stretch>
                  <a:fillRect l="-1434" t="-1887" r="-1434"/>
                </a:stretch>
              </a:blipFill>
            </p:spPr>
            <p:txBody>
              <a:bodyPr/>
              <a:lstStyle/>
              <a:p>
                <a:r>
                  <a:rPr lang="en-ID">
                    <a:noFill/>
                  </a:rPr>
                  <a:t> </a:t>
                </a:r>
              </a:p>
            </p:txBody>
          </p:sp>
        </mc:Fallback>
      </mc:AlternateContent>
      <p:pic>
        <p:nvPicPr>
          <p:cNvPr id="5" name="Picture 4">
            <a:extLst>
              <a:ext uri="{FF2B5EF4-FFF2-40B4-BE49-F238E27FC236}">
                <a16:creationId xmlns:a16="http://schemas.microsoft.com/office/drawing/2014/main" id="{6A6A2661-F1B0-42A9-94DB-4FF9F444C8B6}"/>
              </a:ext>
            </a:extLst>
          </p:cNvPr>
          <p:cNvPicPr>
            <a:picLocks noChangeAspect="1"/>
          </p:cNvPicPr>
          <p:nvPr/>
        </p:nvPicPr>
        <p:blipFill>
          <a:blip r:embed="rId3"/>
          <a:stretch>
            <a:fillRect/>
          </a:stretch>
        </p:blipFill>
        <p:spPr>
          <a:xfrm>
            <a:off x="4230334" y="3225705"/>
            <a:ext cx="933580" cy="962159"/>
          </a:xfrm>
          <a:prstGeom prst="rect">
            <a:avLst/>
          </a:prstGeom>
        </p:spPr>
      </p:pic>
      <p:sp>
        <p:nvSpPr>
          <p:cNvPr id="6" name="Rectangle: Rounded Corners 5">
            <a:extLst>
              <a:ext uri="{FF2B5EF4-FFF2-40B4-BE49-F238E27FC236}">
                <a16:creationId xmlns:a16="http://schemas.microsoft.com/office/drawing/2014/main" id="{63E2D128-2755-4F5A-A09C-7FF256B4D5FC}"/>
              </a:ext>
            </a:extLst>
          </p:cNvPr>
          <p:cNvSpPr/>
          <p:nvPr/>
        </p:nvSpPr>
        <p:spPr>
          <a:xfrm>
            <a:off x="4070409" y="4946779"/>
            <a:ext cx="1458869" cy="1132287"/>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015CBBEA-1095-413F-8578-CD965D24845C}"/>
              </a:ext>
            </a:extLst>
          </p:cNvPr>
          <p:cNvPicPr>
            <a:picLocks noChangeAspect="1"/>
          </p:cNvPicPr>
          <p:nvPr/>
        </p:nvPicPr>
        <p:blipFill>
          <a:blip r:embed="rId4"/>
          <a:stretch>
            <a:fillRect/>
          </a:stretch>
        </p:blipFill>
        <p:spPr>
          <a:xfrm>
            <a:off x="4455885" y="5060421"/>
            <a:ext cx="876422" cy="905001"/>
          </a:xfrm>
          <a:prstGeom prst="rect">
            <a:avLst/>
          </a:prstGeom>
        </p:spPr>
      </p:pic>
      <p:sp>
        <p:nvSpPr>
          <p:cNvPr id="8" name="Rectangle: Rounded Corners 7">
            <a:extLst>
              <a:ext uri="{FF2B5EF4-FFF2-40B4-BE49-F238E27FC236}">
                <a16:creationId xmlns:a16="http://schemas.microsoft.com/office/drawing/2014/main" id="{B969E663-39D9-46B8-B9E5-7BA59C6DD210}"/>
              </a:ext>
            </a:extLst>
          </p:cNvPr>
          <p:cNvSpPr/>
          <p:nvPr/>
        </p:nvSpPr>
        <p:spPr>
          <a:xfrm>
            <a:off x="4061942" y="3111494"/>
            <a:ext cx="1467336" cy="1206506"/>
          </a:xfrm>
          <a:prstGeom prst="round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0032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4599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r="7325"/>
          <a:stretch/>
        </p:blipFill>
        <p:spPr>
          <a:xfrm>
            <a:off x="2625765" y="0"/>
            <a:ext cx="6518235" cy="4688926"/>
          </a:xfrm>
          <a:prstGeom prst="rect">
            <a:avLst/>
          </a:prstGeom>
        </p:spPr>
      </p:pic>
      <p:pic>
        <p:nvPicPr>
          <p:cNvPr id="15" name="Picture 14">
            <a:extLst>
              <a:ext uri="{FF2B5EF4-FFF2-40B4-BE49-F238E27FC236}">
                <a16:creationId xmlns:a16="http://schemas.microsoft.com/office/drawing/2014/main" id="{DE306FF1-BEF2-43D4-B7EC-25BB33C8811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2" r="-1"/>
          <a:stretch/>
        </p:blipFill>
        <p:spPr>
          <a:xfrm>
            <a:off x="0" y="0"/>
            <a:ext cx="9144000" cy="6858000"/>
          </a:xfrm>
          <a:prstGeom prst="rect">
            <a:avLst/>
          </a:prstGeom>
        </p:spPr>
      </p:pic>
      <p:sp>
        <p:nvSpPr>
          <p:cNvPr id="6" name="TextBox 5">
            <a:extLst>
              <a:ext uri="{FF2B5EF4-FFF2-40B4-BE49-F238E27FC236}">
                <a16:creationId xmlns:a16="http://schemas.microsoft.com/office/drawing/2014/main" id="{85A60BCB-9860-40F9-A670-EE8D68304150}"/>
              </a:ext>
            </a:extLst>
          </p:cNvPr>
          <p:cNvSpPr txBox="1"/>
          <p:nvPr/>
        </p:nvSpPr>
        <p:spPr>
          <a:xfrm>
            <a:off x="348343" y="4430889"/>
            <a:ext cx="4049486" cy="57490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3258"/>
                </a:solidFill>
                <a:effectLst/>
                <a:uLnTx/>
                <a:uFillTx/>
                <a:latin typeface="Montserrat" panose="02000505000000020004" pitchFamily="2" charset="0"/>
                <a:ea typeface="Roboto" pitchFamily="2" charset="0"/>
                <a:cs typeface="Arial"/>
              </a:rPr>
              <a:t>2.2 Derivation Trees</a:t>
            </a:r>
          </a:p>
        </p:txBody>
      </p:sp>
      <p:sp>
        <p:nvSpPr>
          <p:cNvPr id="7" name="TextBox 6">
            <a:extLst>
              <a:ext uri="{FF2B5EF4-FFF2-40B4-BE49-F238E27FC236}">
                <a16:creationId xmlns:a16="http://schemas.microsoft.com/office/drawing/2014/main" id="{2D36325F-D6C2-4013-B76D-978800568C36}"/>
              </a:ext>
            </a:extLst>
          </p:cNvPr>
          <p:cNvSpPr txBox="1"/>
          <p:nvPr/>
        </p:nvSpPr>
        <p:spPr>
          <a:xfrm>
            <a:off x="348343" y="5968113"/>
            <a:ext cx="4049486" cy="279500"/>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25A">
                    <a:lumMod val="50000"/>
                    <a:lumOff val="50000"/>
                  </a:srgbClr>
                </a:solidFill>
                <a:effectLst/>
                <a:uLnTx/>
                <a:uFillTx/>
                <a:latin typeface="Montserrat" panose="02000505000000020004" pitchFamily="2" charset="0"/>
                <a:ea typeface="Roboto" pitchFamily="2" charset="0"/>
                <a:cs typeface="Arial"/>
              </a:rPr>
              <a:t>ukrida.ac.id</a:t>
            </a:r>
          </a:p>
        </p:txBody>
      </p:sp>
    </p:spTree>
    <p:extLst>
      <p:ext uri="{BB962C8B-B14F-4D97-AF65-F5344CB8AC3E}">
        <p14:creationId xmlns:p14="http://schemas.microsoft.com/office/powerpoint/2010/main" val="4030060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2.2 Derivation Trees</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1849167"/>
          </a:xfrm>
        </p:spPr>
        <p:txBody>
          <a:bodyPr>
            <a:normAutofit lnSpcReduction="10000"/>
          </a:bodyPr>
          <a:lstStyle/>
          <a:p>
            <a:pPr marL="0" indent="0" algn="just">
              <a:buNone/>
            </a:pPr>
            <a:r>
              <a:rPr lang="sv-SE" sz="2600" dirty="0">
                <a:solidFill>
                  <a:srgbClr val="000000"/>
                </a:solidFill>
                <a:latin typeface="Montserrat" panose="02000505000000020004"/>
              </a:rPr>
              <a:t>Pohon Turunan(Derivation Tree) adalah sebuah pohon terurut yang simpul-simpulnya diberi label dengan sisi kiri produksi dan di mana anak-anak dari sebuah simpul merepresentasikan sisi kanannya.</a:t>
            </a:r>
            <a:endParaRPr lang="id-ID" sz="2600" dirty="0">
              <a:solidFill>
                <a:srgbClr val="000000"/>
              </a:solidFill>
              <a:latin typeface="Montserrat" panose="02000505000000020004"/>
            </a:endParaRPr>
          </a:p>
        </p:txBody>
      </p:sp>
      <p:pic>
        <p:nvPicPr>
          <p:cNvPr id="1026" name="Picture 2" descr="Parse tree - Wikipedia">
            <a:extLst>
              <a:ext uri="{FF2B5EF4-FFF2-40B4-BE49-F238E27FC236}">
                <a16:creationId xmlns:a16="http://schemas.microsoft.com/office/drawing/2014/main" id="{2526D418-D825-4E8C-90E8-7215FA4DB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1475" y="2760133"/>
            <a:ext cx="3321050" cy="3219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300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2.2.1 Definition of a Derivation Trees</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sv-SE" sz="2200" dirty="0">
                <a:solidFill>
                  <a:srgbClr val="000000"/>
                </a:solidFill>
                <a:latin typeface="Montserrat" panose="02000505000000020004"/>
              </a:rPr>
              <a:t>Misal G = (V, T, S, P) adalah sebuah CFG. Sebuah pohon terurut adalah sebuah pohon turunan untuk G jika pohon tersebut memiliki sifat-sifat berikut: </a:t>
            </a:r>
          </a:p>
          <a:p>
            <a:pPr marL="571500" indent="-571500" algn="just">
              <a:buAutoNum type="romanLcParenBoth"/>
            </a:pPr>
            <a:r>
              <a:rPr lang="sv-SE" sz="2200" dirty="0">
                <a:solidFill>
                  <a:srgbClr val="000000"/>
                </a:solidFill>
                <a:latin typeface="Montserrat" panose="02000505000000020004"/>
              </a:rPr>
              <a:t>Akar dari pohon turunan adalah </a:t>
            </a:r>
            <a:r>
              <a:rPr lang="sv-SE" sz="2200" i="1" dirty="0">
                <a:solidFill>
                  <a:srgbClr val="000000"/>
                </a:solidFill>
                <a:latin typeface="Montserrat" panose="02000505000000020004"/>
              </a:rPr>
              <a:t>S</a:t>
            </a:r>
            <a:r>
              <a:rPr lang="sv-SE" sz="2200" dirty="0">
                <a:solidFill>
                  <a:srgbClr val="000000"/>
                </a:solidFill>
                <a:latin typeface="Montserrat" panose="02000505000000020004"/>
              </a:rPr>
              <a:t>. </a:t>
            </a:r>
          </a:p>
          <a:p>
            <a:pPr marL="571500" indent="-571500" algn="just">
              <a:buAutoNum type="romanLcParenBoth"/>
            </a:pPr>
            <a:r>
              <a:rPr lang="sv-SE" sz="2200" dirty="0">
                <a:solidFill>
                  <a:srgbClr val="000000"/>
                </a:solidFill>
                <a:latin typeface="Montserrat" panose="02000505000000020004"/>
              </a:rPr>
              <a:t>Setiap dan semua daun pada pohon tersebut memiliki label dari T ∪ {</a:t>
            </a:r>
            <a:r>
              <a:rPr lang="el-GR" sz="2200" dirty="0">
                <a:solidFill>
                  <a:srgbClr val="000000"/>
                </a:solidFill>
                <a:latin typeface="Montserrat" panose="02000505000000020004"/>
              </a:rPr>
              <a:t>λ</a:t>
            </a:r>
            <a:r>
              <a:rPr lang="sv-SE" sz="2200" dirty="0">
                <a:solidFill>
                  <a:srgbClr val="000000"/>
                </a:solidFill>
                <a:latin typeface="Montserrat" panose="02000505000000020004"/>
              </a:rPr>
              <a:t> }</a:t>
            </a:r>
            <a:r>
              <a:rPr lang="el-GR" sz="2200" dirty="0">
                <a:solidFill>
                  <a:srgbClr val="000000"/>
                </a:solidFill>
                <a:latin typeface="Montserrat" panose="02000505000000020004"/>
              </a:rPr>
              <a:t> . </a:t>
            </a:r>
            <a:endParaRPr lang="en-US" sz="2200" dirty="0">
              <a:solidFill>
                <a:srgbClr val="000000"/>
              </a:solidFill>
              <a:latin typeface="Montserrat" panose="02000505000000020004"/>
            </a:endParaRPr>
          </a:p>
          <a:p>
            <a:pPr marL="571500" indent="-571500" algn="just">
              <a:buAutoNum type="romanLcParenBoth"/>
            </a:pPr>
            <a:r>
              <a:rPr lang="sv-SE" sz="2200" dirty="0">
                <a:solidFill>
                  <a:srgbClr val="000000"/>
                </a:solidFill>
                <a:latin typeface="Montserrat" panose="02000505000000020004"/>
              </a:rPr>
              <a:t>Setiap simpul interior (simpul yang bukan merupakan daun) memiliki label dari </a:t>
            </a:r>
            <a:r>
              <a:rPr lang="sv-SE" sz="2200" i="1" dirty="0">
                <a:solidFill>
                  <a:srgbClr val="000000"/>
                </a:solidFill>
                <a:latin typeface="Montserrat" panose="02000505000000020004"/>
              </a:rPr>
              <a:t>V</a:t>
            </a:r>
            <a:r>
              <a:rPr lang="sv-SE" sz="2200" dirty="0">
                <a:solidFill>
                  <a:srgbClr val="000000"/>
                </a:solidFill>
                <a:latin typeface="Montserrat" panose="02000505000000020004"/>
              </a:rPr>
              <a:t>. </a:t>
            </a:r>
          </a:p>
          <a:p>
            <a:pPr marL="571500" indent="-571500" algn="just">
              <a:buAutoNum type="romanLcParenBoth"/>
            </a:pPr>
            <a:r>
              <a:rPr lang="sv-SE" sz="2200" dirty="0">
                <a:solidFill>
                  <a:srgbClr val="000000"/>
                </a:solidFill>
                <a:latin typeface="Montserrat" panose="02000505000000020004"/>
              </a:rPr>
              <a:t>Jika sebuah simpul memiliki label A ∈ V , dan anak-anaknya berlabel (dari kiri ke kanan) </a:t>
            </a:r>
            <a:r>
              <a:rPr lang="sv-SE" sz="2200" dirty="0">
                <a:solidFill>
                  <a:srgbClr val="000000"/>
                </a:solidFill>
                <a:latin typeface="Courier New" panose="02070309020205020404" pitchFamily="49" charset="0"/>
                <a:cs typeface="Courier New" panose="02070309020205020404" pitchFamily="49" charset="0"/>
              </a:rPr>
              <a:t>a</a:t>
            </a:r>
            <a:r>
              <a:rPr lang="sv-SE" sz="1400" dirty="0">
                <a:solidFill>
                  <a:srgbClr val="000000"/>
                </a:solidFill>
                <a:latin typeface="Courier New" panose="02070309020205020404" pitchFamily="49" charset="0"/>
                <a:cs typeface="Courier New" panose="02070309020205020404" pitchFamily="49" charset="0"/>
              </a:rPr>
              <a:t>1</a:t>
            </a:r>
            <a:r>
              <a:rPr lang="sv-SE" sz="2200" dirty="0">
                <a:solidFill>
                  <a:srgbClr val="000000"/>
                </a:solidFill>
                <a:latin typeface="Courier New" panose="02070309020205020404" pitchFamily="49" charset="0"/>
                <a:cs typeface="Courier New" panose="02070309020205020404" pitchFamily="49" charset="0"/>
              </a:rPr>
              <a:t>,a</a:t>
            </a:r>
            <a:r>
              <a:rPr lang="sv-SE" sz="1400" dirty="0">
                <a:solidFill>
                  <a:srgbClr val="000000"/>
                </a:solidFill>
                <a:latin typeface="Courier New" panose="02070309020205020404" pitchFamily="49" charset="0"/>
                <a:cs typeface="Courier New" panose="02070309020205020404" pitchFamily="49" charset="0"/>
              </a:rPr>
              <a:t>2</a:t>
            </a:r>
            <a:r>
              <a:rPr lang="sv-SE" sz="2200" dirty="0">
                <a:solidFill>
                  <a:srgbClr val="000000"/>
                </a:solidFill>
                <a:latin typeface="Courier New" panose="02070309020205020404" pitchFamily="49" charset="0"/>
                <a:cs typeface="Courier New" panose="02070309020205020404" pitchFamily="49" charset="0"/>
              </a:rPr>
              <a:t>,.......,a</a:t>
            </a:r>
            <a:r>
              <a:rPr lang="sv-SE" sz="1400" dirty="0">
                <a:solidFill>
                  <a:srgbClr val="000000"/>
                </a:solidFill>
                <a:latin typeface="Courier New" panose="02070309020205020404" pitchFamily="49" charset="0"/>
                <a:cs typeface="Courier New" panose="02070309020205020404" pitchFamily="49" charset="0"/>
              </a:rPr>
              <a:t>n</a:t>
            </a:r>
            <a:r>
              <a:rPr lang="sv-SE" sz="2200" dirty="0">
                <a:solidFill>
                  <a:srgbClr val="000000"/>
                </a:solidFill>
                <a:latin typeface="Courier New" panose="02070309020205020404" pitchFamily="49" charset="0"/>
                <a:cs typeface="Courier New" panose="02070309020205020404" pitchFamily="49" charset="0"/>
              </a:rPr>
              <a:t> </a:t>
            </a:r>
            <a:r>
              <a:rPr lang="sv-SE" sz="2200" dirty="0">
                <a:solidFill>
                  <a:srgbClr val="000000"/>
                </a:solidFill>
                <a:latin typeface="Montserrat" panose="02000505000000020004"/>
              </a:rPr>
              <a:t>maka P harus memuat sebuah produksi dengan bentuk</a:t>
            </a:r>
            <a:br>
              <a:rPr lang="sv-SE" sz="2200" dirty="0">
                <a:solidFill>
                  <a:srgbClr val="000000"/>
                </a:solidFill>
                <a:latin typeface="Montserrat" panose="02000505000000020004"/>
              </a:rPr>
            </a:br>
            <a:r>
              <a:rPr lang="sv-SE" sz="2200" dirty="0">
                <a:solidFill>
                  <a:srgbClr val="000000"/>
                </a:solidFill>
                <a:latin typeface="Montserrat" panose="02000505000000020004"/>
              </a:rPr>
              <a:t> 				</a:t>
            </a:r>
            <a:r>
              <a:rPr lang="sv-SE" sz="2200" i="1" dirty="0">
                <a:solidFill>
                  <a:srgbClr val="000000"/>
                </a:solidFill>
                <a:latin typeface="Courier New" panose="02070309020205020404" pitchFamily="49" charset="0"/>
                <a:cs typeface="Courier New" panose="02070309020205020404" pitchFamily="49" charset="0"/>
              </a:rPr>
              <a:t>A</a:t>
            </a:r>
            <a:r>
              <a:rPr lang="sv-SE" sz="2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a:t>
            </a:r>
            <a:r>
              <a:rPr lang="sv-SE" sz="1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1</a:t>
            </a:r>
            <a:r>
              <a:rPr lang="sv-SE" sz="2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a:t>
            </a:r>
            <a:r>
              <a:rPr lang="sv-SE" sz="1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2</a:t>
            </a:r>
            <a:r>
              <a:rPr lang="sv-SE" sz="2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 a</a:t>
            </a:r>
            <a:r>
              <a:rPr lang="sv-SE" sz="1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n</a:t>
            </a:r>
            <a:endParaRPr lang="sv-SE" sz="1400" dirty="0">
              <a:solidFill>
                <a:srgbClr val="000000"/>
              </a:solidFill>
              <a:latin typeface="Courier New" panose="02070309020205020404" pitchFamily="49" charset="0"/>
              <a:cs typeface="Courier New" panose="02070309020205020404" pitchFamily="49" charset="0"/>
            </a:endParaRPr>
          </a:p>
          <a:p>
            <a:pPr marL="571500" indent="-571500" algn="just">
              <a:buAutoNum type="romanLcParenBoth"/>
            </a:pPr>
            <a:r>
              <a:rPr lang="sv-SE" sz="2200" dirty="0">
                <a:solidFill>
                  <a:srgbClr val="000000"/>
                </a:solidFill>
                <a:latin typeface="Montserrat" panose="02000505000000020004"/>
              </a:rPr>
              <a:t>Sebuah daun berlabel </a:t>
            </a:r>
            <a:r>
              <a:rPr lang="el-GR" sz="2200" dirty="0">
                <a:solidFill>
                  <a:srgbClr val="000000"/>
                </a:solidFill>
                <a:latin typeface="Montserrat" panose="02000505000000020004"/>
              </a:rPr>
              <a:t>λ </a:t>
            </a:r>
            <a:r>
              <a:rPr lang="sv-SE" sz="2200" dirty="0">
                <a:solidFill>
                  <a:srgbClr val="000000"/>
                </a:solidFill>
                <a:latin typeface="Montserrat" panose="02000505000000020004"/>
              </a:rPr>
              <a:t>tidak memiliki saudara, yaitu sebuah simpul dengan anak berlabel </a:t>
            </a:r>
            <a:r>
              <a:rPr lang="el-GR" sz="2200" dirty="0">
                <a:solidFill>
                  <a:srgbClr val="000000"/>
                </a:solidFill>
                <a:latin typeface="Montserrat" panose="02000505000000020004"/>
              </a:rPr>
              <a:t>λ </a:t>
            </a:r>
            <a:r>
              <a:rPr lang="sv-SE" sz="2200" dirty="0">
                <a:solidFill>
                  <a:srgbClr val="000000"/>
                </a:solidFill>
                <a:latin typeface="Montserrat" panose="02000505000000020004"/>
              </a:rPr>
              <a:t>tidak dapat memiliki anak yang lain</a:t>
            </a:r>
          </a:p>
          <a:p>
            <a:pPr marL="0" indent="0" algn="just">
              <a:buNone/>
            </a:pPr>
            <a:endParaRPr lang="id-ID" sz="2200" dirty="0">
              <a:solidFill>
                <a:srgbClr val="000000"/>
              </a:solidFill>
              <a:latin typeface="Montserrat" panose="02000505000000020004"/>
            </a:endParaRPr>
          </a:p>
        </p:txBody>
      </p:sp>
    </p:spTree>
    <p:extLst>
      <p:ext uri="{BB962C8B-B14F-4D97-AF65-F5344CB8AC3E}">
        <p14:creationId xmlns:p14="http://schemas.microsoft.com/office/powerpoint/2010/main" val="281801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2.2.2 Sentential Form</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lnSpcReduction="10000"/>
          </a:bodyPr>
          <a:lstStyle/>
          <a:p>
            <a:pPr marL="0" indent="0" algn="just">
              <a:buNone/>
            </a:pPr>
            <a:r>
              <a:rPr lang="id-ID" sz="2400" dirty="0">
                <a:solidFill>
                  <a:srgbClr val="000000"/>
                </a:solidFill>
                <a:latin typeface="Montserrat" panose="02000505000000020004"/>
              </a:rPr>
              <a:t>Untuk CFG yang diberikan dengan</a:t>
            </a:r>
            <a:r>
              <a:rPr lang="en-US" sz="2400" dirty="0">
                <a:solidFill>
                  <a:srgbClr val="000000"/>
                </a:solidFill>
                <a:latin typeface="Montserrat" panose="02000505000000020004"/>
              </a:rPr>
              <a:t> </a:t>
            </a:r>
            <a:r>
              <a:rPr lang="en-US" sz="2400" dirty="0" err="1">
                <a:solidFill>
                  <a:srgbClr val="000000"/>
                </a:solidFill>
                <a:latin typeface="Montserrat" panose="02000505000000020004"/>
              </a:rPr>
              <a:t>aturan</a:t>
            </a:r>
            <a:r>
              <a:rPr lang="id-ID" sz="2400" dirty="0">
                <a:solidFill>
                  <a:srgbClr val="000000"/>
                </a:solidFill>
                <a:latin typeface="Montserrat" panose="02000505000000020004"/>
              </a:rPr>
              <a:t> produksi</a:t>
            </a:r>
            <a:r>
              <a:rPr lang="en-US" sz="2400" dirty="0">
                <a:solidFill>
                  <a:srgbClr val="000000"/>
                </a:solidFill>
                <a:latin typeface="Montserrat" panose="02000505000000020004"/>
              </a:rPr>
              <a:t> </a:t>
            </a:r>
            <a:br>
              <a:rPr lang="en-US" sz="2400" dirty="0">
                <a:solidFill>
                  <a:srgbClr val="000000"/>
                </a:solidFill>
                <a:latin typeface="Montserrat" panose="02000505000000020004"/>
              </a:rPr>
            </a:b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aA,AaB,BbB,Ba</a:t>
            </a: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Pohon</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turunannya</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adalah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seperti</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yang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ditunjukkan</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di bawah ini.</a:t>
            </a:r>
          </a:p>
          <a:p>
            <a:pPr marL="0" indent="0" algn="just">
              <a:buNone/>
            </a:pPr>
            <a:endParaRPr lang="en-US"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0" indent="0" algn="just">
              <a:buNone/>
            </a:pPr>
            <a:endParaRPr lang="en-US"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0" indent="0" algn="just">
              <a:buNone/>
            </a:pPr>
            <a:endParaRPr lang="en-US"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0" indent="0" algn="just">
              <a:buNone/>
            </a:pPr>
            <a:endParaRPr lang="en-US"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0" indent="0" algn="just">
              <a:buNone/>
            </a:pPr>
            <a:endParaRPr lang="en-US"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0" indent="0" algn="just">
              <a:buNone/>
            </a:pPr>
            <a:endParaRPr lang="en-US"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0" indent="0" algn="just">
              <a:buNone/>
            </a:pPr>
            <a:endParaRPr lang="en-US"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0" indent="0" algn="just">
              <a:buNone/>
            </a:pP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Hasil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dari</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pohon</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derivasi</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turunan</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adalah kata </a:t>
            </a:r>
            <a:r>
              <a:rPr lang="en-US" sz="2400" i="1" dirty="0">
                <a:solidFill>
                  <a:srgbClr val="000000"/>
                </a:solidFill>
                <a:latin typeface="Montserrat" panose="02000505000000020004"/>
                <a:cs typeface="Courier New" panose="02070309020205020404" pitchFamily="49" charset="0"/>
                <a:sym typeface="Wingdings" panose="05000000000000000000" pitchFamily="2" charset="2"/>
              </a:rPr>
              <a:t>w</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 </a:t>
            </a:r>
            <a:r>
              <a:rPr lang="en-US" sz="2400" i="1" dirty="0" err="1">
                <a:solidFill>
                  <a:srgbClr val="000000"/>
                </a:solidFill>
                <a:latin typeface="Montserrat" panose="02000505000000020004"/>
                <a:cs typeface="Courier New" panose="02070309020205020404" pitchFamily="49" charset="0"/>
                <a:sym typeface="Wingdings" panose="05000000000000000000" pitchFamily="2" charset="2"/>
              </a:rPr>
              <a:t>aaba</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Hasil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seperti</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ini dapat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dikatakan</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sebagai</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“Bentuk Kalimat”.</a:t>
            </a:r>
          </a:p>
          <a:p>
            <a:pPr marL="0" indent="0" algn="just">
              <a:buNone/>
            </a:pPr>
            <a:endParaRPr lang="id-ID" sz="2400" dirty="0">
              <a:solidFill>
                <a:srgbClr val="000000"/>
              </a:solidFill>
              <a:latin typeface="Montserrat" panose="02000505000000020004"/>
            </a:endParaRPr>
          </a:p>
        </p:txBody>
      </p:sp>
      <p:pic>
        <p:nvPicPr>
          <p:cNvPr id="4" name="Picture 3">
            <a:extLst>
              <a:ext uri="{FF2B5EF4-FFF2-40B4-BE49-F238E27FC236}">
                <a16:creationId xmlns:a16="http://schemas.microsoft.com/office/drawing/2014/main" id="{6D37A20E-00C1-43FF-88FF-8A333FAF590D}"/>
              </a:ext>
            </a:extLst>
          </p:cNvPr>
          <p:cNvPicPr>
            <a:picLocks noChangeAspect="1"/>
          </p:cNvPicPr>
          <p:nvPr/>
        </p:nvPicPr>
        <p:blipFill>
          <a:blip r:embed="rId2"/>
          <a:stretch>
            <a:fillRect/>
          </a:stretch>
        </p:blipFill>
        <p:spPr>
          <a:xfrm>
            <a:off x="2773948" y="2239368"/>
            <a:ext cx="3596104" cy="2772899"/>
          </a:xfrm>
          <a:prstGeom prst="rect">
            <a:avLst/>
          </a:prstGeom>
        </p:spPr>
      </p:pic>
    </p:spTree>
    <p:extLst>
      <p:ext uri="{BB962C8B-B14F-4D97-AF65-F5344CB8AC3E}">
        <p14:creationId xmlns:p14="http://schemas.microsoft.com/office/powerpoint/2010/main" val="1097854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2.2.3 Partial Derivation Tree</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id-ID" sz="3200" dirty="0">
                    <a:solidFill>
                      <a:srgbClr val="000000"/>
                    </a:solidFill>
                    <a:latin typeface="Montserrat" panose="02000505000000020004"/>
                  </a:rPr>
                  <a:t>Dalam definisi pohon turunan yang diberikan, jika setiap daun memiliki label dari </a:t>
                </a:r>
                <a14:m>
                  <m:oMath xmlns:m="http://schemas.openxmlformats.org/officeDocument/2006/math">
                    <m:r>
                      <a:rPr lang="id-ID" sz="3200" i="1" dirty="0" smtClean="0">
                        <a:solidFill>
                          <a:srgbClr val="000000"/>
                        </a:solidFill>
                        <a:latin typeface="Cambria Math" panose="02040503050406030204" pitchFamily="18" charset="0"/>
                      </a:rPr>
                      <m:t>𝑉</m:t>
                    </m:r>
                    <m:r>
                      <a:rPr lang="id-ID" sz="3200" i="1" dirty="0" smtClean="0">
                        <a:solidFill>
                          <a:srgbClr val="000000"/>
                        </a:solidFill>
                        <a:latin typeface="Cambria Math" panose="02040503050406030204" pitchFamily="18" charset="0"/>
                      </a:rPr>
                      <m:t> ∪ </m:t>
                    </m:r>
                    <m:r>
                      <a:rPr lang="id-ID" sz="3200" i="1" dirty="0">
                        <a:solidFill>
                          <a:srgbClr val="000000"/>
                        </a:solidFill>
                        <a:latin typeface="Cambria Math" panose="02040503050406030204" pitchFamily="18" charset="0"/>
                      </a:rPr>
                      <m:t>𝑇</m:t>
                    </m:r>
                    <m:r>
                      <a:rPr lang="id-ID" sz="3200" i="1" dirty="0">
                        <a:solidFill>
                          <a:srgbClr val="000000"/>
                        </a:solidFill>
                        <a:latin typeface="Cambria Math" panose="02040503050406030204" pitchFamily="18" charset="0"/>
                      </a:rPr>
                      <m:t> ∪ {</m:t>
                    </m:r>
                    <m:r>
                      <a:rPr lang="el-GR" sz="3200" i="1" dirty="0">
                        <a:solidFill>
                          <a:srgbClr val="000000"/>
                        </a:solidFill>
                        <a:latin typeface="Cambria Math" panose="02040503050406030204" pitchFamily="18" charset="0"/>
                      </a:rPr>
                      <m:t>𝜆</m:t>
                    </m:r>
                    <m:r>
                      <a:rPr lang="id-ID" sz="3200" i="1" dirty="0">
                        <a:solidFill>
                          <a:srgbClr val="000000"/>
                        </a:solidFill>
                        <a:latin typeface="Cambria Math" panose="02040503050406030204" pitchFamily="18" charset="0"/>
                      </a:rPr>
                      <m:t>}</m:t>
                    </m:r>
                  </m:oMath>
                </a14:m>
                <a:r>
                  <a:rPr lang="el-GR" sz="3200" dirty="0">
                    <a:solidFill>
                      <a:srgbClr val="000000"/>
                    </a:solidFill>
                    <a:latin typeface="Montserrat" panose="02000505000000020004"/>
                  </a:rPr>
                  <a:t> </a:t>
                </a:r>
                <a:r>
                  <a:rPr lang="id-ID" sz="3200" dirty="0">
                    <a:solidFill>
                      <a:srgbClr val="000000"/>
                    </a:solidFill>
                    <a:latin typeface="Montserrat" panose="02000505000000020004"/>
                  </a:rPr>
                  <a:t>maka dikatakan sebagai “pohon turunan parsial”</a:t>
                </a:r>
                <a:r>
                  <a:rPr lang="en-US" sz="3200" dirty="0">
                    <a:solidFill>
                      <a:srgbClr val="000000"/>
                    </a:solidFill>
                    <a:latin typeface="Montserrat" panose="02000505000000020004"/>
                  </a:rPr>
                  <a:t>atau </a:t>
                </a:r>
                <a:r>
                  <a:rPr lang="en-US" sz="3200" dirty="0" err="1">
                    <a:solidFill>
                      <a:srgbClr val="000000"/>
                    </a:solidFill>
                    <a:latin typeface="Montserrat" panose="02000505000000020004"/>
                  </a:rPr>
                  <a:t>Partian</a:t>
                </a:r>
                <a:r>
                  <a:rPr lang="en-US" sz="3200" dirty="0">
                    <a:solidFill>
                      <a:srgbClr val="000000"/>
                    </a:solidFill>
                    <a:latin typeface="Montserrat" panose="02000505000000020004"/>
                  </a:rPr>
                  <a:t> Derivation Tree</a:t>
                </a:r>
                <a:r>
                  <a:rPr lang="id-ID" sz="3200" dirty="0">
                    <a:solidFill>
                      <a:srgbClr val="000000"/>
                    </a:solidFill>
                    <a:latin typeface="Montserrat" panose="02000505000000020004"/>
                  </a:rPr>
                  <a:t>.</a:t>
                </a: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623822"/>
              </a:xfrm>
              <a:blipFill>
                <a:blip r:embed="rId2"/>
                <a:stretch>
                  <a:fillRect l="-1792" t="-2167" r="-1792"/>
                </a:stretch>
              </a:blipFill>
            </p:spPr>
            <p:txBody>
              <a:bodyPr/>
              <a:lstStyle/>
              <a:p>
                <a:r>
                  <a:rPr lang="en-ID">
                    <a:noFill/>
                  </a:rPr>
                  <a:t> </a:t>
                </a:r>
              </a:p>
            </p:txBody>
          </p:sp>
        </mc:Fallback>
      </mc:AlternateContent>
    </p:spTree>
    <p:extLst>
      <p:ext uri="{BB962C8B-B14F-4D97-AF65-F5344CB8AC3E}">
        <p14:creationId xmlns:p14="http://schemas.microsoft.com/office/powerpoint/2010/main" val="2526450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fontScale="90000"/>
          </a:bodyPr>
          <a:lstStyle/>
          <a:p>
            <a:r>
              <a:rPr lang="en-US" sz="2800" dirty="0"/>
              <a:t>2.2.4 Right Most/Left Most/Mixed Derivation</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fontScale="92500" lnSpcReduction="10000"/>
          </a:bodyPr>
          <a:lstStyle/>
          <a:p>
            <a:pPr marL="0" indent="0" algn="just">
              <a:buNone/>
            </a:pPr>
            <a:r>
              <a:rPr lang="en-US" sz="2800" dirty="0" err="1">
                <a:solidFill>
                  <a:srgbClr val="000000"/>
                </a:solidFill>
                <a:latin typeface="Montserrat" panose="02000505000000020004"/>
              </a:rPr>
              <a:t>Perhatikan</a:t>
            </a:r>
            <a:r>
              <a:rPr lang="en-US" sz="2800" dirty="0">
                <a:solidFill>
                  <a:srgbClr val="000000"/>
                </a:solidFill>
                <a:latin typeface="Montserrat" panose="02000505000000020004"/>
              </a:rPr>
              <a:t> Tata Bahasa G dengan </a:t>
            </a:r>
            <a:r>
              <a:rPr lang="en-US" sz="2800" dirty="0" err="1">
                <a:solidFill>
                  <a:srgbClr val="000000"/>
                </a:solidFill>
                <a:latin typeface="Montserrat" panose="02000505000000020004"/>
              </a:rPr>
              <a:t>aturan</a:t>
            </a:r>
            <a:r>
              <a:rPr lang="en-US" sz="2800" dirty="0">
                <a:solidFill>
                  <a:srgbClr val="000000"/>
                </a:solidFill>
                <a:latin typeface="Montserrat" panose="02000505000000020004"/>
              </a:rPr>
              <a:t>:</a:t>
            </a: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en-US" sz="2800" dirty="0" err="1">
                <a:solidFill>
                  <a:srgbClr val="000000"/>
                </a:solidFill>
                <a:latin typeface="Montserrat" panose="02000505000000020004"/>
              </a:rPr>
              <a:t>Sekarang</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kita</a:t>
            </a:r>
            <a:r>
              <a:rPr lang="en-US" sz="2800" dirty="0">
                <a:solidFill>
                  <a:srgbClr val="000000"/>
                </a:solidFill>
                <a:latin typeface="Montserrat" panose="02000505000000020004"/>
              </a:rPr>
              <a:t> punya: </a:t>
            </a: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en-US" sz="2800" dirty="0" err="1">
                <a:solidFill>
                  <a:srgbClr val="000000"/>
                </a:solidFill>
                <a:latin typeface="Montserrat" panose="02000505000000020004"/>
              </a:rPr>
              <a:t>Urutan</a:t>
            </a:r>
            <a:r>
              <a:rPr lang="en-US" sz="2800" dirty="0">
                <a:solidFill>
                  <a:srgbClr val="000000"/>
                </a:solidFill>
                <a:latin typeface="Montserrat" panose="02000505000000020004"/>
              </a:rPr>
              <a:t> yang </a:t>
            </a:r>
            <a:r>
              <a:rPr lang="en-US" sz="2800" dirty="0" err="1">
                <a:solidFill>
                  <a:srgbClr val="000000"/>
                </a:solidFill>
                <a:latin typeface="Montserrat" panose="02000505000000020004"/>
              </a:rPr>
              <a:t>diikuti</a:t>
            </a:r>
            <a:r>
              <a:rPr lang="en-US" sz="2800" dirty="0">
                <a:solidFill>
                  <a:srgbClr val="000000"/>
                </a:solidFill>
                <a:latin typeface="Montserrat" panose="02000505000000020004"/>
              </a:rPr>
              <a:t> adalah “left most derivation”, mengikuti “1121222”, dan </a:t>
            </a:r>
            <a:r>
              <a:rPr lang="en-US" sz="2800" dirty="0" err="1">
                <a:solidFill>
                  <a:srgbClr val="000000"/>
                </a:solidFill>
                <a:latin typeface="Montserrat" panose="02000505000000020004"/>
              </a:rPr>
              <a:t>menghasilkan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aababbb</a:t>
            </a:r>
            <a:r>
              <a:rPr lang="en-US" sz="2800" dirty="0">
                <a:solidFill>
                  <a:srgbClr val="000000"/>
                </a:solidFill>
                <a:latin typeface="Montserrat" panose="02000505000000020004"/>
              </a:rPr>
              <a:t>”.</a:t>
            </a:r>
          </a:p>
          <a:p>
            <a:pPr marL="0" indent="0" algn="just">
              <a:buNone/>
            </a:pPr>
            <a:endParaRPr lang="id-ID" sz="2800" dirty="0">
              <a:solidFill>
                <a:srgbClr val="000000"/>
              </a:solidFill>
              <a:latin typeface="Montserrat" panose="02000505000000020004"/>
            </a:endParaRPr>
          </a:p>
        </p:txBody>
      </p:sp>
      <p:pic>
        <p:nvPicPr>
          <p:cNvPr id="4" name="Picture 3">
            <a:extLst>
              <a:ext uri="{FF2B5EF4-FFF2-40B4-BE49-F238E27FC236}">
                <a16:creationId xmlns:a16="http://schemas.microsoft.com/office/drawing/2014/main" id="{6E04190B-0B66-4CAF-9277-B7EC840750AB}"/>
              </a:ext>
            </a:extLst>
          </p:cNvPr>
          <p:cNvPicPr>
            <a:picLocks noChangeAspect="1"/>
          </p:cNvPicPr>
          <p:nvPr/>
        </p:nvPicPr>
        <p:blipFill>
          <a:blip r:embed="rId2"/>
          <a:stretch>
            <a:fillRect/>
          </a:stretch>
        </p:blipFill>
        <p:spPr>
          <a:xfrm>
            <a:off x="454083" y="1507066"/>
            <a:ext cx="2082800" cy="1051133"/>
          </a:xfrm>
          <a:prstGeom prst="rect">
            <a:avLst/>
          </a:prstGeom>
        </p:spPr>
      </p:pic>
      <p:pic>
        <p:nvPicPr>
          <p:cNvPr id="5" name="Picture 4">
            <a:extLst>
              <a:ext uri="{FF2B5EF4-FFF2-40B4-BE49-F238E27FC236}">
                <a16:creationId xmlns:a16="http://schemas.microsoft.com/office/drawing/2014/main" id="{45583259-9052-4B66-9012-0BC303B402BE}"/>
              </a:ext>
            </a:extLst>
          </p:cNvPr>
          <p:cNvPicPr>
            <a:picLocks noChangeAspect="1"/>
          </p:cNvPicPr>
          <p:nvPr/>
        </p:nvPicPr>
        <p:blipFill>
          <a:blip r:embed="rId3"/>
          <a:stretch>
            <a:fillRect/>
          </a:stretch>
        </p:blipFill>
        <p:spPr>
          <a:xfrm>
            <a:off x="4316441" y="2739971"/>
            <a:ext cx="3652308" cy="2656225"/>
          </a:xfrm>
          <a:prstGeom prst="rect">
            <a:avLst/>
          </a:prstGeom>
        </p:spPr>
      </p:pic>
    </p:spTree>
    <p:extLst>
      <p:ext uri="{BB962C8B-B14F-4D97-AF65-F5344CB8AC3E}">
        <p14:creationId xmlns:p14="http://schemas.microsoft.com/office/powerpoint/2010/main" val="2651146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fontScale="90000"/>
          </a:bodyPr>
          <a:lstStyle/>
          <a:p>
            <a:r>
              <a:rPr lang="en-US" sz="2800" dirty="0"/>
              <a:t>2.2.4 Right Most/Left Most/Mixed Derivation</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id-ID" sz="2800" dirty="0">
                <a:solidFill>
                  <a:srgbClr val="000000"/>
                </a:solidFill>
                <a:latin typeface="Montserrat" panose="02000505000000020004"/>
              </a:rPr>
              <a:t>Urutan 1212122 merupakan “</a:t>
            </a:r>
            <a:r>
              <a:rPr lang="en-US" sz="2800" dirty="0">
                <a:solidFill>
                  <a:srgbClr val="000000"/>
                </a:solidFill>
                <a:latin typeface="Montserrat" panose="02000505000000020004"/>
              </a:rPr>
              <a:t>Mixed Derivation</a:t>
            </a:r>
            <a:r>
              <a:rPr lang="id-ID" sz="2800" dirty="0">
                <a:solidFill>
                  <a:srgbClr val="000000"/>
                </a:solidFill>
                <a:latin typeface="Montserrat" panose="02000505000000020004"/>
              </a:rPr>
              <a:t>”, menghasilkan “aababbb”.</a:t>
            </a:r>
          </a:p>
        </p:txBody>
      </p:sp>
      <p:pic>
        <p:nvPicPr>
          <p:cNvPr id="8" name="Picture 7">
            <a:extLst>
              <a:ext uri="{FF2B5EF4-FFF2-40B4-BE49-F238E27FC236}">
                <a16:creationId xmlns:a16="http://schemas.microsoft.com/office/drawing/2014/main" id="{2451E335-FBEE-4A14-B114-D9A5EA511DA5}"/>
              </a:ext>
            </a:extLst>
          </p:cNvPr>
          <p:cNvPicPr>
            <a:picLocks noChangeAspect="1"/>
          </p:cNvPicPr>
          <p:nvPr/>
        </p:nvPicPr>
        <p:blipFill>
          <a:blip r:embed="rId2"/>
          <a:stretch>
            <a:fillRect/>
          </a:stretch>
        </p:blipFill>
        <p:spPr>
          <a:xfrm>
            <a:off x="2499970" y="910966"/>
            <a:ext cx="4144060" cy="2607305"/>
          </a:xfrm>
          <a:prstGeom prst="rect">
            <a:avLst/>
          </a:prstGeom>
        </p:spPr>
      </p:pic>
    </p:spTree>
    <p:extLst>
      <p:ext uri="{BB962C8B-B14F-4D97-AF65-F5344CB8AC3E}">
        <p14:creationId xmlns:p14="http://schemas.microsoft.com/office/powerpoint/2010/main" val="882453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fontScale="90000"/>
          </a:bodyPr>
          <a:lstStyle/>
          <a:p>
            <a:r>
              <a:rPr lang="en-US" sz="2800" dirty="0"/>
              <a:t>2.2.4 Right Most/Left Most/Mixed Derivation</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id-ID" sz="2800" dirty="0">
                <a:solidFill>
                  <a:srgbClr val="000000"/>
                </a:solidFill>
                <a:latin typeface="Montserrat" panose="02000505000000020004"/>
              </a:rPr>
              <a:t>Urutan 1212122 merupakan “</a:t>
            </a:r>
            <a:r>
              <a:rPr lang="en-US" sz="2800" dirty="0">
                <a:solidFill>
                  <a:srgbClr val="000000"/>
                </a:solidFill>
                <a:latin typeface="Montserrat" panose="02000505000000020004"/>
              </a:rPr>
              <a:t>Right Most Derivation</a:t>
            </a:r>
            <a:r>
              <a:rPr lang="id-ID" sz="2800" dirty="0">
                <a:solidFill>
                  <a:srgbClr val="000000"/>
                </a:solidFill>
                <a:latin typeface="Montserrat" panose="02000505000000020004"/>
              </a:rPr>
              <a:t>”, menghasilkan “aababbb”.</a:t>
            </a:r>
          </a:p>
        </p:txBody>
      </p:sp>
      <p:pic>
        <p:nvPicPr>
          <p:cNvPr id="4" name="Picture 3">
            <a:extLst>
              <a:ext uri="{FF2B5EF4-FFF2-40B4-BE49-F238E27FC236}">
                <a16:creationId xmlns:a16="http://schemas.microsoft.com/office/drawing/2014/main" id="{F98B5520-F89F-4D8F-92D4-FDA8F2E0B590}"/>
              </a:ext>
            </a:extLst>
          </p:cNvPr>
          <p:cNvPicPr>
            <a:picLocks noChangeAspect="1"/>
          </p:cNvPicPr>
          <p:nvPr/>
        </p:nvPicPr>
        <p:blipFill>
          <a:blip r:embed="rId2"/>
          <a:stretch>
            <a:fillRect/>
          </a:stretch>
        </p:blipFill>
        <p:spPr>
          <a:xfrm>
            <a:off x="793904" y="910966"/>
            <a:ext cx="4934819" cy="2882101"/>
          </a:xfrm>
          <a:prstGeom prst="rect">
            <a:avLst/>
          </a:prstGeom>
        </p:spPr>
      </p:pic>
    </p:spTree>
    <p:extLst>
      <p:ext uri="{BB962C8B-B14F-4D97-AF65-F5344CB8AC3E}">
        <p14:creationId xmlns:p14="http://schemas.microsoft.com/office/powerpoint/2010/main" val="1551434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2.2.1</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tata </a:t>
            </a:r>
            <a:r>
              <a:rPr lang="en-US" sz="2800" dirty="0" err="1">
                <a:solidFill>
                  <a:srgbClr val="000000"/>
                </a:solidFill>
                <a:latin typeface="Montserrat" panose="02000505000000020004"/>
              </a:rPr>
              <a:t>bahasa</a:t>
            </a:r>
            <a:r>
              <a:rPr lang="en-US" sz="2800" dirty="0">
                <a:solidFill>
                  <a:srgbClr val="000000"/>
                </a:solidFill>
                <a:latin typeface="Montserrat" panose="02000505000000020004"/>
              </a:rPr>
              <a:t> G yang bebas </a:t>
            </a:r>
            <a:r>
              <a:rPr lang="en-US" sz="2800" dirty="0" err="1">
                <a:solidFill>
                  <a:srgbClr val="000000"/>
                </a:solidFill>
                <a:latin typeface="Montserrat" panose="02000505000000020004"/>
              </a:rPr>
              <a:t>konteks</a:t>
            </a:r>
            <a:r>
              <a:rPr lang="en-US" sz="2800" dirty="0">
                <a:solidFill>
                  <a:srgbClr val="000000"/>
                </a:solidFill>
                <a:latin typeface="Montserrat" panose="02000505000000020004"/>
              </a:rPr>
              <a:t> memiliki </a:t>
            </a:r>
            <a:r>
              <a:rPr lang="en-US" sz="2800" dirty="0" err="1">
                <a:solidFill>
                  <a:srgbClr val="000000"/>
                </a:solidFill>
                <a:latin typeface="Montserrat" panose="02000505000000020004"/>
              </a:rPr>
              <a:t>produksi-produksi</a:t>
            </a: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en-US" sz="2800" dirty="0">
                <a:solidFill>
                  <a:srgbClr val="000000"/>
                </a:solidFill>
                <a:latin typeface="Montserrat" panose="02000505000000020004"/>
              </a:rPr>
              <a:t>(Kata </a:t>
            </a:r>
            <a:r>
              <a:rPr lang="en-US" sz="2800" i="1" dirty="0">
                <a:solidFill>
                  <a:srgbClr val="000000"/>
                </a:solidFill>
                <a:latin typeface="Montserrat" panose="02000505000000020004"/>
              </a:rPr>
              <a:t>w</a:t>
            </a:r>
            <a:r>
              <a:rPr lang="en-US" sz="2800" dirty="0">
                <a:solidFill>
                  <a:srgbClr val="000000"/>
                </a:solidFill>
                <a:latin typeface="Montserrat" panose="02000505000000020004"/>
              </a:rPr>
              <a:t> = </a:t>
            </a:r>
            <a:r>
              <a:rPr lang="en-US" sz="2800" i="1" dirty="0" err="1">
                <a:solidFill>
                  <a:srgbClr val="000000"/>
                </a:solidFill>
                <a:latin typeface="Montserrat" panose="02000505000000020004"/>
              </a:rPr>
              <a:t>acbabc</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diturunkan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sebagai</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berikut</a:t>
            </a:r>
            <a:r>
              <a:rPr lang="en-US" sz="2800" dirty="0">
                <a:solidFill>
                  <a:srgbClr val="000000"/>
                </a:solidFill>
                <a:latin typeface="Montserrat" panose="02000505000000020004"/>
              </a:rPr>
              <a:t>)</a:t>
            </a:r>
          </a:p>
          <a:p>
            <a:pPr marL="0" indent="0" algn="just">
              <a:buNone/>
            </a:pPr>
            <a:r>
              <a:rPr lang="en-US" sz="2200" i="1" dirty="0">
                <a:solidFill>
                  <a:srgbClr val="000000"/>
                </a:solidFill>
                <a:latin typeface="Courier New" panose="02070309020205020404" pitchFamily="49" charset="0"/>
                <a:cs typeface="Courier New" panose="02070309020205020404" pitchFamily="49" charset="0"/>
              </a:rPr>
              <a:t>S </a:t>
            </a:r>
            <a:r>
              <a:rPr lang="en-US" sz="2200" dirty="0">
                <a:solidFill>
                  <a:srgbClr val="000000"/>
                </a:solidFill>
                <a:latin typeface="Courier New" panose="02070309020205020404" pitchFamily="49" charset="0"/>
                <a:cs typeface="Courier New" panose="02070309020205020404" pitchFamily="49" charset="0"/>
              </a:rPr>
              <a:t>⇒ </a:t>
            </a:r>
            <a:r>
              <a:rPr lang="en-US" sz="2200" dirty="0" err="1">
                <a:solidFill>
                  <a:srgbClr val="000000"/>
                </a:solidFill>
                <a:latin typeface="Courier New" panose="02070309020205020404" pitchFamily="49" charset="0"/>
                <a:cs typeface="Courier New" panose="02070309020205020404" pitchFamily="49" charset="0"/>
              </a:rPr>
              <a:t>aAB</a:t>
            </a:r>
            <a:r>
              <a:rPr lang="en-US" sz="2200" dirty="0">
                <a:solidFill>
                  <a:srgbClr val="000000"/>
                </a:solidFill>
                <a:latin typeface="Courier New" panose="02070309020205020404" pitchFamily="49" charset="0"/>
                <a:cs typeface="Courier New" panose="02070309020205020404" pitchFamily="49" charset="0"/>
              </a:rPr>
              <a:t> </a:t>
            </a:r>
            <a:r>
              <a:rPr lang="en-US" sz="2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r>
              <a:rPr lang="en-US" sz="2200" i="1"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a:t>
            </a:r>
            <a:r>
              <a:rPr lang="en-US" sz="2200" i="1"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Bba</a:t>
            </a:r>
            <a:r>
              <a:rPr lang="en-US" sz="2200" i="1" dirty="0">
                <a:solidFill>
                  <a:srgbClr val="000000"/>
                </a:solidFill>
                <a:latin typeface="Courier New" panose="02070309020205020404" pitchFamily="49" charset="0"/>
                <a:cs typeface="Courier New" panose="02070309020205020404" pitchFamily="49" charset="0"/>
                <a:sym typeface="Wingdings" panose="05000000000000000000" pitchFamily="2" charset="2"/>
              </a:rPr>
              <a:t>)B </a:t>
            </a:r>
            <a:r>
              <a:rPr lang="en-US" sz="2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200" i="1"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acbaB</a:t>
            </a:r>
            <a:r>
              <a:rPr lang="en-US" sz="2200" i="1"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200" dirty="0">
                <a:solidFill>
                  <a:srgbClr val="000000"/>
                </a:solidFill>
                <a:latin typeface="Courier New" panose="02070309020205020404" pitchFamily="49" charset="0"/>
                <a:cs typeface="Courier New" panose="02070309020205020404" pitchFamily="49" charset="0"/>
              </a:rPr>
              <a:t>⇒ </a:t>
            </a:r>
            <a:r>
              <a:rPr lang="en-US" sz="2200" dirty="0" err="1">
                <a:solidFill>
                  <a:srgbClr val="000000"/>
                </a:solidFill>
                <a:latin typeface="Courier New" panose="02070309020205020404" pitchFamily="49" charset="0"/>
                <a:cs typeface="Courier New" panose="02070309020205020404" pitchFamily="49" charset="0"/>
              </a:rPr>
              <a:t>acba</a:t>
            </a:r>
            <a:r>
              <a:rPr lang="en-US" sz="2200" dirty="0">
                <a:solidFill>
                  <a:srgbClr val="000000"/>
                </a:solidFill>
                <a:latin typeface="Courier New" panose="02070309020205020404" pitchFamily="49" charset="0"/>
                <a:cs typeface="Courier New" panose="02070309020205020404" pitchFamily="49" charset="0"/>
              </a:rPr>
              <a:t>(</a:t>
            </a:r>
            <a:r>
              <a:rPr lang="en-US" sz="2200" dirty="0" err="1">
                <a:solidFill>
                  <a:srgbClr val="000000"/>
                </a:solidFill>
                <a:latin typeface="Courier New" panose="02070309020205020404" pitchFamily="49" charset="0"/>
                <a:cs typeface="Courier New" panose="02070309020205020404" pitchFamily="49" charset="0"/>
              </a:rPr>
              <a:t>bB</a:t>
            </a:r>
            <a:r>
              <a:rPr lang="en-US" sz="2200" dirty="0">
                <a:solidFill>
                  <a:srgbClr val="000000"/>
                </a:solidFill>
                <a:latin typeface="Courier New" panose="02070309020205020404" pitchFamily="49" charset="0"/>
                <a:cs typeface="Courier New" panose="02070309020205020404" pitchFamily="49" charset="0"/>
              </a:rPr>
              <a:t>) ⇒ </a:t>
            </a:r>
            <a:r>
              <a:rPr lang="en-US" sz="2200" dirty="0" err="1">
                <a:solidFill>
                  <a:srgbClr val="000000"/>
                </a:solidFill>
                <a:latin typeface="Courier New" panose="02070309020205020404" pitchFamily="49" charset="0"/>
                <a:cs typeface="Courier New" panose="02070309020205020404" pitchFamily="49" charset="0"/>
              </a:rPr>
              <a:t>acbabc</a:t>
            </a:r>
            <a:endParaRPr lang="en-US" sz="2200" dirty="0">
              <a:solidFill>
                <a:srgbClr val="000000"/>
              </a:solidFill>
              <a:latin typeface="Courier New" panose="02070309020205020404" pitchFamily="49" charset="0"/>
              <a:cs typeface="Courier New" panose="02070309020205020404" pitchFamily="49" charset="0"/>
            </a:endParaRPr>
          </a:p>
          <a:p>
            <a:pPr marL="0" indent="0" algn="just">
              <a:buNone/>
            </a:pPr>
            <a:endParaRPr lang="en-US" sz="2200" i="1" dirty="0">
              <a:solidFill>
                <a:srgbClr val="000000"/>
              </a:solidFill>
              <a:latin typeface="Courier New" panose="02070309020205020404" pitchFamily="49" charset="0"/>
              <a:cs typeface="Courier New" panose="02070309020205020404" pitchFamily="49" charset="0"/>
            </a:endParaRPr>
          </a:p>
          <a:p>
            <a:pPr marL="0" indent="0" algn="just">
              <a:buNone/>
            </a:pPr>
            <a:r>
              <a:rPr lang="en-US" sz="2800" dirty="0">
                <a:solidFill>
                  <a:srgbClr val="000000"/>
                </a:solidFill>
                <a:latin typeface="Montserrat" panose="02000505000000020004"/>
                <a:cs typeface="Courier New" panose="02070309020205020404" pitchFamily="49" charset="0"/>
              </a:rPr>
              <a:t>Buat </a:t>
            </a:r>
            <a:r>
              <a:rPr lang="en-US" sz="2800" dirty="0" err="1">
                <a:solidFill>
                  <a:srgbClr val="000000"/>
                </a:solidFill>
                <a:latin typeface="Montserrat" panose="02000505000000020004"/>
                <a:cs typeface="Courier New" panose="02070309020205020404" pitchFamily="49" charset="0"/>
              </a:rPr>
              <a:t>Pohon</a:t>
            </a:r>
            <a:r>
              <a:rPr lang="en-US" sz="2800" dirty="0">
                <a:solidFill>
                  <a:srgbClr val="000000"/>
                </a:solidFill>
                <a:latin typeface="Montserrat" panose="02000505000000020004"/>
                <a:cs typeface="Courier New" panose="02070309020205020404" pitchFamily="49" charset="0"/>
              </a:rPr>
              <a:t> </a:t>
            </a:r>
            <a:r>
              <a:rPr lang="en-US" sz="2800" dirty="0" err="1">
                <a:solidFill>
                  <a:srgbClr val="000000"/>
                </a:solidFill>
                <a:latin typeface="Montserrat" panose="02000505000000020004"/>
                <a:cs typeface="Courier New" panose="02070309020205020404" pitchFamily="49" charset="0"/>
              </a:rPr>
              <a:t>turunannya</a:t>
            </a:r>
            <a:endParaRPr lang="en-US" sz="2800" dirty="0">
              <a:solidFill>
                <a:srgbClr val="000000"/>
              </a:solidFill>
              <a:latin typeface="Montserrat" panose="02000505000000020004"/>
              <a:cs typeface="Courier New" panose="02070309020205020404" pitchFamily="49" charset="0"/>
            </a:endParaRPr>
          </a:p>
        </p:txBody>
      </p:sp>
      <p:pic>
        <p:nvPicPr>
          <p:cNvPr id="6" name="Picture 5">
            <a:extLst>
              <a:ext uri="{FF2B5EF4-FFF2-40B4-BE49-F238E27FC236}">
                <a16:creationId xmlns:a16="http://schemas.microsoft.com/office/drawing/2014/main" id="{7ED5337F-E139-48D6-8379-C9C7005432CE}"/>
              </a:ext>
            </a:extLst>
          </p:cNvPr>
          <p:cNvPicPr>
            <a:picLocks noChangeAspect="1"/>
          </p:cNvPicPr>
          <p:nvPr/>
        </p:nvPicPr>
        <p:blipFill>
          <a:blip r:embed="rId2"/>
          <a:stretch>
            <a:fillRect/>
          </a:stretch>
        </p:blipFill>
        <p:spPr>
          <a:xfrm>
            <a:off x="3776594" y="1485900"/>
            <a:ext cx="1256610" cy="1354211"/>
          </a:xfrm>
          <a:prstGeom prst="rect">
            <a:avLst/>
          </a:prstGeom>
        </p:spPr>
      </p:pic>
    </p:spTree>
    <p:extLst>
      <p:ext uri="{BB962C8B-B14F-4D97-AF65-F5344CB8AC3E}">
        <p14:creationId xmlns:p14="http://schemas.microsoft.com/office/powerpoint/2010/main" val="4111024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2.2.1</a:t>
            </a:r>
            <a:endParaRPr lang="id-ID" sz="2800" dirty="0"/>
          </a:p>
        </p:txBody>
      </p:sp>
      <p:pic>
        <p:nvPicPr>
          <p:cNvPr id="4" name="Content Placeholder 3">
            <a:extLst>
              <a:ext uri="{FF2B5EF4-FFF2-40B4-BE49-F238E27FC236}">
                <a16:creationId xmlns:a16="http://schemas.microsoft.com/office/drawing/2014/main" id="{4F356A69-D4EB-4406-9F32-C8C376318BC5}"/>
              </a:ext>
            </a:extLst>
          </p:cNvPr>
          <p:cNvPicPr>
            <a:picLocks noGrp="1" noChangeAspect="1"/>
          </p:cNvPicPr>
          <p:nvPr>
            <p:ph sz="half" idx="2"/>
          </p:nvPr>
        </p:nvPicPr>
        <p:blipFill>
          <a:blip r:embed="rId2"/>
          <a:stretch>
            <a:fillRect/>
          </a:stretch>
        </p:blipFill>
        <p:spPr>
          <a:xfrm>
            <a:off x="1883827" y="1634224"/>
            <a:ext cx="5376346" cy="4177306"/>
          </a:xfrm>
          <a:prstGeom prst="rect">
            <a:avLst/>
          </a:prstGeom>
        </p:spPr>
      </p:pic>
      <p:sp>
        <p:nvSpPr>
          <p:cNvPr id="7" name="Content Placeholder 2">
            <a:extLst>
              <a:ext uri="{FF2B5EF4-FFF2-40B4-BE49-F238E27FC236}">
                <a16:creationId xmlns:a16="http://schemas.microsoft.com/office/drawing/2014/main" id="{25DEEC9E-E329-4C3C-B06D-15098AE75422}"/>
              </a:ext>
            </a:extLst>
          </p:cNvPr>
          <p:cNvSpPr txBox="1">
            <a:spLocks/>
          </p:cNvSpPr>
          <p:nvPr/>
        </p:nvSpPr>
        <p:spPr>
          <a:xfrm>
            <a:off x="454083" y="910966"/>
            <a:ext cx="8501044" cy="56238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ontserrat" panose="0200050500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200050500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Montserrat" panose="02000505000000020004"/>
                <a:ea typeface="+mn-ea"/>
                <a:cs typeface="+mn-cs"/>
              </a:rPr>
              <a:t>Jawab:</a:t>
            </a:r>
            <a:endParaRPr kumimoji="0" lang="en-US" sz="2800" b="0" i="0" u="none" strike="noStrike" kern="1200" cap="none" spc="0" normalizeH="0" baseline="0" noProof="0" dirty="0">
              <a:ln>
                <a:noFill/>
              </a:ln>
              <a:solidFill>
                <a:srgbClr val="000000"/>
              </a:solidFill>
              <a:effectLst/>
              <a:uLnTx/>
              <a:uFillTx/>
              <a:latin typeface="Montserrat" panose="02000505000000020004"/>
              <a:ea typeface="+mn-ea"/>
              <a:cs typeface="Courier New" panose="02070309020205020404" pitchFamily="49" charset="0"/>
            </a:endParaRPr>
          </a:p>
        </p:txBody>
      </p:sp>
    </p:spTree>
    <p:extLst>
      <p:ext uri="{BB962C8B-B14F-4D97-AF65-F5344CB8AC3E}">
        <p14:creationId xmlns:p14="http://schemas.microsoft.com/office/powerpoint/2010/main" val="3332173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2.2.2</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CFG dengan </a:t>
            </a:r>
            <a:r>
              <a:rPr lang="en-US" sz="2800" dirty="0" err="1">
                <a:solidFill>
                  <a:srgbClr val="000000"/>
                </a:solidFill>
                <a:latin typeface="Montserrat" panose="02000505000000020004"/>
              </a:rPr>
              <a:t>aturan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produksi</a:t>
            </a: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endParaRPr lang="en-US" sz="2800" dirty="0">
              <a:solidFill>
                <a:srgbClr val="000000"/>
              </a:solidFill>
              <a:latin typeface="Montserrat" panose="02000505000000020004"/>
              <a:cs typeface="Courier New" panose="02070309020205020404" pitchFamily="49" charset="0"/>
            </a:endParaRPr>
          </a:p>
          <a:p>
            <a:pPr marL="0" indent="0" algn="just">
              <a:buNone/>
            </a:pPr>
            <a:r>
              <a:rPr lang="en-US" sz="2800" dirty="0">
                <a:solidFill>
                  <a:srgbClr val="000000"/>
                </a:solidFill>
                <a:latin typeface="Montserrat" panose="02000505000000020004"/>
                <a:cs typeface="Courier New" panose="02070309020205020404" pitchFamily="49" charset="0"/>
              </a:rPr>
              <a:t>Buat </a:t>
            </a:r>
            <a:r>
              <a:rPr lang="en-US" sz="2800" dirty="0" err="1">
                <a:solidFill>
                  <a:srgbClr val="000000"/>
                </a:solidFill>
                <a:latin typeface="Montserrat" panose="02000505000000020004"/>
                <a:cs typeface="Courier New" panose="02070309020205020404" pitchFamily="49" charset="0"/>
              </a:rPr>
              <a:t>pohon</a:t>
            </a:r>
            <a:r>
              <a:rPr lang="en-US" sz="2800" dirty="0">
                <a:solidFill>
                  <a:srgbClr val="000000"/>
                </a:solidFill>
                <a:latin typeface="Montserrat" panose="02000505000000020004"/>
                <a:cs typeface="Courier New" panose="02070309020205020404" pitchFamily="49" charset="0"/>
              </a:rPr>
              <a:t> </a:t>
            </a:r>
            <a:r>
              <a:rPr lang="en-US" sz="2800" dirty="0" err="1">
                <a:solidFill>
                  <a:srgbClr val="000000"/>
                </a:solidFill>
                <a:latin typeface="Montserrat" panose="02000505000000020004"/>
                <a:cs typeface="Courier New" panose="02070309020205020404" pitchFamily="49" charset="0"/>
              </a:rPr>
              <a:t>turunan</a:t>
            </a:r>
            <a:r>
              <a:rPr lang="en-US" sz="2800" dirty="0">
                <a:solidFill>
                  <a:srgbClr val="000000"/>
                </a:solidFill>
                <a:latin typeface="Montserrat" panose="02000505000000020004"/>
                <a:cs typeface="Courier New" panose="02070309020205020404" pitchFamily="49" charset="0"/>
              </a:rPr>
              <a:t> dengan kata </a:t>
            </a:r>
            <a:r>
              <a:rPr lang="en-US" sz="2800" i="1" dirty="0">
                <a:solidFill>
                  <a:srgbClr val="000000"/>
                </a:solidFill>
                <a:latin typeface="Courier New" panose="02070309020205020404" pitchFamily="49" charset="0"/>
                <a:cs typeface="Courier New" panose="02070309020205020404" pitchFamily="49" charset="0"/>
              </a:rPr>
              <a:t>w = </a:t>
            </a:r>
            <a:r>
              <a:rPr lang="en-US" sz="2800" i="1" dirty="0" err="1">
                <a:solidFill>
                  <a:srgbClr val="000000"/>
                </a:solidFill>
                <a:latin typeface="Courier New" panose="02070309020205020404" pitchFamily="49" charset="0"/>
                <a:cs typeface="Courier New" panose="02070309020205020404" pitchFamily="49" charset="0"/>
              </a:rPr>
              <a:t>abaabaa</a:t>
            </a:r>
            <a:endParaRPr lang="en-US" sz="2800" dirty="0">
              <a:solidFill>
                <a:srgbClr val="000000"/>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8170C8D5-6522-43F7-8D1F-65970177E06E}"/>
              </a:ext>
            </a:extLst>
          </p:cNvPr>
          <p:cNvPicPr>
            <a:picLocks noChangeAspect="1"/>
          </p:cNvPicPr>
          <p:nvPr/>
        </p:nvPicPr>
        <p:blipFill>
          <a:blip r:embed="rId2"/>
          <a:stretch>
            <a:fillRect/>
          </a:stretch>
        </p:blipFill>
        <p:spPr>
          <a:xfrm>
            <a:off x="1929794" y="1809750"/>
            <a:ext cx="2642206" cy="1404982"/>
          </a:xfrm>
          <a:prstGeom prst="rect">
            <a:avLst/>
          </a:prstGeom>
        </p:spPr>
      </p:pic>
    </p:spTree>
    <p:extLst>
      <p:ext uri="{BB962C8B-B14F-4D97-AF65-F5344CB8AC3E}">
        <p14:creationId xmlns:p14="http://schemas.microsoft.com/office/powerpoint/2010/main" val="1419452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2.2.2</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800" dirty="0">
                <a:solidFill>
                  <a:srgbClr val="000000"/>
                </a:solidFill>
                <a:latin typeface="Montserrat" panose="02000505000000020004"/>
              </a:rPr>
              <a:t>Jawab:</a:t>
            </a:r>
          </a:p>
          <a:p>
            <a:pPr marL="0" indent="0" algn="just">
              <a:buNone/>
            </a:pPr>
            <a:r>
              <a:rPr lang="en-US" sz="2800" dirty="0">
                <a:solidFill>
                  <a:srgbClr val="000000"/>
                </a:solidFill>
                <a:latin typeface="Courier New" panose="02070309020205020404" pitchFamily="49" charset="0"/>
                <a:cs typeface="Courier New" panose="02070309020205020404" pitchFamily="49" charset="0"/>
              </a:rPr>
              <a:t>w = </a:t>
            </a:r>
            <a:r>
              <a:rPr lang="en-US" sz="2800" dirty="0" err="1">
                <a:solidFill>
                  <a:srgbClr val="000000"/>
                </a:solidFill>
                <a:latin typeface="Courier New" panose="02070309020205020404" pitchFamily="49" charset="0"/>
                <a:cs typeface="Courier New" panose="02070309020205020404" pitchFamily="49" charset="0"/>
              </a:rPr>
              <a:t>abaabaa</a:t>
            </a:r>
            <a:r>
              <a:rPr lang="en-US" sz="2800" dirty="0">
                <a:solidFill>
                  <a:srgbClr val="000000"/>
                </a:solidFill>
                <a:latin typeface="Courier New" panose="02070309020205020404" pitchFamily="49" charset="0"/>
                <a:cs typeface="Courier New" panose="02070309020205020404" pitchFamily="49" charset="0"/>
              </a:rPr>
              <a:t> </a:t>
            </a:r>
            <a:r>
              <a:rPr lang="en-US" sz="2800" dirty="0" err="1">
                <a:solidFill>
                  <a:srgbClr val="000000"/>
                </a:solidFill>
                <a:latin typeface="Montserrat" panose="02000505000000020004"/>
              </a:rPr>
              <a:t>diturunkan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dari</a:t>
            </a:r>
            <a:r>
              <a:rPr lang="en-US" sz="2800" dirty="0">
                <a:solidFill>
                  <a:srgbClr val="000000"/>
                </a:solidFill>
                <a:latin typeface="Montserrat" panose="02000505000000020004"/>
              </a:rPr>
              <a:t> S </a:t>
            </a:r>
            <a:r>
              <a:rPr lang="en-US" sz="2800" dirty="0" err="1">
                <a:solidFill>
                  <a:srgbClr val="000000"/>
                </a:solidFill>
                <a:latin typeface="Montserrat" panose="02000505000000020004"/>
              </a:rPr>
              <a:t>sebagai</a:t>
            </a: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en-US" sz="2800" dirty="0">
                <a:solidFill>
                  <a:srgbClr val="000000"/>
                </a:solidFill>
                <a:latin typeface="Montserrat" panose="02000505000000020004"/>
              </a:rPr>
              <a:t>Gambar </a:t>
            </a:r>
            <a:r>
              <a:rPr lang="en-US" sz="2800" dirty="0" err="1">
                <a:solidFill>
                  <a:srgbClr val="000000"/>
                </a:solidFill>
                <a:latin typeface="Montserrat" panose="02000505000000020004"/>
              </a:rPr>
              <a:t>Pohon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Turunan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seperti</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berikut</a:t>
            </a: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72A23D9B-21E7-4D6A-A511-4E3BCF82BF97}"/>
              </a:ext>
            </a:extLst>
          </p:cNvPr>
          <p:cNvPicPr>
            <a:picLocks noChangeAspect="1"/>
          </p:cNvPicPr>
          <p:nvPr/>
        </p:nvPicPr>
        <p:blipFill>
          <a:blip r:embed="rId2"/>
          <a:stretch>
            <a:fillRect/>
          </a:stretch>
        </p:blipFill>
        <p:spPr>
          <a:xfrm>
            <a:off x="2489134" y="2157355"/>
            <a:ext cx="4165732" cy="1271645"/>
          </a:xfrm>
          <a:prstGeom prst="rect">
            <a:avLst/>
          </a:prstGeom>
        </p:spPr>
      </p:pic>
      <p:pic>
        <p:nvPicPr>
          <p:cNvPr id="7" name="Picture 6">
            <a:extLst>
              <a:ext uri="{FF2B5EF4-FFF2-40B4-BE49-F238E27FC236}">
                <a16:creationId xmlns:a16="http://schemas.microsoft.com/office/drawing/2014/main" id="{460A5966-C0DD-4D92-B89B-694C7FCA05D3}"/>
              </a:ext>
            </a:extLst>
          </p:cNvPr>
          <p:cNvPicPr>
            <a:picLocks noChangeAspect="1"/>
          </p:cNvPicPr>
          <p:nvPr/>
        </p:nvPicPr>
        <p:blipFill>
          <a:blip r:embed="rId3"/>
          <a:stretch>
            <a:fillRect/>
          </a:stretch>
        </p:blipFill>
        <p:spPr>
          <a:xfrm>
            <a:off x="3487659" y="4170329"/>
            <a:ext cx="3167207" cy="2364459"/>
          </a:xfrm>
          <a:prstGeom prst="rect">
            <a:avLst/>
          </a:prstGeom>
        </p:spPr>
      </p:pic>
    </p:spTree>
    <p:extLst>
      <p:ext uri="{BB962C8B-B14F-4D97-AF65-F5344CB8AC3E}">
        <p14:creationId xmlns:p14="http://schemas.microsoft.com/office/powerpoint/2010/main" val="3292796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2.2.3</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800" dirty="0">
                <a:solidFill>
                  <a:srgbClr val="000000"/>
                </a:solidFill>
                <a:latin typeface="Montserrat" panose="02000505000000020004"/>
              </a:rPr>
              <a:t>Diberikan </a:t>
            </a: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CFG yang diberikan oleh </a:t>
            </a:r>
          </a:p>
          <a:p>
            <a:pPr marL="0" indent="0" algn="just">
              <a:buNone/>
            </a:pPr>
            <a:r>
              <a:rPr lang="en-US" sz="2400" dirty="0">
                <a:solidFill>
                  <a:srgbClr val="000000"/>
                </a:solidFill>
                <a:latin typeface="Courier New" panose="02070309020205020404" pitchFamily="49" charset="0"/>
                <a:cs typeface="Courier New" panose="02070309020205020404" pitchFamily="49" charset="0"/>
              </a:rPr>
              <a:t>G = (N, T, P, S) </a:t>
            </a:r>
          </a:p>
          <a:p>
            <a:pPr marL="0" indent="0" algn="just">
              <a:buNone/>
            </a:pPr>
            <a:r>
              <a:rPr lang="en-US" sz="2400" dirty="0">
                <a:solidFill>
                  <a:srgbClr val="000000"/>
                </a:solidFill>
                <a:latin typeface="Montserrat" panose="02000505000000020004"/>
                <a:cs typeface="Courier New" panose="02070309020205020404" pitchFamily="49" charset="0"/>
              </a:rPr>
              <a:t>Dengan</a:t>
            </a: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Buat </a:t>
            </a:r>
            <a:r>
              <a:rPr lang="en-US" sz="2400" dirty="0" err="1">
                <a:solidFill>
                  <a:srgbClr val="000000"/>
                </a:solidFill>
                <a:latin typeface="Montserrat" panose="02000505000000020004"/>
                <a:cs typeface="Courier New" panose="02070309020205020404" pitchFamily="49" charset="0"/>
              </a:rPr>
              <a:t>Pohon</a:t>
            </a:r>
            <a:r>
              <a:rPr lang="en-US" sz="2400" dirty="0">
                <a:solidFill>
                  <a:srgbClr val="000000"/>
                </a:solidFill>
                <a:latin typeface="Montserrat" panose="02000505000000020004"/>
                <a:cs typeface="Courier New" panose="02070309020205020404" pitchFamily="49" charset="0"/>
              </a:rPr>
              <a:t> </a:t>
            </a:r>
            <a:r>
              <a:rPr lang="en-US" sz="2400" dirty="0" err="1">
                <a:solidFill>
                  <a:srgbClr val="000000"/>
                </a:solidFill>
                <a:latin typeface="Montserrat" panose="02000505000000020004"/>
                <a:cs typeface="Courier New" panose="02070309020205020404" pitchFamily="49" charset="0"/>
              </a:rPr>
              <a:t>turundan</a:t>
            </a:r>
            <a:r>
              <a:rPr lang="en-US" sz="2400" dirty="0">
                <a:solidFill>
                  <a:srgbClr val="000000"/>
                </a:solidFill>
                <a:latin typeface="Montserrat" panose="02000505000000020004"/>
                <a:cs typeface="Courier New" panose="02070309020205020404" pitchFamily="49" charset="0"/>
              </a:rPr>
              <a:t> dan Bahasa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L(G).</a:t>
            </a:r>
          </a:p>
          <a:p>
            <a:pPr marL="0" indent="0" algn="just">
              <a:buNone/>
            </a:pPr>
            <a:endParaRPr lang="en-US" sz="2400" dirty="0">
              <a:solidFill>
                <a:srgbClr val="000000"/>
              </a:solidFill>
              <a:latin typeface="Montserrat" panose="02000505000000020004"/>
              <a:cs typeface="Courier New" panose="02070309020205020404" pitchFamily="49" charset="0"/>
            </a:endParaRPr>
          </a:p>
        </p:txBody>
      </p:sp>
      <p:pic>
        <p:nvPicPr>
          <p:cNvPr id="4" name="Picture 3">
            <a:extLst>
              <a:ext uri="{FF2B5EF4-FFF2-40B4-BE49-F238E27FC236}">
                <a16:creationId xmlns:a16="http://schemas.microsoft.com/office/drawing/2014/main" id="{E68040CB-D30B-4C1A-876B-CE1D52F74458}"/>
              </a:ext>
            </a:extLst>
          </p:cNvPr>
          <p:cNvPicPr>
            <a:picLocks noChangeAspect="1"/>
          </p:cNvPicPr>
          <p:nvPr/>
        </p:nvPicPr>
        <p:blipFill>
          <a:blip r:embed="rId2"/>
          <a:stretch>
            <a:fillRect/>
          </a:stretch>
        </p:blipFill>
        <p:spPr>
          <a:xfrm>
            <a:off x="620883" y="2485556"/>
            <a:ext cx="5125165" cy="924054"/>
          </a:xfrm>
          <a:prstGeom prst="rect">
            <a:avLst/>
          </a:prstGeom>
        </p:spPr>
      </p:pic>
    </p:spTree>
    <p:extLst>
      <p:ext uri="{BB962C8B-B14F-4D97-AF65-F5344CB8AC3E}">
        <p14:creationId xmlns:p14="http://schemas.microsoft.com/office/powerpoint/2010/main" val="4256056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2.2.3</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800" dirty="0">
                    <a:solidFill>
                      <a:srgbClr val="000000"/>
                    </a:solidFill>
                    <a:latin typeface="Montserrat" panose="02000505000000020004"/>
                  </a:rPr>
                  <a:t>Jawab:</a:t>
                </a: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en-US" sz="2800" dirty="0">
                    <a:solidFill>
                      <a:srgbClr val="000000"/>
                    </a:solidFill>
                    <a:latin typeface="Montserrat" panose="02000505000000020004"/>
                  </a:rPr>
                  <a:t>Gambar </a:t>
                </a:r>
                <a:r>
                  <a:rPr lang="en-US" sz="2800" dirty="0" err="1">
                    <a:solidFill>
                      <a:srgbClr val="000000"/>
                    </a:solidFill>
                    <a:latin typeface="Montserrat" panose="02000505000000020004"/>
                  </a:rPr>
                  <a:t>Pohon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turunan</a:t>
                </a:r>
                <a:r>
                  <a:rPr lang="en-US" sz="2800" dirty="0">
                    <a:solidFill>
                      <a:srgbClr val="000000"/>
                    </a:solidFill>
                    <a:latin typeface="Montserrat" panose="02000505000000020004"/>
                  </a:rPr>
                  <a:t> </a:t>
                </a:r>
                <a:r>
                  <a:rPr lang="en-US" sz="2800" dirty="0" err="1">
                    <a:solidFill>
                      <a:srgbClr val="000000"/>
                    </a:solidFill>
                    <a:latin typeface="Montserrat" panose="02000505000000020004"/>
                  </a:rPr>
                  <a:t>sebagai</a:t>
                </a:r>
                <a:r>
                  <a:rPr lang="en-US" sz="2800" dirty="0">
                    <a:solidFill>
                      <a:srgbClr val="000000"/>
                    </a:solidFill>
                    <a:latin typeface="Montserrat" panose="02000505000000020004"/>
                  </a:rPr>
                  <a:t> Berikut.</a:t>
                </a: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r>
                  <a:rPr lang="en-US" sz="2800" dirty="0">
                    <a:solidFill>
                      <a:srgbClr val="000000"/>
                    </a:solidFill>
                    <a:latin typeface="Montserrat" panose="02000505000000020004"/>
                  </a:rPr>
                  <a:t>Bahasa yang </a:t>
                </a:r>
                <a:r>
                  <a:rPr lang="en-US" sz="2800" dirty="0" err="1">
                    <a:solidFill>
                      <a:srgbClr val="000000"/>
                    </a:solidFill>
                    <a:latin typeface="Montserrat" panose="02000505000000020004"/>
                  </a:rPr>
                  <a:t>dihasilkan</a:t>
                </a:r>
                <a:r>
                  <a:rPr lang="en-US" sz="2800" dirty="0">
                    <a:solidFill>
                      <a:srgbClr val="000000"/>
                    </a:solidFill>
                    <a:latin typeface="Montserrat" panose="02000505000000020004"/>
                  </a:rPr>
                  <a:t> </a:t>
                </a:r>
                <a:r>
                  <a:rPr lang="en-US" sz="2800" i="1" dirty="0">
                    <a:solidFill>
                      <a:srgbClr val="000000"/>
                    </a:solidFill>
                    <a:latin typeface="Montserrat" panose="02000505000000020004"/>
                    <a:cs typeface="Courier New" panose="02070309020205020404" pitchFamily="49" charset="0"/>
                  </a:rPr>
                  <a:t>L(G)=</a:t>
                </a:r>
                <a:r>
                  <a:rPr lang="en-US" sz="2800" dirty="0">
                    <a:solidFill>
                      <a:srgbClr val="000000"/>
                    </a:solidFill>
                    <a:latin typeface="Montserrat" panose="02000505000000020004"/>
                    <a:cs typeface="Courier New" panose="02070309020205020404" pitchFamily="49" charset="0"/>
                  </a:rPr>
                  <a:t>{</a:t>
                </a:r>
                <a14:m>
                  <m:oMath xmlns:m="http://schemas.openxmlformats.org/officeDocument/2006/math">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𝑎</m:t>
                        </m:r>
                      </m:e>
                      <m:sup>
                        <m:r>
                          <a:rPr lang="en-US" sz="2800" i="1">
                            <a:solidFill>
                              <a:srgbClr val="000000"/>
                            </a:solidFill>
                            <a:latin typeface="Cambria Math" panose="02040503050406030204" pitchFamily="18" charset="0"/>
                          </a:rPr>
                          <m:t>𝑛</m:t>
                        </m:r>
                      </m:sup>
                    </m:sSup>
                  </m:oMath>
                </a14:m>
                <a:r>
                  <a:rPr lang="en-US" sz="2800" dirty="0">
                    <a:solidFill>
                      <a:srgbClr val="000000"/>
                    </a:solidFill>
                  </a:rPr>
                  <a:t> </a:t>
                </a:r>
                <a14:m>
                  <m:oMath xmlns:m="http://schemas.openxmlformats.org/officeDocument/2006/math">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𝑏</m:t>
                        </m:r>
                      </m:e>
                      <m:sup>
                        <m:r>
                          <a:rPr lang="en-US" sz="2800" b="0" i="1" smtClean="0">
                            <a:solidFill>
                              <a:srgbClr val="000000"/>
                            </a:solidFill>
                            <a:latin typeface="Cambria Math" panose="02040503050406030204" pitchFamily="18" charset="0"/>
                          </a:rPr>
                          <m:t>𝑛</m:t>
                        </m:r>
                      </m:sup>
                    </m:sSup>
                  </m:oMath>
                </a14:m>
                <a:r>
                  <a:rPr lang="en-US" sz="2800" dirty="0">
                    <a:solidFill>
                      <a:srgbClr val="000000"/>
                    </a:solidFill>
                    <a:latin typeface="Montserrat" panose="02000505000000020004"/>
                    <a:cs typeface="Courier New" panose="02070309020205020404" pitchFamily="49" charset="0"/>
                  </a:rPr>
                  <a:t> | </a:t>
                </a:r>
                <a:r>
                  <a:rPr lang="en-US" sz="2800" i="1" dirty="0">
                    <a:solidFill>
                      <a:srgbClr val="000000"/>
                    </a:solidFill>
                    <a:latin typeface="Montserrat" panose="02000505000000020004"/>
                    <a:cs typeface="Courier New" panose="02070309020205020404" pitchFamily="49" charset="0"/>
                  </a:rPr>
                  <a:t>n</a:t>
                </a:r>
                <a:r>
                  <a:rPr lang="en-US" sz="2800" dirty="0">
                    <a:solidFill>
                      <a:srgbClr val="000000"/>
                    </a:solidFill>
                    <a:latin typeface="Montserrat" panose="02000505000000020004"/>
                    <a:cs typeface="Courier New" panose="02070309020205020404" pitchFamily="49" charset="0"/>
                  </a:rPr>
                  <a:t>≥1}.</a:t>
                </a: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Courier New" panose="02070309020205020404" pitchFamily="49" charset="0"/>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623822"/>
              </a:xfrm>
              <a:blipFill>
                <a:blip r:embed="rId2"/>
                <a:stretch>
                  <a:fillRect l="-1434" t="-1733"/>
                </a:stretch>
              </a:blipFill>
            </p:spPr>
            <p:txBody>
              <a:bodyPr/>
              <a:lstStyle/>
              <a:p>
                <a:r>
                  <a:rPr lang="en-ID">
                    <a:noFill/>
                  </a:rPr>
                  <a:t> </a:t>
                </a:r>
              </a:p>
            </p:txBody>
          </p:sp>
        </mc:Fallback>
      </mc:AlternateContent>
      <p:pic>
        <p:nvPicPr>
          <p:cNvPr id="4" name="Picture 3">
            <a:extLst>
              <a:ext uri="{FF2B5EF4-FFF2-40B4-BE49-F238E27FC236}">
                <a16:creationId xmlns:a16="http://schemas.microsoft.com/office/drawing/2014/main" id="{0E808C43-028B-400E-B281-EFC9E7996FA2}"/>
              </a:ext>
            </a:extLst>
          </p:cNvPr>
          <p:cNvPicPr>
            <a:picLocks noChangeAspect="1"/>
          </p:cNvPicPr>
          <p:nvPr/>
        </p:nvPicPr>
        <p:blipFill>
          <a:blip r:embed="rId3"/>
          <a:stretch>
            <a:fillRect/>
          </a:stretch>
        </p:blipFill>
        <p:spPr>
          <a:xfrm>
            <a:off x="454082" y="1511493"/>
            <a:ext cx="3694585" cy="1928492"/>
          </a:xfrm>
          <a:prstGeom prst="rect">
            <a:avLst/>
          </a:prstGeom>
        </p:spPr>
      </p:pic>
      <p:pic>
        <p:nvPicPr>
          <p:cNvPr id="6" name="Picture 5">
            <a:extLst>
              <a:ext uri="{FF2B5EF4-FFF2-40B4-BE49-F238E27FC236}">
                <a16:creationId xmlns:a16="http://schemas.microsoft.com/office/drawing/2014/main" id="{B50292BF-1FEF-41D4-B575-7F9B08CDB775}"/>
              </a:ext>
            </a:extLst>
          </p:cNvPr>
          <p:cNvPicPr>
            <a:picLocks noChangeAspect="1"/>
          </p:cNvPicPr>
          <p:nvPr/>
        </p:nvPicPr>
        <p:blipFill>
          <a:blip r:embed="rId4"/>
          <a:stretch>
            <a:fillRect/>
          </a:stretch>
        </p:blipFill>
        <p:spPr>
          <a:xfrm>
            <a:off x="6679488" y="3439985"/>
            <a:ext cx="1514686" cy="1943371"/>
          </a:xfrm>
          <a:prstGeom prst="rect">
            <a:avLst/>
          </a:prstGeom>
        </p:spPr>
      </p:pic>
    </p:spTree>
    <p:extLst>
      <p:ext uri="{BB962C8B-B14F-4D97-AF65-F5344CB8AC3E}">
        <p14:creationId xmlns:p14="http://schemas.microsoft.com/office/powerpoint/2010/main" val="914169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2.2.4</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800" dirty="0">
                <a:solidFill>
                  <a:srgbClr val="000000"/>
                </a:solidFill>
                <a:latin typeface="Montserrat" panose="02000505000000020004"/>
              </a:rPr>
              <a:t>Diberikan </a:t>
            </a:r>
            <a:r>
              <a:rPr lang="en-US" sz="2800" dirty="0" err="1">
                <a:solidFill>
                  <a:srgbClr val="000000"/>
                </a:solidFill>
                <a:latin typeface="Montserrat" panose="02000505000000020004"/>
              </a:rPr>
              <a:t>sebuah</a:t>
            </a:r>
            <a:r>
              <a:rPr lang="en-US" sz="2800" dirty="0">
                <a:solidFill>
                  <a:srgbClr val="000000"/>
                </a:solidFill>
                <a:latin typeface="Montserrat" panose="02000505000000020004"/>
              </a:rPr>
              <a:t> CFG yang diberikan oleh </a:t>
            </a:r>
          </a:p>
          <a:p>
            <a:pPr marL="0" indent="0" algn="just">
              <a:buNone/>
            </a:pPr>
            <a:r>
              <a:rPr lang="en-US" sz="2400" dirty="0">
                <a:solidFill>
                  <a:srgbClr val="000000"/>
                </a:solidFill>
                <a:latin typeface="Courier New" panose="02070309020205020404" pitchFamily="49" charset="0"/>
                <a:cs typeface="Courier New" panose="02070309020205020404" pitchFamily="49" charset="0"/>
              </a:rPr>
              <a:t>G = (N, T, P, S) </a:t>
            </a:r>
          </a:p>
          <a:p>
            <a:pPr marL="0" indent="0" algn="just">
              <a:buNone/>
            </a:pPr>
            <a:r>
              <a:rPr lang="en-US" sz="2400" dirty="0">
                <a:solidFill>
                  <a:srgbClr val="000000"/>
                </a:solidFill>
                <a:latin typeface="Montserrat" panose="02000505000000020004"/>
                <a:cs typeface="Courier New" panose="02070309020205020404" pitchFamily="49" charset="0"/>
              </a:rPr>
              <a:t>Dengan</a:t>
            </a: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Buat </a:t>
            </a:r>
            <a:r>
              <a:rPr lang="en-US" sz="2400" dirty="0" err="1">
                <a:solidFill>
                  <a:srgbClr val="000000"/>
                </a:solidFill>
                <a:latin typeface="Montserrat" panose="02000505000000020004"/>
                <a:cs typeface="Courier New" panose="02070309020205020404" pitchFamily="49" charset="0"/>
              </a:rPr>
              <a:t>Pohon</a:t>
            </a:r>
            <a:r>
              <a:rPr lang="en-US" sz="2400" dirty="0">
                <a:solidFill>
                  <a:srgbClr val="000000"/>
                </a:solidFill>
                <a:latin typeface="Montserrat" panose="02000505000000020004"/>
                <a:cs typeface="Courier New" panose="02070309020205020404" pitchFamily="49" charset="0"/>
              </a:rPr>
              <a:t> </a:t>
            </a:r>
            <a:r>
              <a:rPr lang="en-US" sz="2400" dirty="0" err="1">
                <a:solidFill>
                  <a:srgbClr val="000000"/>
                </a:solidFill>
                <a:latin typeface="Montserrat" panose="02000505000000020004"/>
                <a:cs typeface="Courier New" panose="02070309020205020404" pitchFamily="49" charset="0"/>
              </a:rPr>
              <a:t>turundan</a:t>
            </a:r>
            <a:r>
              <a:rPr lang="en-US" sz="2400" dirty="0">
                <a:solidFill>
                  <a:srgbClr val="000000"/>
                </a:solidFill>
                <a:latin typeface="Montserrat" panose="02000505000000020004"/>
                <a:cs typeface="Courier New" panose="02070309020205020404" pitchFamily="49" charset="0"/>
              </a:rPr>
              <a:t> dan Bahasa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L(G).</a:t>
            </a:r>
          </a:p>
          <a:p>
            <a:pPr marL="0" indent="0" algn="just">
              <a:buNone/>
            </a:pPr>
            <a:endParaRPr lang="en-US" sz="2400" dirty="0">
              <a:solidFill>
                <a:srgbClr val="000000"/>
              </a:solidFill>
              <a:latin typeface="Montserrat" panose="02000505000000020004"/>
              <a:cs typeface="Courier New" panose="02070309020205020404" pitchFamily="49" charset="0"/>
            </a:endParaRPr>
          </a:p>
        </p:txBody>
      </p:sp>
      <p:pic>
        <p:nvPicPr>
          <p:cNvPr id="5" name="Picture 4">
            <a:extLst>
              <a:ext uri="{FF2B5EF4-FFF2-40B4-BE49-F238E27FC236}">
                <a16:creationId xmlns:a16="http://schemas.microsoft.com/office/drawing/2014/main" id="{3E324285-B0BE-4B6F-9F36-3969B26C7D62}"/>
              </a:ext>
            </a:extLst>
          </p:cNvPr>
          <p:cNvPicPr>
            <a:picLocks noChangeAspect="1"/>
          </p:cNvPicPr>
          <p:nvPr/>
        </p:nvPicPr>
        <p:blipFill rotWithShape="1">
          <a:blip r:embed="rId2"/>
          <a:srcRect l="8949" t="-57" b="8978"/>
          <a:stretch/>
        </p:blipFill>
        <p:spPr>
          <a:xfrm>
            <a:off x="521816" y="2438401"/>
            <a:ext cx="4486489" cy="901700"/>
          </a:xfrm>
          <a:prstGeom prst="rect">
            <a:avLst/>
          </a:prstGeom>
        </p:spPr>
      </p:pic>
    </p:spTree>
    <p:extLst>
      <p:ext uri="{BB962C8B-B14F-4D97-AF65-F5344CB8AC3E}">
        <p14:creationId xmlns:p14="http://schemas.microsoft.com/office/powerpoint/2010/main" val="3068558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2.2.4</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800" dirty="0">
                <a:solidFill>
                  <a:srgbClr val="000000"/>
                </a:solidFill>
                <a:latin typeface="Montserrat" panose="02000505000000020004"/>
              </a:rPr>
              <a:t>Jawab:</a:t>
            </a: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Montserrat" panose="02000505000000020004"/>
            </a:endParaRPr>
          </a:p>
          <a:p>
            <a:pPr marL="0" indent="0" algn="just">
              <a:buNone/>
            </a:pPr>
            <a:endParaRPr lang="en-US" sz="2800" dirty="0">
              <a:solidFill>
                <a:srgbClr val="000000"/>
              </a:solidFill>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E097CD1B-513B-43D5-A194-2813E8CB460F}"/>
              </a:ext>
            </a:extLst>
          </p:cNvPr>
          <p:cNvPicPr>
            <a:picLocks noChangeAspect="1"/>
          </p:cNvPicPr>
          <p:nvPr/>
        </p:nvPicPr>
        <p:blipFill>
          <a:blip r:embed="rId2"/>
          <a:stretch>
            <a:fillRect/>
          </a:stretch>
        </p:blipFill>
        <p:spPr>
          <a:xfrm>
            <a:off x="692898" y="1313254"/>
            <a:ext cx="4786103" cy="2115745"/>
          </a:xfrm>
          <a:prstGeom prst="rect">
            <a:avLst/>
          </a:prstGeom>
        </p:spPr>
      </p:pic>
      <p:pic>
        <p:nvPicPr>
          <p:cNvPr id="7" name="Picture 6">
            <a:extLst>
              <a:ext uri="{FF2B5EF4-FFF2-40B4-BE49-F238E27FC236}">
                <a16:creationId xmlns:a16="http://schemas.microsoft.com/office/drawing/2014/main" id="{63304EA0-C30E-4684-9C7A-DA15EBC76432}"/>
              </a:ext>
            </a:extLst>
          </p:cNvPr>
          <p:cNvPicPr>
            <a:picLocks noChangeAspect="1"/>
          </p:cNvPicPr>
          <p:nvPr/>
        </p:nvPicPr>
        <p:blipFill>
          <a:blip r:embed="rId3"/>
          <a:stretch>
            <a:fillRect/>
          </a:stretch>
        </p:blipFill>
        <p:spPr>
          <a:xfrm>
            <a:off x="692897" y="3569801"/>
            <a:ext cx="4752987" cy="1340866"/>
          </a:xfrm>
          <a:prstGeom prst="rect">
            <a:avLst/>
          </a:prstGeom>
        </p:spPr>
      </p:pic>
    </p:spTree>
    <p:extLst>
      <p:ext uri="{BB962C8B-B14F-4D97-AF65-F5344CB8AC3E}">
        <p14:creationId xmlns:p14="http://schemas.microsoft.com/office/powerpoint/2010/main" val="2747533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2.2.4</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a:solidFill>
                      <a:srgbClr val="000000"/>
                    </a:solidFill>
                    <a:latin typeface="Montserrat" panose="02000505000000020004"/>
                  </a:rPr>
                  <a:t>Jawab:</a:t>
                </a: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r>
                  <a:rPr lang="en-US" sz="2400" dirty="0">
                    <a:solidFill>
                      <a:srgbClr val="000000"/>
                    </a:solidFill>
                    <a:latin typeface="Montserrat" panose="02000505000000020004"/>
                  </a:rPr>
                  <a:t>Oleh </a:t>
                </a:r>
                <a:r>
                  <a:rPr lang="en-US" sz="2400" dirty="0" err="1">
                    <a:solidFill>
                      <a:srgbClr val="000000"/>
                    </a:solidFill>
                    <a:latin typeface="Montserrat" panose="02000505000000020004"/>
                  </a:rPr>
                  <a:t>karena</a:t>
                </a:r>
                <a:r>
                  <a:rPr lang="en-US" sz="2400" dirty="0">
                    <a:solidFill>
                      <a:srgbClr val="000000"/>
                    </a:solidFill>
                    <a:latin typeface="Montserrat" panose="02000505000000020004"/>
                  </a:rPr>
                  <a:t> itu, Bahasa yang </a:t>
                </a:r>
                <a:r>
                  <a:rPr lang="en-US" sz="2400" dirty="0" err="1">
                    <a:solidFill>
                      <a:srgbClr val="000000"/>
                    </a:solidFill>
                    <a:latin typeface="Montserrat" panose="02000505000000020004"/>
                  </a:rPr>
                  <a:t>dihasilkan</a:t>
                </a:r>
                <a:br>
                  <a:rPr lang="en-US" sz="2400" dirty="0">
                    <a:solidFill>
                      <a:srgbClr val="000000"/>
                    </a:solidFill>
                    <a:latin typeface="Montserrat" panose="02000505000000020004"/>
                  </a:rPr>
                </a:br>
                <a:r>
                  <a:rPr lang="en-US" sz="2400" i="1" dirty="0">
                    <a:solidFill>
                      <a:srgbClr val="000000"/>
                    </a:solidFill>
                    <a:latin typeface="Courier New" panose="02070309020205020404" pitchFamily="49" charset="0"/>
                    <a:cs typeface="Courier New" panose="02070309020205020404" pitchFamily="49" charset="0"/>
                  </a:rPr>
                  <a:t>L(G)=</a:t>
                </a:r>
                <a:r>
                  <a:rPr lang="en-US" sz="2400" dirty="0">
                    <a:solidFill>
                      <a:srgbClr val="000000"/>
                    </a:solidFill>
                    <a:latin typeface="Courier New" panose="02070309020205020404" pitchFamily="49" charset="0"/>
                    <a:cs typeface="Courier New" panose="02070309020205020404" pitchFamily="49" charset="0"/>
                  </a:rPr>
                  <a:t>{</a:t>
                </a:r>
                <a14:m>
                  <m:oMath xmlns:m="http://schemas.openxmlformats.org/officeDocument/2006/math">
                    <m:sSup>
                      <m:sSupPr>
                        <m:ctrlPr>
                          <a:rPr lang="en-US" sz="2400" i="1">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𝑤𝑐𝑤</m:t>
                        </m:r>
                      </m:e>
                      <m:sup>
                        <m:r>
                          <a:rPr lang="en-US" sz="2400" b="0" i="1" smtClean="0">
                            <a:solidFill>
                              <a:srgbClr val="000000"/>
                            </a:solidFill>
                            <a:latin typeface="Cambria Math" panose="02040503050406030204" pitchFamily="18" charset="0"/>
                          </a:rPr>
                          <m:t>𝑅</m:t>
                        </m:r>
                      </m:sup>
                    </m:sSup>
                    <m:r>
                      <a:rPr lang="en-US" sz="2400" b="0" i="1" smtClean="0">
                        <a:solidFill>
                          <a:srgbClr val="000000"/>
                        </a:solidFill>
                        <a:latin typeface="Cambria Math" panose="02040503050406030204" pitchFamily="18" charset="0"/>
                      </a:rPr>
                      <m:t>|</m:t>
                    </m:r>
                    <m:r>
                      <m:rPr>
                        <m:nor/>
                      </m:rPr>
                      <a:rPr lang="en-US" sz="2400" i="1" dirty="0">
                        <a:solidFill>
                          <a:srgbClr val="000000"/>
                        </a:solidFill>
                        <a:latin typeface="Courier New" panose="02070309020205020404" pitchFamily="49" charset="0"/>
                        <a:cs typeface="Courier New" panose="02070309020205020404" pitchFamily="49" charset="0"/>
                        <a:sym typeface="Wingdings" panose="05000000000000000000" pitchFamily="2" charset="2"/>
                      </a:rPr>
                      <m:t>w</m:t>
                    </m:r>
                    <m:r>
                      <m:rPr>
                        <m:nor/>
                      </m:rPr>
                      <a:rPr lang="en-US" sz="2400" i="1" dirty="0">
                        <a:solidFill>
                          <a:srgbClr val="000000"/>
                        </a:solidFill>
                        <a:latin typeface="Courier New" panose="02070309020205020404" pitchFamily="49" charset="0"/>
                        <a:cs typeface="Courier New" panose="02070309020205020404" pitchFamily="49" charset="0"/>
                      </a:rPr>
                      <m:t>∈</m:t>
                    </m:r>
                    <m:r>
                      <m:rPr>
                        <m:nor/>
                      </m:rPr>
                      <a:rPr lang="en-US" sz="2400" dirty="0">
                        <a:solidFill>
                          <a:srgbClr val="000000"/>
                        </a:solidFill>
                        <a:latin typeface="Courier New" panose="02070309020205020404" pitchFamily="49" charset="0"/>
                        <a:cs typeface="Courier New" panose="02070309020205020404" pitchFamily="49" charset="0"/>
                      </a:rPr>
                      <m:t>{</m:t>
                    </m:r>
                    <m:r>
                      <m:rPr>
                        <m:nor/>
                      </m:rPr>
                      <a:rPr lang="en-US" sz="2400" i="1" dirty="0">
                        <a:solidFill>
                          <a:srgbClr val="000000"/>
                        </a:solidFill>
                        <a:latin typeface="Courier New" panose="02070309020205020404" pitchFamily="49" charset="0"/>
                        <a:cs typeface="Courier New" panose="02070309020205020404" pitchFamily="49" charset="0"/>
                      </a:rPr>
                      <m:t>a</m:t>
                    </m:r>
                    <m:r>
                      <m:rPr>
                        <m:nor/>
                      </m:rPr>
                      <a:rPr lang="en-US" sz="2400" i="1" dirty="0">
                        <a:solidFill>
                          <a:srgbClr val="000000"/>
                        </a:solidFill>
                        <a:latin typeface="Courier New" panose="02070309020205020404" pitchFamily="49" charset="0"/>
                        <a:cs typeface="Courier New" panose="02070309020205020404" pitchFamily="49" charset="0"/>
                      </a:rPr>
                      <m:t>,</m:t>
                    </m:r>
                    <m:r>
                      <m:rPr>
                        <m:nor/>
                      </m:rPr>
                      <a:rPr lang="en-US" sz="2400" i="1" dirty="0">
                        <a:solidFill>
                          <a:srgbClr val="000000"/>
                        </a:solidFill>
                        <a:latin typeface="Courier New" panose="02070309020205020404" pitchFamily="49" charset="0"/>
                        <a:cs typeface="Courier New" panose="02070309020205020404" pitchFamily="49" charset="0"/>
                      </a:rPr>
                      <m:t>b</m:t>
                    </m:r>
                    <m:r>
                      <m:rPr>
                        <m:nor/>
                      </m:rPr>
                      <a:rPr lang="en-US" sz="2400" dirty="0">
                        <a:solidFill>
                          <a:srgbClr val="000000"/>
                        </a:solidFill>
                        <a:latin typeface="Courier New" panose="02070309020205020404" pitchFamily="49" charset="0"/>
                        <a:cs typeface="Courier New" panose="02070309020205020404" pitchFamily="49" charset="0"/>
                      </a:rPr>
                      <m:t>}∗}.</m:t>
                    </m:r>
                  </m:oMath>
                </a14:m>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dimana</a:t>
                </a:r>
                <a:r>
                  <a:rPr lang="en-US" sz="2400" dirty="0">
                    <a:solidFill>
                      <a:srgbClr val="000000"/>
                    </a:solidFill>
                  </a:rPr>
                  <a:t> </a:t>
                </a:r>
                <a14:m>
                  <m:oMath xmlns:m="http://schemas.openxmlformats.org/officeDocument/2006/math">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𝑤</m:t>
                        </m:r>
                      </m:e>
                      <m:sup>
                        <m:r>
                          <a:rPr lang="en-US" sz="2400" i="1">
                            <a:solidFill>
                              <a:srgbClr val="000000"/>
                            </a:solidFill>
                            <a:latin typeface="Cambria Math" panose="02040503050406030204" pitchFamily="18" charset="0"/>
                          </a:rPr>
                          <m:t>𝑅</m:t>
                        </m:r>
                      </m:sup>
                    </m:sSup>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𝑘𝑒𝑏𝑎𝑙𝑖𝑘𝑎𝑛</m:t>
                    </m:r>
                    <m:r>
                      <a:rPr lang="en-US" sz="2400" b="0" i="1" smtClean="0">
                        <a:solidFill>
                          <a:srgbClr val="000000"/>
                        </a:solidFill>
                        <a:latin typeface="Cambria Math" panose="02040503050406030204" pitchFamily="18" charset="0"/>
                      </a:rPr>
                      <m:t> </m:t>
                    </m:r>
                    <m:r>
                      <a:rPr lang="en-US" sz="2400" b="0" i="1" smtClean="0">
                        <a:solidFill>
                          <a:srgbClr val="000000"/>
                        </a:solidFill>
                        <a:latin typeface="Cambria Math" panose="02040503050406030204" pitchFamily="18" charset="0"/>
                      </a:rPr>
                      <m:t>𝑑𝑎𝑟𝑖</m:t>
                    </m:r>
                    <m:r>
                      <a:rPr lang="en-US" sz="2400" b="0" i="1" smtClean="0">
                        <a:solidFill>
                          <a:srgbClr val="000000"/>
                        </a:solidFill>
                        <a:latin typeface="Cambria Math" panose="02040503050406030204" pitchFamily="18" charset="0"/>
                      </a:rPr>
                      <m:t> </m:t>
                    </m:r>
                    <m:r>
                      <a:rPr lang="en-US" sz="2400" b="0" i="1" smtClean="0">
                        <a:solidFill>
                          <a:srgbClr val="000000"/>
                        </a:solidFill>
                        <a:latin typeface="Cambria Math" panose="02040503050406030204" pitchFamily="18" charset="0"/>
                      </a:rPr>
                      <m:t>𝑤</m:t>
                    </m:r>
                  </m:oMath>
                </a14:m>
                <a:endParaRPr lang="en-US" sz="2400" dirty="0">
                  <a:solidFill>
                    <a:srgbClr val="000000"/>
                  </a:solidFill>
                  <a:latin typeface="Courier New" panose="02070309020205020404" pitchFamily="49" charset="0"/>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Maka,  </a:t>
                </a:r>
                <a:r>
                  <a:rPr lang="en-US" sz="2400" dirty="0" err="1">
                    <a:solidFill>
                      <a:srgbClr val="000000"/>
                    </a:solidFill>
                    <a:latin typeface="Montserrat" panose="02000505000000020004"/>
                    <a:cs typeface="Courier New" panose="02070309020205020404" pitchFamily="49" charset="0"/>
                  </a:rPr>
                  <a:t>Jika</a:t>
                </a: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	Maka</a:t>
                </a: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Montserrat" panose="02000505000000020004"/>
                </a:endParaRPr>
              </a:p>
              <a:p>
                <a:pPr marL="0" indent="0" algn="just">
                  <a:buNone/>
                </a:pPr>
                <a:endParaRPr lang="en-US" sz="2400" dirty="0">
                  <a:solidFill>
                    <a:srgbClr val="000000"/>
                  </a:solidFill>
                  <a:latin typeface="Courier New" panose="02070309020205020404" pitchFamily="49" charset="0"/>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623822"/>
              </a:xfrm>
              <a:blipFill>
                <a:blip r:embed="rId2"/>
                <a:stretch>
                  <a:fillRect l="-1075" t="-1517" r="-1075"/>
                </a:stretch>
              </a:blipFill>
            </p:spPr>
            <p:txBody>
              <a:bodyPr/>
              <a:lstStyle/>
              <a:p>
                <a:r>
                  <a:rPr lang="en-ID">
                    <a:noFill/>
                  </a:rPr>
                  <a:t> </a:t>
                </a:r>
              </a:p>
            </p:txBody>
          </p:sp>
        </mc:Fallback>
      </mc:AlternateContent>
      <p:pic>
        <p:nvPicPr>
          <p:cNvPr id="4" name="Picture 3">
            <a:extLst>
              <a:ext uri="{FF2B5EF4-FFF2-40B4-BE49-F238E27FC236}">
                <a16:creationId xmlns:a16="http://schemas.microsoft.com/office/drawing/2014/main" id="{8F8FB51F-555B-4ACB-A7D5-6ADDD11AF4A4}"/>
              </a:ext>
            </a:extLst>
          </p:cNvPr>
          <p:cNvPicPr>
            <a:picLocks noChangeAspect="1"/>
          </p:cNvPicPr>
          <p:nvPr/>
        </p:nvPicPr>
        <p:blipFill>
          <a:blip r:embed="rId3"/>
          <a:stretch>
            <a:fillRect/>
          </a:stretch>
        </p:blipFill>
        <p:spPr>
          <a:xfrm>
            <a:off x="454083" y="1852836"/>
            <a:ext cx="3203171" cy="1576164"/>
          </a:xfrm>
          <a:prstGeom prst="rect">
            <a:avLst/>
          </a:prstGeom>
        </p:spPr>
      </p:pic>
      <p:pic>
        <p:nvPicPr>
          <p:cNvPr id="6" name="Picture 5">
            <a:extLst>
              <a:ext uri="{FF2B5EF4-FFF2-40B4-BE49-F238E27FC236}">
                <a16:creationId xmlns:a16="http://schemas.microsoft.com/office/drawing/2014/main" id="{023357EB-C7C7-4D60-A520-30CF0143BE64}"/>
              </a:ext>
            </a:extLst>
          </p:cNvPr>
          <p:cNvPicPr>
            <a:picLocks noChangeAspect="1"/>
          </p:cNvPicPr>
          <p:nvPr/>
        </p:nvPicPr>
        <p:blipFill>
          <a:blip r:embed="rId4"/>
          <a:stretch>
            <a:fillRect/>
          </a:stretch>
        </p:blipFill>
        <p:spPr>
          <a:xfrm>
            <a:off x="3972365" y="1366887"/>
            <a:ext cx="1835768" cy="2332668"/>
          </a:xfrm>
          <a:prstGeom prst="rect">
            <a:avLst/>
          </a:prstGeom>
        </p:spPr>
      </p:pic>
      <p:pic>
        <p:nvPicPr>
          <p:cNvPr id="8" name="Picture 7">
            <a:extLst>
              <a:ext uri="{FF2B5EF4-FFF2-40B4-BE49-F238E27FC236}">
                <a16:creationId xmlns:a16="http://schemas.microsoft.com/office/drawing/2014/main" id="{ECEB30EA-0ED7-41DB-90E9-7A4534031721}"/>
              </a:ext>
            </a:extLst>
          </p:cNvPr>
          <p:cNvPicPr>
            <a:picLocks noChangeAspect="1"/>
          </p:cNvPicPr>
          <p:nvPr/>
        </p:nvPicPr>
        <p:blipFill rotWithShape="1">
          <a:blip r:embed="rId5"/>
          <a:srcRect l="20820"/>
          <a:stretch/>
        </p:blipFill>
        <p:spPr>
          <a:xfrm>
            <a:off x="2298147" y="5213573"/>
            <a:ext cx="4198715" cy="1321215"/>
          </a:xfrm>
          <a:prstGeom prst="rect">
            <a:avLst/>
          </a:prstGeom>
        </p:spPr>
      </p:pic>
    </p:spTree>
    <p:extLst>
      <p:ext uri="{BB962C8B-B14F-4D97-AF65-F5344CB8AC3E}">
        <p14:creationId xmlns:p14="http://schemas.microsoft.com/office/powerpoint/2010/main" val="1915208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2.2.5</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err="1">
                <a:solidFill>
                  <a:srgbClr val="000000"/>
                </a:solidFill>
                <a:latin typeface="Montserrat" panose="02000505000000020004"/>
                <a:cs typeface="Courier New" panose="02070309020205020404" pitchFamily="49" charset="0"/>
              </a:rPr>
              <a:t>Diketahui</a:t>
            </a:r>
            <a:r>
              <a:rPr lang="en-US" sz="2400" dirty="0">
                <a:solidFill>
                  <a:srgbClr val="000000"/>
                </a:solidFill>
                <a:latin typeface="Montserrat" panose="02000505000000020004"/>
                <a:cs typeface="Courier New" panose="02070309020205020404" pitchFamily="49" charset="0"/>
              </a:rPr>
              <a:t> G </a:t>
            </a:r>
            <a:r>
              <a:rPr lang="en-ID" sz="2400" dirty="0">
                <a:solidFill>
                  <a:srgbClr val="000000"/>
                </a:solidFill>
              </a:rPr>
              <a:t>= (N, T, P, S) </a:t>
            </a:r>
            <a:r>
              <a:rPr lang="en-ID" sz="2400" dirty="0" err="1">
                <a:solidFill>
                  <a:srgbClr val="000000"/>
                </a:solidFill>
              </a:rPr>
              <a:t>dengan</a:t>
            </a:r>
            <a:endParaRPr lang="en-ID" sz="2400" dirty="0">
              <a:solidFill>
                <a:srgbClr val="000000"/>
              </a:solidFill>
            </a:endParaRPr>
          </a:p>
          <a:p>
            <a:pPr marL="0" indent="0" algn="just">
              <a:buNone/>
            </a:pPr>
            <a:r>
              <a:rPr lang="en-ID" sz="2400" dirty="0">
                <a:solidFill>
                  <a:srgbClr val="000000"/>
                </a:solidFill>
                <a:latin typeface="Courier New" panose="02070309020205020404" pitchFamily="49" charset="0"/>
                <a:cs typeface="Courier New" panose="02070309020205020404" pitchFamily="49" charset="0"/>
              </a:rPr>
              <a:t>N = {E}, S =E,T ={id,+,*,c}</a:t>
            </a:r>
          </a:p>
          <a:p>
            <a:pPr marL="0" indent="0" algn="just">
              <a:buNone/>
            </a:pPr>
            <a:r>
              <a:rPr lang="en-ID" sz="2400" dirty="0">
                <a:solidFill>
                  <a:srgbClr val="000000"/>
                </a:solidFill>
                <a:latin typeface="Courier New" panose="02070309020205020404" pitchFamily="49" charset="0"/>
                <a:cs typeface="Courier New" panose="02070309020205020404" pitchFamily="49" charset="0"/>
              </a:rPr>
              <a:t>Dan 	P</a:t>
            </a:r>
            <a:r>
              <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:1. EE+E</a:t>
            </a:r>
          </a:p>
          <a:p>
            <a:pPr marL="0" indent="0" algn="just">
              <a:buNone/>
            </a:pPr>
            <a:r>
              <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2. EE*E</a:t>
            </a:r>
          </a:p>
          <a:p>
            <a:pPr marL="0" indent="0" algn="just">
              <a:buNone/>
            </a:pPr>
            <a:r>
              <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3. EE</a:t>
            </a:r>
          </a:p>
          <a:p>
            <a:pPr marL="0" indent="0" algn="just">
              <a:buNone/>
            </a:pPr>
            <a:r>
              <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4. </a:t>
            </a: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Eid</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just">
              <a:buNone/>
            </a:pPr>
            <a:r>
              <a:rPr lang="en-ID" sz="2400" dirty="0" err="1">
                <a:solidFill>
                  <a:srgbClr val="000000"/>
                </a:solidFill>
                <a:latin typeface="Montserrat" panose="02000505000000020004"/>
                <a:cs typeface="Courier New" panose="02070309020205020404" pitchFamily="49" charset="0"/>
                <a:sym typeface="Wingdings" panose="05000000000000000000" pitchFamily="2" charset="2"/>
              </a:rPr>
              <a:t>Buatlah</a:t>
            </a: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ID" sz="2400" dirty="0" err="1">
                <a:solidFill>
                  <a:srgbClr val="000000"/>
                </a:solidFill>
                <a:latin typeface="Montserrat" panose="02000505000000020004"/>
                <a:cs typeface="Courier New" panose="02070309020205020404" pitchFamily="49" charset="0"/>
                <a:sym typeface="Wingdings" panose="05000000000000000000" pitchFamily="2" charset="2"/>
              </a:rPr>
              <a:t>Pohon</a:t>
            </a: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ID" sz="2400" dirty="0" err="1">
                <a:solidFill>
                  <a:srgbClr val="000000"/>
                </a:solidFill>
                <a:latin typeface="Montserrat" panose="02000505000000020004"/>
                <a:cs typeface="Courier New" panose="02070309020205020404" pitchFamily="49" charset="0"/>
                <a:sym typeface="Wingdings" panose="05000000000000000000" pitchFamily="2" charset="2"/>
              </a:rPr>
              <a:t>turunannya</a:t>
            </a: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a:t>
            </a:r>
          </a:p>
          <a:p>
            <a:pPr marL="0" indent="0" algn="just">
              <a:buNone/>
            </a:pPr>
            <a:endParaRPr lang="en-US" sz="2400" dirty="0">
              <a:solidFill>
                <a:srgbClr val="000000"/>
              </a:solidFill>
              <a:latin typeface="Montserrat" panose="02000505000000020004"/>
              <a:cs typeface="Courier New" panose="02070309020205020404" pitchFamily="49" charset="0"/>
            </a:endParaRPr>
          </a:p>
        </p:txBody>
      </p:sp>
    </p:spTree>
    <p:extLst>
      <p:ext uri="{BB962C8B-B14F-4D97-AF65-F5344CB8AC3E}">
        <p14:creationId xmlns:p14="http://schemas.microsoft.com/office/powerpoint/2010/main" val="2121544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2.2.5</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a:solidFill>
                  <a:srgbClr val="000000"/>
                </a:solidFill>
                <a:latin typeface="Montserrat" panose="02000505000000020004"/>
                <a:cs typeface="Courier New" panose="02070309020205020404" pitchFamily="49" charset="0"/>
              </a:rPr>
              <a:t>Jawab</a:t>
            </a:r>
          </a:p>
        </p:txBody>
      </p:sp>
      <p:pic>
        <p:nvPicPr>
          <p:cNvPr id="4" name="Picture 3">
            <a:extLst>
              <a:ext uri="{FF2B5EF4-FFF2-40B4-BE49-F238E27FC236}">
                <a16:creationId xmlns:a16="http://schemas.microsoft.com/office/drawing/2014/main" id="{7E743E70-E002-44A7-9396-5644FCD06E7F}"/>
              </a:ext>
            </a:extLst>
          </p:cNvPr>
          <p:cNvPicPr>
            <a:picLocks noChangeAspect="1"/>
          </p:cNvPicPr>
          <p:nvPr/>
        </p:nvPicPr>
        <p:blipFill>
          <a:blip r:embed="rId2"/>
          <a:stretch>
            <a:fillRect/>
          </a:stretch>
        </p:blipFill>
        <p:spPr>
          <a:xfrm>
            <a:off x="817959" y="1542911"/>
            <a:ext cx="7508081" cy="3772177"/>
          </a:xfrm>
          <a:prstGeom prst="rect">
            <a:avLst/>
          </a:prstGeom>
        </p:spPr>
      </p:pic>
    </p:spTree>
    <p:extLst>
      <p:ext uri="{BB962C8B-B14F-4D97-AF65-F5344CB8AC3E}">
        <p14:creationId xmlns:p14="http://schemas.microsoft.com/office/powerpoint/2010/main" val="1614969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2.2.6</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lnSpcReduction="10000"/>
              </a:bodyPr>
              <a:lstStyle/>
              <a:p>
                <a:pPr marL="0" indent="0" algn="just">
                  <a:buNone/>
                </a:pPr>
                <a:r>
                  <a:rPr lang="en-US" sz="2400" dirty="0">
                    <a:solidFill>
                      <a:srgbClr val="000000"/>
                    </a:solidFill>
                    <a:latin typeface="Montserrat" panose="02000505000000020004"/>
                    <a:cs typeface="Courier New" panose="02070309020205020404" pitchFamily="49" charset="0"/>
                  </a:rPr>
                  <a:t>Dapatkan </a:t>
                </a:r>
                <a:r>
                  <a:rPr lang="en-US" sz="2400" dirty="0" err="1">
                    <a:solidFill>
                      <a:srgbClr val="000000"/>
                    </a:solidFill>
                    <a:latin typeface="Montserrat" panose="02000505000000020004"/>
                    <a:cs typeface="Courier New" panose="02070309020205020404" pitchFamily="49" charset="0"/>
                  </a:rPr>
                  <a:t>bahasa</a:t>
                </a:r>
                <a:r>
                  <a:rPr lang="en-US" sz="2400" dirty="0">
                    <a:solidFill>
                      <a:srgbClr val="000000"/>
                    </a:solidFill>
                    <a:latin typeface="Montserrat" panose="02000505000000020004"/>
                    <a:cs typeface="Courier New" panose="02070309020205020404" pitchFamily="49" charset="0"/>
                  </a:rPr>
                  <a:t>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L(G) untuk CFG </a:t>
                </a:r>
                <a:r>
                  <a:rPr lang="en-US" sz="2400" dirty="0" err="1">
                    <a:solidFill>
                      <a:srgbClr val="000000"/>
                    </a:solidFill>
                    <a:latin typeface="Montserrat" panose="02000505000000020004"/>
                    <a:cs typeface="Courier New" panose="02070309020205020404" pitchFamily="49" charset="0"/>
                  </a:rPr>
                  <a:t>jika</a:t>
                </a:r>
                <a:r>
                  <a:rPr lang="en-US" sz="2400" dirty="0">
                    <a:solidFill>
                      <a:srgbClr val="000000"/>
                    </a:solidFill>
                    <a:latin typeface="Montserrat" panose="02000505000000020004"/>
                    <a:cs typeface="Courier New" panose="02070309020205020404" pitchFamily="49" charset="0"/>
                  </a:rPr>
                  <a:t> </a:t>
                </a:r>
                <a:r>
                  <a:rPr lang="en-US" sz="2400" dirty="0" err="1">
                    <a:solidFill>
                      <a:srgbClr val="000000"/>
                    </a:solidFill>
                    <a:latin typeface="Montserrat" panose="02000505000000020004"/>
                    <a:cs typeface="Courier New" panose="02070309020205020404" pitchFamily="49" charset="0"/>
                  </a:rPr>
                  <a:t>diketahui</a:t>
                </a: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Jawab:</a:t>
                </a: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Jadi Bahasa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a:t>
                </a:r>
              </a:p>
              <a:p>
                <a:pPr marL="0" indent="0" algn="ctr">
                  <a:buNone/>
                </a:pPr>
                <a:r>
                  <a:rPr lang="en-US" sz="2400" dirty="0">
                    <a:solidFill>
                      <a:srgbClr val="000000"/>
                    </a:solidFill>
                    <a:latin typeface="Courier New" panose="02070309020205020404" pitchFamily="49" charset="0"/>
                    <a:cs typeface="Courier New" panose="02070309020205020404" pitchFamily="49" charset="0"/>
                  </a:rPr>
                  <a:t>L(G)={</a:t>
                </a:r>
                <a14:m>
                  <m:oMath xmlns:m="http://schemas.openxmlformats.org/officeDocument/2006/math">
                    <m:sSup>
                      <m:sSupPr>
                        <m:ctrlPr>
                          <a:rPr lang="en-US" sz="2400" i="1" smtClean="0">
                            <a:solidFill>
                              <a:srgbClr val="000000"/>
                            </a:solidFill>
                            <a:latin typeface="Cambria Math" panose="02040503050406030204" pitchFamily="18" charset="0"/>
                            <a:cs typeface="Courier New" panose="02070309020205020404" pitchFamily="49" charset="0"/>
                          </a:rPr>
                        </m:ctrlPr>
                      </m:sSupPr>
                      <m:e>
                        <m:r>
                          <a:rPr lang="en-US" sz="2400" b="0" i="1" smtClean="0">
                            <a:solidFill>
                              <a:srgbClr val="000000"/>
                            </a:solidFill>
                            <a:latin typeface="Cambria Math" panose="02040503050406030204" pitchFamily="18" charset="0"/>
                            <a:cs typeface="Courier New" panose="02070309020205020404" pitchFamily="49" charset="0"/>
                          </a:rPr>
                          <m:t>𝑎</m:t>
                        </m:r>
                      </m:e>
                      <m:sup>
                        <m:r>
                          <a:rPr lang="en-US" sz="2400" b="0" i="1" smtClean="0">
                            <a:solidFill>
                              <a:srgbClr val="000000"/>
                            </a:solidFill>
                            <a:latin typeface="Cambria Math" panose="02040503050406030204" pitchFamily="18" charset="0"/>
                            <a:cs typeface="Courier New" panose="02070309020205020404" pitchFamily="49" charset="0"/>
                          </a:rPr>
                          <m:t>𝑛</m:t>
                        </m:r>
                      </m:sup>
                    </m:sSup>
                    <m:r>
                      <a:rPr lang="en-US" sz="2400" b="0" i="1" smtClean="0">
                        <a:solidFill>
                          <a:srgbClr val="000000"/>
                        </a:solidFill>
                        <a:latin typeface="Cambria Math" panose="02040503050406030204" pitchFamily="18" charset="0"/>
                        <a:cs typeface="Courier New" panose="02070309020205020404" pitchFamily="49" charset="0"/>
                      </a:rPr>
                      <m:t>|</m:t>
                    </m:r>
                    <m:r>
                      <a:rPr lang="en-US" sz="2400" b="0" i="1" smtClean="0">
                        <a:solidFill>
                          <a:srgbClr val="000000"/>
                        </a:solidFill>
                        <a:latin typeface="Cambria Math" panose="02040503050406030204" pitchFamily="18" charset="0"/>
                        <a:cs typeface="Courier New" panose="02070309020205020404" pitchFamily="49" charset="0"/>
                      </a:rPr>
                      <m:t>𝑛</m:t>
                    </m:r>
                    <m:r>
                      <a:rPr lang="en-US" sz="2400" b="0" i="1" smtClean="0">
                        <a:solidFill>
                          <a:srgbClr val="000000"/>
                        </a:solidFill>
                        <a:latin typeface="Cambria Math" panose="02040503050406030204" pitchFamily="18" charset="0"/>
                        <a:ea typeface="Cambria Math" panose="02040503050406030204" pitchFamily="18" charset="0"/>
                        <a:cs typeface="Courier New" panose="02070309020205020404" pitchFamily="49" charset="0"/>
                      </a:rPr>
                      <m:t>≥1}</m:t>
                    </m:r>
                  </m:oMath>
                </a14:m>
                <a:endParaRPr lang="en-US" sz="2400" dirty="0">
                  <a:solidFill>
                    <a:srgbClr val="000000"/>
                  </a:solidFill>
                  <a:latin typeface="Courier New" panose="02070309020205020404" pitchFamily="49" charset="0"/>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 </a:t>
                </a:r>
              </a:p>
              <a:p>
                <a:pPr marL="0" indent="0" algn="just">
                  <a:buNone/>
                </a:pPr>
                <a:endParaRPr lang="en-US" sz="2400" dirty="0">
                  <a:solidFill>
                    <a:srgbClr val="000000"/>
                  </a:solidFill>
                  <a:latin typeface="Montserrat" panose="02000505000000020004"/>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623822"/>
              </a:xfrm>
              <a:blipFill>
                <a:blip r:embed="rId2"/>
                <a:stretch>
                  <a:fillRect l="-1075" t="-2059" r="-1075"/>
                </a:stretch>
              </a:blipFill>
            </p:spPr>
            <p:txBody>
              <a:bodyPr/>
              <a:lstStyle/>
              <a:p>
                <a:r>
                  <a:rPr lang="en-ID">
                    <a:noFill/>
                  </a:rPr>
                  <a:t> </a:t>
                </a:r>
              </a:p>
            </p:txBody>
          </p:sp>
        </mc:Fallback>
      </mc:AlternateContent>
      <p:pic>
        <p:nvPicPr>
          <p:cNvPr id="4" name="Picture 3">
            <a:extLst>
              <a:ext uri="{FF2B5EF4-FFF2-40B4-BE49-F238E27FC236}">
                <a16:creationId xmlns:a16="http://schemas.microsoft.com/office/drawing/2014/main" id="{C9974CB3-917F-4266-8827-00005DB8F8A8}"/>
              </a:ext>
            </a:extLst>
          </p:cNvPr>
          <p:cNvPicPr>
            <a:picLocks noChangeAspect="1"/>
          </p:cNvPicPr>
          <p:nvPr/>
        </p:nvPicPr>
        <p:blipFill>
          <a:blip r:embed="rId3"/>
          <a:stretch>
            <a:fillRect/>
          </a:stretch>
        </p:blipFill>
        <p:spPr>
          <a:xfrm>
            <a:off x="779149" y="1441410"/>
            <a:ext cx="7427588" cy="946190"/>
          </a:xfrm>
          <a:prstGeom prst="rect">
            <a:avLst/>
          </a:prstGeom>
        </p:spPr>
      </p:pic>
      <p:pic>
        <p:nvPicPr>
          <p:cNvPr id="5" name="Picture 4">
            <a:extLst>
              <a:ext uri="{FF2B5EF4-FFF2-40B4-BE49-F238E27FC236}">
                <a16:creationId xmlns:a16="http://schemas.microsoft.com/office/drawing/2014/main" id="{85322A11-17AA-4F04-96F7-72694CB3314F}"/>
              </a:ext>
            </a:extLst>
          </p:cNvPr>
          <p:cNvPicPr>
            <a:picLocks noChangeAspect="1"/>
          </p:cNvPicPr>
          <p:nvPr/>
        </p:nvPicPr>
        <p:blipFill>
          <a:blip r:embed="rId4"/>
          <a:stretch>
            <a:fillRect/>
          </a:stretch>
        </p:blipFill>
        <p:spPr>
          <a:xfrm>
            <a:off x="1961321" y="2647641"/>
            <a:ext cx="4222473" cy="2377702"/>
          </a:xfrm>
          <a:prstGeom prst="rect">
            <a:avLst/>
          </a:prstGeom>
        </p:spPr>
      </p:pic>
    </p:spTree>
    <p:extLst>
      <p:ext uri="{BB962C8B-B14F-4D97-AF65-F5344CB8AC3E}">
        <p14:creationId xmlns:p14="http://schemas.microsoft.com/office/powerpoint/2010/main" val="1050223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2.2.7</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318856" cy="5623822"/>
              </a:xfrm>
            </p:spPr>
            <p:txBody>
              <a:bodyPr>
                <a:normAutofit fontScale="70000" lnSpcReduction="20000"/>
              </a:bodyPr>
              <a:lstStyle/>
              <a:p>
                <a:pPr marL="0" indent="0" algn="just">
                  <a:buNone/>
                </a:pPr>
                <a:r>
                  <a:rPr lang="en-US" sz="2400" dirty="0">
                    <a:solidFill>
                      <a:srgbClr val="000000"/>
                    </a:solidFill>
                    <a:latin typeface="Montserrat" panose="02000505000000020004"/>
                    <a:cs typeface="Courier New" panose="02070309020205020404" pitchFamily="49" charset="0"/>
                  </a:rPr>
                  <a:t>Dapatkan beberapa Bahasa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oleh beberapa </a:t>
                </a:r>
                <a:r>
                  <a:rPr lang="en-US" sz="2400" dirty="0" err="1">
                    <a:solidFill>
                      <a:srgbClr val="000000"/>
                    </a:solidFill>
                    <a:latin typeface="Montserrat" panose="02000505000000020004"/>
                    <a:cs typeface="Courier New" panose="02070309020205020404" pitchFamily="49" charset="0"/>
                  </a:rPr>
                  <a:t>aturan</a:t>
                </a:r>
                <a:r>
                  <a:rPr lang="en-US" sz="2400" dirty="0">
                    <a:solidFill>
                      <a:srgbClr val="000000"/>
                    </a:solidFill>
                    <a:latin typeface="Montserrat" panose="02000505000000020004"/>
                    <a:cs typeface="Courier New" panose="02070309020205020404" pitchFamily="49" charset="0"/>
                  </a:rPr>
                  <a:t> </a:t>
                </a:r>
                <a:r>
                  <a:rPr lang="en-US" sz="2400" dirty="0" err="1">
                    <a:solidFill>
                      <a:srgbClr val="000000"/>
                    </a:solidFill>
                    <a:latin typeface="Montserrat" panose="02000505000000020004"/>
                    <a:cs typeface="Courier New" panose="02070309020205020404" pitchFamily="49" charset="0"/>
                  </a:rPr>
                  <a:t>produksi</a:t>
                </a:r>
                <a:r>
                  <a:rPr lang="en-US" sz="2400" dirty="0">
                    <a:solidFill>
                      <a:srgbClr val="000000"/>
                    </a:solidFill>
                    <a:latin typeface="Montserrat" panose="02000505000000020004"/>
                    <a:cs typeface="Courier New" panose="02070309020205020404" pitchFamily="49" charset="0"/>
                  </a:rPr>
                  <a:t> :</a:t>
                </a: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Jawab:</a:t>
                </a:r>
              </a:p>
              <a:p>
                <a:pPr marL="457200" indent="-457200" algn="just">
                  <a:buFont typeface="+mj-lt"/>
                  <a:buAutoNum type="alphaLcParenR"/>
                </a:pPr>
                <a:r>
                  <a:rPr lang="en-US" sz="2400" dirty="0">
                    <a:solidFill>
                      <a:srgbClr val="000000"/>
                    </a:solidFill>
                    <a:latin typeface="Montserrat" panose="02000505000000020004"/>
                    <a:cs typeface="Courier New" panose="02070309020205020404" pitchFamily="49" charset="0"/>
                  </a:rPr>
                  <a:t>Bahasa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adalah “</a:t>
                </a:r>
                <a:r>
                  <a:rPr lang="en-US" sz="2400" dirty="0" err="1">
                    <a:solidFill>
                      <a:srgbClr val="000000"/>
                    </a:solidFill>
                    <a:latin typeface="Montserrat" panose="02000505000000020004"/>
                    <a:cs typeface="Courier New" panose="02070309020205020404" pitchFamily="49" charset="0"/>
                  </a:rPr>
                  <a:t>bahasa</a:t>
                </a:r>
                <a:r>
                  <a:rPr lang="en-US" sz="2400" dirty="0">
                    <a:solidFill>
                      <a:srgbClr val="000000"/>
                    </a:solidFill>
                    <a:latin typeface="Montserrat" panose="02000505000000020004"/>
                    <a:cs typeface="Courier New" panose="02070309020205020404" pitchFamily="49" charset="0"/>
                  </a:rPr>
                  <a:t> tipe-3” atau “regular set”</a:t>
                </a:r>
              </a:p>
              <a:p>
                <a:pPr marL="457200" indent="-457200">
                  <a:buFont typeface="+mj-lt"/>
                  <a:buAutoNum type="alphaLcParenR"/>
                </a:pPr>
                <a:r>
                  <a:rPr lang="en-US" sz="2400" dirty="0">
                    <a:solidFill>
                      <a:srgbClr val="000000"/>
                    </a:solidFill>
                    <a:latin typeface="Courier New" panose="02070309020205020404" pitchFamily="49" charset="0"/>
                    <a:cs typeface="Courier New" panose="02070309020205020404" pitchFamily="49" charset="0"/>
                  </a:rPr>
                  <a:t>S ⇒ </a:t>
                </a:r>
                <a:r>
                  <a:rPr lang="en-ID" sz="2400" dirty="0">
                    <a:solidFill>
                      <a:srgbClr val="000000"/>
                    </a:solidFill>
                  </a:rPr>
                  <a:t>∈</a:t>
                </a:r>
                <a:br>
                  <a:rPr lang="en-ID" sz="2400" dirty="0"/>
                </a:br>
                <a:r>
                  <a:rPr lang="en-ID" sz="2400" dirty="0"/>
                  <a:t>S </a:t>
                </a:r>
                <a:r>
                  <a:rPr lang="en-US" sz="2400" dirty="0">
                    <a:solidFill>
                      <a:srgbClr val="000000"/>
                    </a:solidFill>
                    <a:latin typeface="Courier New" panose="02070309020205020404" pitchFamily="49" charset="0"/>
                    <a:cs typeface="Courier New" panose="02070309020205020404" pitchFamily="49" charset="0"/>
                  </a:rPr>
                  <a:t>⇒ </a:t>
                </a:r>
                <a:r>
                  <a:rPr lang="en-US" sz="2400" dirty="0" err="1">
                    <a:solidFill>
                      <a:srgbClr val="000000"/>
                    </a:solidFill>
                    <a:latin typeface="Courier New" panose="02070309020205020404" pitchFamily="49" charset="0"/>
                    <a:cs typeface="Courier New" panose="02070309020205020404" pitchFamily="49" charset="0"/>
                  </a:rPr>
                  <a:t>aS</a:t>
                </a:r>
                <a:r>
                  <a:rPr lang="en-US" sz="2400" dirty="0">
                    <a:solidFill>
                      <a:srgbClr val="000000"/>
                    </a:solidFill>
                    <a:latin typeface="Courier New" panose="02070309020205020404" pitchFamily="49" charset="0"/>
                    <a:cs typeface="Courier New" panose="02070309020205020404" pitchFamily="49" charset="0"/>
                  </a:rPr>
                  <a:t> ⇒ a</a:t>
                </a:r>
                <a:br>
                  <a:rPr lang="en-US" sz="2400" dirty="0">
                    <a:solidFill>
                      <a:srgbClr val="000000"/>
                    </a:solidFill>
                    <a:latin typeface="Courier New" panose="02070309020205020404" pitchFamily="49" charset="0"/>
                    <a:cs typeface="Courier New" panose="02070309020205020404" pitchFamily="49" charset="0"/>
                  </a:rPr>
                </a:br>
                <a:r>
                  <a:rPr lang="en-US" sz="2400" dirty="0">
                    <a:solidFill>
                      <a:srgbClr val="000000"/>
                    </a:solidFill>
                    <a:latin typeface="Courier New" panose="02070309020205020404" pitchFamily="49" charset="0"/>
                    <a:cs typeface="Courier New" panose="02070309020205020404" pitchFamily="49" charset="0"/>
                  </a:rPr>
                  <a:t>S ⇒ as ⇒ </a:t>
                </a:r>
                <a:r>
                  <a:rPr lang="en-US" sz="2400" dirty="0" err="1">
                    <a:solidFill>
                      <a:srgbClr val="000000"/>
                    </a:solidFill>
                    <a:latin typeface="Courier New" panose="02070309020205020404" pitchFamily="49" charset="0"/>
                    <a:cs typeface="Courier New" panose="02070309020205020404" pitchFamily="49" charset="0"/>
                  </a:rPr>
                  <a:t>aaS</a:t>
                </a:r>
                <a:r>
                  <a:rPr lang="en-US" sz="2400" dirty="0">
                    <a:solidFill>
                      <a:srgbClr val="000000"/>
                    </a:solidFill>
                    <a:latin typeface="Courier New" panose="02070309020205020404" pitchFamily="49" charset="0"/>
                    <a:cs typeface="Courier New" panose="02070309020205020404" pitchFamily="49" charset="0"/>
                  </a:rPr>
                  <a:t> ⇒ aa</a:t>
                </a:r>
                <a:br>
                  <a:rPr lang="en-US" sz="2400" dirty="0">
                    <a:solidFill>
                      <a:srgbClr val="000000"/>
                    </a:solidFill>
                    <a:latin typeface="Courier New" panose="02070309020205020404" pitchFamily="49" charset="0"/>
                    <a:cs typeface="Courier New" panose="02070309020205020404" pitchFamily="49" charset="0"/>
                  </a:rPr>
                </a:br>
                <a:r>
                  <a:rPr lang="en-US" sz="2400" dirty="0">
                    <a:solidFill>
                      <a:srgbClr val="000000"/>
                    </a:solidFill>
                    <a:latin typeface="Montserrat" panose="02000505000000020004"/>
                    <a:cs typeface="Courier New" panose="02070309020205020404" pitchFamily="49" charset="0"/>
                  </a:rPr>
                  <a:t>jadi Bahasa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a:t>
                </a:r>
                <a:r>
                  <a:rPr lang="en-US" sz="2400" dirty="0">
                    <a:solidFill>
                      <a:srgbClr val="000000"/>
                    </a:solidFill>
                    <a:latin typeface="Courier New" panose="02070309020205020404" pitchFamily="49" charset="0"/>
                    <a:cs typeface="Courier New" panose="02070309020205020404" pitchFamily="49" charset="0"/>
                  </a:rPr>
                  <a:t>L(G)={</a:t>
                </a:r>
                <a14:m>
                  <m:oMath xmlns:m="http://schemas.openxmlformats.org/officeDocument/2006/math">
                    <m:sSup>
                      <m:sSupPr>
                        <m:ctrlPr>
                          <a:rPr lang="en-US" sz="2400" i="1">
                            <a:solidFill>
                              <a:srgbClr val="000000"/>
                            </a:solidFill>
                            <a:latin typeface="Cambria Math" panose="02040503050406030204" pitchFamily="18" charset="0"/>
                            <a:cs typeface="Courier New" panose="02070309020205020404" pitchFamily="49" charset="0"/>
                          </a:rPr>
                        </m:ctrlPr>
                      </m:sSupPr>
                      <m:e>
                        <m:r>
                          <a:rPr lang="en-US" sz="2400" i="1">
                            <a:solidFill>
                              <a:srgbClr val="000000"/>
                            </a:solidFill>
                            <a:latin typeface="Cambria Math" panose="02040503050406030204" pitchFamily="18" charset="0"/>
                            <a:cs typeface="Courier New" panose="02070309020205020404" pitchFamily="49" charset="0"/>
                          </a:rPr>
                          <m:t>𝑎</m:t>
                        </m:r>
                      </m:e>
                      <m:sup>
                        <m:r>
                          <a:rPr lang="en-US" sz="2400" i="1">
                            <a:solidFill>
                              <a:srgbClr val="000000"/>
                            </a:solidFill>
                            <a:latin typeface="Cambria Math" panose="02040503050406030204" pitchFamily="18" charset="0"/>
                            <a:cs typeface="Courier New" panose="02070309020205020404" pitchFamily="49" charset="0"/>
                          </a:rPr>
                          <m:t>𝑛</m:t>
                        </m:r>
                      </m:sup>
                    </m:sSup>
                    <m:r>
                      <a:rPr lang="en-US" sz="2400" i="1">
                        <a:solidFill>
                          <a:srgbClr val="000000"/>
                        </a:solidFill>
                        <a:latin typeface="Cambria Math" panose="02040503050406030204" pitchFamily="18" charset="0"/>
                        <a:cs typeface="Courier New" panose="02070309020205020404" pitchFamily="49" charset="0"/>
                      </a:rPr>
                      <m:t>|</m:t>
                    </m:r>
                    <m:r>
                      <a:rPr lang="en-US" sz="2400" i="1">
                        <a:solidFill>
                          <a:srgbClr val="000000"/>
                        </a:solidFill>
                        <a:latin typeface="Cambria Math" panose="02040503050406030204" pitchFamily="18" charset="0"/>
                        <a:cs typeface="Courier New" panose="02070309020205020404" pitchFamily="49" charset="0"/>
                      </a:rPr>
                      <m:t>𝑛</m:t>
                    </m:r>
                    <m:r>
                      <a:rPr lang="en-US" sz="2400" i="1">
                        <a:solidFill>
                          <a:srgbClr val="000000"/>
                        </a:solidFill>
                        <a:latin typeface="Cambria Math" panose="02040503050406030204" pitchFamily="18" charset="0"/>
                        <a:ea typeface="Cambria Math" panose="02040503050406030204" pitchFamily="18" charset="0"/>
                        <a:cs typeface="Courier New" panose="02070309020205020404" pitchFamily="49" charset="0"/>
                      </a:rPr>
                      <m:t>≥</m:t>
                    </m:r>
                    <m:r>
                      <a:rPr lang="en-US" sz="2400" b="0" i="1" smtClean="0">
                        <a:solidFill>
                          <a:srgbClr val="000000"/>
                        </a:solidFill>
                        <a:latin typeface="Cambria Math" panose="02040503050406030204" pitchFamily="18" charset="0"/>
                        <a:ea typeface="Cambria Math" panose="02040503050406030204" pitchFamily="18" charset="0"/>
                        <a:cs typeface="Courier New" panose="02070309020205020404" pitchFamily="49" charset="0"/>
                      </a:rPr>
                      <m:t>0</m:t>
                    </m:r>
                    <m:r>
                      <a:rPr lang="en-US" sz="2400" i="1">
                        <a:solidFill>
                          <a:srgbClr val="000000"/>
                        </a:solidFill>
                        <a:latin typeface="Cambria Math" panose="02040503050406030204" pitchFamily="18" charset="0"/>
                        <a:ea typeface="Cambria Math" panose="02040503050406030204" pitchFamily="18" charset="0"/>
                        <a:cs typeface="Courier New" panose="02070309020205020404" pitchFamily="49" charset="0"/>
                      </a:rPr>
                      <m:t>}</m:t>
                    </m:r>
                  </m:oMath>
                </a14:m>
                <a:endParaRPr lang="en-US" sz="2400" dirty="0">
                  <a:solidFill>
                    <a:srgbClr val="000000"/>
                  </a:solidFill>
                  <a:latin typeface="Courier New" panose="02070309020205020404" pitchFamily="49" charset="0"/>
                  <a:cs typeface="Courier New" panose="02070309020205020404" pitchFamily="49" charset="0"/>
                </a:endParaRPr>
              </a:p>
              <a:p>
                <a:pPr marL="457200" indent="-457200">
                  <a:buFont typeface="+mj-lt"/>
                  <a:buAutoNum type="alphaLcParenR"/>
                </a:pPr>
                <a:r>
                  <a:rPr lang="en-US" sz="2400" dirty="0">
                    <a:solidFill>
                      <a:srgbClr val="000000"/>
                    </a:solidFill>
                    <a:latin typeface="Courier New" panose="02070309020205020404" pitchFamily="49" charset="0"/>
                    <a:cs typeface="Courier New" panose="02070309020205020404" pitchFamily="49" charset="0"/>
                  </a:rPr>
                  <a:t>A ⇒ </a:t>
                </a:r>
                <a:r>
                  <a:rPr lang="en-ID" sz="2400" dirty="0">
                    <a:solidFill>
                      <a:srgbClr val="000000"/>
                    </a:solidFill>
                  </a:rPr>
                  <a:t>∈</a:t>
                </a:r>
                <a:br>
                  <a:rPr lang="en-US" sz="2400" dirty="0">
                    <a:solidFill>
                      <a:srgbClr val="000000"/>
                    </a:solidFill>
                    <a:latin typeface="Courier New" panose="02070309020205020404" pitchFamily="49" charset="0"/>
                    <a:cs typeface="Courier New" panose="02070309020205020404" pitchFamily="49" charset="0"/>
                  </a:rPr>
                </a:br>
                <a:r>
                  <a:rPr lang="en-US" sz="2400" dirty="0">
                    <a:solidFill>
                      <a:srgbClr val="000000"/>
                    </a:solidFill>
                    <a:latin typeface="Courier New" panose="02070309020205020404" pitchFamily="49" charset="0"/>
                    <a:cs typeface="Courier New" panose="02070309020205020404" pitchFamily="49" charset="0"/>
                  </a:rPr>
                  <a:t>A ⇒ a		L(G)={</a:t>
                </a:r>
                <a14:m>
                  <m:oMath xmlns:m="http://schemas.openxmlformats.org/officeDocument/2006/math">
                    <m:sSup>
                      <m:sSupPr>
                        <m:ctrlPr>
                          <a:rPr lang="en-US" sz="2400" i="1">
                            <a:solidFill>
                              <a:srgbClr val="000000"/>
                            </a:solidFill>
                            <a:latin typeface="Cambria Math" panose="02040503050406030204" pitchFamily="18" charset="0"/>
                            <a:cs typeface="Courier New" panose="02070309020205020404" pitchFamily="49" charset="0"/>
                          </a:rPr>
                        </m:ctrlPr>
                      </m:sSupPr>
                      <m:e>
                        <m:r>
                          <a:rPr lang="en-US" sz="2400" b="0" i="1" smtClean="0">
                            <a:solidFill>
                              <a:srgbClr val="000000"/>
                            </a:solidFill>
                            <a:latin typeface="Cambria Math" panose="02040503050406030204" pitchFamily="18" charset="0"/>
                            <a:cs typeface="Courier New" panose="02070309020205020404" pitchFamily="49" charset="0"/>
                          </a:rPr>
                          <m:t>𝑤𝑤</m:t>
                        </m:r>
                      </m:e>
                      <m:sup>
                        <m:r>
                          <a:rPr lang="en-US" sz="2400" b="0" i="1" smtClean="0">
                            <a:solidFill>
                              <a:srgbClr val="000000"/>
                            </a:solidFill>
                            <a:latin typeface="Cambria Math" panose="02040503050406030204" pitchFamily="18" charset="0"/>
                            <a:cs typeface="Courier New" panose="02070309020205020404" pitchFamily="49" charset="0"/>
                          </a:rPr>
                          <m:t>𝑅</m:t>
                        </m:r>
                      </m:sup>
                    </m:sSup>
                    <m:r>
                      <a:rPr lang="en-US" sz="2400" i="1">
                        <a:solidFill>
                          <a:srgbClr val="000000"/>
                        </a:solidFill>
                        <a:latin typeface="Cambria Math" panose="02040503050406030204" pitchFamily="18" charset="0"/>
                        <a:cs typeface="Courier New" panose="02070309020205020404" pitchFamily="49" charset="0"/>
                      </a:rPr>
                      <m:t>|</m:t>
                    </m:r>
                    <m:r>
                      <a:rPr lang="en-US" sz="2400" b="0" i="1" smtClean="0">
                        <a:solidFill>
                          <a:srgbClr val="000000"/>
                        </a:solidFill>
                        <a:latin typeface="Cambria Math" panose="02040503050406030204" pitchFamily="18" charset="0"/>
                        <a:cs typeface="Courier New" panose="02070309020205020404" pitchFamily="49" charset="0"/>
                      </a:rPr>
                      <m:t>𝑤</m:t>
                    </m:r>
                    <m:r>
                      <m:rPr>
                        <m:nor/>
                      </m:rPr>
                      <a:rPr lang="en-ID" sz="2400" dirty="0">
                        <a:solidFill>
                          <a:srgbClr val="000000"/>
                        </a:solidFill>
                      </a:rPr>
                      <m:t>∈</m:t>
                    </m:r>
                    <m:sSup>
                      <m:sSupPr>
                        <m:ctrlPr>
                          <a:rPr lang="en-US" sz="2400" i="1" smtClean="0">
                            <a:solidFill>
                              <a:srgbClr val="000000"/>
                            </a:solidFill>
                            <a:latin typeface="Cambria Math" panose="02040503050406030204" pitchFamily="18" charset="0"/>
                            <a:cs typeface="Courier New" panose="02070309020205020404" pitchFamily="49" charset="0"/>
                          </a:rPr>
                        </m:ctrlPr>
                      </m:sSupPr>
                      <m:e>
                        <m:r>
                          <a:rPr lang="en-US" sz="2400" b="0" i="1" smtClean="0">
                            <a:solidFill>
                              <a:srgbClr val="000000"/>
                            </a:solidFill>
                            <a:latin typeface="Cambria Math" panose="02040503050406030204" pitchFamily="18" charset="0"/>
                            <a:cs typeface="Courier New" panose="02070309020205020404" pitchFamily="49" charset="0"/>
                          </a:rPr>
                          <m:t>{</m:t>
                        </m:r>
                        <m:r>
                          <a:rPr lang="en-US" sz="2400" b="0" i="1" smtClean="0">
                            <a:solidFill>
                              <a:srgbClr val="000000"/>
                            </a:solidFill>
                            <a:latin typeface="Cambria Math" panose="02040503050406030204" pitchFamily="18" charset="0"/>
                            <a:cs typeface="Courier New" panose="02070309020205020404" pitchFamily="49" charset="0"/>
                          </a:rPr>
                          <m:t>𝑎</m:t>
                        </m:r>
                        <m:r>
                          <a:rPr lang="en-US" sz="2400" b="0" i="1" smtClean="0">
                            <a:solidFill>
                              <a:srgbClr val="000000"/>
                            </a:solidFill>
                            <a:latin typeface="Cambria Math" panose="02040503050406030204" pitchFamily="18" charset="0"/>
                            <a:cs typeface="Courier New" panose="02070309020205020404" pitchFamily="49" charset="0"/>
                          </a:rPr>
                          <m:t>,</m:t>
                        </m:r>
                        <m:r>
                          <a:rPr lang="en-US" sz="2400" b="0" i="1" smtClean="0">
                            <a:solidFill>
                              <a:srgbClr val="000000"/>
                            </a:solidFill>
                            <a:latin typeface="Cambria Math" panose="02040503050406030204" pitchFamily="18" charset="0"/>
                            <a:cs typeface="Courier New" panose="02070309020205020404" pitchFamily="49" charset="0"/>
                          </a:rPr>
                          <m:t>𝑏</m:t>
                        </m:r>
                        <m:r>
                          <a:rPr lang="en-US" sz="2400" b="0" i="1" smtClean="0">
                            <a:solidFill>
                              <a:srgbClr val="000000"/>
                            </a:solidFill>
                            <a:latin typeface="Cambria Math" panose="02040503050406030204" pitchFamily="18" charset="0"/>
                            <a:cs typeface="Courier New" panose="02070309020205020404" pitchFamily="49" charset="0"/>
                          </a:rPr>
                          <m:t>}</m:t>
                        </m:r>
                      </m:e>
                      <m:sup>
                        <m:r>
                          <a:rPr lang="en-US" sz="2400" b="0" i="1" smtClean="0">
                            <a:solidFill>
                              <a:srgbClr val="000000"/>
                            </a:solidFill>
                            <a:latin typeface="Cambria Math" panose="02040503050406030204" pitchFamily="18" charset="0"/>
                            <a:cs typeface="Courier New" panose="02070309020205020404" pitchFamily="49" charset="0"/>
                          </a:rPr>
                          <m:t>+</m:t>
                        </m:r>
                      </m:sup>
                    </m:sSup>
                    <m:r>
                      <a:rPr lang="en-US" sz="2400" i="1">
                        <a:solidFill>
                          <a:srgbClr val="000000"/>
                        </a:solidFill>
                        <a:latin typeface="Cambria Math" panose="02040503050406030204" pitchFamily="18" charset="0"/>
                        <a:ea typeface="Cambria Math" panose="02040503050406030204" pitchFamily="18" charset="0"/>
                        <a:cs typeface="Courier New" panose="02070309020205020404" pitchFamily="49" charset="0"/>
                      </a:rPr>
                      <m:t>}</m:t>
                    </m:r>
                  </m:oMath>
                </a14:m>
                <a:br>
                  <a:rPr lang="en-US" sz="2400" dirty="0">
                    <a:solidFill>
                      <a:srgbClr val="000000"/>
                    </a:solidFill>
                    <a:latin typeface="Courier New" panose="02070309020205020404" pitchFamily="49" charset="0"/>
                    <a:cs typeface="Courier New" panose="02070309020205020404" pitchFamily="49" charset="0"/>
                  </a:rPr>
                </a:br>
                <a:r>
                  <a:rPr lang="en-US" sz="2400" dirty="0">
                    <a:solidFill>
                      <a:srgbClr val="000000"/>
                    </a:solidFill>
                    <a:latin typeface="Courier New" panose="02070309020205020404" pitchFamily="49" charset="0"/>
                    <a:cs typeface="Courier New" panose="02070309020205020404" pitchFamily="49" charset="0"/>
                  </a:rPr>
                  <a:t>A ⇒ </a:t>
                </a:r>
                <a:r>
                  <a:rPr lang="en-US" sz="2400" dirty="0" err="1">
                    <a:solidFill>
                      <a:srgbClr val="000000"/>
                    </a:solidFill>
                    <a:latin typeface="Courier New" panose="02070309020205020404" pitchFamily="49" charset="0"/>
                    <a:cs typeface="Courier New" panose="02070309020205020404" pitchFamily="49" charset="0"/>
                  </a:rPr>
                  <a:t>aB</a:t>
                </a: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 </a:t>
                </a:r>
              </a:p>
              <a:p>
                <a:pPr marL="0" indent="0" algn="just">
                  <a:buNone/>
                </a:pPr>
                <a:endParaRPr lang="en-US" sz="2400" dirty="0">
                  <a:solidFill>
                    <a:srgbClr val="000000"/>
                  </a:solidFill>
                  <a:latin typeface="Montserrat" panose="02000505000000020004"/>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318856" cy="5623822"/>
              </a:xfrm>
              <a:blipFill>
                <a:blip r:embed="rId2"/>
                <a:stretch>
                  <a:fillRect l="-513" t="-1517" r="-513"/>
                </a:stretch>
              </a:blipFill>
            </p:spPr>
            <p:txBody>
              <a:bodyPr/>
              <a:lstStyle/>
              <a:p>
                <a:r>
                  <a:rPr lang="en-ID">
                    <a:noFill/>
                  </a:rPr>
                  <a:t> </a:t>
                </a:r>
              </a:p>
            </p:txBody>
          </p:sp>
        </mc:Fallback>
      </mc:AlternateContent>
      <p:pic>
        <p:nvPicPr>
          <p:cNvPr id="6" name="Picture 5">
            <a:extLst>
              <a:ext uri="{FF2B5EF4-FFF2-40B4-BE49-F238E27FC236}">
                <a16:creationId xmlns:a16="http://schemas.microsoft.com/office/drawing/2014/main" id="{7AD4EF65-9B9B-4DED-979A-24785B4ECE30}"/>
              </a:ext>
            </a:extLst>
          </p:cNvPr>
          <p:cNvPicPr>
            <a:picLocks noChangeAspect="1"/>
          </p:cNvPicPr>
          <p:nvPr/>
        </p:nvPicPr>
        <p:blipFill>
          <a:blip r:embed="rId3"/>
          <a:stretch>
            <a:fillRect/>
          </a:stretch>
        </p:blipFill>
        <p:spPr>
          <a:xfrm>
            <a:off x="1820321" y="1401713"/>
            <a:ext cx="5296096" cy="1377081"/>
          </a:xfrm>
          <a:prstGeom prst="rect">
            <a:avLst/>
          </a:prstGeom>
        </p:spPr>
      </p:pic>
    </p:spTree>
    <p:extLst>
      <p:ext uri="{BB962C8B-B14F-4D97-AF65-F5344CB8AC3E}">
        <p14:creationId xmlns:p14="http://schemas.microsoft.com/office/powerpoint/2010/main" val="1474132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2.2.7</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318856" cy="5623822"/>
              </a:xfrm>
            </p:spPr>
            <p:txBody>
              <a:bodyPr>
                <a:normAutofit/>
              </a:bodyPr>
              <a:lstStyle/>
              <a:p>
                <a:pPr marL="0" indent="0">
                  <a:buNone/>
                </a:pPr>
                <a:r>
                  <a:rPr lang="en-US" sz="2400" dirty="0">
                    <a:solidFill>
                      <a:srgbClr val="000000"/>
                    </a:solidFill>
                    <a:latin typeface="Montserrat" panose="02000505000000020004"/>
                    <a:cs typeface="Courier New" panose="02070309020205020404" pitchFamily="49" charset="0"/>
                  </a:rPr>
                  <a:t>d) </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aS</a:t>
                </a:r>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SbS</a:t>
                </a: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L(G)={</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a,b</a:t>
                </a: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S</a:t>
                </a:r>
                <a:r>
                  <a:rPr lang="en-ID" sz="2400" dirty="0">
                    <a:solidFill>
                      <a:srgbClr val="000000"/>
                    </a:solidFill>
                    <a:latin typeface="Courier New" panose="02070309020205020404" pitchFamily="49" charset="0"/>
                    <a:cs typeface="Courier New" panose="02070309020205020404" pitchFamily="49" charset="0"/>
                  </a:rPr>
                  <a:t>∈ </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Bahasa yang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dihasilkan</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dari</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US" sz="2400" dirty="0" err="1">
                    <a:solidFill>
                      <a:srgbClr val="000000"/>
                    </a:solidFill>
                    <a:latin typeface="Montserrat" panose="02000505000000020004"/>
                    <a:cs typeface="Courier New" panose="02070309020205020404" pitchFamily="49" charset="0"/>
                    <a:sym typeface="Wingdings" panose="05000000000000000000" pitchFamily="2" charset="2"/>
                  </a:rPr>
                  <a:t>setiap</a:t>
                </a: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 string a, b</a:t>
                </a:r>
                <a:br>
                  <a:rPr lang="en-US" sz="2400" dirty="0">
                    <a:solidFill>
                      <a:srgbClr val="000000"/>
                    </a:solidFill>
                    <a:latin typeface="Montserrat" panose="02000505000000020004"/>
                    <a:cs typeface="Courier New" panose="02070309020205020404" pitchFamily="49" charset="0"/>
                    <a:sym typeface="Wingdings" panose="05000000000000000000" pitchFamily="2" charset="2"/>
                  </a:rPr>
                </a:br>
                <a:r>
                  <a:rPr lang="en-US" sz="2400" dirty="0">
                    <a:solidFill>
                      <a:srgbClr val="000000"/>
                    </a:solidFill>
                    <a:latin typeface="Montserrat" panose="02000505000000020004"/>
                    <a:cs typeface="Courier New" panose="02070309020205020404" pitchFamily="49" charset="0"/>
                    <a:sym typeface="Wingdings" panose="05000000000000000000" pitchFamily="2" charset="2"/>
                  </a:rPr>
                  <a:t>e) </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aS</a:t>
                </a:r>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bS</a:t>
                </a: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L(G)={</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a,b</a:t>
                </a: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a:t>
                </a:r>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a:t>
                </a:r>
                <a:endPar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buNone/>
                </a:pP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f)</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ab</a:t>
                </a: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bS</a:t>
                </a: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L(G)=</a:t>
                </a:r>
                <a:r>
                  <a:rPr lang="en-US" sz="2400" dirty="0">
                    <a:solidFill>
                      <a:srgbClr val="000000"/>
                    </a:solidFill>
                    <a:cs typeface="Courier New" panose="02070309020205020404" pitchFamily="49" charset="0"/>
                  </a:rPr>
                  <a:t> </a:t>
                </a:r>
                <a14:m>
                  <m:oMath xmlns:m="http://schemas.openxmlformats.org/officeDocument/2006/math">
                    <m:sSup>
                      <m:sSupPr>
                        <m:ctrlPr>
                          <a:rPr lang="en-US" sz="2400" i="1">
                            <a:solidFill>
                              <a:srgbClr val="000000"/>
                            </a:solidFill>
                            <a:latin typeface="Cambria Math" panose="02040503050406030204" pitchFamily="18" charset="0"/>
                            <a:cs typeface="Courier New" panose="02070309020205020404" pitchFamily="49" charset="0"/>
                          </a:rPr>
                        </m:ctrlPr>
                      </m:sSupPr>
                      <m:e>
                        <m:r>
                          <a:rPr lang="en-US" sz="2400" i="1">
                            <a:solidFill>
                              <a:srgbClr val="000000"/>
                            </a:solidFill>
                            <a:latin typeface="Cambria Math" panose="02040503050406030204" pitchFamily="18" charset="0"/>
                            <a:cs typeface="Courier New" panose="02070309020205020404" pitchFamily="49" charset="0"/>
                          </a:rPr>
                          <m:t>{</m:t>
                        </m:r>
                        <m:r>
                          <a:rPr lang="en-US" sz="2400" i="1">
                            <a:solidFill>
                              <a:srgbClr val="000000"/>
                            </a:solidFill>
                            <a:latin typeface="Cambria Math" panose="02040503050406030204" pitchFamily="18" charset="0"/>
                            <a:cs typeface="Courier New" panose="02070309020205020404" pitchFamily="49" charset="0"/>
                          </a:rPr>
                          <m:t>𝑎</m:t>
                        </m:r>
                        <m:r>
                          <a:rPr lang="en-US" sz="2400" i="1">
                            <a:solidFill>
                              <a:srgbClr val="000000"/>
                            </a:solidFill>
                            <a:latin typeface="Cambria Math" panose="02040503050406030204" pitchFamily="18" charset="0"/>
                            <a:cs typeface="Courier New" panose="02070309020205020404" pitchFamily="49" charset="0"/>
                          </a:rPr>
                          <m:t>,</m:t>
                        </m:r>
                        <m:r>
                          <a:rPr lang="en-US" sz="2400" i="1">
                            <a:solidFill>
                              <a:srgbClr val="000000"/>
                            </a:solidFill>
                            <a:latin typeface="Cambria Math" panose="02040503050406030204" pitchFamily="18" charset="0"/>
                            <a:cs typeface="Courier New" panose="02070309020205020404" pitchFamily="49" charset="0"/>
                          </a:rPr>
                          <m:t>𝑏</m:t>
                        </m:r>
                        <m:r>
                          <a:rPr lang="en-US" sz="2400" i="1">
                            <a:solidFill>
                              <a:srgbClr val="000000"/>
                            </a:solidFill>
                            <a:latin typeface="Cambria Math" panose="02040503050406030204" pitchFamily="18" charset="0"/>
                            <a:cs typeface="Courier New" panose="02070309020205020404" pitchFamily="49" charset="0"/>
                          </a:rPr>
                          <m:t>}</m:t>
                        </m:r>
                      </m:e>
                      <m:sup>
                        <m:r>
                          <a:rPr lang="en-US" sz="2400" i="1">
                            <a:solidFill>
                              <a:srgbClr val="000000"/>
                            </a:solidFill>
                            <a:latin typeface="Cambria Math" panose="02040503050406030204" pitchFamily="18" charset="0"/>
                            <a:cs typeface="Courier New" panose="02070309020205020404" pitchFamily="49" charset="0"/>
                          </a:rPr>
                          <m:t>+</m:t>
                        </m:r>
                      </m:sup>
                    </m:sSup>
                  </m:oMath>
                </a14:m>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a:t>
                </a:r>
                <a:b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US" sz="2400" dirty="0" err="1">
                    <a:solidFill>
                      <a:srgbClr val="000000"/>
                    </a:solidFill>
                    <a:latin typeface="Courier New" panose="02070309020205020404" pitchFamily="49" charset="0"/>
                    <a:cs typeface="Courier New" panose="02070309020205020404" pitchFamily="49" charset="0"/>
                  </a:rPr>
                  <a:t>S</a:t>
                </a:r>
                <a:r>
                  <a:rPr lang="en-US"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a:t>
                </a:r>
                <a:endPar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buNone/>
                </a:pPr>
                <a:endPar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buNone/>
                </a:pPr>
                <a:endPar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buNone/>
                </a:pPr>
                <a:endPar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buNone/>
                </a:pPr>
                <a:endParaRPr lang="en-US" sz="2400" dirty="0">
                  <a:solidFill>
                    <a:srgbClr val="000000"/>
                  </a:solidFill>
                  <a:latin typeface="Montserrat" panose="02000505000000020004"/>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318856" cy="5623822"/>
              </a:xfrm>
              <a:blipFill>
                <a:blip r:embed="rId2"/>
                <a:stretch>
                  <a:fillRect l="-1099" t="-1625"/>
                </a:stretch>
              </a:blipFill>
            </p:spPr>
            <p:txBody>
              <a:bodyPr/>
              <a:lstStyle/>
              <a:p>
                <a:r>
                  <a:rPr lang="en-ID">
                    <a:noFill/>
                  </a:rPr>
                  <a:t> </a:t>
                </a:r>
              </a:p>
            </p:txBody>
          </p:sp>
        </mc:Fallback>
      </mc:AlternateContent>
    </p:spTree>
    <p:extLst>
      <p:ext uri="{BB962C8B-B14F-4D97-AF65-F5344CB8AC3E}">
        <p14:creationId xmlns:p14="http://schemas.microsoft.com/office/powerpoint/2010/main" val="2570282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2.2.8</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err="1">
                <a:solidFill>
                  <a:srgbClr val="000000"/>
                </a:solidFill>
                <a:latin typeface="Montserrat" panose="02000505000000020004"/>
                <a:cs typeface="Courier New" panose="02070309020205020404" pitchFamily="49" charset="0"/>
              </a:rPr>
              <a:t>Diketahui</a:t>
            </a:r>
            <a:r>
              <a:rPr lang="en-US" sz="2400" dirty="0">
                <a:solidFill>
                  <a:srgbClr val="000000"/>
                </a:solidFill>
                <a:latin typeface="Montserrat" panose="02000505000000020004"/>
                <a:cs typeface="Courier New" panose="02070309020205020404" pitchFamily="49" charset="0"/>
              </a:rPr>
              <a:t> CFG G=(N,T,P,S)</a:t>
            </a: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Dengan</a:t>
            </a: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Buat </a:t>
            </a:r>
            <a:r>
              <a:rPr lang="en-US" sz="2400" dirty="0" err="1">
                <a:solidFill>
                  <a:srgbClr val="000000"/>
                </a:solidFill>
                <a:latin typeface="Montserrat" panose="02000505000000020004"/>
                <a:cs typeface="Courier New" panose="02070309020205020404" pitchFamily="49" charset="0"/>
              </a:rPr>
              <a:t>pohon</a:t>
            </a:r>
            <a:r>
              <a:rPr lang="en-US" sz="2400" dirty="0">
                <a:solidFill>
                  <a:srgbClr val="000000"/>
                </a:solidFill>
                <a:latin typeface="Montserrat" panose="02000505000000020004"/>
                <a:cs typeface="Courier New" panose="02070309020205020404" pitchFamily="49" charset="0"/>
              </a:rPr>
              <a:t> </a:t>
            </a:r>
            <a:r>
              <a:rPr lang="en-US" sz="2400" dirty="0" err="1">
                <a:solidFill>
                  <a:srgbClr val="000000"/>
                </a:solidFill>
                <a:latin typeface="Montserrat" panose="02000505000000020004"/>
                <a:cs typeface="Courier New" panose="02070309020205020404" pitchFamily="49" charset="0"/>
              </a:rPr>
              <a:t>turunan</a:t>
            </a:r>
            <a:r>
              <a:rPr lang="en-US" sz="2400" dirty="0">
                <a:solidFill>
                  <a:srgbClr val="000000"/>
                </a:solidFill>
                <a:latin typeface="Montserrat" panose="02000505000000020004"/>
                <a:cs typeface="Courier New" panose="02070309020205020404" pitchFamily="49" charset="0"/>
              </a:rPr>
              <a:t> dan L(G) </a:t>
            </a:r>
          </a:p>
          <a:p>
            <a:pPr marL="0" indent="0" algn="just">
              <a:buNone/>
            </a:pPr>
            <a:r>
              <a:rPr lang="en-US" sz="2400" dirty="0">
                <a:solidFill>
                  <a:srgbClr val="000000"/>
                </a:solidFill>
                <a:latin typeface="Montserrat" panose="02000505000000020004"/>
                <a:cs typeface="Courier New" panose="02070309020205020404" pitchFamily="49" charset="0"/>
              </a:rPr>
              <a:t>Jawab:</a:t>
            </a:r>
          </a:p>
          <a:p>
            <a:pPr marL="0" indent="0" algn="just">
              <a:buNone/>
            </a:pPr>
            <a:r>
              <a:rPr lang="en-US" sz="2400" dirty="0">
                <a:solidFill>
                  <a:srgbClr val="000000"/>
                </a:solidFill>
                <a:latin typeface="Courier New" panose="02070309020205020404" pitchFamily="49" charset="0"/>
                <a:cs typeface="Courier New" panose="02070309020205020404" pitchFamily="49" charset="0"/>
              </a:rPr>
              <a:t>S ⇒ </a:t>
            </a:r>
            <a:r>
              <a:rPr lang="en-US" sz="2400" dirty="0" err="1">
                <a:solidFill>
                  <a:srgbClr val="000000"/>
                </a:solidFill>
                <a:latin typeface="Courier New" panose="02070309020205020404" pitchFamily="49" charset="0"/>
                <a:cs typeface="Courier New" panose="02070309020205020404" pitchFamily="49" charset="0"/>
              </a:rPr>
              <a:t>aA</a:t>
            </a:r>
            <a:r>
              <a:rPr lang="en-US" sz="2400" dirty="0">
                <a:solidFill>
                  <a:srgbClr val="000000"/>
                </a:solidFill>
                <a:latin typeface="Courier New" panose="02070309020205020404" pitchFamily="49" charset="0"/>
                <a:cs typeface="Courier New" panose="02070309020205020404" pitchFamily="49" charset="0"/>
              </a:rPr>
              <a:t> ⇒ ab</a:t>
            </a:r>
          </a:p>
          <a:p>
            <a:pPr marL="0" indent="0" algn="just">
              <a:buNone/>
            </a:pPr>
            <a:r>
              <a:rPr lang="en-US" sz="2400" dirty="0">
                <a:solidFill>
                  <a:srgbClr val="000000"/>
                </a:solidFill>
                <a:latin typeface="Courier New" panose="02070309020205020404" pitchFamily="49" charset="0"/>
                <a:cs typeface="Courier New" panose="02070309020205020404" pitchFamily="49" charset="0"/>
              </a:rPr>
              <a:t>S ⇒ </a:t>
            </a:r>
            <a:r>
              <a:rPr lang="en-US" sz="2400" dirty="0" err="1">
                <a:solidFill>
                  <a:srgbClr val="000000"/>
                </a:solidFill>
                <a:latin typeface="Courier New" panose="02070309020205020404" pitchFamily="49" charset="0"/>
                <a:cs typeface="Courier New" panose="02070309020205020404" pitchFamily="49" charset="0"/>
              </a:rPr>
              <a:t>aS</a:t>
            </a:r>
            <a:r>
              <a:rPr lang="en-US" sz="2400" dirty="0">
                <a:solidFill>
                  <a:srgbClr val="000000"/>
                </a:solidFill>
                <a:latin typeface="Courier New" panose="02070309020205020404" pitchFamily="49" charset="0"/>
                <a:cs typeface="Courier New" panose="02070309020205020404" pitchFamily="49" charset="0"/>
              </a:rPr>
              <a:t> ⇒ </a:t>
            </a:r>
            <a:r>
              <a:rPr lang="en-US" sz="2400" dirty="0" err="1">
                <a:solidFill>
                  <a:srgbClr val="000000"/>
                </a:solidFill>
                <a:latin typeface="Courier New" panose="02070309020205020404" pitchFamily="49" charset="0"/>
                <a:cs typeface="Courier New" panose="02070309020205020404" pitchFamily="49" charset="0"/>
              </a:rPr>
              <a:t>aaA</a:t>
            </a:r>
            <a:r>
              <a:rPr lang="en-US" sz="2400" dirty="0">
                <a:solidFill>
                  <a:srgbClr val="000000"/>
                </a:solidFill>
                <a:latin typeface="Courier New" panose="02070309020205020404" pitchFamily="49" charset="0"/>
                <a:cs typeface="Courier New" panose="02070309020205020404" pitchFamily="49" charset="0"/>
              </a:rPr>
              <a:t> ⇒ </a:t>
            </a:r>
            <a:r>
              <a:rPr lang="en-US" sz="2400" dirty="0" err="1">
                <a:solidFill>
                  <a:srgbClr val="000000"/>
                </a:solidFill>
                <a:latin typeface="Courier New" panose="02070309020205020404" pitchFamily="49" charset="0"/>
                <a:cs typeface="Courier New" panose="02070309020205020404" pitchFamily="49" charset="0"/>
              </a:rPr>
              <a:t>aab</a:t>
            </a:r>
            <a:endParaRPr lang="en-US" sz="2400" dirty="0">
              <a:solidFill>
                <a:srgbClr val="000000"/>
              </a:solidFill>
              <a:latin typeface="Courier New" panose="02070309020205020404" pitchFamily="49" charset="0"/>
              <a:cs typeface="Courier New" panose="02070309020205020404" pitchFamily="49" charset="0"/>
            </a:endParaRPr>
          </a:p>
          <a:p>
            <a:pPr marL="0" indent="0" algn="just">
              <a:buNone/>
            </a:pPr>
            <a:r>
              <a:rPr lang="en-US" sz="2400" dirty="0">
                <a:solidFill>
                  <a:srgbClr val="000000"/>
                </a:solidFill>
                <a:latin typeface="Courier New" panose="02070309020205020404" pitchFamily="49" charset="0"/>
                <a:cs typeface="Courier New" panose="02070309020205020404" pitchFamily="49" charset="0"/>
              </a:rPr>
              <a:t>S ⇒ </a:t>
            </a:r>
            <a:r>
              <a:rPr lang="en-US" sz="2400" dirty="0" err="1">
                <a:solidFill>
                  <a:srgbClr val="000000"/>
                </a:solidFill>
                <a:latin typeface="Courier New" panose="02070309020205020404" pitchFamily="49" charset="0"/>
                <a:cs typeface="Courier New" panose="02070309020205020404" pitchFamily="49" charset="0"/>
              </a:rPr>
              <a:t>aS</a:t>
            </a:r>
            <a:r>
              <a:rPr lang="en-US" sz="2400" dirty="0">
                <a:solidFill>
                  <a:srgbClr val="000000"/>
                </a:solidFill>
                <a:latin typeface="Courier New" panose="02070309020205020404" pitchFamily="49" charset="0"/>
                <a:cs typeface="Courier New" panose="02070309020205020404" pitchFamily="49" charset="0"/>
              </a:rPr>
              <a:t> ⇒ </a:t>
            </a:r>
            <a:r>
              <a:rPr lang="en-US" sz="2400" dirty="0" err="1">
                <a:solidFill>
                  <a:srgbClr val="000000"/>
                </a:solidFill>
                <a:latin typeface="Courier New" panose="02070309020205020404" pitchFamily="49" charset="0"/>
                <a:cs typeface="Courier New" panose="02070309020205020404" pitchFamily="49" charset="0"/>
              </a:rPr>
              <a:t>aaS</a:t>
            </a:r>
            <a:r>
              <a:rPr lang="en-US" sz="2400" dirty="0">
                <a:solidFill>
                  <a:srgbClr val="000000"/>
                </a:solidFill>
                <a:latin typeface="Courier New" panose="02070309020205020404" pitchFamily="49" charset="0"/>
                <a:cs typeface="Courier New" panose="02070309020205020404" pitchFamily="49" charset="0"/>
              </a:rPr>
              <a:t> ⇒</a:t>
            </a:r>
            <a:r>
              <a:rPr lang="en-US" sz="2400" dirty="0" err="1">
                <a:solidFill>
                  <a:srgbClr val="000000"/>
                </a:solidFill>
                <a:latin typeface="Courier New" panose="02070309020205020404" pitchFamily="49" charset="0"/>
                <a:cs typeface="Courier New" panose="02070309020205020404" pitchFamily="49" charset="0"/>
              </a:rPr>
              <a:t>aaaA</a:t>
            </a:r>
            <a:r>
              <a:rPr lang="en-US" sz="2400" dirty="0">
                <a:solidFill>
                  <a:srgbClr val="000000"/>
                </a:solidFill>
                <a:latin typeface="Courier New" panose="02070309020205020404" pitchFamily="49" charset="0"/>
                <a:cs typeface="Courier New" panose="02070309020205020404" pitchFamily="49" charset="0"/>
              </a:rPr>
              <a:t> ⇒ </a:t>
            </a:r>
            <a:r>
              <a:rPr lang="en-US" sz="2400" dirty="0" err="1">
                <a:solidFill>
                  <a:srgbClr val="000000"/>
                </a:solidFill>
                <a:latin typeface="Courier New" panose="02070309020205020404" pitchFamily="49" charset="0"/>
                <a:cs typeface="Courier New" panose="02070309020205020404" pitchFamily="49" charset="0"/>
              </a:rPr>
              <a:t>aaabA</a:t>
            </a:r>
            <a:r>
              <a:rPr lang="en-US" sz="2400" dirty="0">
                <a:solidFill>
                  <a:srgbClr val="000000"/>
                </a:solidFill>
                <a:latin typeface="Courier New" panose="02070309020205020404" pitchFamily="49" charset="0"/>
                <a:cs typeface="Courier New" panose="02070309020205020404" pitchFamily="49" charset="0"/>
              </a:rPr>
              <a:t> ⇒ </a:t>
            </a:r>
            <a:r>
              <a:rPr lang="en-US" sz="2400" dirty="0" err="1">
                <a:solidFill>
                  <a:srgbClr val="000000"/>
                </a:solidFill>
                <a:latin typeface="Courier New" panose="02070309020205020404" pitchFamily="49" charset="0"/>
                <a:cs typeface="Courier New" panose="02070309020205020404" pitchFamily="49" charset="0"/>
              </a:rPr>
              <a:t>aaabb</a:t>
            </a:r>
            <a:r>
              <a:rPr lang="en-US" sz="2400" dirty="0">
                <a:solidFill>
                  <a:srgbClr val="000000"/>
                </a:solidFill>
                <a:latin typeface="Courier New" panose="02070309020205020404" pitchFamily="49" charset="0"/>
                <a:cs typeface="Courier New" panose="02070309020205020404" pitchFamily="49" charset="0"/>
              </a:rPr>
              <a:t> </a:t>
            </a:r>
            <a:br>
              <a:rPr lang="en-US" sz="2400" dirty="0">
                <a:solidFill>
                  <a:srgbClr val="000000"/>
                </a:solidFill>
                <a:latin typeface="Courier New" panose="02070309020205020404" pitchFamily="49" charset="0"/>
                <a:cs typeface="Courier New" panose="02070309020205020404" pitchFamily="49" charset="0"/>
              </a:rPr>
            </a:br>
            <a:r>
              <a:rPr lang="en-US" sz="2400" dirty="0">
                <a:solidFill>
                  <a:srgbClr val="000000"/>
                </a:solidFill>
                <a:latin typeface="Courier New" panose="02070309020205020404" pitchFamily="49" charset="0"/>
                <a:cs typeface="Courier New" panose="02070309020205020404" pitchFamily="49" charset="0"/>
              </a:rPr>
              <a:t>and so on…</a:t>
            </a:r>
          </a:p>
        </p:txBody>
      </p:sp>
      <p:pic>
        <p:nvPicPr>
          <p:cNvPr id="6" name="Picture 5">
            <a:extLst>
              <a:ext uri="{FF2B5EF4-FFF2-40B4-BE49-F238E27FC236}">
                <a16:creationId xmlns:a16="http://schemas.microsoft.com/office/drawing/2014/main" id="{1A9E2893-8FFB-4872-B21A-8167D7CCC072}"/>
              </a:ext>
            </a:extLst>
          </p:cNvPr>
          <p:cNvPicPr>
            <a:picLocks noChangeAspect="1"/>
          </p:cNvPicPr>
          <p:nvPr/>
        </p:nvPicPr>
        <p:blipFill rotWithShape="1">
          <a:blip r:embed="rId2"/>
          <a:srcRect t="5078" b="9136"/>
          <a:stretch/>
        </p:blipFill>
        <p:spPr>
          <a:xfrm>
            <a:off x="1663717" y="1484243"/>
            <a:ext cx="4245654" cy="1126435"/>
          </a:xfrm>
          <a:prstGeom prst="rect">
            <a:avLst/>
          </a:prstGeom>
        </p:spPr>
      </p:pic>
    </p:spTree>
    <p:extLst>
      <p:ext uri="{BB962C8B-B14F-4D97-AF65-F5344CB8AC3E}">
        <p14:creationId xmlns:p14="http://schemas.microsoft.com/office/powerpoint/2010/main" val="2713823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2.2.8</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a:solidFill>
                      <a:srgbClr val="000000"/>
                    </a:solidFill>
                    <a:latin typeface="Montserrat" panose="02000505000000020004"/>
                    <a:cs typeface="Courier New" panose="02070309020205020404" pitchFamily="49" charset="0"/>
                  </a:rPr>
                  <a:t>Pohon </a:t>
                </a:r>
                <a:r>
                  <a:rPr lang="en-US" sz="2400" dirty="0" err="1">
                    <a:solidFill>
                      <a:srgbClr val="000000"/>
                    </a:solidFill>
                    <a:latin typeface="Montserrat" panose="02000505000000020004"/>
                    <a:cs typeface="Courier New" panose="02070309020205020404" pitchFamily="49" charset="0"/>
                  </a:rPr>
                  <a:t>turunannya</a:t>
                </a:r>
                <a:r>
                  <a:rPr lang="en-US" sz="2400" dirty="0">
                    <a:solidFill>
                      <a:srgbClr val="000000"/>
                    </a:solidFill>
                    <a:latin typeface="Montserrat" panose="02000505000000020004"/>
                    <a:cs typeface="Courier New" panose="02070309020205020404" pitchFamily="49" charset="0"/>
                  </a:rPr>
                  <a:t>:</a:t>
                </a: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a:p>
                <a:pPr marL="0" indent="0" algn="just">
                  <a:buNone/>
                </a:pPr>
                <a:r>
                  <a:rPr lang="en-US" sz="2400" dirty="0">
                    <a:solidFill>
                      <a:srgbClr val="000000"/>
                    </a:solidFill>
                    <a:latin typeface="Montserrat" panose="02000505000000020004"/>
                    <a:cs typeface="Courier New" panose="02070309020205020404" pitchFamily="49" charset="0"/>
                  </a:rPr>
                  <a:t>Bahasa yang </a:t>
                </a:r>
                <a:r>
                  <a:rPr lang="en-US" sz="2400" dirty="0" err="1">
                    <a:solidFill>
                      <a:srgbClr val="000000"/>
                    </a:solidFill>
                    <a:latin typeface="Montserrat" panose="02000505000000020004"/>
                    <a:cs typeface="Courier New" panose="02070309020205020404" pitchFamily="49" charset="0"/>
                  </a:rPr>
                  <a:t>dihasilkan</a:t>
                </a:r>
                <a:r>
                  <a:rPr lang="en-US" sz="2400" dirty="0">
                    <a:solidFill>
                      <a:srgbClr val="000000"/>
                    </a:solidFill>
                    <a:latin typeface="Montserrat" panose="02000505000000020004"/>
                    <a:cs typeface="Courier New" panose="02070309020205020404" pitchFamily="49" charset="0"/>
                  </a:rPr>
                  <a:t> : </a:t>
                </a:r>
                <a:r>
                  <a:rPr lang="en-US" sz="2400" dirty="0">
                    <a:solidFill>
                      <a:srgbClr val="000000"/>
                    </a:solidFill>
                    <a:latin typeface="Courier New" panose="02070309020205020404" pitchFamily="49" charset="0"/>
                    <a:cs typeface="Courier New" panose="02070309020205020404" pitchFamily="49" charset="0"/>
                  </a:rPr>
                  <a:t>L(G)={</a:t>
                </a:r>
                <a14:m>
                  <m:oMath xmlns:m="http://schemas.openxmlformats.org/officeDocument/2006/math">
                    <m:sSup>
                      <m:sSupPr>
                        <m:ctrlPr>
                          <a:rPr lang="en-US" sz="2400" i="1">
                            <a:solidFill>
                              <a:srgbClr val="000000"/>
                            </a:solidFill>
                            <a:latin typeface="Cambria Math" panose="02040503050406030204" pitchFamily="18" charset="0"/>
                            <a:cs typeface="Courier New" panose="02070309020205020404" pitchFamily="49" charset="0"/>
                          </a:rPr>
                        </m:ctrlPr>
                      </m:sSupPr>
                      <m:e>
                        <m:r>
                          <a:rPr lang="en-US" sz="2400" i="1">
                            <a:solidFill>
                              <a:srgbClr val="000000"/>
                            </a:solidFill>
                            <a:latin typeface="Cambria Math" panose="02040503050406030204" pitchFamily="18" charset="0"/>
                            <a:cs typeface="Courier New" panose="02070309020205020404" pitchFamily="49" charset="0"/>
                          </a:rPr>
                          <m:t>𝑎</m:t>
                        </m:r>
                      </m:e>
                      <m:sup>
                        <m:r>
                          <a:rPr lang="en-US" sz="2400" i="1">
                            <a:solidFill>
                              <a:srgbClr val="000000"/>
                            </a:solidFill>
                            <a:latin typeface="Cambria Math" panose="02040503050406030204" pitchFamily="18" charset="0"/>
                            <a:cs typeface="Courier New" panose="02070309020205020404" pitchFamily="49" charset="0"/>
                          </a:rPr>
                          <m:t>𝑛</m:t>
                        </m:r>
                      </m:sup>
                    </m:sSup>
                    <m:sSup>
                      <m:sSupPr>
                        <m:ctrlPr>
                          <a:rPr lang="en-US" sz="2400" i="1">
                            <a:solidFill>
                              <a:srgbClr val="000000"/>
                            </a:solidFill>
                            <a:latin typeface="Cambria Math" panose="02040503050406030204" pitchFamily="18" charset="0"/>
                            <a:cs typeface="Courier New" panose="02070309020205020404" pitchFamily="49" charset="0"/>
                          </a:rPr>
                        </m:ctrlPr>
                      </m:sSupPr>
                      <m:e>
                        <m:r>
                          <a:rPr lang="en-US" sz="2400" b="0" i="1" smtClean="0">
                            <a:solidFill>
                              <a:srgbClr val="000000"/>
                            </a:solidFill>
                            <a:latin typeface="Cambria Math" panose="02040503050406030204" pitchFamily="18" charset="0"/>
                            <a:cs typeface="Courier New" panose="02070309020205020404" pitchFamily="49" charset="0"/>
                          </a:rPr>
                          <m:t>𝑏</m:t>
                        </m:r>
                      </m:e>
                      <m:sup>
                        <m:r>
                          <a:rPr lang="en-US" sz="2400" b="0" i="1" smtClean="0">
                            <a:solidFill>
                              <a:srgbClr val="000000"/>
                            </a:solidFill>
                            <a:latin typeface="Cambria Math" panose="02040503050406030204" pitchFamily="18" charset="0"/>
                            <a:cs typeface="Courier New" panose="02070309020205020404" pitchFamily="49" charset="0"/>
                          </a:rPr>
                          <m:t>𝑚</m:t>
                        </m:r>
                      </m:sup>
                    </m:sSup>
                    <m:r>
                      <a:rPr lang="en-US" sz="2400" i="1">
                        <a:solidFill>
                          <a:srgbClr val="000000"/>
                        </a:solidFill>
                        <a:latin typeface="Cambria Math" panose="02040503050406030204" pitchFamily="18" charset="0"/>
                        <a:cs typeface="Courier New" panose="02070309020205020404" pitchFamily="49" charset="0"/>
                      </a:rPr>
                      <m:t>|</m:t>
                    </m:r>
                    <m:r>
                      <a:rPr lang="en-US" sz="2400" i="1">
                        <a:solidFill>
                          <a:srgbClr val="000000"/>
                        </a:solidFill>
                        <a:latin typeface="Cambria Math" panose="02040503050406030204" pitchFamily="18" charset="0"/>
                        <a:cs typeface="Courier New" panose="02070309020205020404" pitchFamily="49" charset="0"/>
                      </a:rPr>
                      <m:t>𝑛</m:t>
                    </m:r>
                    <m:r>
                      <a:rPr lang="en-US" sz="2400" i="1">
                        <a:solidFill>
                          <a:srgbClr val="000000"/>
                        </a:solidFill>
                        <a:latin typeface="Cambria Math" panose="02040503050406030204" pitchFamily="18" charset="0"/>
                        <a:ea typeface="Cambria Math" panose="02040503050406030204" pitchFamily="18" charset="0"/>
                        <a:cs typeface="Courier New" panose="02070309020205020404" pitchFamily="49" charset="0"/>
                      </a:rPr>
                      <m:t>≥</m:t>
                    </m:r>
                    <m:r>
                      <a:rPr lang="en-US" sz="2400" b="0" i="1" smtClean="0">
                        <a:solidFill>
                          <a:srgbClr val="000000"/>
                        </a:solidFill>
                        <a:latin typeface="Cambria Math" panose="02040503050406030204" pitchFamily="18" charset="0"/>
                        <a:ea typeface="Cambria Math" panose="02040503050406030204" pitchFamily="18" charset="0"/>
                        <a:cs typeface="Courier New" panose="02070309020205020404" pitchFamily="49" charset="0"/>
                      </a:rPr>
                      <m:t>1,</m:t>
                    </m:r>
                    <m:r>
                      <a:rPr lang="en-US" sz="2400" b="0" i="1" smtClean="0">
                        <a:solidFill>
                          <a:srgbClr val="000000"/>
                        </a:solidFill>
                        <a:latin typeface="Cambria Math" panose="02040503050406030204" pitchFamily="18" charset="0"/>
                        <a:ea typeface="Cambria Math" panose="02040503050406030204" pitchFamily="18" charset="0"/>
                        <a:cs typeface="Courier New" panose="02070309020205020404" pitchFamily="49" charset="0"/>
                      </a:rPr>
                      <m:t>𝑚</m:t>
                    </m:r>
                    <m:r>
                      <a:rPr lang="en-US" sz="2400" i="1">
                        <a:solidFill>
                          <a:srgbClr val="000000"/>
                        </a:solidFill>
                        <a:latin typeface="Cambria Math" panose="02040503050406030204" pitchFamily="18" charset="0"/>
                        <a:ea typeface="Cambria Math" panose="02040503050406030204" pitchFamily="18" charset="0"/>
                        <a:cs typeface="Courier New" panose="02070309020205020404" pitchFamily="49" charset="0"/>
                      </a:rPr>
                      <m:t>≥1}</m:t>
                    </m:r>
                  </m:oMath>
                </a14:m>
                <a:endParaRPr lang="en-US" sz="2400" dirty="0">
                  <a:solidFill>
                    <a:srgbClr val="000000"/>
                  </a:solidFill>
                  <a:latin typeface="Courier New" panose="02070309020205020404" pitchFamily="49" charset="0"/>
                  <a:cs typeface="Courier New" panose="02070309020205020404" pitchFamily="49" charset="0"/>
                </a:endParaRPr>
              </a:p>
              <a:p>
                <a:pPr marL="0" indent="0" algn="just">
                  <a:buNone/>
                </a:pPr>
                <a:endParaRPr lang="en-US" sz="2400" dirty="0">
                  <a:solidFill>
                    <a:srgbClr val="000000"/>
                  </a:solidFill>
                  <a:latin typeface="Montserrat" panose="02000505000000020004"/>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623822"/>
              </a:xfrm>
              <a:blipFill>
                <a:blip r:embed="rId2"/>
                <a:stretch>
                  <a:fillRect l="-1075" t="-1517"/>
                </a:stretch>
              </a:blipFill>
            </p:spPr>
            <p:txBody>
              <a:bodyPr/>
              <a:lstStyle/>
              <a:p>
                <a:r>
                  <a:rPr lang="en-ID">
                    <a:noFill/>
                  </a:rPr>
                  <a:t> </a:t>
                </a:r>
              </a:p>
            </p:txBody>
          </p:sp>
        </mc:Fallback>
      </mc:AlternateContent>
      <p:pic>
        <p:nvPicPr>
          <p:cNvPr id="4" name="Picture 3">
            <a:extLst>
              <a:ext uri="{FF2B5EF4-FFF2-40B4-BE49-F238E27FC236}">
                <a16:creationId xmlns:a16="http://schemas.microsoft.com/office/drawing/2014/main" id="{E1D5FD90-59CE-42A4-A2D4-A29E7F097FE2}"/>
              </a:ext>
            </a:extLst>
          </p:cNvPr>
          <p:cNvPicPr>
            <a:picLocks noChangeAspect="1"/>
          </p:cNvPicPr>
          <p:nvPr/>
        </p:nvPicPr>
        <p:blipFill>
          <a:blip r:embed="rId3"/>
          <a:stretch>
            <a:fillRect/>
          </a:stretch>
        </p:blipFill>
        <p:spPr>
          <a:xfrm>
            <a:off x="3190682" y="1780183"/>
            <a:ext cx="2762636" cy="2343477"/>
          </a:xfrm>
          <a:prstGeom prst="rect">
            <a:avLst/>
          </a:prstGeom>
        </p:spPr>
      </p:pic>
    </p:spTree>
    <p:extLst>
      <p:ext uri="{BB962C8B-B14F-4D97-AF65-F5344CB8AC3E}">
        <p14:creationId xmlns:p14="http://schemas.microsoft.com/office/powerpoint/2010/main" val="2356077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2.2.9</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err="1">
                <a:solidFill>
                  <a:srgbClr val="000000"/>
                </a:solidFill>
                <a:latin typeface="Montserrat"/>
                <a:cs typeface="Courier New" panose="02070309020205020404" pitchFamily="49" charset="0"/>
              </a:rPr>
              <a:t>Diketahui</a:t>
            </a:r>
            <a:r>
              <a:rPr lang="en-US" sz="2400" dirty="0">
                <a:solidFill>
                  <a:srgbClr val="000000"/>
                </a:solidFill>
                <a:latin typeface="Montserrat"/>
                <a:cs typeface="Courier New" panose="02070309020205020404" pitchFamily="49" charset="0"/>
              </a:rPr>
              <a:t> CFG dengan </a:t>
            </a:r>
            <a:r>
              <a:rPr lang="en-US" sz="2400" dirty="0" err="1">
                <a:solidFill>
                  <a:srgbClr val="000000"/>
                </a:solidFill>
                <a:latin typeface="Montserrat"/>
                <a:cs typeface="Courier New" panose="02070309020205020404" pitchFamily="49" charset="0"/>
              </a:rPr>
              <a:t>aturan</a:t>
            </a:r>
            <a:endParaRPr lang="en-US" sz="2400" dirty="0">
              <a:solidFill>
                <a:srgbClr val="000000"/>
              </a:solidFill>
              <a:latin typeface="Montserrat"/>
              <a:cs typeface="Courier New" panose="02070309020205020404" pitchFamily="49" charset="0"/>
            </a:endParaRP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r>
              <a:rPr lang="en-US" sz="2400" dirty="0" err="1">
                <a:solidFill>
                  <a:srgbClr val="000000"/>
                </a:solidFill>
                <a:latin typeface="Montserrat"/>
                <a:cs typeface="Courier New" panose="02070309020205020404" pitchFamily="49" charset="0"/>
              </a:rPr>
              <a:t>Buatlah</a:t>
            </a:r>
            <a:r>
              <a:rPr lang="en-US" sz="2400" dirty="0">
                <a:solidFill>
                  <a:srgbClr val="000000"/>
                </a:solidFill>
                <a:latin typeface="Montserrat"/>
                <a:cs typeface="Courier New" panose="02070309020205020404" pitchFamily="49" charset="0"/>
              </a:rPr>
              <a:t> </a:t>
            </a:r>
            <a:r>
              <a:rPr lang="en-US" sz="2400" dirty="0" err="1">
                <a:solidFill>
                  <a:srgbClr val="000000"/>
                </a:solidFill>
                <a:latin typeface="Montserrat"/>
                <a:cs typeface="Courier New" panose="02070309020205020404" pitchFamily="49" charset="0"/>
              </a:rPr>
              <a:t>pohon</a:t>
            </a:r>
            <a:r>
              <a:rPr lang="en-US" sz="2400" dirty="0">
                <a:solidFill>
                  <a:srgbClr val="000000"/>
                </a:solidFill>
                <a:latin typeface="Montserrat"/>
                <a:cs typeface="Courier New" panose="02070309020205020404" pitchFamily="49" charset="0"/>
              </a:rPr>
              <a:t> </a:t>
            </a:r>
            <a:r>
              <a:rPr lang="en-US" sz="2400" dirty="0" err="1">
                <a:solidFill>
                  <a:srgbClr val="000000"/>
                </a:solidFill>
                <a:latin typeface="Montserrat"/>
                <a:cs typeface="Courier New" panose="02070309020205020404" pitchFamily="49" charset="0"/>
              </a:rPr>
              <a:t>turunan</a:t>
            </a:r>
            <a:r>
              <a:rPr lang="en-US" sz="2400" dirty="0">
                <a:solidFill>
                  <a:srgbClr val="000000"/>
                </a:solidFill>
                <a:latin typeface="Montserrat"/>
                <a:cs typeface="Courier New" panose="02070309020205020404" pitchFamily="49" charset="0"/>
              </a:rPr>
              <a:t> </a:t>
            </a:r>
            <a:r>
              <a:rPr lang="en-US" sz="2400" dirty="0" err="1">
                <a:solidFill>
                  <a:srgbClr val="000000"/>
                </a:solidFill>
                <a:latin typeface="Montserrat"/>
                <a:cs typeface="Courier New" panose="02070309020205020404" pitchFamily="49" charset="0"/>
              </a:rPr>
              <a:t>danL</a:t>
            </a:r>
            <a:r>
              <a:rPr lang="en-US" sz="2400" dirty="0">
                <a:solidFill>
                  <a:srgbClr val="000000"/>
                </a:solidFill>
                <a:latin typeface="Montserrat"/>
                <a:cs typeface="Courier New" panose="02070309020205020404" pitchFamily="49" charset="0"/>
              </a:rPr>
              <a:t>(G) </a:t>
            </a:r>
          </a:p>
          <a:p>
            <a:pPr marL="0" indent="0" algn="just">
              <a:buNone/>
            </a:pPr>
            <a:r>
              <a:rPr lang="en-US" sz="2400" dirty="0">
                <a:solidFill>
                  <a:srgbClr val="000000"/>
                </a:solidFill>
                <a:latin typeface="Montserrat"/>
                <a:cs typeface="Courier New" panose="02070309020205020404" pitchFamily="49" charset="0"/>
              </a:rPr>
              <a:t>Jawab:</a:t>
            </a:r>
          </a:p>
          <a:p>
            <a:pPr marL="0" indent="0" algn="just">
              <a:buNone/>
            </a:pPr>
            <a:r>
              <a:rPr lang="en-US" sz="2400" dirty="0">
                <a:solidFill>
                  <a:srgbClr val="000000"/>
                </a:solidFill>
                <a:latin typeface="Montserrat"/>
                <a:cs typeface="Courier New" panose="02070309020205020404" pitchFamily="49" charset="0"/>
              </a:rPr>
              <a:t>S ⇒ </a:t>
            </a:r>
            <a:r>
              <a:rPr lang="en-US" sz="2400" dirty="0" err="1">
                <a:solidFill>
                  <a:srgbClr val="000000"/>
                </a:solidFill>
                <a:latin typeface="Montserrat"/>
                <a:cs typeface="Courier New" panose="02070309020205020404" pitchFamily="49" charset="0"/>
              </a:rPr>
              <a:t>aA</a:t>
            </a:r>
            <a:r>
              <a:rPr lang="en-US" sz="2400" dirty="0">
                <a:solidFill>
                  <a:srgbClr val="000000"/>
                </a:solidFill>
                <a:latin typeface="Montserrat"/>
                <a:cs typeface="Courier New" panose="02070309020205020404" pitchFamily="49" charset="0"/>
              </a:rPr>
              <a:t> ⇒ ab </a:t>
            </a: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r>
              <a:rPr lang="en-US" sz="2400" dirty="0">
                <a:solidFill>
                  <a:srgbClr val="000000"/>
                </a:solidFill>
                <a:latin typeface="Montserrat"/>
                <a:cs typeface="Courier New" panose="02070309020205020404" pitchFamily="49" charset="0"/>
              </a:rPr>
              <a:t>S ⇒ </a:t>
            </a:r>
            <a:r>
              <a:rPr lang="en-US" sz="2400" dirty="0" err="1">
                <a:solidFill>
                  <a:srgbClr val="000000"/>
                </a:solidFill>
                <a:latin typeface="Montserrat"/>
                <a:cs typeface="Courier New" panose="02070309020205020404" pitchFamily="49" charset="0"/>
              </a:rPr>
              <a:t>aA</a:t>
            </a:r>
            <a:r>
              <a:rPr lang="en-US" sz="2400" dirty="0">
                <a:solidFill>
                  <a:srgbClr val="000000"/>
                </a:solidFill>
                <a:latin typeface="Montserrat"/>
                <a:cs typeface="Courier New" panose="02070309020205020404" pitchFamily="49" charset="0"/>
              </a:rPr>
              <a:t> ⇒ </a:t>
            </a:r>
            <a:r>
              <a:rPr lang="en-US" sz="2400" dirty="0" err="1">
                <a:solidFill>
                  <a:srgbClr val="000000"/>
                </a:solidFill>
                <a:latin typeface="Montserrat"/>
                <a:cs typeface="Courier New" panose="02070309020205020404" pitchFamily="49" charset="0"/>
              </a:rPr>
              <a:t>abS</a:t>
            </a:r>
            <a:r>
              <a:rPr lang="en-US" sz="2400" dirty="0">
                <a:solidFill>
                  <a:srgbClr val="000000"/>
                </a:solidFill>
                <a:latin typeface="Montserrat"/>
                <a:cs typeface="Courier New" panose="02070309020205020404" pitchFamily="49" charset="0"/>
              </a:rPr>
              <a:t> ⇒ </a:t>
            </a:r>
            <a:r>
              <a:rPr lang="en-US" sz="2400" dirty="0" err="1">
                <a:solidFill>
                  <a:srgbClr val="000000"/>
                </a:solidFill>
                <a:latin typeface="Montserrat"/>
                <a:cs typeface="Courier New" panose="02070309020205020404" pitchFamily="49" charset="0"/>
              </a:rPr>
              <a:t>abaA</a:t>
            </a:r>
            <a:r>
              <a:rPr lang="en-US" sz="2400" dirty="0">
                <a:solidFill>
                  <a:srgbClr val="000000"/>
                </a:solidFill>
                <a:latin typeface="Montserrat"/>
                <a:cs typeface="Courier New" panose="02070309020205020404" pitchFamily="49" charset="0"/>
              </a:rPr>
              <a:t> ⇒ </a:t>
            </a:r>
            <a:r>
              <a:rPr lang="en-US" sz="2400" dirty="0" err="1">
                <a:solidFill>
                  <a:srgbClr val="000000"/>
                </a:solidFill>
                <a:latin typeface="Montserrat"/>
                <a:cs typeface="Courier New" panose="02070309020205020404" pitchFamily="49" charset="0"/>
              </a:rPr>
              <a:t>abab</a:t>
            </a:r>
            <a:r>
              <a:rPr lang="en-US" sz="2400" dirty="0">
                <a:solidFill>
                  <a:srgbClr val="000000"/>
                </a:solidFill>
                <a:latin typeface="Montserrat"/>
                <a:cs typeface="Courier New" panose="02070309020205020404" pitchFamily="49" charset="0"/>
              </a:rPr>
              <a:t> … …</a:t>
            </a:r>
          </a:p>
          <a:p>
            <a:pPr marL="0" indent="0" algn="just">
              <a:buNone/>
            </a:pPr>
            <a:endParaRPr lang="en-US" sz="2400" dirty="0">
              <a:solidFill>
                <a:srgbClr val="000000"/>
              </a:solidFill>
              <a:latin typeface="Montserrat"/>
              <a:cs typeface="Courier New" panose="02070309020205020404" pitchFamily="49" charset="0"/>
            </a:endParaRPr>
          </a:p>
        </p:txBody>
      </p:sp>
      <p:pic>
        <p:nvPicPr>
          <p:cNvPr id="4" name="Picture 3">
            <a:extLst>
              <a:ext uri="{FF2B5EF4-FFF2-40B4-BE49-F238E27FC236}">
                <a16:creationId xmlns:a16="http://schemas.microsoft.com/office/drawing/2014/main" id="{019459B1-054B-4031-9371-A32EFE2A1E3E}"/>
              </a:ext>
            </a:extLst>
          </p:cNvPr>
          <p:cNvPicPr>
            <a:picLocks noChangeAspect="1"/>
          </p:cNvPicPr>
          <p:nvPr/>
        </p:nvPicPr>
        <p:blipFill rotWithShape="1">
          <a:blip r:embed="rId2"/>
          <a:srcRect t="4082" b="9847"/>
          <a:stretch/>
        </p:blipFill>
        <p:spPr>
          <a:xfrm>
            <a:off x="4318827" y="866516"/>
            <a:ext cx="2001079" cy="1009650"/>
          </a:xfrm>
          <a:prstGeom prst="rect">
            <a:avLst/>
          </a:prstGeom>
        </p:spPr>
      </p:pic>
      <p:pic>
        <p:nvPicPr>
          <p:cNvPr id="5" name="Picture 4">
            <a:extLst>
              <a:ext uri="{FF2B5EF4-FFF2-40B4-BE49-F238E27FC236}">
                <a16:creationId xmlns:a16="http://schemas.microsoft.com/office/drawing/2014/main" id="{C0F7EC0F-0471-46BE-8C2B-C2900BD9F791}"/>
              </a:ext>
            </a:extLst>
          </p:cNvPr>
          <p:cNvPicPr>
            <a:picLocks noChangeAspect="1"/>
          </p:cNvPicPr>
          <p:nvPr/>
        </p:nvPicPr>
        <p:blipFill>
          <a:blip r:embed="rId3"/>
          <a:stretch>
            <a:fillRect/>
          </a:stretch>
        </p:blipFill>
        <p:spPr>
          <a:xfrm>
            <a:off x="3099457" y="2948001"/>
            <a:ext cx="1219370" cy="1257475"/>
          </a:xfrm>
          <a:prstGeom prst="rect">
            <a:avLst/>
          </a:prstGeom>
        </p:spPr>
      </p:pic>
      <p:pic>
        <p:nvPicPr>
          <p:cNvPr id="7" name="Picture 6">
            <a:extLst>
              <a:ext uri="{FF2B5EF4-FFF2-40B4-BE49-F238E27FC236}">
                <a16:creationId xmlns:a16="http://schemas.microsoft.com/office/drawing/2014/main" id="{0A771055-3CE1-478A-9D40-A34D140D8A3E}"/>
              </a:ext>
            </a:extLst>
          </p:cNvPr>
          <p:cNvPicPr>
            <a:picLocks noChangeAspect="1"/>
          </p:cNvPicPr>
          <p:nvPr/>
        </p:nvPicPr>
        <p:blipFill>
          <a:blip r:embed="rId4"/>
          <a:stretch>
            <a:fillRect/>
          </a:stretch>
        </p:blipFill>
        <p:spPr>
          <a:xfrm>
            <a:off x="5324404" y="4205476"/>
            <a:ext cx="1991003" cy="1800476"/>
          </a:xfrm>
          <a:prstGeom prst="rect">
            <a:avLst/>
          </a:prstGeom>
        </p:spPr>
      </p:pic>
    </p:spTree>
    <p:extLst>
      <p:ext uri="{BB962C8B-B14F-4D97-AF65-F5344CB8AC3E}">
        <p14:creationId xmlns:p14="http://schemas.microsoft.com/office/powerpoint/2010/main" val="1069651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2.2.9</a:t>
            </a:r>
            <a:endParaRPr lang="id-ID"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a:solidFill>
                      <a:srgbClr val="000000"/>
                    </a:solidFill>
                    <a:latin typeface="Montserrat"/>
                    <a:cs typeface="Courier New" panose="02070309020205020404" pitchFamily="49" charset="0"/>
                  </a:rPr>
                  <a:t>Pohon </a:t>
                </a:r>
                <a:r>
                  <a:rPr lang="en-US" sz="2400" dirty="0" err="1">
                    <a:solidFill>
                      <a:srgbClr val="000000"/>
                    </a:solidFill>
                    <a:latin typeface="Montserrat"/>
                    <a:cs typeface="Courier New" panose="02070309020205020404" pitchFamily="49" charset="0"/>
                  </a:rPr>
                  <a:t>derivasi</a:t>
                </a:r>
                <a:r>
                  <a:rPr lang="en-US" sz="2400" dirty="0">
                    <a:solidFill>
                      <a:srgbClr val="000000"/>
                    </a:solidFill>
                    <a:latin typeface="Montserrat"/>
                    <a:cs typeface="Courier New" panose="02070309020205020404" pitchFamily="49" charset="0"/>
                  </a:rPr>
                  <a:t> </a:t>
                </a:r>
                <a:r>
                  <a:rPr lang="en-US" sz="2400" dirty="0" err="1">
                    <a:solidFill>
                      <a:srgbClr val="000000"/>
                    </a:solidFill>
                    <a:latin typeface="Montserrat"/>
                    <a:cs typeface="Courier New" panose="02070309020205020404" pitchFamily="49" charset="0"/>
                  </a:rPr>
                  <a:t>menunjukkan</a:t>
                </a:r>
                <a:r>
                  <a:rPr lang="en-US" sz="2400" dirty="0">
                    <a:solidFill>
                      <a:srgbClr val="000000"/>
                    </a:solidFill>
                    <a:latin typeface="Montserrat"/>
                    <a:cs typeface="Courier New" panose="02070309020205020404" pitchFamily="49" charset="0"/>
                  </a:rPr>
                  <a:t> </a:t>
                </a:r>
                <a:r>
                  <a:rPr lang="en-US" sz="2400" dirty="0" err="1">
                    <a:solidFill>
                      <a:srgbClr val="000000"/>
                    </a:solidFill>
                    <a:latin typeface="Montserrat"/>
                    <a:cs typeface="Courier New" panose="02070309020205020404" pitchFamily="49" charset="0"/>
                  </a:rPr>
                  <a:t>ab,abab</a:t>
                </a:r>
                <a:r>
                  <a:rPr lang="en-US" sz="2400" dirty="0">
                    <a:solidFill>
                      <a:srgbClr val="000000"/>
                    </a:solidFill>
                    <a:latin typeface="Montserrat"/>
                    <a:cs typeface="Courier New" panose="02070309020205020404" pitchFamily="49" charset="0"/>
                  </a:rPr>
                  <a:t>,…..</a:t>
                </a:r>
              </a:p>
              <a:p>
                <a:pPr marL="0" indent="0" algn="just">
                  <a:buNone/>
                </a:pPr>
                <a:r>
                  <a:rPr lang="en-US" sz="2400" dirty="0">
                    <a:solidFill>
                      <a:srgbClr val="000000"/>
                    </a:solidFill>
                    <a:latin typeface="Montserrat"/>
                    <a:cs typeface="Courier New" panose="02070309020205020404" pitchFamily="49" charset="0"/>
                  </a:rPr>
                  <a:t>Jadi Bahasa yang </a:t>
                </a:r>
                <a:r>
                  <a:rPr lang="en-US" sz="2400" dirty="0" err="1">
                    <a:solidFill>
                      <a:srgbClr val="000000"/>
                    </a:solidFill>
                    <a:latin typeface="Montserrat"/>
                    <a:cs typeface="Courier New" panose="02070309020205020404" pitchFamily="49" charset="0"/>
                  </a:rPr>
                  <a:t>dihasilkan</a:t>
                </a:r>
                <a:r>
                  <a:rPr lang="en-US" sz="2400" dirty="0">
                    <a:solidFill>
                      <a:srgbClr val="000000"/>
                    </a:solidFill>
                    <a:latin typeface="Montserrat"/>
                    <a:cs typeface="Courier New" panose="02070309020205020404" pitchFamily="49" charset="0"/>
                  </a:rPr>
                  <a:t> </a:t>
                </a:r>
              </a:p>
              <a:p>
                <a:pPr marL="0" indent="0" algn="just">
                  <a:buNone/>
                </a:pPr>
                <a:endParaRPr lang="en-US" sz="2400" dirty="0">
                  <a:solidFill>
                    <a:srgbClr val="000000"/>
                  </a:solidFill>
                  <a:latin typeface="Montserrat"/>
                  <a:cs typeface="Courier New" panose="02070309020205020404" pitchFamily="49" charset="0"/>
                  <a:sym typeface="Wingdings" panose="05000000000000000000" pitchFamily="2" charset="2"/>
                </a:endParaRPr>
              </a:p>
              <a:p>
                <a:pPr marL="0" indent="0" algn="ctr">
                  <a:buNone/>
                </a:pPr>
                <a:r>
                  <a:rPr 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L(G)=</a:t>
                </a:r>
                <a:r>
                  <a:rPr lang="en-US" sz="2400" dirty="0">
                    <a:solidFill>
                      <a:srgbClr val="000000"/>
                    </a:solidFill>
                    <a:cs typeface="Courier New" panose="02070309020205020404" pitchFamily="49" charset="0"/>
                  </a:rPr>
                  <a:t> </a:t>
                </a:r>
                <a14:m>
                  <m:oMath xmlns:m="http://schemas.openxmlformats.org/officeDocument/2006/math">
                    <m:sSup>
                      <m:sSupPr>
                        <m:ctrlPr>
                          <a:rPr lang="en-US" sz="2400" i="1">
                            <a:solidFill>
                              <a:srgbClr val="000000"/>
                            </a:solidFill>
                            <a:latin typeface="Cambria Math" panose="02040503050406030204" pitchFamily="18" charset="0"/>
                            <a:cs typeface="Courier New" panose="02070309020205020404" pitchFamily="49" charset="0"/>
                          </a:rPr>
                        </m:ctrlPr>
                      </m:sSupPr>
                      <m:e>
                        <m:r>
                          <a:rPr lang="en-US" sz="2400" i="1">
                            <a:solidFill>
                              <a:srgbClr val="000000"/>
                            </a:solidFill>
                            <a:latin typeface="Cambria Math" panose="02040503050406030204" pitchFamily="18" charset="0"/>
                            <a:cs typeface="Courier New" panose="02070309020205020404" pitchFamily="49" charset="0"/>
                          </a:rPr>
                          <m:t>{</m:t>
                        </m:r>
                        <m:r>
                          <a:rPr lang="en-US" sz="2400" b="0" i="1" smtClean="0">
                            <a:solidFill>
                              <a:srgbClr val="000000"/>
                            </a:solidFill>
                            <a:latin typeface="Cambria Math" panose="02040503050406030204" pitchFamily="18" charset="0"/>
                            <a:cs typeface="Courier New" panose="02070309020205020404" pitchFamily="49" charset="0"/>
                          </a:rPr>
                          <m:t>(</m:t>
                        </m:r>
                        <m:r>
                          <a:rPr lang="en-US" sz="2400" i="1">
                            <a:solidFill>
                              <a:srgbClr val="000000"/>
                            </a:solidFill>
                            <a:latin typeface="Cambria Math" panose="02040503050406030204" pitchFamily="18" charset="0"/>
                            <a:cs typeface="Courier New" panose="02070309020205020404" pitchFamily="49" charset="0"/>
                          </a:rPr>
                          <m:t>𝑎</m:t>
                        </m:r>
                        <m:r>
                          <a:rPr lang="en-US" sz="2400" i="1">
                            <a:solidFill>
                              <a:srgbClr val="000000"/>
                            </a:solidFill>
                            <a:latin typeface="Cambria Math" panose="02040503050406030204" pitchFamily="18" charset="0"/>
                            <a:cs typeface="Courier New" panose="02070309020205020404" pitchFamily="49" charset="0"/>
                          </a:rPr>
                          <m:t>,</m:t>
                        </m:r>
                        <m:r>
                          <a:rPr lang="en-US" sz="2400" i="1">
                            <a:solidFill>
                              <a:srgbClr val="000000"/>
                            </a:solidFill>
                            <a:latin typeface="Cambria Math" panose="02040503050406030204" pitchFamily="18" charset="0"/>
                            <a:cs typeface="Courier New" panose="02070309020205020404" pitchFamily="49" charset="0"/>
                          </a:rPr>
                          <m:t>𝑏</m:t>
                        </m:r>
                        <m:r>
                          <a:rPr lang="en-US" sz="2400" b="0" i="1" smtClean="0">
                            <a:solidFill>
                              <a:srgbClr val="000000"/>
                            </a:solidFill>
                            <a:latin typeface="Cambria Math" panose="02040503050406030204" pitchFamily="18" charset="0"/>
                            <a:cs typeface="Courier New" panose="02070309020205020404" pitchFamily="49" charset="0"/>
                          </a:rPr>
                          <m:t>)</m:t>
                        </m:r>
                      </m:e>
                      <m:sup>
                        <m:r>
                          <a:rPr lang="en-US" sz="2400" b="0" i="1" smtClean="0">
                            <a:solidFill>
                              <a:srgbClr val="000000"/>
                            </a:solidFill>
                            <a:latin typeface="Cambria Math" panose="02040503050406030204" pitchFamily="18" charset="0"/>
                            <a:cs typeface="Courier New" panose="02070309020205020404" pitchFamily="49" charset="0"/>
                          </a:rPr>
                          <m:t>𝑛</m:t>
                        </m:r>
                      </m:sup>
                    </m:sSup>
                    <m:r>
                      <a:rPr lang="en-US" sz="2400" b="0" i="1" smtClean="0">
                        <a:solidFill>
                          <a:srgbClr val="000000"/>
                        </a:solidFill>
                        <a:latin typeface="Cambria Math" panose="02040503050406030204" pitchFamily="18" charset="0"/>
                        <a:cs typeface="Courier New" panose="02070309020205020404" pitchFamily="49" charset="0"/>
                      </a:rPr>
                      <m:t>| </m:t>
                    </m:r>
                    <m:r>
                      <a:rPr lang="en-US" sz="2400" b="0" i="1" smtClean="0">
                        <a:solidFill>
                          <a:srgbClr val="000000"/>
                        </a:solidFill>
                        <a:latin typeface="Cambria Math" panose="02040503050406030204" pitchFamily="18" charset="0"/>
                        <a:cs typeface="Courier New" panose="02070309020205020404" pitchFamily="49" charset="0"/>
                      </a:rPr>
                      <m:t>𝑛</m:t>
                    </m:r>
                    <m:r>
                      <a:rPr lang="en-US" sz="2400" b="0" i="1" smtClean="0">
                        <a:solidFill>
                          <a:srgbClr val="000000"/>
                        </a:solidFill>
                        <a:latin typeface="Cambria Math" panose="02040503050406030204" pitchFamily="18" charset="0"/>
                        <a:ea typeface="Cambria Math" panose="02040503050406030204" pitchFamily="18" charset="0"/>
                        <a:cs typeface="Courier New" panose="02070309020205020404" pitchFamily="49" charset="0"/>
                      </a:rPr>
                      <m:t>≥1}</m:t>
                    </m:r>
                  </m:oMath>
                </a14:m>
                <a:endParaRPr lang="en-US" sz="2400" dirty="0">
                  <a:solidFill>
                    <a:srgbClr val="000000"/>
                  </a:solidFill>
                  <a:latin typeface="Montserrat"/>
                  <a:cs typeface="Courier New" panose="02070309020205020404" pitchFamily="49" charset="0"/>
                </a:endParaRPr>
              </a:p>
            </p:txBody>
          </p:sp>
        </mc:Choice>
        <mc:Fallback xmlns="">
          <p:sp>
            <p:nvSpPr>
              <p:cNvPr id="3" name="Content Placeholder 2">
                <a:extLst>
                  <a:ext uri="{FF2B5EF4-FFF2-40B4-BE49-F238E27FC236}">
                    <a16:creationId xmlns:a16="http://schemas.microsoft.com/office/drawing/2014/main" id="{03B6BC64-42D2-4474-8C0C-A0CB0FAD0A0F}"/>
                  </a:ext>
                </a:extLst>
              </p:cNvPr>
              <p:cNvSpPr>
                <a:spLocks noGrp="1" noRot="1" noChangeAspect="1" noMove="1" noResize="1" noEditPoints="1" noAdjustHandles="1" noChangeArrowheads="1" noChangeShapeType="1" noTextEdit="1"/>
              </p:cNvSpPr>
              <p:nvPr>
                <p:ph sz="half" idx="2"/>
              </p:nvPr>
            </p:nvSpPr>
            <p:spPr>
              <a:xfrm>
                <a:off x="454083" y="910966"/>
                <a:ext cx="8501044" cy="5623822"/>
              </a:xfrm>
              <a:blipFill>
                <a:blip r:embed="rId2"/>
                <a:stretch>
                  <a:fillRect l="-1075" t="-1517"/>
                </a:stretch>
              </a:blipFill>
            </p:spPr>
            <p:txBody>
              <a:bodyPr/>
              <a:lstStyle/>
              <a:p>
                <a:r>
                  <a:rPr lang="en-ID">
                    <a:noFill/>
                  </a:rPr>
                  <a:t> </a:t>
                </a:r>
              </a:p>
            </p:txBody>
          </p:sp>
        </mc:Fallback>
      </mc:AlternateContent>
    </p:spTree>
    <p:extLst>
      <p:ext uri="{BB962C8B-B14F-4D97-AF65-F5344CB8AC3E}">
        <p14:creationId xmlns:p14="http://schemas.microsoft.com/office/powerpoint/2010/main" val="247814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2.2.10</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a:solidFill>
                  <a:srgbClr val="000000"/>
                </a:solidFill>
                <a:latin typeface="Montserrat"/>
                <a:cs typeface="Courier New" panose="02070309020205020404" pitchFamily="49" charset="0"/>
              </a:rPr>
              <a:t>Buat </a:t>
            </a:r>
            <a:r>
              <a:rPr lang="en-US" sz="2400" dirty="0" err="1">
                <a:solidFill>
                  <a:srgbClr val="000000"/>
                </a:solidFill>
                <a:latin typeface="Montserrat"/>
                <a:cs typeface="Courier New" panose="02070309020205020404" pitchFamily="49" charset="0"/>
              </a:rPr>
              <a:t>Aturan</a:t>
            </a:r>
            <a:r>
              <a:rPr lang="en-US" sz="2400" dirty="0">
                <a:solidFill>
                  <a:srgbClr val="000000"/>
                </a:solidFill>
                <a:latin typeface="Montserrat"/>
                <a:cs typeface="Courier New" panose="02070309020205020404" pitchFamily="49" charset="0"/>
              </a:rPr>
              <a:t> </a:t>
            </a:r>
            <a:r>
              <a:rPr lang="en-US" sz="2400" dirty="0" err="1">
                <a:solidFill>
                  <a:srgbClr val="000000"/>
                </a:solidFill>
                <a:latin typeface="Montserrat"/>
                <a:cs typeface="Courier New" panose="02070309020205020404" pitchFamily="49" charset="0"/>
              </a:rPr>
              <a:t>Produksi</a:t>
            </a:r>
            <a:r>
              <a:rPr lang="en-US" sz="2400" dirty="0">
                <a:solidFill>
                  <a:srgbClr val="000000"/>
                </a:solidFill>
                <a:latin typeface="Montserrat"/>
                <a:cs typeface="Courier New" panose="02070309020205020404" pitchFamily="49" charset="0"/>
              </a:rPr>
              <a:t> CFG dengan Bahasa </a:t>
            </a:r>
            <a:r>
              <a:rPr lang="en-US" sz="2400" dirty="0" err="1">
                <a:solidFill>
                  <a:srgbClr val="000000"/>
                </a:solidFill>
                <a:latin typeface="Montserrat"/>
                <a:cs typeface="Courier New" panose="02070309020205020404" pitchFamily="49" charset="0"/>
              </a:rPr>
              <a:t>sebagai</a:t>
            </a:r>
            <a:r>
              <a:rPr lang="en-US" sz="2400" dirty="0">
                <a:solidFill>
                  <a:srgbClr val="000000"/>
                </a:solidFill>
                <a:latin typeface="Montserrat"/>
                <a:cs typeface="Courier New" panose="02070309020205020404" pitchFamily="49" charset="0"/>
              </a:rPr>
              <a:t> Berikut.</a:t>
            </a: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endParaRPr lang="en-US" sz="2400" dirty="0">
              <a:solidFill>
                <a:srgbClr val="000000"/>
              </a:solidFill>
              <a:latin typeface="Montserrat"/>
              <a:cs typeface="Courier New" panose="02070309020205020404" pitchFamily="49" charset="0"/>
            </a:endParaRPr>
          </a:p>
          <a:p>
            <a:pPr marL="0" indent="0" algn="just">
              <a:buNone/>
            </a:pPr>
            <a:r>
              <a:rPr lang="en-US" sz="2400" dirty="0">
                <a:solidFill>
                  <a:srgbClr val="000000"/>
                </a:solidFill>
                <a:latin typeface="Montserrat"/>
                <a:cs typeface="Courier New" panose="02070309020205020404" pitchFamily="49" charset="0"/>
              </a:rPr>
              <a:t> </a:t>
            </a:r>
          </a:p>
          <a:p>
            <a:pPr marL="0" indent="0" algn="just">
              <a:buNone/>
            </a:pPr>
            <a:endParaRPr lang="en-US" sz="2400" dirty="0">
              <a:solidFill>
                <a:srgbClr val="000000"/>
              </a:solidFill>
              <a:latin typeface="Montserrat"/>
              <a:cs typeface="Courier New" panose="02070309020205020404" pitchFamily="49" charset="0"/>
            </a:endParaRPr>
          </a:p>
        </p:txBody>
      </p:sp>
      <p:pic>
        <p:nvPicPr>
          <p:cNvPr id="6" name="Picture 5">
            <a:extLst>
              <a:ext uri="{FF2B5EF4-FFF2-40B4-BE49-F238E27FC236}">
                <a16:creationId xmlns:a16="http://schemas.microsoft.com/office/drawing/2014/main" id="{0233B728-F06A-4A57-90C2-F667C9565AD1}"/>
              </a:ext>
            </a:extLst>
          </p:cNvPr>
          <p:cNvPicPr>
            <a:picLocks noChangeAspect="1"/>
          </p:cNvPicPr>
          <p:nvPr/>
        </p:nvPicPr>
        <p:blipFill>
          <a:blip r:embed="rId2"/>
          <a:stretch>
            <a:fillRect/>
          </a:stretch>
        </p:blipFill>
        <p:spPr>
          <a:xfrm>
            <a:off x="779757" y="1565967"/>
            <a:ext cx="6719156" cy="1614555"/>
          </a:xfrm>
          <a:prstGeom prst="rect">
            <a:avLst/>
          </a:prstGeom>
        </p:spPr>
      </p:pic>
    </p:spTree>
    <p:extLst>
      <p:ext uri="{BB962C8B-B14F-4D97-AF65-F5344CB8AC3E}">
        <p14:creationId xmlns:p14="http://schemas.microsoft.com/office/powerpoint/2010/main" val="18186388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2.2.10</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a:solidFill>
                  <a:srgbClr val="000000"/>
                </a:solidFill>
                <a:latin typeface="Montserrat"/>
                <a:cs typeface="Courier New" panose="02070309020205020404" pitchFamily="49" charset="0"/>
              </a:rPr>
              <a:t>Jawab:</a:t>
            </a:r>
          </a:p>
          <a:p>
            <a:pPr marL="457200" indent="-457200">
              <a:buFont typeface="+mj-lt"/>
              <a:buAutoNum type="alphaLcParenR"/>
            </a:pPr>
            <a:r>
              <a:rPr lang="en-ID" sz="2400" dirty="0">
                <a:solidFill>
                  <a:srgbClr val="000000"/>
                </a:solidFill>
              </a:rPr>
              <a:t>S </a:t>
            </a:r>
            <a:r>
              <a:rPr lang="en-ID" sz="2400" dirty="0">
                <a:solidFill>
                  <a:srgbClr val="000000"/>
                </a:solidFill>
                <a:sym typeface="Wingdings" panose="05000000000000000000" pitchFamily="2" charset="2"/>
              </a:rPr>
              <a:t> </a:t>
            </a:r>
            <a:r>
              <a:rPr lang="en-ID" sz="2400" dirty="0" err="1">
                <a:solidFill>
                  <a:srgbClr val="000000"/>
                </a:solidFill>
              </a:rPr>
              <a:t>SaSbS</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 </a:t>
            </a:r>
            <a:r>
              <a:rPr lang="en-ID" sz="2400" dirty="0" err="1">
                <a:solidFill>
                  <a:srgbClr val="000000"/>
                </a:solidFill>
              </a:rPr>
              <a:t>SbSaS</a:t>
            </a:r>
            <a:endParaRPr lang="en-ID" sz="2400" dirty="0">
              <a:solidFill>
                <a:srgbClr val="000000"/>
              </a:solidFill>
            </a:endParaRPr>
          </a:p>
          <a:p>
            <a:pPr marL="457200" indent="-457200">
              <a:buFont typeface="+mj-lt"/>
              <a:buAutoNum type="alphaLcParenR"/>
            </a:pPr>
            <a:r>
              <a:rPr lang="en-ID" sz="2400" dirty="0" err="1">
                <a:solidFill>
                  <a:srgbClr val="000000"/>
                </a:solidFill>
              </a:rPr>
              <a:t>S</a:t>
            </a:r>
            <a:r>
              <a:rPr lang="en-ID" sz="2400" dirty="0" err="1">
                <a:solidFill>
                  <a:srgbClr val="000000"/>
                </a:solidFill>
                <a:sym typeface="Wingdings" panose="05000000000000000000" pitchFamily="2" charset="2"/>
              </a:rPr>
              <a:t></a:t>
            </a:r>
            <a:r>
              <a:rPr lang="en-ID" sz="2400" dirty="0" err="1">
                <a:solidFill>
                  <a:srgbClr val="000000"/>
                </a:solidFill>
              </a:rPr>
              <a:t>SaSaSbS</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r>
              <a:rPr lang="en-ID" sz="2400" dirty="0" err="1">
                <a:solidFill>
                  <a:srgbClr val="000000"/>
                </a:solidFill>
              </a:rPr>
              <a:t>SaSbSaS</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r>
              <a:rPr lang="en-ID" sz="2400" dirty="0" err="1">
                <a:solidFill>
                  <a:srgbClr val="000000"/>
                </a:solidFill>
              </a:rPr>
              <a:t>SbSaSaS</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p>
          <a:p>
            <a:pPr marL="457200" indent="-457200">
              <a:buFont typeface="+mj-lt"/>
              <a:buAutoNum type="alphaLcParenR"/>
            </a:pP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r>
              <a:rPr lang="en-ID" sz="2400" dirty="0" err="1">
                <a:solidFill>
                  <a:srgbClr val="000000"/>
                </a:solidFill>
              </a:rPr>
              <a:t>SaSaSaSbS</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r>
              <a:rPr lang="en-ID" sz="2400" dirty="0" err="1">
                <a:solidFill>
                  <a:srgbClr val="000000"/>
                </a:solidFill>
              </a:rPr>
              <a:t>SaSaSbSaS</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r>
              <a:rPr lang="en-ID" sz="2400" dirty="0" err="1">
                <a:solidFill>
                  <a:srgbClr val="000000"/>
                </a:solidFill>
              </a:rPr>
              <a:t>SaSbSaSaS</a:t>
            </a:r>
            <a:br>
              <a:rPr lang="en-ID" sz="2400" dirty="0">
                <a:solidFill>
                  <a:srgbClr val="000000"/>
                </a:solidFill>
              </a:rPr>
            </a:br>
            <a:r>
              <a:rPr lang="en-ID" sz="2400" dirty="0">
                <a:solidFill>
                  <a:srgbClr val="000000"/>
                </a:solidFill>
              </a:rPr>
              <a:t>S</a:t>
            </a:r>
            <a:r>
              <a:rPr lang="en-ID" sz="2400" dirty="0">
                <a:solidFill>
                  <a:srgbClr val="000000"/>
                </a:solidFill>
                <a:sym typeface="Wingdings" panose="05000000000000000000" pitchFamily="2" charset="2"/>
              </a:rPr>
              <a:t></a:t>
            </a:r>
            <a:r>
              <a:rPr lang="en-ID" sz="2400" dirty="0">
                <a:solidFill>
                  <a:srgbClr val="000000"/>
                </a:solidFill>
              </a:rPr>
              <a:t> </a:t>
            </a:r>
            <a:r>
              <a:rPr lang="en-ID" sz="2400" dirty="0" err="1">
                <a:solidFill>
                  <a:srgbClr val="000000"/>
                </a:solidFill>
              </a:rPr>
              <a:t>SbSaSaSaS</a:t>
            </a:r>
            <a:br>
              <a:rPr lang="en-ID" sz="2400" dirty="0">
                <a:solidFill>
                  <a:srgbClr val="000000"/>
                </a:solidFill>
              </a:rPr>
            </a:br>
            <a:r>
              <a:rPr lang="en-ID" sz="2400" dirty="0">
                <a:solidFill>
                  <a:srgbClr val="000000"/>
                </a:solidFill>
              </a:rPr>
              <a:t>S </a:t>
            </a:r>
            <a:r>
              <a:rPr lang="en-ID" sz="2400" dirty="0">
                <a:solidFill>
                  <a:srgbClr val="000000"/>
                </a:solidFill>
                <a:sym typeface="Wingdings" panose="05000000000000000000" pitchFamily="2" charset="2"/>
              </a:rPr>
              <a:t> </a:t>
            </a:r>
            <a:r>
              <a:rPr lang="en-ID" sz="2400" dirty="0">
                <a:solidFill>
                  <a:srgbClr val="000000"/>
                </a:solidFill>
              </a:rPr>
              <a:t>∈</a:t>
            </a:r>
            <a:br>
              <a:rPr lang="en-ID" sz="2400" dirty="0">
                <a:solidFill>
                  <a:srgbClr val="000000"/>
                </a:solidFill>
              </a:rPr>
            </a:br>
            <a:endParaRPr lang="en-ID" sz="2400" dirty="0">
              <a:solidFill>
                <a:srgbClr val="000000"/>
              </a:solidFill>
            </a:endParaRPr>
          </a:p>
        </p:txBody>
      </p:sp>
    </p:spTree>
    <p:extLst>
      <p:ext uri="{BB962C8B-B14F-4D97-AF65-F5344CB8AC3E}">
        <p14:creationId xmlns:p14="http://schemas.microsoft.com/office/powerpoint/2010/main" val="10048971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2.2.11</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err="1">
                <a:solidFill>
                  <a:srgbClr val="000000"/>
                </a:solidFill>
                <a:latin typeface="Montserrat"/>
                <a:cs typeface="Courier New" panose="02070309020205020404" pitchFamily="49" charset="0"/>
              </a:rPr>
              <a:t>Diketahui</a:t>
            </a:r>
            <a:r>
              <a:rPr lang="en-US" sz="2400" dirty="0">
                <a:solidFill>
                  <a:srgbClr val="000000"/>
                </a:solidFill>
                <a:latin typeface="Montserrat"/>
                <a:cs typeface="Courier New" panose="02070309020205020404" pitchFamily="49" charset="0"/>
              </a:rPr>
              <a:t> tata Bahasa dengan </a:t>
            </a:r>
            <a:r>
              <a:rPr lang="en-US" sz="2400" dirty="0" err="1">
                <a:solidFill>
                  <a:srgbClr val="000000"/>
                </a:solidFill>
                <a:latin typeface="Montserrat"/>
                <a:cs typeface="Courier New" panose="02070309020205020404" pitchFamily="49" charset="0"/>
              </a:rPr>
              <a:t>aturan</a:t>
            </a:r>
            <a:r>
              <a:rPr lang="en-US" sz="2400" dirty="0">
                <a:solidFill>
                  <a:srgbClr val="000000"/>
                </a:solidFill>
                <a:latin typeface="Montserrat"/>
                <a:cs typeface="Courier New" panose="02070309020205020404" pitchFamily="49" charset="0"/>
              </a:rPr>
              <a:t> </a:t>
            </a:r>
            <a:r>
              <a:rPr lang="en-US" sz="2400" dirty="0" err="1">
                <a:solidFill>
                  <a:srgbClr val="000000"/>
                </a:solidFill>
                <a:latin typeface="Montserrat"/>
                <a:cs typeface="Courier New" panose="02070309020205020404" pitchFamily="49" charset="0"/>
              </a:rPr>
              <a:t>sebagai</a:t>
            </a:r>
            <a:r>
              <a:rPr lang="en-US" sz="2400" dirty="0">
                <a:solidFill>
                  <a:srgbClr val="000000"/>
                </a:solidFill>
                <a:latin typeface="Montserrat"/>
                <a:cs typeface="Courier New" panose="02070309020205020404" pitchFamily="49" charset="0"/>
              </a:rPr>
              <a:t> Berikut.</a:t>
            </a:r>
          </a:p>
          <a:p>
            <a:pPr marL="0" indent="0" algn="ctr">
              <a:buNone/>
            </a:pPr>
            <a:r>
              <a:rPr lang="en-ID" sz="2400" dirty="0" err="1">
                <a:solidFill>
                  <a:srgbClr val="000000"/>
                </a:solidFill>
                <a:latin typeface="Courier New" panose="02070309020205020404" pitchFamily="49" charset="0"/>
                <a:cs typeface="Courier New" panose="02070309020205020404" pitchFamily="49" charset="0"/>
              </a:rPr>
              <a:t>S</a:t>
            </a: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t>
            </a:r>
            <a:r>
              <a:rPr lang="en-ID" sz="2400" dirty="0" err="1">
                <a:solidFill>
                  <a:srgbClr val="000000"/>
                </a:solidFill>
                <a:latin typeface="Courier New" panose="02070309020205020404" pitchFamily="49" charset="0"/>
                <a:cs typeface="Courier New" panose="02070309020205020404" pitchFamily="49" charset="0"/>
              </a:rPr>
              <a:t>aB</a:t>
            </a:r>
            <a:endParaRPr lang="en-ID" sz="2400" dirty="0">
              <a:solidFill>
                <a:srgbClr val="000000"/>
              </a:solidFill>
              <a:latin typeface="Courier New" panose="02070309020205020404" pitchFamily="49" charset="0"/>
              <a:cs typeface="Courier New" panose="02070309020205020404" pitchFamily="49" charset="0"/>
            </a:endParaRPr>
          </a:p>
          <a:p>
            <a:pPr marL="0" indent="0" algn="ctr">
              <a:buNone/>
            </a:pPr>
            <a:r>
              <a:rPr lang="en-ID" sz="2400" dirty="0" err="1">
                <a:solidFill>
                  <a:srgbClr val="000000"/>
                </a:solidFill>
                <a:latin typeface="Courier New" panose="02070309020205020404" pitchFamily="49" charset="0"/>
                <a:cs typeface="Courier New" panose="02070309020205020404" pitchFamily="49" charset="0"/>
              </a:rPr>
              <a:t>S</a:t>
            </a: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bA</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ctr">
              <a:buNone/>
            </a:pP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AaS</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ctr">
              <a:buNone/>
            </a:pPr>
            <a:r>
              <a:rPr lang="en-ID" sz="2400" dirty="0" err="1">
                <a:solidFill>
                  <a:srgbClr val="000000"/>
                </a:solidFill>
                <a:latin typeface="Courier New" panose="02070309020205020404" pitchFamily="49" charset="0"/>
                <a:cs typeface="Courier New" panose="02070309020205020404" pitchFamily="49" charset="0"/>
              </a:rPr>
              <a:t>A</a:t>
            </a: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bAA</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ctr">
              <a:buNone/>
            </a:pP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Aa</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ctr">
              <a:buNone/>
            </a:pP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BbS</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ctr">
              <a:buNone/>
            </a:pP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BaBB</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lgn="ctr">
              <a:buNone/>
            </a:pPr>
            <a:r>
              <a:rPr lang="en-ID" sz="24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Bb</a:t>
            </a:r>
            <a:endParaRPr lang="en-ID"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pPr marL="0" indent="0">
              <a:buNone/>
            </a:pPr>
            <a:r>
              <a:rPr lang="en-ID" sz="2400" dirty="0" err="1">
                <a:solidFill>
                  <a:srgbClr val="000000"/>
                </a:solidFill>
                <a:latin typeface="Montserrat" panose="02000505000000020004"/>
                <a:cs typeface="Courier New" panose="02070309020205020404" pitchFamily="49" charset="0"/>
                <a:sym typeface="Wingdings" panose="05000000000000000000" pitchFamily="2" charset="2"/>
              </a:rPr>
              <a:t>Dapatkan</a:t>
            </a: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 (</a:t>
            </a:r>
            <a:r>
              <a:rPr lang="en-ID" sz="2400" dirty="0" err="1">
                <a:solidFill>
                  <a:srgbClr val="000000"/>
                </a:solidFill>
                <a:latin typeface="Montserrat" panose="02000505000000020004"/>
                <a:cs typeface="Courier New" panose="02070309020205020404" pitchFamily="49" charset="0"/>
                <a:sym typeface="Wingdings" panose="05000000000000000000" pitchFamily="2" charset="2"/>
              </a:rPr>
              <a:t>i</a:t>
            </a: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 leftmost derivation, dan (ii) rightmost derivation </a:t>
            </a:r>
            <a:r>
              <a:rPr lang="en-ID" sz="2400" dirty="0" err="1">
                <a:solidFill>
                  <a:srgbClr val="000000"/>
                </a:solidFill>
                <a:latin typeface="Montserrat" panose="02000505000000020004"/>
                <a:cs typeface="Courier New" panose="02070309020205020404" pitchFamily="49" charset="0"/>
                <a:sym typeface="Wingdings" panose="05000000000000000000" pitchFamily="2" charset="2"/>
              </a:rPr>
              <a:t>untuk</a:t>
            </a: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 string “</a:t>
            </a:r>
            <a:r>
              <a:rPr lang="en-ID" sz="2400" dirty="0" err="1">
                <a:solidFill>
                  <a:srgbClr val="000000"/>
                </a:solidFill>
                <a:latin typeface="Montserrat" panose="02000505000000020004"/>
                <a:cs typeface="Courier New" panose="02070309020205020404" pitchFamily="49" charset="0"/>
                <a:sym typeface="Wingdings" panose="05000000000000000000" pitchFamily="2" charset="2"/>
              </a:rPr>
              <a:t>aaabbabbba</a:t>
            </a: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a:t>
            </a:r>
          </a:p>
        </p:txBody>
      </p:sp>
    </p:spTree>
    <p:extLst>
      <p:ext uri="{BB962C8B-B14F-4D97-AF65-F5344CB8AC3E}">
        <p14:creationId xmlns:p14="http://schemas.microsoft.com/office/powerpoint/2010/main" val="1270268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0"/>
            <a:ext cx="6353117" cy="770164"/>
          </a:xfrm>
        </p:spPr>
        <p:txBody>
          <a:bodyPr>
            <a:normAutofit/>
          </a:bodyPr>
          <a:lstStyle/>
          <a:p>
            <a:r>
              <a:rPr lang="en-US" sz="2800" dirty="0"/>
              <a:t>Contoh 2.2.11</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en-US" sz="2400" dirty="0">
                <a:solidFill>
                  <a:srgbClr val="000000"/>
                </a:solidFill>
                <a:latin typeface="Montserrat"/>
                <a:cs typeface="Courier New" panose="02070309020205020404" pitchFamily="49" charset="0"/>
              </a:rPr>
              <a:t>Jawab:</a:t>
            </a:r>
          </a:p>
          <a:p>
            <a:pPr marL="514350" indent="-514350">
              <a:buFont typeface="+mj-lt"/>
              <a:buAutoNum type="romanLcPeriod"/>
            </a:pP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Leftmost derivation:</a:t>
            </a:r>
            <a:br>
              <a:rPr lang="en-ID" sz="2400" dirty="0">
                <a:solidFill>
                  <a:srgbClr val="000000"/>
                </a:solidFill>
                <a:latin typeface="Montserrat" panose="02000505000000020004"/>
                <a:cs typeface="Courier New" panose="02070309020205020404" pitchFamily="49" charset="0"/>
                <a:sym typeface="Wingdings" panose="05000000000000000000" pitchFamily="2" charset="2"/>
              </a:rPr>
            </a:b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  S</a:t>
            </a:r>
            <a:r>
              <a:rPr lang="en-ID" sz="2400" dirty="0">
                <a:solidFill>
                  <a:srgbClr val="000000"/>
                </a:solidFill>
              </a:rPr>
              <a:t> 	⇒</a:t>
            </a:r>
            <a:r>
              <a:rPr lang="en-ID" sz="2400" dirty="0" err="1">
                <a:solidFill>
                  <a:srgbClr val="000000"/>
                </a:solidFill>
              </a:rPr>
              <a:t>aB</a:t>
            </a:r>
            <a:r>
              <a:rPr lang="en-ID" sz="2400" dirty="0">
                <a:solidFill>
                  <a:srgbClr val="000000"/>
                </a:solidFill>
              </a:rPr>
              <a:t> ⇒</a:t>
            </a:r>
            <a:r>
              <a:rPr lang="en-ID" sz="2400" dirty="0" err="1">
                <a:solidFill>
                  <a:srgbClr val="000000"/>
                </a:solidFill>
              </a:rPr>
              <a:t>aaBB</a:t>
            </a:r>
            <a:r>
              <a:rPr lang="en-ID" sz="2400" dirty="0">
                <a:solidFill>
                  <a:srgbClr val="000000"/>
                </a:solidFill>
              </a:rPr>
              <a:t> ⇒</a:t>
            </a:r>
            <a:r>
              <a:rPr lang="en-ID" sz="2400" dirty="0" err="1">
                <a:solidFill>
                  <a:srgbClr val="000000"/>
                </a:solidFill>
              </a:rPr>
              <a:t>aaaBBB</a:t>
            </a:r>
            <a:r>
              <a:rPr lang="en-ID" sz="2400" dirty="0">
                <a:solidFill>
                  <a:srgbClr val="000000"/>
                </a:solidFill>
              </a:rPr>
              <a:t> ⇒</a:t>
            </a:r>
            <a:r>
              <a:rPr lang="en-ID" sz="2400" dirty="0" err="1">
                <a:solidFill>
                  <a:srgbClr val="000000"/>
                </a:solidFill>
              </a:rPr>
              <a:t>aaabBB</a:t>
            </a:r>
            <a:r>
              <a:rPr lang="en-ID" sz="2400" dirty="0">
                <a:solidFill>
                  <a:srgbClr val="000000"/>
                </a:solidFill>
              </a:rPr>
              <a:t> ⇒</a:t>
            </a:r>
            <a:r>
              <a:rPr lang="en-ID" sz="2400" dirty="0" err="1">
                <a:solidFill>
                  <a:srgbClr val="000000"/>
                </a:solidFill>
              </a:rPr>
              <a:t>aaabbB</a:t>
            </a:r>
            <a:r>
              <a:rPr lang="en-ID" sz="2400" dirty="0">
                <a:solidFill>
                  <a:srgbClr val="000000"/>
                </a:solidFill>
              </a:rPr>
              <a:t> ⇒</a:t>
            </a:r>
            <a:r>
              <a:rPr lang="en-ID" sz="2400" dirty="0" err="1">
                <a:solidFill>
                  <a:srgbClr val="000000"/>
                </a:solidFill>
              </a:rPr>
              <a:t>aaabbabB</a:t>
            </a:r>
            <a:r>
              <a:rPr lang="en-ID" sz="2400" dirty="0">
                <a:solidFill>
                  <a:srgbClr val="000000"/>
                </a:solidFill>
              </a:rPr>
              <a:t>    	⇒</a:t>
            </a:r>
            <a:r>
              <a:rPr lang="en-ID" sz="2400" dirty="0" err="1">
                <a:solidFill>
                  <a:srgbClr val="000000"/>
                </a:solidFill>
              </a:rPr>
              <a:t>aaabbabbB</a:t>
            </a:r>
            <a:r>
              <a:rPr lang="en-ID" sz="2400" dirty="0">
                <a:solidFill>
                  <a:srgbClr val="000000"/>
                </a:solidFill>
              </a:rPr>
              <a:t> ⇒</a:t>
            </a:r>
            <a:r>
              <a:rPr lang="en-ID" sz="2400" dirty="0" err="1">
                <a:solidFill>
                  <a:srgbClr val="000000"/>
                </a:solidFill>
              </a:rPr>
              <a:t>aaabbabbbS</a:t>
            </a:r>
            <a:r>
              <a:rPr lang="en-ID" sz="2400" dirty="0">
                <a:solidFill>
                  <a:srgbClr val="000000"/>
                </a:solidFill>
              </a:rPr>
              <a:t> ⇒</a:t>
            </a:r>
            <a:r>
              <a:rPr lang="en-ID" sz="2400" dirty="0" err="1">
                <a:solidFill>
                  <a:srgbClr val="000000"/>
                </a:solidFill>
              </a:rPr>
              <a:t>aaabbabbba</a:t>
            </a:r>
            <a:r>
              <a:rPr lang="en-ID" sz="2400" dirty="0">
                <a:solidFill>
                  <a:srgbClr val="000000"/>
                </a:solidFill>
              </a:rPr>
              <a:t> ⇒</a:t>
            </a:r>
            <a:r>
              <a:rPr lang="en-ID" sz="2400" dirty="0" err="1">
                <a:solidFill>
                  <a:srgbClr val="000000"/>
                </a:solidFill>
              </a:rPr>
              <a:t>aaabbabb</a:t>
            </a:r>
            <a:endParaRPr lang="en-ID" sz="2400" dirty="0">
              <a:solidFill>
                <a:srgbClr val="000000"/>
              </a:solidFill>
              <a:latin typeface="Montserrat" panose="02000505000000020004"/>
              <a:cs typeface="Courier New" panose="02070309020205020404" pitchFamily="49" charset="0"/>
              <a:sym typeface="Wingdings" panose="05000000000000000000" pitchFamily="2" charset="2"/>
            </a:endParaRPr>
          </a:p>
          <a:p>
            <a:pPr marL="514350" indent="-514350">
              <a:buFont typeface="+mj-lt"/>
              <a:buAutoNum type="romanLcPeriod"/>
            </a:pP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Rightmost derivation:</a:t>
            </a:r>
            <a:br>
              <a:rPr lang="en-ID" sz="2400" dirty="0">
                <a:solidFill>
                  <a:srgbClr val="000000"/>
                </a:solidFill>
                <a:latin typeface="Montserrat" panose="02000505000000020004"/>
                <a:cs typeface="Courier New" panose="02070309020205020404" pitchFamily="49" charset="0"/>
                <a:sym typeface="Wingdings" panose="05000000000000000000" pitchFamily="2" charset="2"/>
              </a:rPr>
            </a:br>
            <a:r>
              <a:rPr lang="en-ID" sz="2400" dirty="0">
                <a:solidFill>
                  <a:srgbClr val="000000"/>
                </a:solidFill>
                <a:latin typeface="Montserrat" panose="02000505000000020004"/>
                <a:cs typeface="Courier New" panose="02070309020205020404" pitchFamily="49" charset="0"/>
                <a:sym typeface="Wingdings" panose="05000000000000000000" pitchFamily="2" charset="2"/>
              </a:rPr>
              <a:t>  S</a:t>
            </a:r>
            <a:r>
              <a:rPr lang="en-ID" sz="2400" dirty="0">
                <a:solidFill>
                  <a:srgbClr val="000000"/>
                </a:solidFill>
              </a:rPr>
              <a:t> 	⇒</a:t>
            </a:r>
            <a:r>
              <a:rPr lang="en-ID" sz="2400" dirty="0" err="1">
                <a:solidFill>
                  <a:srgbClr val="000000"/>
                </a:solidFill>
              </a:rPr>
              <a:t>aB</a:t>
            </a:r>
            <a:r>
              <a:rPr lang="en-ID" sz="2400" dirty="0">
                <a:solidFill>
                  <a:srgbClr val="000000"/>
                </a:solidFill>
              </a:rPr>
              <a:t> ⇒</a:t>
            </a:r>
            <a:r>
              <a:rPr lang="en-ID" sz="2400" dirty="0" err="1">
                <a:solidFill>
                  <a:srgbClr val="000000"/>
                </a:solidFill>
              </a:rPr>
              <a:t>aaBB</a:t>
            </a:r>
            <a:r>
              <a:rPr lang="en-ID" sz="2400" dirty="0">
                <a:solidFill>
                  <a:srgbClr val="000000"/>
                </a:solidFill>
              </a:rPr>
              <a:t> ⇒</a:t>
            </a:r>
            <a:r>
              <a:rPr lang="en-ID" sz="2400" dirty="0" err="1">
                <a:solidFill>
                  <a:srgbClr val="000000"/>
                </a:solidFill>
              </a:rPr>
              <a:t>aaBbS</a:t>
            </a:r>
            <a:r>
              <a:rPr lang="en-ID" sz="2400" dirty="0">
                <a:solidFill>
                  <a:srgbClr val="000000"/>
                </a:solidFill>
              </a:rPr>
              <a:t> ⇒</a:t>
            </a:r>
            <a:r>
              <a:rPr lang="en-ID" sz="2400" dirty="0" err="1">
                <a:solidFill>
                  <a:srgbClr val="000000"/>
                </a:solidFill>
              </a:rPr>
              <a:t>aaBbbA</a:t>
            </a:r>
            <a:r>
              <a:rPr lang="en-ID" sz="2400" dirty="0">
                <a:solidFill>
                  <a:srgbClr val="000000"/>
                </a:solidFill>
              </a:rPr>
              <a:t> ⇒</a:t>
            </a:r>
            <a:r>
              <a:rPr lang="en-ID" sz="2400" dirty="0" err="1">
                <a:solidFill>
                  <a:srgbClr val="000000"/>
                </a:solidFill>
              </a:rPr>
              <a:t>aaaBBbba</a:t>
            </a:r>
            <a:r>
              <a:rPr lang="en-ID" sz="2400" dirty="0">
                <a:solidFill>
                  <a:srgbClr val="000000"/>
                </a:solidFill>
              </a:rPr>
              <a:t> ⇒</a:t>
            </a:r>
            <a:r>
              <a:rPr lang="en-ID" sz="2400" dirty="0" err="1">
                <a:solidFill>
                  <a:srgbClr val="000000"/>
                </a:solidFill>
              </a:rPr>
              <a:t>aaabBbba</a:t>
            </a:r>
            <a:r>
              <a:rPr lang="en-ID" sz="2400" dirty="0">
                <a:solidFill>
                  <a:srgbClr val="000000"/>
                </a:solidFill>
              </a:rPr>
              <a:t> 	⇒</a:t>
            </a:r>
            <a:r>
              <a:rPr lang="en-ID" sz="2400" dirty="0" err="1">
                <a:solidFill>
                  <a:srgbClr val="000000"/>
                </a:solidFill>
              </a:rPr>
              <a:t>aaabbSbba</a:t>
            </a:r>
            <a:r>
              <a:rPr lang="en-ID" sz="2400" dirty="0">
                <a:solidFill>
                  <a:srgbClr val="000000"/>
                </a:solidFill>
              </a:rPr>
              <a:t> ⇒</a:t>
            </a:r>
            <a:r>
              <a:rPr lang="en-ID" sz="2400" dirty="0" err="1">
                <a:solidFill>
                  <a:srgbClr val="000000"/>
                </a:solidFill>
              </a:rPr>
              <a:t>aaabbaBbba</a:t>
            </a:r>
            <a:r>
              <a:rPr lang="en-ID" sz="2400" dirty="0">
                <a:solidFill>
                  <a:srgbClr val="000000"/>
                </a:solidFill>
              </a:rPr>
              <a:t> ⇒</a:t>
            </a:r>
            <a:r>
              <a:rPr lang="en-ID" sz="2400" dirty="0" err="1">
                <a:solidFill>
                  <a:srgbClr val="000000"/>
                </a:solidFill>
              </a:rPr>
              <a:t>aaabbabbba</a:t>
            </a:r>
            <a:endParaRPr lang="en-ID" sz="2400" dirty="0">
              <a:solidFill>
                <a:srgbClr val="000000"/>
              </a:solidFill>
              <a:latin typeface="Montserrat" panose="02000505000000020004"/>
              <a:cs typeface="Courier New" panose="02070309020205020404" pitchFamily="49" charset="0"/>
              <a:sym typeface="Wingdings" panose="05000000000000000000" pitchFamily="2" charset="2"/>
            </a:endParaRPr>
          </a:p>
        </p:txBody>
      </p:sp>
    </p:spTree>
    <p:extLst>
      <p:ext uri="{BB962C8B-B14F-4D97-AF65-F5344CB8AC3E}">
        <p14:creationId xmlns:p14="http://schemas.microsoft.com/office/powerpoint/2010/main" val="23462076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r="7325"/>
          <a:stretch/>
        </p:blipFill>
        <p:spPr>
          <a:xfrm>
            <a:off x="2625765" y="0"/>
            <a:ext cx="6518235" cy="4688926"/>
          </a:xfrm>
          <a:prstGeom prst="rect">
            <a:avLst/>
          </a:prstGeom>
        </p:spPr>
      </p:pic>
      <p:pic>
        <p:nvPicPr>
          <p:cNvPr id="15" name="Picture 14">
            <a:extLst>
              <a:ext uri="{FF2B5EF4-FFF2-40B4-BE49-F238E27FC236}">
                <a16:creationId xmlns:a16="http://schemas.microsoft.com/office/drawing/2014/main" id="{DE306FF1-BEF2-43D4-B7EC-25BB33C8811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2" r="-1"/>
          <a:stretch/>
        </p:blipFill>
        <p:spPr>
          <a:xfrm>
            <a:off x="0" y="0"/>
            <a:ext cx="9144000" cy="6858000"/>
          </a:xfrm>
          <a:prstGeom prst="rect">
            <a:avLst/>
          </a:prstGeom>
        </p:spPr>
      </p:pic>
      <p:sp>
        <p:nvSpPr>
          <p:cNvPr id="6" name="TextBox 5">
            <a:extLst>
              <a:ext uri="{FF2B5EF4-FFF2-40B4-BE49-F238E27FC236}">
                <a16:creationId xmlns:a16="http://schemas.microsoft.com/office/drawing/2014/main" id="{85A60BCB-9860-40F9-A670-EE8D68304150}"/>
              </a:ext>
            </a:extLst>
          </p:cNvPr>
          <p:cNvSpPr txBox="1"/>
          <p:nvPr/>
        </p:nvSpPr>
        <p:spPr>
          <a:xfrm>
            <a:off x="348343" y="4430889"/>
            <a:ext cx="4049486" cy="57490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3258"/>
                </a:solidFill>
                <a:effectLst/>
                <a:uLnTx/>
                <a:uFillTx/>
                <a:latin typeface="Montserrat" panose="02000505000000020004" pitchFamily="2" charset="0"/>
                <a:ea typeface="Roboto" pitchFamily="2" charset="0"/>
                <a:cs typeface="Arial"/>
              </a:rPr>
              <a:t>2.3 Parsing and Ambiguity</a:t>
            </a:r>
          </a:p>
        </p:txBody>
      </p:sp>
      <p:sp>
        <p:nvSpPr>
          <p:cNvPr id="7" name="TextBox 6">
            <a:extLst>
              <a:ext uri="{FF2B5EF4-FFF2-40B4-BE49-F238E27FC236}">
                <a16:creationId xmlns:a16="http://schemas.microsoft.com/office/drawing/2014/main" id="{2D36325F-D6C2-4013-B76D-978800568C36}"/>
              </a:ext>
            </a:extLst>
          </p:cNvPr>
          <p:cNvSpPr txBox="1"/>
          <p:nvPr/>
        </p:nvSpPr>
        <p:spPr>
          <a:xfrm>
            <a:off x="348343" y="5968113"/>
            <a:ext cx="4049486" cy="279500"/>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25A">
                    <a:lumMod val="50000"/>
                    <a:lumOff val="50000"/>
                  </a:srgbClr>
                </a:solidFill>
                <a:effectLst/>
                <a:uLnTx/>
                <a:uFillTx/>
                <a:latin typeface="Montserrat" panose="02000505000000020004" pitchFamily="2" charset="0"/>
                <a:ea typeface="Roboto" pitchFamily="2" charset="0"/>
                <a:cs typeface="Arial"/>
              </a:rPr>
              <a:t>ukrida.ac.id</a:t>
            </a:r>
          </a:p>
        </p:txBody>
      </p:sp>
    </p:spTree>
    <p:extLst>
      <p:ext uri="{BB962C8B-B14F-4D97-AF65-F5344CB8AC3E}">
        <p14:creationId xmlns:p14="http://schemas.microsoft.com/office/powerpoint/2010/main" val="3907101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2.3.1 Parsing</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4628443"/>
          </a:xfrm>
        </p:spPr>
        <p:txBody>
          <a:bodyPr>
            <a:normAutofit fontScale="92500" lnSpcReduction="10000"/>
          </a:bodyPr>
          <a:lstStyle/>
          <a:p>
            <a:pPr marL="0" indent="0" algn="just">
              <a:buNone/>
            </a:pPr>
            <a:r>
              <a:rPr lang="sv-SE" sz="2600" dirty="0">
                <a:solidFill>
                  <a:srgbClr val="000000"/>
                </a:solidFill>
                <a:latin typeface="Montserrat" panose="02000505000000020004"/>
              </a:rPr>
              <a:t>Sebuah grammar(tata bahasa) dapat digunakan dengan dua cara: </a:t>
            </a:r>
          </a:p>
          <a:p>
            <a:pPr marL="514350" indent="-514350" algn="just">
              <a:buAutoNum type="alphaLcParenBoth"/>
            </a:pPr>
            <a:r>
              <a:rPr lang="sv-SE" sz="2600" dirty="0">
                <a:solidFill>
                  <a:srgbClr val="000000"/>
                </a:solidFill>
                <a:latin typeface="Montserrat" panose="02000505000000020004"/>
              </a:rPr>
              <a:t>Menggunakan grammar untuk menghasilkan string bahasa. </a:t>
            </a:r>
          </a:p>
          <a:p>
            <a:pPr marL="514350" indent="-514350" algn="just">
              <a:buAutoNum type="alphaLcParenBoth"/>
            </a:pPr>
            <a:r>
              <a:rPr lang="sv-SE" sz="2600" dirty="0">
                <a:solidFill>
                  <a:srgbClr val="000000"/>
                </a:solidFill>
                <a:latin typeface="Montserrat" panose="02000505000000020004"/>
              </a:rPr>
              <a:t>Menggunakan tata bahasa untuk mengenali string. </a:t>
            </a:r>
          </a:p>
          <a:p>
            <a:pPr marL="0" indent="0" algn="just">
              <a:buNone/>
            </a:pPr>
            <a:r>
              <a:rPr lang="sv-SE" sz="2600" dirty="0">
                <a:solidFill>
                  <a:srgbClr val="000000"/>
                </a:solidFill>
                <a:latin typeface="Montserrat" panose="02000505000000020004"/>
              </a:rPr>
              <a:t>”Parsing” suatu string adalah menemukan turunan (atau pohon derivasi) untuk string tersebut. </a:t>
            </a:r>
          </a:p>
          <a:p>
            <a:pPr marL="0" indent="0" algn="just">
              <a:buNone/>
            </a:pPr>
            <a:r>
              <a:rPr lang="sv-SE" sz="2600" dirty="0">
                <a:solidFill>
                  <a:srgbClr val="000000"/>
                </a:solidFill>
                <a:latin typeface="Montserrat" panose="02000505000000020004"/>
              </a:rPr>
              <a:t>Mengurai(parsing) sebuah string seperti mengenali sebuah string. Satu-satunya cara yang paling cocok untuk mengenali sebuah string dari sebuah grammar yang bebas konteks adalah dengan mem-parsing-nya. </a:t>
            </a:r>
            <a:endParaRPr lang="id-ID" sz="2600" dirty="0">
              <a:solidFill>
                <a:srgbClr val="000000"/>
              </a:solidFill>
              <a:latin typeface="Montserrat" panose="02000505000000020004"/>
            </a:endParaRPr>
          </a:p>
        </p:txBody>
      </p:sp>
    </p:spTree>
    <p:extLst>
      <p:ext uri="{BB962C8B-B14F-4D97-AF65-F5344CB8AC3E}">
        <p14:creationId xmlns:p14="http://schemas.microsoft.com/office/powerpoint/2010/main" val="4011390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2.3.2 </a:t>
            </a:r>
            <a:r>
              <a:rPr lang="en-ID" sz="2800" dirty="0"/>
              <a:t>Exhaustive Search Parsing</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4628443"/>
          </a:xfrm>
        </p:spPr>
        <p:txBody>
          <a:bodyPr>
            <a:normAutofit lnSpcReduction="10000"/>
          </a:bodyPr>
          <a:lstStyle/>
          <a:p>
            <a:r>
              <a:rPr lang="en-ID" sz="2800" dirty="0">
                <a:solidFill>
                  <a:srgbClr val="000000"/>
                </a:solidFill>
              </a:rPr>
              <a:t>Ide </a:t>
            </a:r>
            <a:r>
              <a:rPr lang="en-ID" sz="2800" dirty="0" err="1">
                <a:solidFill>
                  <a:srgbClr val="000000"/>
                </a:solidFill>
              </a:rPr>
              <a:t>dasar</a:t>
            </a:r>
            <a:r>
              <a:rPr lang="en-ID" sz="2800" dirty="0">
                <a:solidFill>
                  <a:srgbClr val="000000"/>
                </a:solidFill>
              </a:rPr>
              <a:t> </a:t>
            </a:r>
            <a:r>
              <a:rPr lang="en-ID" sz="2800" dirty="0" err="1">
                <a:solidFill>
                  <a:srgbClr val="000000"/>
                </a:solidFill>
              </a:rPr>
              <a:t>dari</a:t>
            </a:r>
            <a:r>
              <a:rPr lang="en-ID" sz="2800" dirty="0">
                <a:solidFill>
                  <a:srgbClr val="000000"/>
                </a:solidFill>
              </a:rPr>
              <a:t> "Parsing </a:t>
            </a:r>
            <a:r>
              <a:rPr lang="en-ID" sz="2800" dirty="0" err="1">
                <a:solidFill>
                  <a:srgbClr val="000000"/>
                </a:solidFill>
              </a:rPr>
              <a:t>dengan</a:t>
            </a:r>
            <a:r>
              <a:rPr lang="en-ID" sz="2800" dirty="0">
                <a:solidFill>
                  <a:srgbClr val="000000"/>
                </a:solidFill>
              </a:rPr>
              <a:t> </a:t>
            </a:r>
            <a:r>
              <a:rPr lang="en-ID" sz="2800" dirty="0" err="1">
                <a:solidFill>
                  <a:srgbClr val="000000"/>
                </a:solidFill>
              </a:rPr>
              <a:t>Pencarian</a:t>
            </a:r>
            <a:r>
              <a:rPr lang="en-ID" sz="2800" dirty="0">
                <a:solidFill>
                  <a:srgbClr val="000000"/>
                </a:solidFill>
              </a:rPr>
              <a:t> </a:t>
            </a:r>
            <a:r>
              <a:rPr lang="en-ID" sz="2800" dirty="0" err="1">
                <a:solidFill>
                  <a:srgbClr val="000000"/>
                </a:solidFill>
              </a:rPr>
              <a:t>Ekshaustif</a:t>
            </a:r>
            <a:r>
              <a:rPr lang="en-ID" sz="2800" dirty="0">
                <a:solidFill>
                  <a:srgbClr val="000000"/>
                </a:solidFill>
              </a:rPr>
              <a:t>" </a:t>
            </a:r>
            <a:r>
              <a:rPr lang="en-ID" sz="2800" dirty="0" err="1">
                <a:solidFill>
                  <a:srgbClr val="000000"/>
                </a:solidFill>
              </a:rPr>
              <a:t>adalah</a:t>
            </a:r>
            <a:r>
              <a:rPr lang="en-ID" sz="2800" dirty="0">
                <a:solidFill>
                  <a:srgbClr val="000000"/>
                </a:solidFill>
              </a:rPr>
              <a:t> </a:t>
            </a:r>
            <a:r>
              <a:rPr lang="en-ID" sz="2800" dirty="0" err="1">
                <a:solidFill>
                  <a:srgbClr val="000000"/>
                </a:solidFill>
              </a:rPr>
              <a:t>untuk</a:t>
            </a:r>
            <a:r>
              <a:rPr lang="en-ID" sz="2800" dirty="0">
                <a:solidFill>
                  <a:srgbClr val="000000"/>
                </a:solidFill>
              </a:rPr>
              <a:t> </a:t>
            </a:r>
            <a:r>
              <a:rPr lang="en-ID" sz="2800" dirty="0" err="1">
                <a:solidFill>
                  <a:srgbClr val="000000"/>
                </a:solidFill>
              </a:rPr>
              <a:t>melakukan</a:t>
            </a:r>
            <a:r>
              <a:rPr lang="en-ID" sz="2800" dirty="0">
                <a:solidFill>
                  <a:srgbClr val="000000"/>
                </a:solidFill>
              </a:rPr>
              <a:t> parsing </a:t>
            </a:r>
            <a:r>
              <a:rPr lang="en-ID" sz="2800" dirty="0" err="1">
                <a:solidFill>
                  <a:srgbClr val="000000"/>
                </a:solidFill>
              </a:rPr>
              <a:t>terhadap</a:t>
            </a:r>
            <a:r>
              <a:rPr lang="en-ID" sz="2800" dirty="0">
                <a:solidFill>
                  <a:srgbClr val="000000"/>
                </a:solidFill>
              </a:rPr>
              <a:t> </a:t>
            </a:r>
            <a:r>
              <a:rPr lang="en-ID" sz="2800" dirty="0" err="1">
                <a:solidFill>
                  <a:srgbClr val="000000"/>
                </a:solidFill>
              </a:rPr>
              <a:t>sebuah</a:t>
            </a:r>
            <a:r>
              <a:rPr lang="en-ID" sz="2800" dirty="0">
                <a:solidFill>
                  <a:srgbClr val="000000"/>
                </a:solidFill>
              </a:rPr>
              <a:t> string </a:t>
            </a:r>
            <a:r>
              <a:rPr lang="en-ID" sz="2800" i="1" dirty="0">
                <a:solidFill>
                  <a:srgbClr val="000000"/>
                </a:solidFill>
                <a:latin typeface="Courier New" panose="02070309020205020404" pitchFamily="49" charset="0"/>
                <a:cs typeface="Courier New" panose="02070309020205020404" pitchFamily="49" charset="0"/>
              </a:rPr>
              <a:t>w</a:t>
            </a:r>
            <a:r>
              <a:rPr lang="en-ID" sz="2800" dirty="0">
                <a:solidFill>
                  <a:srgbClr val="000000"/>
                </a:solidFill>
              </a:rPr>
              <a:t>, </a:t>
            </a:r>
            <a:r>
              <a:rPr lang="en-ID" sz="2800" dirty="0" err="1">
                <a:solidFill>
                  <a:srgbClr val="000000"/>
                </a:solidFill>
              </a:rPr>
              <a:t>dengan</a:t>
            </a:r>
            <a:r>
              <a:rPr lang="en-ID" sz="2800" dirty="0">
                <a:solidFill>
                  <a:srgbClr val="000000"/>
                </a:solidFill>
              </a:rPr>
              <a:t> </a:t>
            </a:r>
            <a:r>
              <a:rPr lang="en-ID" sz="2800" dirty="0" err="1">
                <a:solidFill>
                  <a:srgbClr val="000000"/>
                </a:solidFill>
              </a:rPr>
              <a:t>cara</a:t>
            </a:r>
            <a:r>
              <a:rPr lang="en-ID" sz="2800" dirty="0">
                <a:solidFill>
                  <a:srgbClr val="000000"/>
                </a:solidFill>
              </a:rPr>
              <a:t> </a:t>
            </a:r>
            <a:r>
              <a:rPr lang="en-ID" sz="2800" dirty="0" err="1">
                <a:solidFill>
                  <a:srgbClr val="000000"/>
                </a:solidFill>
              </a:rPr>
              <a:t>menghasilkan</a:t>
            </a:r>
            <a:r>
              <a:rPr lang="en-ID" sz="2800" dirty="0">
                <a:solidFill>
                  <a:srgbClr val="000000"/>
                </a:solidFill>
              </a:rPr>
              <a:t> </a:t>
            </a:r>
            <a:r>
              <a:rPr lang="en-ID" sz="2800" dirty="0" err="1">
                <a:solidFill>
                  <a:srgbClr val="000000"/>
                </a:solidFill>
              </a:rPr>
              <a:t>semua</a:t>
            </a:r>
            <a:r>
              <a:rPr lang="en-ID" sz="2800" dirty="0">
                <a:solidFill>
                  <a:srgbClr val="000000"/>
                </a:solidFill>
              </a:rPr>
              <a:t> string </a:t>
            </a:r>
            <a:r>
              <a:rPr lang="en-ID" sz="2800" dirty="0" err="1">
                <a:solidFill>
                  <a:srgbClr val="000000"/>
                </a:solidFill>
              </a:rPr>
              <a:t>dalam</a:t>
            </a:r>
            <a:r>
              <a:rPr lang="en-ID" sz="2800" dirty="0">
                <a:solidFill>
                  <a:srgbClr val="000000"/>
                </a:solidFill>
              </a:rPr>
              <a:t> </a:t>
            </a:r>
            <a:r>
              <a:rPr lang="en-ID" sz="2800" dirty="0" err="1">
                <a:solidFill>
                  <a:srgbClr val="000000"/>
                </a:solidFill>
              </a:rPr>
              <a:t>bahasa</a:t>
            </a:r>
            <a:r>
              <a:rPr lang="en-ID" sz="2800" dirty="0">
                <a:solidFill>
                  <a:srgbClr val="000000"/>
                </a:solidFill>
              </a:rPr>
              <a:t> </a:t>
            </a:r>
            <a:r>
              <a:rPr lang="en-ID" sz="2800" i="1" dirty="0">
                <a:solidFill>
                  <a:srgbClr val="000000"/>
                </a:solidFill>
              </a:rPr>
              <a:t>L</a:t>
            </a:r>
            <a:r>
              <a:rPr lang="en-ID" sz="2800" dirty="0">
                <a:solidFill>
                  <a:srgbClr val="000000"/>
                </a:solidFill>
              </a:rPr>
              <a:t> dan </a:t>
            </a:r>
            <a:r>
              <a:rPr lang="en-ID" sz="2800" dirty="0" err="1">
                <a:solidFill>
                  <a:srgbClr val="000000"/>
                </a:solidFill>
              </a:rPr>
              <a:t>memeriksa</a:t>
            </a:r>
            <a:r>
              <a:rPr lang="en-ID" sz="2800" dirty="0">
                <a:solidFill>
                  <a:srgbClr val="000000"/>
                </a:solidFill>
              </a:rPr>
              <a:t> </a:t>
            </a:r>
            <a:r>
              <a:rPr lang="en-ID" sz="2800" dirty="0" err="1">
                <a:solidFill>
                  <a:srgbClr val="000000"/>
                </a:solidFill>
              </a:rPr>
              <a:t>apakah</a:t>
            </a:r>
            <a:r>
              <a:rPr lang="en-ID" sz="2800" dirty="0">
                <a:solidFill>
                  <a:srgbClr val="000000"/>
                </a:solidFill>
              </a:rPr>
              <a:t> </a:t>
            </a:r>
            <a:r>
              <a:rPr lang="en-ID" sz="2800" i="1" dirty="0">
                <a:solidFill>
                  <a:srgbClr val="000000"/>
                </a:solidFill>
              </a:rPr>
              <a:t>w</a:t>
            </a:r>
            <a:r>
              <a:rPr lang="en-ID" sz="2800" dirty="0">
                <a:solidFill>
                  <a:srgbClr val="000000"/>
                </a:solidFill>
              </a:rPr>
              <a:t> </a:t>
            </a:r>
            <a:r>
              <a:rPr lang="en-ID" sz="2800" dirty="0" err="1">
                <a:solidFill>
                  <a:srgbClr val="000000"/>
                </a:solidFill>
              </a:rPr>
              <a:t>termasuk</a:t>
            </a:r>
            <a:r>
              <a:rPr lang="en-ID" sz="2800" dirty="0">
                <a:solidFill>
                  <a:srgbClr val="000000"/>
                </a:solidFill>
              </a:rPr>
              <a:t> di </a:t>
            </a:r>
            <a:r>
              <a:rPr lang="en-ID" sz="2800" dirty="0" err="1">
                <a:solidFill>
                  <a:srgbClr val="000000"/>
                </a:solidFill>
              </a:rPr>
              <a:t>antaranya</a:t>
            </a:r>
            <a:r>
              <a:rPr lang="en-ID" sz="2800" dirty="0">
                <a:solidFill>
                  <a:srgbClr val="000000"/>
                </a:solidFill>
              </a:rPr>
              <a:t>.</a:t>
            </a:r>
          </a:p>
          <a:p>
            <a:r>
              <a:rPr lang="id-ID" sz="2600" dirty="0">
                <a:solidFill>
                  <a:srgbClr val="000000"/>
                </a:solidFill>
                <a:latin typeface="Montserrat" panose="02000505000000020004"/>
              </a:rPr>
              <a:t>Masalah muncul ketika 𝐿 adalah bahasa yang tidak terbatas. Oleh karena itu, diperlukan pendekatan yang sistematis untuk memastikan tidak ada string yang terlewat. Selain itu, pendekatan ini juga harus bisa berhenti setelah sejumlah langkah yang terbatas.</a:t>
            </a:r>
          </a:p>
        </p:txBody>
      </p:sp>
    </p:spTree>
    <p:extLst>
      <p:ext uri="{BB962C8B-B14F-4D97-AF65-F5344CB8AC3E}">
        <p14:creationId xmlns:p14="http://schemas.microsoft.com/office/powerpoint/2010/main" val="3179620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2.3.2 </a:t>
            </a:r>
            <a:r>
              <a:rPr lang="en-ID" sz="2800" dirty="0"/>
              <a:t>Exhaustive Search Parsing</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4628443"/>
          </a:xfrm>
        </p:spPr>
        <p:txBody>
          <a:bodyPr>
            <a:normAutofit fontScale="92500" lnSpcReduction="20000"/>
          </a:bodyPr>
          <a:lstStyle/>
          <a:p>
            <a:r>
              <a:rPr lang="en-ID" sz="2800" dirty="0">
                <a:solidFill>
                  <a:srgbClr val="000000"/>
                </a:solidFill>
              </a:rPr>
              <a:t>Ide </a:t>
            </a:r>
            <a:r>
              <a:rPr lang="en-ID" sz="2800" dirty="0" err="1">
                <a:solidFill>
                  <a:srgbClr val="000000"/>
                </a:solidFill>
              </a:rPr>
              <a:t>pencarian</a:t>
            </a:r>
            <a:r>
              <a:rPr lang="en-ID" sz="2800" dirty="0">
                <a:solidFill>
                  <a:srgbClr val="000000"/>
                </a:solidFill>
              </a:rPr>
              <a:t> </a:t>
            </a:r>
            <a:r>
              <a:rPr lang="en-ID" sz="2800" dirty="0" err="1">
                <a:solidFill>
                  <a:srgbClr val="000000"/>
                </a:solidFill>
              </a:rPr>
              <a:t>ekshaustif</a:t>
            </a:r>
            <a:r>
              <a:rPr lang="en-ID" sz="2800" dirty="0">
                <a:solidFill>
                  <a:srgbClr val="000000"/>
                </a:solidFill>
              </a:rPr>
              <a:t> </a:t>
            </a:r>
            <a:r>
              <a:rPr lang="en-ID" sz="2800" dirty="0" err="1">
                <a:solidFill>
                  <a:srgbClr val="000000"/>
                </a:solidFill>
              </a:rPr>
              <a:t>untuk</a:t>
            </a:r>
            <a:r>
              <a:rPr lang="en-ID" sz="2800" dirty="0">
                <a:solidFill>
                  <a:srgbClr val="000000"/>
                </a:solidFill>
              </a:rPr>
              <a:t> </a:t>
            </a:r>
            <a:r>
              <a:rPr lang="en-ID" sz="2800" dirty="0" err="1">
                <a:solidFill>
                  <a:srgbClr val="000000"/>
                </a:solidFill>
              </a:rPr>
              <a:t>melakukan</a:t>
            </a:r>
            <a:r>
              <a:rPr lang="en-ID" sz="2800" dirty="0">
                <a:solidFill>
                  <a:srgbClr val="000000"/>
                </a:solidFill>
              </a:rPr>
              <a:t> parsing </a:t>
            </a:r>
            <a:r>
              <a:rPr lang="en-ID" sz="2800" dirty="0" err="1">
                <a:solidFill>
                  <a:srgbClr val="000000"/>
                </a:solidFill>
              </a:rPr>
              <a:t>sebuah</a:t>
            </a:r>
            <a:r>
              <a:rPr lang="en-ID" sz="2800" dirty="0">
                <a:solidFill>
                  <a:srgbClr val="000000"/>
                </a:solidFill>
              </a:rPr>
              <a:t> string </a:t>
            </a:r>
            <a:r>
              <a:rPr lang="en-ID" sz="2800" dirty="0" err="1">
                <a:solidFill>
                  <a:srgbClr val="000000"/>
                </a:solidFill>
              </a:rPr>
              <a:t>adalah</a:t>
            </a:r>
            <a:r>
              <a:rPr lang="en-ID" sz="2800" dirty="0">
                <a:solidFill>
                  <a:srgbClr val="000000"/>
                </a:solidFill>
              </a:rPr>
              <a:t> </a:t>
            </a:r>
            <a:r>
              <a:rPr lang="en-ID" sz="2800" dirty="0" err="1">
                <a:solidFill>
                  <a:srgbClr val="000000"/>
                </a:solidFill>
              </a:rPr>
              <a:t>menghasilkan</a:t>
            </a:r>
            <a:r>
              <a:rPr lang="en-ID" sz="2800" dirty="0">
                <a:solidFill>
                  <a:srgbClr val="000000"/>
                </a:solidFill>
              </a:rPr>
              <a:t> </a:t>
            </a:r>
            <a:r>
              <a:rPr lang="en-ID" sz="2800" dirty="0" err="1">
                <a:solidFill>
                  <a:srgbClr val="000000"/>
                </a:solidFill>
              </a:rPr>
              <a:t>semua</a:t>
            </a:r>
            <a:r>
              <a:rPr lang="en-ID" sz="2800" dirty="0">
                <a:solidFill>
                  <a:srgbClr val="000000"/>
                </a:solidFill>
              </a:rPr>
              <a:t> string </a:t>
            </a:r>
            <a:r>
              <a:rPr lang="en-ID" sz="2800" dirty="0" err="1">
                <a:solidFill>
                  <a:srgbClr val="000000"/>
                </a:solidFill>
              </a:rPr>
              <a:t>dengan</a:t>
            </a:r>
            <a:r>
              <a:rPr lang="en-ID" sz="2800" dirty="0">
                <a:solidFill>
                  <a:srgbClr val="000000"/>
                </a:solidFill>
              </a:rPr>
              <a:t> </a:t>
            </a:r>
            <a:r>
              <a:rPr lang="en-ID" sz="2800" dirty="0" err="1">
                <a:solidFill>
                  <a:srgbClr val="000000"/>
                </a:solidFill>
              </a:rPr>
              <a:t>panjang</a:t>
            </a:r>
            <a:r>
              <a:rPr lang="en-ID" sz="2800" dirty="0">
                <a:solidFill>
                  <a:srgbClr val="000000"/>
                </a:solidFill>
              </a:rPr>
              <a:t> yang </a:t>
            </a:r>
            <a:r>
              <a:rPr lang="en-ID" sz="2800" dirty="0" err="1">
                <a:solidFill>
                  <a:srgbClr val="000000"/>
                </a:solidFill>
              </a:rPr>
              <a:t>tidak</a:t>
            </a:r>
            <a:r>
              <a:rPr lang="en-ID" sz="2800" dirty="0">
                <a:solidFill>
                  <a:srgbClr val="000000"/>
                </a:solidFill>
              </a:rPr>
              <a:t> </a:t>
            </a:r>
            <a:r>
              <a:rPr lang="en-ID" sz="2800" dirty="0" err="1">
                <a:solidFill>
                  <a:srgbClr val="000000"/>
                </a:solidFill>
              </a:rPr>
              <a:t>lebih</a:t>
            </a:r>
            <a:r>
              <a:rPr lang="en-ID" sz="2800" dirty="0">
                <a:solidFill>
                  <a:srgbClr val="000000"/>
                </a:solidFill>
              </a:rPr>
              <a:t> </a:t>
            </a:r>
            <a:r>
              <a:rPr lang="en-ID" sz="2800" dirty="0" err="1">
                <a:solidFill>
                  <a:srgbClr val="000000"/>
                </a:solidFill>
              </a:rPr>
              <a:t>besar</a:t>
            </a:r>
            <a:r>
              <a:rPr lang="en-ID" sz="2800" dirty="0">
                <a:solidFill>
                  <a:srgbClr val="000000"/>
                </a:solidFill>
              </a:rPr>
              <a:t> </a:t>
            </a:r>
            <a:r>
              <a:rPr lang="en-ID" sz="2800" dirty="0" err="1">
                <a:solidFill>
                  <a:srgbClr val="000000"/>
                </a:solidFill>
              </a:rPr>
              <a:t>dari</a:t>
            </a:r>
            <a:r>
              <a:rPr lang="en-ID" sz="2800" dirty="0">
                <a:solidFill>
                  <a:srgbClr val="000000"/>
                </a:solidFill>
              </a:rPr>
              <a:t> ∣𝑤∣∣w∣, </a:t>
            </a:r>
            <a:r>
              <a:rPr lang="en-ID" sz="2800" dirty="0" err="1">
                <a:solidFill>
                  <a:srgbClr val="000000"/>
                </a:solidFill>
              </a:rPr>
              <a:t>kemudian</a:t>
            </a:r>
            <a:r>
              <a:rPr lang="en-ID" sz="2800" dirty="0">
                <a:solidFill>
                  <a:srgbClr val="000000"/>
                </a:solidFill>
              </a:rPr>
              <a:t> </a:t>
            </a:r>
            <a:r>
              <a:rPr lang="en-ID" sz="2800" dirty="0" err="1">
                <a:solidFill>
                  <a:srgbClr val="000000"/>
                </a:solidFill>
              </a:rPr>
              <a:t>melihat</a:t>
            </a:r>
            <a:r>
              <a:rPr lang="en-ID" sz="2800" dirty="0">
                <a:solidFill>
                  <a:srgbClr val="000000"/>
                </a:solidFill>
              </a:rPr>
              <a:t> </a:t>
            </a:r>
            <a:r>
              <a:rPr lang="en-ID" sz="2800" dirty="0" err="1">
                <a:solidFill>
                  <a:srgbClr val="000000"/>
                </a:solidFill>
              </a:rPr>
              <a:t>apakah</a:t>
            </a:r>
            <a:r>
              <a:rPr lang="en-ID" sz="2800" dirty="0">
                <a:solidFill>
                  <a:srgbClr val="000000"/>
                </a:solidFill>
              </a:rPr>
              <a:t> 𝑤 </a:t>
            </a:r>
            <a:r>
              <a:rPr lang="en-ID" sz="2800" dirty="0" err="1">
                <a:solidFill>
                  <a:srgbClr val="000000"/>
                </a:solidFill>
              </a:rPr>
              <a:t>termasuk</a:t>
            </a:r>
            <a:r>
              <a:rPr lang="en-ID" sz="2800" dirty="0">
                <a:solidFill>
                  <a:srgbClr val="000000"/>
                </a:solidFill>
              </a:rPr>
              <a:t> di </a:t>
            </a:r>
            <a:r>
              <a:rPr lang="en-ID" sz="2800" dirty="0" err="1">
                <a:solidFill>
                  <a:srgbClr val="000000"/>
                </a:solidFill>
              </a:rPr>
              <a:t>antaranya</a:t>
            </a:r>
            <a:r>
              <a:rPr lang="en-ID" sz="2800" dirty="0">
                <a:solidFill>
                  <a:srgbClr val="000000"/>
                </a:solidFill>
              </a:rPr>
              <a:t>.</a:t>
            </a:r>
          </a:p>
          <a:p>
            <a:r>
              <a:rPr lang="id-ID" sz="2600" dirty="0">
                <a:solidFill>
                  <a:srgbClr val="000000"/>
                </a:solidFill>
                <a:latin typeface="Montserrat" panose="02000505000000020004"/>
              </a:rPr>
              <a:t>Pembatasan yang diterapkan pada tata bahasa memungkinkan kita untuk menghasilkan setiap string 𝑤∈𝐿 dalam maksimal 2∣𝑤∣−12∣w∣−1 langkah derivasi.</a:t>
            </a:r>
            <a:endParaRPr lang="en-US" sz="2600" dirty="0">
              <a:solidFill>
                <a:srgbClr val="000000"/>
              </a:solidFill>
              <a:latin typeface="Montserrat" panose="02000505000000020004"/>
            </a:endParaRPr>
          </a:p>
          <a:p>
            <a:r>
              <a:rPr lang="id-ID" sz="2600" dirty="0">
                <a:solidFill>
                  <a:srgbClr val="000000"/>
                </a:solidFill>
                <a:latin typeface="Montserrat" panose="02000505000000020004"/>
              </a:rPr>
              <a:t>Parsing dengan pencarian ekshaustif tidak efisien, karena membutuhkan waktu eksponensial dalam ∣𝑤∣∣w∣. Terdapat cara untuk lebih membatasi tata bahasa bebas konteks agar string dapat di-parse dalam waktu linier atau non-linier (metode-metode ini berada di luar cakupan buku ini).</a:t>
            </a:r>
          </a:p>
        </p:txBody>
      </p:sp>
    </p:spTree>
    <p:extLst>
      <p:ext uri="{BB962C8B-B14F-4D97-AF65-F5344CB8AC3E}">
        <p14:creationId xmlns:p14="http://schemas.microsoft.com/office/powerpoint/2010/main" val="34446335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2.3.2 </a:t>
            </a:r>
            <a:r>
              <a:rPr lang="en-ID" sz="2800" dirty="0"/>
              <a:t>Exhaustive Search Parsing</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1752721"/>
          </a:xfrm>
        </p:spPr>
        <p:txBody>
          <a:bodyPr>
            <a:normAutofit/>
          </a:bodyPr>
          <a:lstStyle/>
          <a:p>
            <a:r>
              <a:rPr lang="en-ID" sz="2800" dirty="0" err="1">
                <a:solidFill>
                  <a:srgbClr val="000000"/>
                </a:solidFill>
              </a:rPr>
              <a:t>Tidak</a:t>
            </a:r>
            <a:r>
              <a:rPr lang="en-ID" sz="2800" dirty="0">
                <a:solidFill>
                  <a:srgbClr val="000000"/>
                </a:solidFill>
              </a:rPr>
              <a:t> </a:t>
            </a:r>
            <a:r>
              <a:rPr lang="en-ID" sz="2800" dirty="0" err="1">
                <a:solidFill>
                  <a:srgbClr val="000000"/>
                </a:solidFill>
              </a:rPr>
              <a:t>ada</a:t>
            </a:r>
            <a:r>
              <a:rPr lang="en-ID" sz="2800" dirty="0">
                <a:solidFill>
                  <a:srgbClr val="000000"/>
                </a:solidFill>
              </a:rPr>
              <a:t> </a:t>
            </a:r>
            <a:r>
              <a:rPr lang="en-ID" sz="2800" dirty="0" err="1">
                <a:solidFill>
                  <a:srgbClr val="000000"/>
                </a:solidFill>
              </a:rPr>
              <a:t>algoritma</a:t>
            </a:r>
            <a:r>
              <a:rPr lang="en-ID" sz="2800" dirty="0">
                <a:solidFill>
                  <a:srgbClr val="000000"/>
                </a:solidFill>
              </a:rPr>
              <a:t> linier </a:t>
            </a:r>
            <a:r>
              <a:rPr lang="en-ID" sz="2800" dirty="0" err="1">
                <a:solidFill>
                  <a:srgbClr val="000000"/>
                </a:solidFill>
              </a:rPr>
              <a:t>atau</a:t>
            </a:r>
            <a:r>
              <a:rPr lang="en-ID" sz="2800" dirty="0">
                <a:solidFill>
                  <a:srgbClr val="000000"/>
                </a:solidFill>
              </a:rPr>
              <a:t> non-linier yang </a:t>
            </a:r>
            <a:r>
              <a:rPr lang="en-ID" sz="2800" dirty="0" err="1">
                <a:solidFill>
                  <a:srgbClr val="000000"/>
                </a:solidFill>
              </a:rPr>
              <a:t>diketahui</a:t>
            </a:r>
            <a:r>
              <a:rPr lang="en-ID" sz="2800" dirty="0">
                <a:solidFill>
                  <a:srgbClr val="000000"/>
                </a:solidFill>
              </a:rPr>
              <a:t> </a:t>
            </a:r>
            <a:r>
              <a:rPr lang="en-ID" sz="2800" dirty="0" err="1">
                <a:solidFill>
                  <a:srgbClr val="000000"/>
                </a:solidFill>
              </a:rPr>
              <a:t>untuk</a:t>
            </a:r>
            <a:r>
              <a:rPr lang="en-ID" sz="2800" dirty="0">
                <a:solidFill>
                  <a:srgbClr val="000000"/>
                </a:solidFill>
              </a:rPr>
              <a:t> </a:t>
            </a:r>
            <a:r>
              <a:rPr lang="en-ID" sz="2800" dirty="0" err="1">
                <a:solidFill>
                  <a:srgbClr val="000000"/>
                </a:solidFill>
              </a:rPr>
              <a:t>melakukan</a:t>
            </a:r>
            <a:r>
              <a:rPr lang="en-ID" sz="2800" dirty="0">
                <a:solidFill>
                  <a:srgbClr val="000000"/>
                </a:solidFill>
              </a:rPr>
              <a:t> parsing string </a:t>
            </a:r>
            <a:r>
              <a:rPr lang="en-ID" sz="2800" dirty="0" err="1">
                <a:solidFill>
                  <a:srgbClr val="000000"/>
                </a:solidFill>
              </a:rPr>
              <a:t>dari</a:t>
            </a:r>
            <a:r>
              <a:rPr lang="en-ID" sz="2800" dirty="0">
                <a:solidFill>
                  <a:srgbClr val="000000"/>
                </a:solidFill>
              </a:rPr>
              <a:t> tata </a:t>
            </a:r>
            <a:r>
              <a:rPr lang="en-ID" sz="2800" dirty="0" err="1">
                <a:solidFill>
                  <a:srgbClr val="000000"/>
                </a:solidFill>
              </a:rPr>
              <a:t>bahasa</a:t>
            </a:r>
            <a:r>
              <a:rPr lang="en-ID" sz="2800" dirty="0">
                <a:solidFill>
                  <a:srgbClr val="000000"/>
                </a:solidFill>
              </a:rPr>
              <a:t> </a:t>
            </a:r>
            <a:r>
              <a:rPr lang="en-ID" sz="2800" dirty="0" err="1">
                <a:solidFill>
                  <a:srgbClr val="000000"/>
                </a:solidFill>
              </a:rPr>
              <a:t>bebas</a:t>
            </a:r>
            <a:r>
              <a:rPr lang="en-ID" sz="2800" dirty="0">
                <a:solidFill>
                  <a:srgbClr val="000000"/>
                </a:solidFill>
              </a:rPr>
              <a:t> </a:t>
            </a:r>
            <a:r>
              <a:rPr lang="en-ID" sz="2800" dirty="0" err="1">
                <a:solidFill>
                  <a:srgbClr val="000000"/>
                </a:solidFill>
              </a:rPr>
              <a:t>konteks</a:t>
            </a:r>
            <a:r>
              <a:rPr lang="en-ID" sz="2800" dirty="0">
                <a:solidFill>
                  <a:srgbClr val="000000"/>
                </a:solidFill>
              </a:rPr>
              <a:t> </a:t>
            </a:r>
            <a:r>
              <a:rPr lang="en-ID" sz="2800" dirty="0" err="1">
                <a:solidFill>
                  <a:srgbClr val="000000"/>
                </a:solidFill>
              </a:rPr>
              <a:t>umum</a:t>
            </a:r>
            <a:r>
              <a:rPr lang="en-ID" sz="2800" dirty="0">
                <a:solidFill>
                  <a:srgbClr val="000000"/>
                </a:solidFill>
              </a:rPr>
              <a:t>.</a:t>
            </a:r>
            <a:endParaRPr lang="id-ID" sz="2600" dirty="0">
              <a:solidFill>
                <a:srgbClr val="000000"/>
              </a:solidFill>
              <a:latin typeface="Montserrat" panose="02000505000000020004"/>
            </a:endParaRPr>
          </a:p>
        </p:txBody>
      </p:sp>
    </p:spTree>
    <p:extLst>
      <p:ext uri="{BB962C8B-B14F-4D97-AF65-F5344CB8AC3E}">
        <p14:creationId xmlns:p14="http://schemas.microsoft.com/office/powerpoint/2010/main" val="39469118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2.3.3 </a:t>
            </a:r>
            <a:r>
              <a:rPr lang="en-ID" sz="2800" dirty="0"/>
              <a:t>Top down/</a:t>
            </a:r>
            <a:r>
              <a:rPr lang="en-ID" sz="2800" dirty="0" err="1"/>
              <a:t>Bottomup</a:t>
            </a:r>
            <a:r>
              <a:rPr lang="en-ID" sz="2800" dirty="0"/>
              <a:t> Parsing</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224791"/>
          </a:xfrm>
        </p:spPr>
        <p:txBody>
          <a:bodyPr>
            <a:normAutofit/>
          </a:bodyPr>
          <a:lstStyle/>
          <a:p>
            <a:r>
              <a:rPr lang="en-ID" sz="2800" dirty="0" err="1">
                <a:solidFill>
                  <a:srgbClr val="000000"/>
                </a:solidFill>
              </a:rPr>
              <a:t>Urutan</a:t>
            </a:r>
            <a:r>
              <a:rPr lang="en-ID" sz="2800" dirty="0">
                <a:solidFill>
                  <a:srgbClr val="000000"/>
                </a:solidFill>
              </a:rPr>
              <a:t> </a:t>
            </a:r>
            <a:r>
              <a:rPr lang="en-ID" sz="2800" dirty="0" err="1">
                <a:solidFill>
                  <a:srgbClr val="000000"/>
                </a:solidFill>
              </a:rPr>
              <a:t>aturan</a:t>
            </a:r>
            <a:r>
              <a:rPr lang="en-ID" sz="2800" dirty="0">
                <a:solidFill>
                  <a:srgbClr val="000000"/>
                </a:solidFill>
              </a:rPr>
              <a:t> </a:t>
            </a:r>
            <a:r>
              <a:rPr lang="en-ID" sz="2800" dirty="0" err="1">
                <a:solidFill>
                  <a:srgbClr val="000000"/>
                </a:solidFill>
              </a:rPr>
              <a:t>diterapkan</a:t>
            </a:r>
            <a:r>
              <a:rPr lang="en-ID" sz="2800" dirty="0">
                <a:solidFill>
                  <a:srgbClr val="000000"/>
                </a:solidFill>
              </a:rPr>
              <a:t> </a:t>
            </a:r>
            <a:r>
              <a:rPr lang="en-ID" sz="2800" dirty="0" err="1">
                <a:solidFill>
                  <a:srgbClr val="000000"/>
                </a:solidFill>
              </a:rPr>
              <a:t>dalam</a:t>
            </a:r>
            <a:r>
              <a:rPr lang="en-ID" sz="2800" dirty="0">
                <a:solidFill>
                  <a:srgbClr val="000000"/>
                </a:solidFill>
              </a:rPr>
              <a:t> </a:t>
            </a:r>
            <a:r>
              <a:rPr lang="en-ID" sz="2800" dirty="0" err="1">
                <a:solidFill>
                  <a:srgbClr val="000000"/>
                </a:solidFill>
              </a:rPr>
              <a:t>derivasi</a:t>
            </a:r>
            <a:r>
              <a:rPr lang="en-ID" sz="2800" dirty="0">
                <a:solidFill>
                  <a:srgbClr val="000000"/>
                </a:solidFill>
              </a:rPr>
              <a:t> paling </a:t>
            </a:r>
            <a:r>
              <a:rPr lang="en-ID" sz="2800" dirty="0" err="1">
                <a:solidFill>
                  <a:srgbClr val="000000"/>
                </a:solidFill>
              </a:rPr>
              <a:t>kiri</a:t>
            </a:r>
            <a:r>
              <a:rPr lang="en-ID" sz="2800" dirty="0">
                <a:solidFill>
                  <a:srgbClr val="000000"/>
                </a:solidFill>
              </a:rPr>
              <a:t> pada Top-Down Parsing (</a:t>
            </a:r>
            <a:r>
              <a:rPr lang="en-ID" sz="2800" dirty="0" err="1">
                <a:solidFill>
                  <a:srgbClr val="000000"/>
                </a:solidFill>
              </a:rPr>
              <a:t>lihat</a:t>
            </a:r>
            <a:r>
              <a:rPr lang="en-ID" sz="2800" dirty="0">
                <a:solidFill>
                  <a:srgbClr val="000000"/>
                </a:solidFill>
              </a:rPr>
              <a:t> </a:t>
            </a:r>
            <a:r>
              <a:rPr lang="en-ID" sz="2800" dirty="0" err="1">
                <a:solidFill>
                  <a:srgbClr val="000000"/>
                </a:solidFill>
              </a:rPr>
              <a:t>bagian</a:t>
            </a:r>
            <a:r>
              <a:rPr lang="en-ID" sz="2800" dirty="0">
                <a:solidFill>
                  <a:srgbClr val="000000"/>
                </a:solidFill>
              </a:rPr>
              <a:t> 2.2.4).</a:t>
            </a:r>
          </a:p>
          <a:p>
            <a:r>
              <a:rPr lang="en-ID" sz="2800" dirty="0" err="1">
                <a:solidFill>
                  <a:srgbClr val="000000"/>
                </a:solidFill>
              </a:rPr>
              <a:t>Urutan</a:t>
            </a:r>
            <a:r>
              <a:rPr lang="en-ID" sz="2800" dirty="0">
                <a:solidFill>
                  <a:srgbClr val="000000"/>
                </a:solidFill>
              </a:rPr>
              <a:t> </a:t>
            </a:r>
            <a:r>
              <a:rPr lang="en-ID" sz="2800" dirty="0" err="1">
                <a:solidFill>
                  <a:srgbClr val="000000"/>
                </a:solidFill>
              </a:rPr>
              <a:t>aturan</a:t>
            </a:r>
            <a:r>
              <a:rPr lang="en-ID" sz="2800" dirty="0">
                <a:solidFill>
                  <a:srgbClr val="000000"/>
                </a:solidFill>
              </a:rPr>
              <a:t> </a:t>
            </a:r>
            <a:r>
              <a:rPr lang="en-ID" sz="2800" dirty="0" err="1">
                <a:solidFill>
                  <a:srgbClr val="000000"/>
                </a:solidFill>
              </a:rPr>
              <a:t>diterapkan</a:t>
            </a:r>
            <a:r>
              <a:rPr lang="en-ID" sz="2800" dirty="0">
                <a:solidFill>
                  <a:srgbClr val="000000"/>
                </a:solidFill>
              </a:rPr>
              <a:t> </a:t>
            </a:r>
            <a:r>
              <a:rPr lang="en-ID" sz="2800" dirty="0" err="1">
                <a:solidFill>
                  <a:srgbClr val="000000"/>
                </a:solidFill>
              </a:rPr>
              <a:t>dalam</a:t>
            </a:r>
            <a:r>
              <a:rPr lang="en-ID" sz="2800" dirty="0">
                <a:solidFill>
                  <a:srgbClr val="000000"/>
                </a:solidFill>
              </a:rPr>
              <a:t> </a:t>
            </a:r>
            <a:r>
              <a:rPr lang="en-ID" sz="2800" dirty="0" err="1">
                <a:solidFill>
                  <a:srgbClr val="000000"/>
                </a:solidFill>
              </a:rPr>
              <a:t>derivasi</a:t>
            </a:r>
            <a:r>
              <a:rPr lang="en-ID" sz="2800" dirty="0">
                <a:solidFill>
                  <a:srgbClr val="000000"/>
                </a:solidFill>
              </a:rPr>
              <a:t> paling </a:t>
            </a:r>
            <a:r>
              <a:rPr lang="en-ID" sz="2800" dirty="0" err="1">
                <a:solidFill>
                  <a:srgbClr val="000000"/>
                </a:solidFill>
              </a:rPr>
              <a:t>kanan</a:t>
            </a:r>
            <a:r>
              <a:rPr lang="en-ID" sz="2800" dirty="0">
                <a:solidFill>
                  <a:srgbClr val="000000"/>
                </a:solidFill>
              </a:rPr>
              <a:t> pada Bottom-Up Parsing.</a:t>
            </a:r>
          </a:p>
          <a:p>
            <a:r>
              <a:rPr lang="en-ID" sz="2800" dirty="0" err="1">
                <a:solidFill>
                  <a:srgbClr val="000000"/>
                </a:solidFill>
              </a:rPr>
              <a:t>Ilustrasi</a:t>
            </a:r>
            <a:r>
              <a:rPr lang="en-ID" sz="2800" dirty="0">
                <a:solidFill>
                  <a:srgbClr val="000000"/>
                </a:solidFill>
              </a:rPr>
              <a:t> </a:t>
            </a:r>
            <a:r>
              <a:rPr lang="en-ID" sz="2800" dirty="0" err="1">
                <a:solidFill>
                  <a:srgbClr val="000000"/>
                </a:solidFill>
              </a:rPr>
              <a:t>ini</a:t>
            </a:r>
            <a:r>
              <a:rPr lang="en-ID" sz="2800" dirty="0">
                <a:solidFill>
                  <a:srgbClr val="000000"/>
                </a:solidFill>
              </a:rPr>
              <a:t> </a:t>
            </a:r>
            <a:r>
              <a:rPr lang="en-ID" sz="2800" dirty="0" err="1">
                <a:solidFill>
                  <a:srgbClr val="000000"/>
                </a:solidFill>
              </a:rPr>
              <a:t>dijelaskan</a:t>
            </a:r>
            <a:r>
              <a:rPr lang="en-ID" sz="2800" dirty="0">
                <a:solidFill>
                  <a:srgbClr val="000000"/>
                </a:solidFill>
              </a:rPr>
              <a:t> di </a:t>
            </a:r>
            <a:r>
              <a:rPr lang="en-ID" sz="2800" dirty="0" err="1">
                <a:solidFill>
                  <a:srgbClr val="000000"/>
                </a:solidFill>
              </a:rPr>
              <a:t>bawah</a:t>
            </a:r>
            <a:r>
              <a:rPr lang="en-ID" sz="2800" dirty="0">
                <a:solidFill>
                  <a:srgbClr val="000000"/>
                </a:solidFill>
              </a:rPr>
              <a:t> </a:t>
            </a:r>
            <a:r>
              <a:rPr lang="en-ID" sz="2800" dirty="0" err="1">
                <a:solidFill>
                  <a:srgbClr val="000000"/>
                </a:solidFill>
              </a:rPr>
              <a:t>ini</a:t>
            </a:r>
            <a:r>
              <a:rPr lang="en-ID" sz="2800" dirty="0">
                <a:solidFill>
                  <a:srgbClr val="000000"/>
                </a:solidFill>
              </a:rPr>
              <a:t>.</a:t>
            </a:r>
            <a:br>
              <a:rPr lang="en-ID" sz="2800" dirty="0">
                <a:solidFill>
                  <a:srgbClr val="000000"/>
                </a:solidFill>
              </a:rPr>
            </a:br>
            <a:r>
              <a:rPr lang="en-ID" sz="2800" dirty="0" err="1">
                <a:solidFill>
                  <a:srgbClr val="000000"/>
                </a:solidFill>
              </a:rPr>
              <a:t>Pertimbangkan</a:t>
            </a:r>
            <a:r>
              <a:rPr lang="en-ID" sz="2800" dirty="0">
                <a:solidFill>
                  <a:srgbClr val="000000"/>
                </a:solidFill>
              </a:rPr>
              <a:t> tata </a:t>
            </a:r>
            <a:r>
              <a:rPr lang="en-ID" sz="2800" dirty="0" err="1">
                <a:solidFill>
                  <a:srgbClr val="000000"/>
                </a:solidFill>
              </a:rPr>
              <a:t>bahasa</a:t>
            </a:r>
            <a:r>
              <a:rPr lang="en-ID" sz="2800" dirty="0">
                <a:solidFill>
                  <a:srgbClr val="000000"/>
                </a:solidFill>
              </a:rPr>
              <a:t> 𝐺 </a:t>
            </a:r>
            <a:r>
              <a:rPr lang="en-ID" sz="2800" dirty="0" err="1">
                <a:solidFill>
                  <a:srgbClr val="000000"/>
                </a:solidFill>
              </a:rPr>
              <a:t>dengan</a:t>
            </a:r>
            <a:r>
              <a:rPr lang="en-ID" sz="2800" dirty="0">
                <a:solidFill>
                  <a:srgbClr val="000000"/>
                </a:solidFill>
              </a:rPr>
              <a:t> </a:t>
            </a:r>
            <a:r>
              <a:rPr lang="en-ID" sz="2800" dirty="0" err="1">
                <a:solidFill>
                  <a:srgbClr val="000000"/>
                </a:solidFill>
              </a:rPr>
              <a:t>produksi</a:t>
            </a:r>
            <a:r>
              <a:rPr lang="en-ID" sz="2800" dirty="0">
                <a:solidFill>
                  <a:srgbClr val="000000"/>
                </a:solidFill>
              </a:rPr>
              <a:t>.</a:t>
            </a:r>
            <a:br>
              <a:rPr lang="en-ID" sz="2800" dirty="0">
                <a:solidFill>
                  <a:srgbClr val="000000"/>
                </a:solidFill>
              </a:rPr>
            </a:br>
            <a:r>
              <a:rPr lang="en-ID" sz="2800" dirty="0">
                <a:solidFill>
                  <a:srgbClr val="000000"/>
                </a:solidFill>
                <a:latin typeface="Courier New" panose="02070309020205020404" pitchFamily="49" charset="0"/>
                <a:cs typeface="Courier New" panose="02070309020205020404" pitchFamily="49" charset="0"/>
              </a:rPr>
              <a:t>1. </a:t>
            </a:r>
            <a:r>
              <a:rPr lang="en-ID" sz="2800" dirty="0" err="1">
                <a:solidFill>
                  <a:srgbClr val="000000"/>
                </a:solidFill>
                <a:latin typeface="Courier New" panose="02070309020205020404" pitchFamily="49" charset="0"/>
                <a:cs typeface="Courier New" panose="02070309020205020404" pitchFamily="49" charset="0"/>
              </a:rPr>
              <a:t>S</a:t>
            </a:r>
            <a:r>
              <a:rPr lang="en-ID" sz="28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aSS</a:t>
            </a:r>
            <a:br>
              <a:rPr lang="en-ID" sz="28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br>
            <a:r>
              <a:rPr lang="en-ID" sz="28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2. </a:t>
            </a:r>
            <a:r>
              <a:rPr lang="en-ID" sz="28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Sb</a:t>
            </a:r>
            <a:endParaRPr lang="en-ID" sz="2800" dirty="0">
              <a:solidFill>
                <a:srgbClr val="000000"/>
              </a:solidFill>
              <a:latin typeface="Courier New" panose="02070309020205020404" pitchFamily="49" charset="0"/>
              <a:cs typeface="Courier New" panose="02070309020205020404" pitchFamily="49" charset="0"/>
              <a:sym typeface="Wingdings" panose="05000000000000000000" pitchFamily="2" charset="2"/>
            </a:endParaRPr>
          </a:p>
          <a:p>
            <a:endParaRPr lang="id-ID" sz="2600" dirty="0">
              <a:solidFill>
                <a:srgbClr val="000000"/>
              </a:solidFill>
              <a:latin typeface="Montserrat" panose="02000505000000020004"/>
              <a:cs typeface="Courier New" panose="02070309020205020404" pitchFamily="49" charset="0"/>
            </a:endParaRPr>
          </a:p>
        </p:txBody>
      </p:sp>
    </p:spTree>
    <p:extLst>
      <p:ext uri="{BB962C8B-B14F-4D97-AF65-F5344CB8AC3E}">
        <p14:creationId xmlns:p14="http://schemas.microsoft.com/office/powerpoint/2010/main" val="40223887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2.3.3 </a:t>
            </a:r>
            <a:r>
              <a:rPr lang="en-ID" sz="2800" dirty="0"/>
              <a:t>Top down/</a:t>
            </a:r>
            <a:r>
              <a:rPr lang="en-ID" sz="2800" dirty="0" err="1"/>
              <a:t>Bottomup</a:t>
            </a:r>
            <a:r>
              <a:rPr lang="en-ID" sz="2800" dirty="0"/>
              <a:t> Parsing</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224791"/>
          </a:xfrm>
        </p:spPr>
        <p:txBody>
          <a:bodyPr>
            <a:normAutofit lnSpcReduction="10000"/>
          </a:bodyPr>
          <a:lstStyle/>
          <a:p>
            <a:r>
              <a:rPr lang="sv-SE" sz="2800" dirty="0">
                <a:solidFill>
                  <a:srgbClr val="000000"/>
                </a:solidFill>
              </a:rPr>
              <a:t>Pohon penguraiannya adalah sebagai berikut.</a:t>
            </a:r>
          </a:p>
          <a:p>
            <a:endParaRPr lang="sv-SE" sz="2800" dirty="0">
              <a:solidFill>
                <a:srgbClr val="000000"/>
              </a:solidFill>
              <a:latin typeface="Montserrat" panose="02000505000000020004"/>
              <a:cs typeface="Courier New" panose="02070309020205020404" pitchFamily="49" charset="0"/>
            </a:endParaRPr>
          </a:p>
          <a:p>
            <a:endParaRPr lang="sv-SE" sz="2800" dirty="0">
              <a:solidFill>
                <a:srgbClr val="000000"/>
              </a:solidFill>
              <a:latin typeface="Montserrat" panose="02000505000000020004"/>
              <a:cs typeface="Courier New" panose="02070309020205020404" pitchFamily="49" charset="0"/>
            </a:endParaRPr>
          </a:p>
          <a:p>
            <a:endParaRPr lang="sv-SE" sz="2800" dirty="0">
              <a:solidFill>
                <a:srgbClr val="000000"/>
              </a:solidFill>
              <a:latin typeface="Montserrat" panose="02000505000000020004"/>
              <a:cs typeface="Courier New" panose="02070309020205020404" pitchFamily="49" charset="0"/>
            </a:endParaRPr>
          </a:p>
          <a:p>
            <a:endParaRPr lang="sv-SE" sz="2800" dirty="0">
              <a:solidFill>
                <a:srgbClr val="000000"/>
              </a:solidFill>
              <a:latin typeface="Montserrat" panose="02000505000000020004"/>
              <a:cs typeface="Courier New" panose="02070309020205020404" pitchFamily="49" charset="0"/>
            </a:endParaRPr>
          </a:p>
          <a:p>
            <a:endParaRPr lang="sv-SE" sz="2800" dirty="0">
              <a:solidFill>
                <a:srgbClr val="000000"/>
              </a:solidFill>
              <a:latin typeface="Montserrat" panose="02000505000000020004"/>
              <a:cs typeface="Courier New" panose="02070309020205020404" pitchFamily="49" charset="0"/>
            </a:endParaRPr>
          </a:p>
          <a:p>
            <a:endParaRPr lang="sv-SE" sz="2800" dirty="0">
              <a:solidFill>
                <a:srgbClr val="000000"/>
              </a:solidFill>
              <a:latin typeface="Montserrat" panose="02000505000000020004"/>
              <a:cs typeface="Courier New" panose="02070309020205020404" pitchFamily="49" charset="0"/>
            </a:endParaRPr>
          </a:p>
          <a:p>
            <a:endParaRPr lang="sv-SE" sz="2800" dirty="0">
              <a:solidFill>
                <a:srgbClr val="000000"/>
              </a:solidFill>
              <a:latin typeface="Montserrat" panose="02000505000000020004"/>
              <a:cs typeface="Courier New" panose="02070309020205020404" pitchFamily="49" charset="0"/>
            </a:endParaRPr>
          </a:p>
          <a:p>
            <a:pPr marL="0" indent="0">
              <a:buNone/>
            </a:pPr>
            <a:r>
              <a:rPr lang="en-US" sz="2800" dirty="0" err="1">
                <a:solidFill>
                  <a:srgbClr val="000000"/>
                </a:solidFill>
              </a:rPr>
              <a:t>aababbb</a:t>
            </a:r>
            <a:r>
              <a:rPr lang="en-US" sz="2800" dirty="0">
                <a:solidFill>
                  <a:srgbClr val="000000"/>
                </a:solidFill>
              </a:rPr>
              <a:t>→ </a:t>
            </a:r>
            <a:r>
              <a:rPr lang="en-US" sz="2800" dirty="0" err="1">
                <a:solidFill>
                  <a:srgbClr val="000000"/>
                </a:solidFill>
              </a:rPr>
              <a:t>Penguraian</a:t>
            </a:r>
            <a:r>
              <a:rPr lang="en-US" sz="2800" dirty="0">
                <a:solidFill>
                  <a:srgbClr val="000000"/>
                </a:solidFill>
              </a:rPr>
              <a:t> </a:t>
            </a:r>
            <a:r>
              <a:rPr lang="en-US" sz="2800" dirty="0" err="1">
                <a:solidFill>
                  <a:srgbClr val="000000"/>
                </a:solidFill>
              </a:rPr>
              <a:t>kiri</a:t>
            </a:r>
            <a:r>
              <a:rPr lang="en-US" sz="2800" dirty="0">
                <a:solidFill>
                  <a:srgbClr val="000000"/>
                </a:solidFill>
              </a:rPr>
              <a:t> </a:t>
            </a:r>
            <a:r>
              <a:rPr lang="en-US" sz="2800" dirty="0" err="1">
                <a:solidFill>
                  <a:srgbClr val="000000"/>
                </a:solidFill>
              </a:rPr>
              <a:t>dari</a:t>
            </a:r>
            <a:r>
              <a:rPr lang="en-US" sz="2800" dirty="0">
                <a:solidFill>
                  <a:srgbClr val="000000"/>
                </a:solidFill>
              </a:rPr>
              <a:t> string dengan </a:t>
            </a:r>
            <a:r>
              <a:rPr lang="en-US" sz="2800" dirty="0" err="1">
                <a:solidFill>
                  <a:srgbClr val="000000"/>
                </a:solidFill>
              </a:rPr>
              <a:t>urutan</a:t>
            </a:r>
            <a:r>
              <a:rPr lang="en-US" sz="2800" dirty="0">
                <a:solidFill>
                  <a:srgbClr val="000000"/>
                </a:solidFill>
              </a:rPr>
              <a:t> 1121222. Ini </a:t>
            </a:r>
            <a:r>
              <a:rPr lang="en-US" sz="2800" dirty="0" err="1">
                <a:solidFill>
                  <a:srgbClr val="000000"/>
                </a:solidFill>
              </a:rPr>
              <a:t>dikenal</a:t>
            </a:r>
            <a:r>
              <a:rPr lang="en-US" sz="2800" dirty="0">
                <a:solidFill>
                  <a:srgbClr val="000000"/>
                </a:solidFill>
              </a:rPr>
              <a:t> </a:t>
            </a:r>
            <a:r>
              <a:rPr lang="en-US" sz="2800" dirty="0" err="1">
                <a:solidFill>
                  <a:srgbClr val="000000"/>
                </a:solidFill>
              </a:rPr>
              <a:t>sebagai</a:t>
            </a:r>
            <a:r>
              <a:rPr lang="en-US" sz="2800" dirty="0">
                <a:solidFill>
                  <a:srgbClr val="000000"/>
                </a:solidFill>
              </a:rPr>
              <a:t> “</a:t>
            </a:r>
            <a:r>
              <a:rPr lang="en-US" sz="2800" dirty="0" err="1">
                <a:solidFill>
                  <a:srgbClr val="000000"/>
                </a:solidFill>
              </a:rPr>
              <a:t>Topdown</a:t>
            </a:r>
            <a:r>
              <a:rPr lang="en-US" sz="2800" dirty="0">
                <a:solidFill>
                  <a:srgbClr val="000000"/>
                </a:solidFill>
              </a:rPr>
              <a:t> Parsing.”</a:t>
            </a:r>
            <a:endParaRPr lang="id-ID" sz="2600" dirty="0">
              <a:solidFill>
                <a:srgbClr val="000000"/>
              </a:solidFill>
              <a:latin typeface="Montserrat" panose="02000505000000020004"/>
              <a:cs typeface="Courier New" panose="02070309020205020404" pitchFamily="49" charset="0"/>
            </a:endParaRPr>
          </a:p>
        </p:txBody>
      </p:sp>
      <p:pic>
        <p:nvPicPr>
          <p:cNvPr id="4" name="Picture 3">
            <a:extLst>
              <a:ext uri="{FF2B5EF4-FFF2-40B4-BE49-F238E27FC236}">
                <a16:creationId xmlns:a16="http://schemas.microsoft.com/office/drawing/2014/main" id="{A4738FD9-D9B4-47AD-83E9-E08162BE7C37}"/>
              </a:ext>
            </a:extLst>
          </p:cNvPr>
          <p:cNvPicPr>
            <a:picLocks noChangeAspect="1"/>
          </p:cNvPicPr>
          <p:nvPr/>
        </p:nvPicPr>
        <p:blipFill>
          <a:blip r:embed="rId2"/>
          <a:stretch>
            <a:fillRect/>
          </a:stretch>
        </p:blipFill>
        <p:spPr>
          <a:xfrm>
            <a:off x="3101009" y="1698422"/>
            <a:ext cx="2566449" cy="3019352"/>
          </a:xfrm>
          <a:prstGeom prst="rect">
            <a:avLst/>
          </a:prstGeom>
        </p:spPr>
      </p:pic>
    </p:spTree>
    <p:extLst>
      <p:ext uri="{BB962C8B-B14F-4D97-AF65-F5344CB8AC3E}">
        <p14:creationId xmlns:p14="http://schemas.microsoft.com/office/powerpoint/2010/main" val="3497168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2.3.3 </a:t>
            </a:r>
            <a:r>
              <a:rPr lang="en-ID" sz="2800" dirty="0"/>
              <a:t>Top down/</a:t>
            </a:r>
            <a:r>
              <a:rPr lang="en-ID" sz="2800" dirty="0" err="1"/>
              <a:t>Bottomup</a:t>
            </a:r>
            <a:r>
              <a:rPr lang="en-ID" sz="2800" dirty="0"/>
              <a:t> Parsing</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224791"/>
          </a:xfrm>
        </p:spPr>
        <p:txBody>
          <a:bodyPr>
            <a:normAutofit fontScale="92500"/>
          </a:bodyPr>
          <a:lstStyle/>
          <a:p>
            <a:r>
              <a:rPr lang="sv-SE" sz="2800" dirty="0">
                <a:solidFill>
                  <a:srgbClr val="000000"/>
                </a:solidFill>
              </a:rPr>
              <a:t>“Right Parse” adalah pembalikan urutan aturan yang diterapkan dalam derivasi paling kanan.</a:t>
            </a:r>
          </a:p>
          <a:p>
            <a:pPr marL="0" indent="0">
              <a:buNone/>
            </a:pPr>
            <a:endParaRPr lang="en-US" sz="2600" dirty="0">
              <a:solidFill>
                <a:srgbClr val="000000"/>
              </a:solidFill>
              <a:latin typeface="Montserrat" panose="02000505000000020004"/>
              <a:cs typeface="Courier New" panose="02070309020205020404" pitchFamily="49" charset="0"/>
            </a:endParaRPr>
          </a:p>
          <a:p>
            <a:pPr marL="0" indent="0">
              <a:buNone/>
            </a:pPr>
            <a:endParaRPr lang="en-US" sz="2600" dirty="0">
              <a:solidFill>
                <a:srgbClr val="000000"/>
              </a:solidFill>
              <a:latin typeface="Montserrat" panose="02000505000000020004"/>
              <a:cs typeface="Courier New" panose="02070309020205020404" pitchFamily="49" charset="0"/>
            </a:endParaRPr>
          </a:p>
          <a:p>
            <a:pPr marL="0" indent="0">
              <a:buNone/>
            </a:pPr>
            <a:endParaRPr lang="en-US" sz="2600" dirty="0">
              <a:solidFill>
                <a:srgbClr val="000000"/>
              </a:solidFill>
              <a:latin typeface="Montserrat" panose="02000505000000020004"/>
              <a:cs typeface="Courier New" panose="02070309020205020404" pitchFamily="49" charset="0"/>
            </a:endParaRPr>
          </a:p>
          <a:p>
            <a:pPr marL="0" indent="0">
              <a:buNone/>
            </a:pPr>
            <a:endParaRPr lang="en-US" sz="2600" dirty="0">
              <a:solidFill>
                <a:srgbClr val="000000"/>
              </a:solidFill>
              <a:latin typeface="Montserrat" panose="02000505000000020004"/>
              <a:cs typeface="Courier New" panose="02070309020205020404" pitchFamily="49" charset="0"/>
            </a:endParaRPr>
          </a:p>
          <a:p>
            <a:pPr marL="0" indent="0">
              <a:buNone/>
            </a:pPr>
            <a:endParaRPr lang="en-US" sz="2600" dirty="0">
              <a:solidFill>
                <a:srgbClr val="000000"/>
              </a:solidFill>
              <a:latin typeface="Montserrat" panose="02000505000000020004"/>
              <a:cs typeface="Courier New" panose="02070309020205020404" pitchFamily="49" charset="0"/>
            </a:endParaRPr>
          </a:p>
          <a:p>
            <a:pPr marL="0" indent="0">
              <a:buNone/>
            </a:pPr>
            <a:endParaRPr lang="en-US" sz="2600" dirty="0">
              <a:solidFill>
                <a:srgbClr val="000000"/>
              </a:solidFill>
              <a:latin typeface="Montserrat" panose="02000505000000020004"/>
              <a:cs typeface="Courier New" panose="02070309020205020404" pitchFamily="49" charset="0"/>
            </a:endParaRPr>
          </a:p>
          <a:p>
            <a:pPr marL="0" indent="0">
              <a:buNone/>
            </a:pPr>
            <a:endParaRPr lang="en-US" sz="2600" dirty="0">
              <a:solidFill>
                <a:srgbClr val="000000"/>
              </a:solidFill>
              <a:latin typeface="Montserrat" panose="02000505000000020004"/>
              <a:cs typeface="Courier New" panose="02070309020205020404" pitchFamily="49" charset="0"/>
            </a:endParaRPr>
          </a:p>
          <a:p>
            <a:pPr marL="0" indent="0">
              <a:buNone/>
            </a:pPr>
            <a:r>
              <a:rPr lang="id-ID" sz="2600" dirty="0">
                <a:solidFill>
                  <a:srgbClr val="000000"/>
                </a:solidFill>
                <a:latin typeface="Montserrat" panose="02000505000000020004"/>
                <a:cs typeface="Courier New" panose="02070309020205020404" pitchFamily="49" charset="0"/>
              </a:rPr>
              <a:t>aababbb→ Parsing kanan dari string dengan urutan 2221121. Ini dikenal sebagai “</a:t>
            </a:r>
            <a:r>
              <a:rPr lang="en-US" sz="2600" dirty="0">
                <a:solidFill>
                  <a:srgbClr val="000000"/>
                </a:solidFill>
                <a:latin typeface="Montserrat" panose="02000505000000020004"/>
                <a:cs typeface="Courier New" panose="02070309020205020404" pitchFamily="49" charset="0"/>
              </a:rPr>
              <a:t>Bottom-up Parsing</a:t>
            </a:r>
            <a:r>
              <a:rPr lang="id-ID" sz="2600" dirty="0">
                <a:solidFill>
                  <a:srgbClr val="000000"/>
                </a:solidFill>
                <a:latin typeface="Montserrat" panose="02000505000000020004"/>
                <a:cs typeface="Courier New" panose="02070309020205020404" pitchFamily="49" charset="0"/>
              </a:rPr>
              <a:t>.” </a:t>
            </a:r>
          </a:p>
        </p:txBody>
      </p:sp>
      <p:pic>
        <p:nvPicPr>
          <p:cNvPr id="5" name="Picture 4">
            <a:extLst>
              <a:ext uri="{FF2B5EF4-FFF2-40B4-BE49-F238E27FC236}">
                <a16:creationId xmlns:a16="http://schemas.microsoft.com/office/drawing/2014/main" id="{E1A1F6BF-A8E9-4A2C-A327-633888968EE4}"/>
              </a:ext>
            </a:extLst>
          </p:cNvPr>
          <p:cNvPicPr>
            <a:picLocks noChangeAspect="1"/>
          </p:cNvPicPr>
          <p:nvPr/>
        </p:nvPicPr>
        <p:blipFill>
          <a:blip r:embed="rId2"/>
          <a:stretch>
            <a:fillRect/>
          </a:stretch>
        </p:blipFill>
        <p:spPr>
          <a:xfrm>
            <a:off x="2292626" y="1921565"/>
            <a:ext cx="4732799" cy="2907928"/>
          </a:xfrm>
          <a:prstGeom prst="rect">
            <a:avLst/>
          </a:prstGeom>
        </p:spPr>
      </p:pic>
    </p:spTree>
    <p:extLst>
      <p:ext uri="{BB962C8B-B14F-4D97-AF65-F5344CB8AC3E}">
        <p14:creationId xmlns:p14="http://schemas.microsoft.com/office/powerpoint/2010/main" val="10760958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2.3.4 </a:t>
            </a:r>
            <a:r>
              <a:rPr lang="en-ID" sz="2800" dirty="0"/>
              <a:t>Ambiguity </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224791"/>
          </a:xfrm>
        </p:spPr>
        <p:txBody>
          <a:bodyPr>
            <a:normAutofit/>
          </a:bodyPr>
          <a:lstStyle/>
          <a:p>
            <a:r>
              <a:rPr lang="id-ID" sz="2600" dirty="0">
                <a:solidFill>
                  <a:srgbClr val="000000"/>
                </a:solidFill>
                <a:latin typeface="Montserrat" panose="02000505000000020004"/>
                <a:cs typeface="Courier New" panose="02070309020205020404" pitchFamily="49" charset="0"/>
              </a:rPr>
              <a:t>Tata bahasa yang diberikan oleh</a:t>
            </a:r>
            <a:r>
              <a:rPr lang="en-US" sz="2600" dirty="0">
                <a:solidFill>
                  <a:srgbClr val="000000"/>
                </a:solidFill>
                <a:latin typeface="Montserrat" panose="02000505000000020004"/>
                <a:cs typeface="Courier New" panose="02070309020205020404" pitchFamily="49" charset="0"/>
              </a:rPr>
              <a:t> </a:t>
            </a:r>
            <a:br>
              <a:rPr lang="en-US" sz="2600" dirty="0">
                <a:solidFill>
                  <a:srgbClr val="000000"/>
                </a:solidFill>
                <a:latin typeface="Montserrat" panose="02000505000000020004"/>
                <a:cs typeface="Courier New" panose="02070309020205020404" pitchFamily="49" charset="0"/>
              </a:rPr>
            </a:br>
            <a:r>
              <a:rPr lang="en-US" sz="2600" dirty="0">
                <a:solidFill>
                  <a:srgbClr val="000000"/>
                </a:solidFill>
                <a:latin typeface="Courier New" panose="02070309020205020404" pitchFamily="49" charset="0"/>
                <a:cs typeface="Courier New" panose="02070309020205020404" pitchFamily="49" charset="0"/>
              </a:rPr>
              <a:t>G =({S},{</a:t>
            </a:r>
            <a:r>
              <a:rPr lang="en-US" sz="2600" dirty="0" err="1">
                <a:solidFill>
                  <a:srgbClr val="000000"/>
                </a:solidFill>
                <a:latin typeface="Courier New" panose="02070309020205020404" pitchFamily="49" charset="0"/>
                <a:cs typeface="Courier New" panose="02070309020205020404" pitchFamily="49" charset="0"/>
              </a:rPr>
              <a:t>a,b</a:t>
            </a:r>
            <a:r>
              <a:rPr lang="en-US" sz="2600" dirty="0">
                <a:solidFill>
                  <a:srgbClr val="000000"/>
                </a:solidFill>
                <a:latin typeface="Courier New" panose="02070309020205020404" pitchFamily="49" charset="0"/>
                <a:cs typeface="Courier New" panose="02070309020205020404" pitchFamily="49" charset="0"/>
              </a:rPr>
              <a:t>},</a:t>
            </a:r>
            <a:r>
              <a:rPr lang="en-US" sz="2600" dirty="0" err="1">
                <a:solidFill>
                  <a:srgbClr val="000000"/>
                </a:solidFill>
                <a:latin typeface="Courier New" panose="02070309020205020404" pitchFamily="49" charset="0"/>
                <a:cs typeface="Courier New" panose="02070309020205020404" pitchFamily="49" charset="0"/>
              </a:rPr>
              <a:t>S,S</a:t>
            </a:r>
            <a:r>
              <a:rPr lang="en-US" sz="26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aSb|bSa|SS</a:t>
            </a:r>
            <a:r>
              <a:rPr lang="en-US" sz="26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r>
              <a:rPr lang="el-GR" sz="2800" dirty="0">
                <a:solidFill>
                  <a:srgbClr val="000000"/>
                </a:solidFill>
                <a:latin typeface="Courier New" panose="02070309020205020404" pitchFamily="49" charset="0"/>
                <a:cs typeface="Courier New" panose="02070309020205020404" pitchFamily="49" charset="0"/>
              </a:rPr>
              <a:t>λ</a:t>
            </a:r>
            <a:r>
              <a:rPr lang="en-US" sz="2600" dirty="0">
                <a:solidFill>
                  <a:srgbClr val="000000"/>
                </a:solidFill>
                <a:latin typeface="Courier New" panose="02070309020205020404" pitchFamily="49" charset="0"/>
                <a:cs typeface="Courier New" panose="02070309020205020404" pitchFamily="49" charset="0"/>
              </a:rPr>
              <a:t>)</a:t>
            </a:r>
            <a:br>
              <a:rPr lang="en-US" sz="2600" dirty="0">
                <a:solidFill>
                  <a:srgbClr val="000000"/>
                </a:solidFill>
                <a:latin typeface="Courier New" panose="02070309020205020404" pitchFamily="49" charset="0"/>
                <a:cs typeface="Courier New" panose="02070309020205020404" pitchFamily="49" charset="0"/>
              </a:rPr>
            </a:br>
            <a:r>
              <a:rPr lang="en-ID" sz="2800" dirty="0" err="1">
                <a:solidFill>
                  <a:srgbClr val="000000"/>
                </a:solidFill>
              </a:rPr>
              <a:t>menghasilkan</a:t>
            </a:r>
            <a:r>
              <a:rPr lang="en-ID" sz="2800" dirty="0">
                <a:solidFill>
                  <a:srgbClr val="000000"/>
                </a:solidFill>
              </a:rPr>
              <a:t> string yang </a:t>
            </a:r>
            <a:r>
              <a:rPr lang="en-ID" sz="2800" dirty="0" err="1">
                <a:solidFill>
                  <a:srgbClr val="000000"/>
                </a:solidFill>
              </a:rPr>
              <a:t>memiliki</a:t>
            </a:r>
            <a:r>
              <a:rPr lang="en-ID" sz="2800" dirty="0">
                <a:solidFill>
                  <a:srgbClr val="000000"/>
                </a:solidFill>
              </a:rPr>
              <a:t> </a:t>
            </a:r>
            <a:r>
              <a:rPr lang="en-ID" sz="2800" dirty="0" err="1">
                <a:solidFill>
                  <a:srgbClr val="000000"/>
                </a:solidFill>
              </a:rPr>
              <a:t>jumlah</a:t>
            </a:r>
            <a:r>
              <a:rPr lang="en-ID" sz="2800" dirty="0">
                <a:solidFill>
                  <a:srgbClr val="000000"/>
                </a:solidFill>
              </a:rPr>
              <a:t> </a:t>
            </a:r>
            <a:r>
              <a:rPr lang="en-ID" sz="2800" dirty="0" err="1">
                <a:solidFill>
                  <a:srgbClr val="000000"/>
                </a:solidFill>
              </a:rPr>
              <a:t>huruf</a:t>
            </a:r>
            <a:r>
              <a:rPr lang="en-ID" sz="2800" dirty="0">
                <a:solidFill>
                  <a:srgbClr val="000000"/>
                </a:solidFill>
              </a:rPr>
              <a:t> </a:t>
            </a:r>
            <a:r>
              <a:rPr lang="en-ID" sz="2800" i="1" dirty="0">
                <a:solidFill>
                  <a:srgbClr val="000000"/>
                </a:solidFill>
              </a:rPr>
              <a:t>a</a:t>
            </a:r>
            <a:r>
              <a:rPr lang="en-ID" sz="2800" dirty="0">
                <a:solidFill>
                  <a:srgbClr val="000000"/>
                </a:solidFill>
              </a:rPr>
              <a:t> dan </a:t>
            </a:r>
            <a:r>
              <a:rPr lang="en-ID" sz="2800" i="1" dirty="0">
                <a:solidFill>
                  <a:srgbClr val="000000"/>
                </a:solidFill>
              </a:rPr>
              <a:t>b</a:t>
            </a:r>
            <a:r>
              <a:rPr lang="en-ID" sz="2800" dirty="0">
                <a:solidFill>
                  <a:srgbClr val="000000"/>
                </a:solidFill>
              </a:rPr>
              <a:t> yang </a:t>
            </a:r>
            <a:r>
              <a:rPr lang="en-ID" sz="2800" dirty="0" err="1">
                <a:solidFill>
                  <a:srgbClr val="000000"/>
                </a:solidFill>
              </a:rPr>
              <a:t>sama</a:t>
            </a:r>
            <a:r>
              <a:rPr lang="en-ID" sz="2800" dirty="0">
                <a:solidFill>
                  <a:srgbClr val="000000"/>
                </a:solidFill>
              </a:rPr>
              <a:t>.</a:t>
            </a:r>
          </a:p>
          <a:p>
            <a:r>
              <a:rPr lang="en-US" sz="2600" dirty="0">
                <a:solidFill>
                  <a:srgbClr val="000000"/>
                </a:solidFill>
                <a:latin typeface="Montserrat" panose="02000505000000020004"/>
                <a:cs typeface="Courier New" panose="02070309020205020404" pitchFamily="49" charset="0"/>
              </a:rPr>
              <a:t>String "</a:t>
            </a:r>
            <a:r>
              <a:rPr lang="en-US" sz="2600" dirty="0" err="1">
                <a:solidFill>
                  <a:srgbClr val="000000"/>
                </a:solidFill>
                <a:latin typeface="Montserrat" panose="02000505000000020004"/>
                <a:cs typeface="Courier New" panose="02070309020205020404" pitchFamily="49" charset="0"/>
              </a:rPr>
              <a:t>abab</a:t>
            </a:r>
            <a:r>
              <a:rPr lang="en-US" sz="2600" dirty="0">
                <a:solidFill>
                  <a:srgbClr val="000000"/>
                </a:solidFill>
                <a:latin typeface="Montserrat" panose="02000505000000020004"/>
                <a:cs typeface="Courier New" panose="02070309020205020404" pitchFamily="49" charset="0"/>
              </a:rPr>
              <a:t>" dapat </a:t>
            </a:r>
            <a:r>
              <a:rPr lang="en-US" sz="2600" dirty="0" err="1">
                <a:solidFill>
                  <a:srgbClr val="000000"/>
                </a:solidFill>
                <a:latin typeface="Montserrat" panose="02000505000000020004"/>
                <a:cs typeface="Courier New" panose="02070309020205020404" pitchFamily="49" charset="0"/>
              </a:rPr>
              <a:t>dihasilkan</a:t>
            </a:r>
            <a:r>
              <a:rPr lang="en-US" sz="2600" dirty="0">
                <a:solidFill>
                  <a:srgbClr val="000000"/>
                </a:solidFill>
                <a:latin typeface="Montserrat" panose="02000505000000020004"/>
                <a:cs typeface="Courier New" panose="02070309020205020404" pitchFamily="49" charset="0"/>
              </a:rPr>
              <a:t> </a:t>
            </a:r>
            <a:r>
              <a:rPr lang="en-US" sz="2600" dirty="0" err="1">
                <a:solidFill>
                  <a:srgbClr val="000000"/>
                </a:solidFill>
                <a:latin typeface="Montserrat" panose="02000505000000020004"/>
                <a:cs typeface="Courier New" panose="02070309020205020404" pitchFamily="49" charset="0"/>
              </a:rPr>
              <a:t>dari</a:t>
            </a:r>
            <a:r>
              <a:rPr lang="en-US" sz="2600" dirty="0">
                <a:solidFill>
                  <a:srgbClr val="000000"/>
                </a:solidFill>
                <a:latin typeface="Montserrat" panose="02000505000000020004"/>
                <a:cs typeface="Courier New" panose="02070309020205020404" pitchFamily="49" charset="0"/>
              </a:rPr>
              <a:t> tata </a:t>
            </a:r>
            <a:r>
              <a:rPr lang="en-US" sz="2600" dirty="0" err="1">
                <a:solidFill>
                  <a:srgbClr val="000000"/>
                </a:solidFill>
                <a:latin typeface="Montserrat" panose="02000505000000020004"/>
                <a:cs typeface="Courier New" panose="02070309020205020404" pitchFamily="49" charset="0"/>
              </a:rPr>
              <a:t>bahasa</a:t>
            </a:r>
            <a:r>
              <a:rPr lang="en-US" sz="2600" dirty="0">
                <a:solidFill>
                  <a:srgbClr val="000000"/>
                </a:solidFill>
                <a:latin typeface="Montserrat" panose="02000505000000020004"/>
                <a:cs typeface="Courier New" panose="02070309020205020404" pitchFamily="49" charset="0"/>
              </a:rPr>
              <a:t> ini dengan dua </a:t>
            </a:r>
            <a:r>
              <a:rPr lang="en-US" sz="2600" dirty="0" err="1">
                <a:solidFill>
                  <a:srgbClr val="000000"/>
                </a:solidFill>
                <a:latin typeface="Montserrat" panose="02000505000000020004"/>
                <a:cs typeface="Courier New" panose="02070309020205020404" pitchFamily="49" charset="0"/>
              </a:rPr>
              <a:t>cara</a:t>
            </a:r>
            <a:r>
              <a:rPr lang="en-US" sz="2600" dirty="0">
                <a:solidFill>
                  <a:srgbClr val="000000"/>
                </a:solidFill>
                <a:latin typeface="Montserrat" panose="02000505000000020004"/>
                <a:cs typeface="Courier New" panose="02070309020205020404" pitchFamily="49" charset="0"/>
              </a:rPr>
              <a:t> yang berbeda, </a:t>
            </a:r>
            <a:r>
              <a:rPr lang="en-US" sz="2600" dirty="0" err="1">
                <a:solidFill>
                  <a:srgbClr val="000000"/>
                </a:solidFill>
                <a:latin typeface="Montserrat" panose="02000505000000020004"/>
                <a:cs typeface="Courier New" panose="02070309020205020404" pitchFamily="49" charset="0"/>
              </a:rPr>
              <a:t>seperti</a:t>
            </a:r>
            <a:r>
              <a:rPr lang="en-US" sz="2600" dirty="0">
                <a:solidFill>
                  <a:srgbClr val="000000"/>
                </a:solidFill>
                <a:latin typeface="Montserrat" panose="02000505000000020004"/>
                <a:cs typeface="Courier New" panose="02070309020205020404" pitchFamily="49" charset="0"/>
              </a:rPr>
              <a:t> yang </a:t>
            </a:r>
            <a:r>
              <a:rPr lang="en-US" sz="2600" dirty="0" err="1">
                <a:solidFill>
                  <a:srgbClr val="000000"/>
                </a:solidFill>
                <a:latin typeface="Montserrat" panose="02000505000000020004"/>
                <a:cs typeface="Courier New" panose="02070309020205020404" pitchFamily="49" charset="0"/>
              </a:rPr>
              <a:t>ditunjukkan</a:t>
            </a:r>
            <a:r>
              <a:rPr lang="en-US" sz="2600" dirty="0">
                <a:solidFill>
                  <a:srgbClr val="000000"/>
                </a:solidFill>
                <a:latin typeface="Montserrat" panose="02000505000000020004"/>
                <a:cs typeface="Courier New" panose="02070309020205020404" pitchFamily="49" charset="0"/>
              </a:rPr>
              <a:t> pada </a:t>
            </a:r>
            <a:r>
              <a:rPr lang="en-US" sz="2600" dirty="0" err="1">
                <a:solidFill>
                  <a:srgbClr val="000000"/>
                </a:solidFill>
                <a:latin typeface="Montserrat" panose="02000505000000020004"/>
                <a:cs typeface="Courier New" panose="02070309020205020404" pitchFamily="49" charset="0"/>
              </a:rPr>
              <a:t>pohon</a:t>
            </a:r>
            <a:r>
              <a:rPr lang="en-US" sz="2600" dirty="0">
                <a:solidFill>
                  <a:srgbClr val="000000"/>
                </a:solidFill>
                <a:latin typeface="Montserrat" panose="02000505000000020004"/>
                <a:cs typeface="Courier New" panose="02070309020205020404" pitchFamily="49" charset="0"/>
              </a:rPr>
              <a:t>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a:t>
            </a:r>
            <a:r>
              <a:rPr lang="en-US" sz="2600" dirty="0" err="1">
                <a:solidFill>
                  <a:srgbClr val="000000"/>
                </a:solidFill>
                <a:latin typeface="Montserrat" panose="02000505000000020004"/>
                <a:cs typeface="Courier New" panose="02070309020205020404" pitchFamily="49" charset="0"/>
              </a:rPr>
              <a:t>berikut</a:t>
            </a:r>
            <a:r>
              <a:rPr lang="en-US" sz="2600" dirty="0">
                <a:solidFill>
                  <a:srgbClr val="000000"/>
                </a:solidFill>
                <a:latin typeface="Montserrat" panose="02000505000000020004"/>
                <a:cs typeface="Courier New" panose="02070309020205020404" pitchFamily="49" charset="0"/>
              </a:rPr>
              <a:t>.</a:t>
            </a:r>
          </a:p>
        </p:txBody>
      </p:sp>
    </p:spTree>
    <p:extLst>
      <p:ext uri="{BB962C8B-B14F-4D97-AF65-F5344CB8AC3E}">
        <p14:creationId xmlns:p14="http://schemas.microsoft.com/office/powerpoint/2010/main" val="2023664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2.3.4 </a:t>
            </a:r>
            <a:r>
              <a:rPr lang="en-ID" sz="2800" dirty="0"/>
              <a:t>Ambiguity </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3429000"/>
            <a:ext cx="8501044" cy="2706757"/>
          </a:xfrm>
        </p:spPr>
        <p:txBody>
          <a:bodyPr>
            <a:normAutofit/>
          </a:bodyPr>
          <a:lstStyle/>
          <a:p>
            <a:r>
              <a:rPr lang="en-US" sz="2600" dirty="0">
                <a:solidFill>
                  <a:srgbClr val="000000"/>
                </a:solidFill>
                <a:latin typeface="Montserrat" panose="02000505000000020004"/>
                <a:cs typeface="Courier New" panose="02070309020205020404" pitchFamily="49" charset="0"/>
              </a:rPr>
              <a:t>Demikian pula, "</a:t>
            </a:r>
            <a:r>
              <a:rPr lang="en-US" sz="2600" dirty="0" err="1">
                <a:solidFill>
                  <a:srgbClr val="000000"/>
                </a:solidFill>
                <a:latin typeface="Montserrat" panose="02000505000000020004"/>
                <a:cs typeface="Courier New" panose="02070309020205020404" pitchFamily="49" charset="0"/>
              </a:rPr>
              <a:t>abab</a:t>
            </a:r>
            <a:r>
              <a:rPr lang="en-US" sz="2600" dirty="0">
                <a:solidFill>
                  <a:srgbClr val="000000"/>
                </a:solidFill>
                <a:latin typeface="Montserrat" panose="02000505000000020004"/>
                <a:cs typeface="Courier New" panose="02070309020205020404" pitchFamily="49" charset="0"/>
              </a:rPr>
              <a:t>" memiliki dua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paling </a:t>
            </a:r>
            <a:r>
              <a:rPr lang="en-US" sz="2600" dirty="0" err="1">
                <a:solidFill>
                  <a:srgbClr val="000000"/>
                </a:solidFill>
                <a:latin typeface="Montserrat" panose="02000505000000020004"/>
                <a:cs typeface="Courier New" panose="02070309020205020404" pitchFamily="49" charset="0"/>
              </a:rPr>
              <a:t>kiri</a:t>
            </a:r>
            <a:r>
              <a:rPr lang="en-US" sz="2600" dirty="0">
                <a:solidFill>
                  <a:srgbClr val="000000"/>
                </a:solidFill>
                <a:latin typeface="Montserrat" panose="02000505000000020004"/>
                <a:cs typeface="Courier New" panose="02070309020205020404" pitchFamily="49" charset="0"/>
              </a:rPr>
              <a:t> yang berbeda: </a:t>
            </a:r>
            <a:r>
              <a:rPr lang="en-US" sz="2600" i="1" dirty="0">
                <a:solidFill>
                  <a:srgbClr val="000000"/>
                </a:solidFill>
                <a:latin typeface="Montserrat" panose="02000505000000020004"/>
                <a:cs typeface="Courier New" panose="02070309020205020404" pitchFamily="49" charset="0"/>
              </a:rPr>
              <a:t>𝑆⇒𝑎𝑆𝑏⇒𝑎𝑏𝑆𝑎𝑏⇒𝑎𝑏𝑎𝑏</a:t>
            </a:r>
            <a:br>
              <a:rPr lang="en-US" sz="2600" i="1" dirty="0">
                <a:solidFill>
                  <a:srgbClr val="000000"/>
                </a:solidFill>
                <a:latin typeface="Montserrat" panose="02000505000000020004"/>
                <a:cs typeface="Courier New" panose="02070309020205020404" pitchFamily="49" charset="0"/>
              </a:rPr>
            </a:br>
            <a:r>
              <a:rPr lang="en-US" sz="2600" i="1" dirty="0">
                <a:solidFill>
                  <a:srgbClr val="000000"/>
                </a:solidFill>
                <a:latin typeface="Montserrat" panose="02000505000000020004"/>
                <a:cs typeface="Courier New" panose="02070309020205020404" pitchFamily="49" charset="0"/>
              </a:rPr>
              <a:t>	        𝑆⇒ 𝑆𝑆 ⇒𝑎𝑆𝑏𝑆 ⇒𝑎𝑏S ⇒</a:t>
            </a:r>
            <a:r>
              <a:rPr lang="en-US" sz="2600" i="1" dirty="0" err="1">
                <a:solidFill>
                  <a:srgbClr val="000000"/>
                </a:solidFill>
                <a:latin typeface="Montserrat" panose="02000505000000020004"/>
                <a:cs typeface="Courier New" panose="02070309020205020404" pitchFamily="49" charset="0"/>
              </a:rPr>
              <a:t>abaSB⇒abab</a:t>
            </a:r>
            <a:br>
              <a:rPr lang="en-US" sz="2600" i="1" dirty="0">
                <a:solidFill>
                  <a:srgbClr val="000000"/>
                </a:solidFill>
                <a:latin typeface="Montserrat" panose="02000505000000020004"/>
                <a:cs typeface="Courier New" panose="02070309020205020404" pitchFamily="49" charset="0"/>
              </a:rPr>
            </a:br>
            <a:r>
              <a:rPr lang="en-US" sz="2600" dirty="0">
                <a:solidFill>
                  <a:srgbClr val="000000"/>
                </a:solidFill>
                <a:latin typeface="Montserrat" panose="02000505000000020004"/>
                <a:cs typeface="Courier New" panose="02070309020205020404" pitchFamily="49" charset="0"/>
              </a:rPr>
              <a:t>Selain itu, "</a:t>
            </a:r>
            <a:r>
              <a:rPr lang="en-US" sz="2600" dirty="0" err="1">
                <a:solidFill>
                  <a:srgbClr val="000000"/>
                </a:solidFill>
                <a:latin typeface="Montserrat" panose="02000505000000020004"/>
                <a:cs typeface="Courier New" panose="02070309020205020404" pitchFamily="49" charset="0"/>
              </a:rPr>
              <a:t>abab</a:t>
            </a:r>
            <a:r>
              <a:rPr lang="en-US" sz="2600" dirty="0">
                <a:solidFill>
                  <a:srgbClr val="000000"/>
                </a:solidFill>
                <a:latin typeface="Montserrat" panose="02000505000000020004"/>
                <a:cs typeface="Courier New" panose="02070309020205020404" pitchFamily="49" charset="0"/>
              </a:rPr>
              <a:t>" memiliki dua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paling </a:t>
            </a:r>
            <a:r>
              <a:rPr lang="en-US" sz="2600" dirty="0" err="1">
                <a:solidFill>
                  <a:srgbClr val="000000"/>
                </a:solidFill>
                <a:latin typeface="Montserrat" panose="02000505000000020004"/>
                <a:cs typeface="Courier New" panose="02070309020205020404" pitchFamily="49" charset="0"/>
              </a:rPr>
              <a:t>kanan</a:t>
            </a:r>
            <a:r>
              <a:rPr lang="en-US" sz="2600" dirty="0">
                <a:solidFill>
                  <a:srgbClr val="000000"/>
                </a:solidFill>
                <a:latin typeface="Montserrat" panose="02000505000000020004"/>
                <a:cs typeface="Courier New" panose="02070309020205020404" pitchFamily="49" charset="0"/>
              </a:rPr>
              <a:t> yang berbeda: 𝑆⇒𝑎𝑆𝑏⇒𝑎𝑏𝑆𝑎𝑏⇒𝑎𝑏𝑎𝑏	   				       𝑆⇒𝑆𝑆⇒𝑆𝑎𝑆𝑏⇒𝑆𝑎𝑏⇒𝑎𝑆𝑏𝑎𝑏⇒𝑎𝑏𝑎𝑏</a:t>
            </a:r>
          </a:p>
        </p:txBody>
      </p:sp>
      <p:pic>
        <p:nvPicPr>
          <p:cNvPr id="4" name="Picture 3">
            <a:extLst>
              <a:ext uri="{FF2B5EF4-FFF2-40B4-BE49-F238E27FC236}">
                <a16:creationId xmlns:a16="http://schemas.microsoft.com/office/drawing/2014/main" id="{79F8B72D-5538-4CA5-A777-037B2787B521}"/>
              </a:ext>
            </a:extLst>
          </p:cNvPr>
          <p:cNvPicPr>
            <a:picLocks noChangeAspect="1"/>
          </p:cNvPicPr>
          <p:nvPr/>
        </p:nvPicPr>
        <p:blipFill>
          <a:blip r:embed="rId2"/>
          <a:stretch>
            <a:fillRect/>
          </a:stretch>
        </p:blipFill>
        <p:spPr>
          <a:xfrm>
            <a:off x="1868509" y="1041400"/>
            <a:ext cx="4666283" cy="1955800"/>
          </a:xfrm>
          <a:prstGeom prst="rect">
            <a:avLst/>
          </a:prstGeom>
        </p:spPr>
      </p:pic>
    </p:spTree>
    <p:extLst>
      <p:ext uri="{BB962C8B-B14F-4D97-AF65-F5344CB8AC3E}">
        <p14:creationId xmlns:p14="http://schemas.microsoft.com/office/powerpoint/2010/main" val="23069301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2.3.4 </a:t>
            </a:r>
            <a:r>
              <a:rPr lang="en-ID" sz="2800" dirty="0"/>
              <a:t>Ambiguity </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1083734"/>
            <a:ext cx="8501044" cy="5052024"/>
          </a:xfrm>
        </p:spPr>
        <p:txBody>
          <a:bodyPr>
            <a:normAutofit/>
          </a:bodyPr>
          <a:lstStyle/>
          <a:p>
            <a:r>
              <a:rPr lang="en-US" sz="2600" dirty="0" err="1">
                <a:solidFill>
                  <a:srgbClr val="000000"/>
                </a:solidFill>
                <a:latin typeface="Montserrat" panose="02000505000000020004"/>
                <a:cs typeface="Courier New" panose="02070309020205020404" pitchFamily="49" charset="0"/>
              </a:rPr>
              <a:t>Setiap</a:t>
            </a:r>
            <a:r>
              <a:rPr lang="en-US" sz="2600" dirty="0">
                <a:solidFill>
                  <a:srgbClr val="000000"/>
                </a:solidFill>
                <a:latin typeface="Montserrat" panose="02000505000000020004"/>
                <a:cs typeface="Courier New" panose="02070309020205020404" pitchFamily="49" charset="0"/>
              </a:rPr>
              <a:t> </a:t>
            </a:r>
            <a:r>
              <a:rPr lang="en-US" sz="2600" dirty="0" err="1">
                <a:solidFill>
                  <a:srgbClr val="000000"/>
                </a:solidFill>
                <a:latin typeface="Montserrat" panose="02000505000000020004"/>
                <a:cs typeface="Courier New" panose="02070309020205020404" pitchFamily="49" charset="0"/>
              </a:rPr>
              <a:t>pohon</a:t>
            </a:r>
            <a:r>
              <a:rPr lang="en-US" sz="2600" dirty="0">
                <a:solidFill>
                  <a:srgbClr val="000000"/>
                </a:solidFill>
                <a:latin typeface="Montserrat" panose="02000505000000020004"/>
                <a:cs typeface="Courier New" panose="02070309020205020404" pitchFamily="49" charset="0"/>
              </a:rPr>
              <a:t>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di </a:t>
            </a:r>
            <a:r>
              <a:rPr lang="en-US" sz="2600" dirty="0" err="1">
                <a:solidFill>
                  <a:srgbClr val="000000"/>
                </a:solidFill>
                <a:latin typeface="Montserrat" panose="02000505000000020004"/>
                <a:cs typeface="Courier New" panose="02070309020205020404" pitchFamily="49" charset="0"/>
              </a:rPr>
              <a:t>atas</a:t>
            </a:r>
            <a:r>
              <a:rPr lang="en-US" sz="2600" dirty="0">
                <a:solidFill>
                  <a:srgbClr val="000000"/>
                </a:solidFill>
                <a:latin typeface="Montserrat" panose="02000505000000020004"/>
                <a:cs typeface="Courier New" panose="02070309020205020404" pitchFamily="49" charset="0"/>
              </a:rPr>
              <a:t> dapat diubah menjadi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paling </a:t>
            </a:r>
            <a:r>
              <a:rPr lang="en-US" sz="2600" dirty="0" err="1">
                <a:solidFill>
                  <a:srgbClr val="000000"/>
                </a:solidFill>
                <a:latin typeface="Montserrat" panose="02000505000000020004"/>
                <a:cs typeface="Courier New" panose="02070309020205020404" pitchFamily="49" charset="0"/>
              </a:rPr>
              <a:t>kanan</a:t>
            </a:r>
            <a:r>
              <a:rPr lang="en-US" sz="2600" dirty="0">
                <a:solidFill>
                  <a:srgbClr val="000000"/>
                </a:solidFill>
                <a:latin typeface="Montserrat" panose="02000505000000020004"/>
                <a:cs typeface="Courier New" panose="02070309020205020404" pitchFamily="49" charset="0"/>
              </a:rPr>
              <a:t> yang unik, atau menjadi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paling </a:t>
            </a:r>
            <a:r>
              <a:rPr lang="en-US" sz="2600" dirty="0" err="1">
                <a:solidFill>
                  <a:srgbClr val="000000"/>
                </a:solidFill>
                <a:latin typeface="Montserrat" panose="02000505000000020004"/>
                <a:cs typeface="Courier New" panose="02070309020205020404" pitchFamily="49" charset="0"/>
              </a:rPr>
              <a:t>kiri</a:t>
            </a:r>
            <a:r>
              <a:rPr lang="en-US" sz="2600" dirty="0">
                <a:solidFill>
                  <a:srgbClr val="000000"/>
                </a:solidFill>
                <a:latin typeface="Montserrat" panose="02000505000000020004"/>
                <a:cs typeface="Courier New" panose="02070309020205020404" pitchFamily="49" charset="0"/>
              </a:rPr>
              <a:t> yang unik. </a:t>
            </a:r>
            <a:r>
              <a:rPr lang="en-US" sz="2600" dirty="0" err="1">
                <a:solidFill>
                  <a:srgbClr val="000000"/>
                </a:solidFill>
                <a:latin typeface="Montserrat" panose="02000505000000020004"/>
                <a:cs typeface="Courier New" panose="02070309020205020404" pitchFamily="49" charset="0"/>
              </a:rPr>
              <a:t>Setiap</a:t>
            </a:r>
            <a:r>
              <a:rPr lang="en-US" sz="2600" dirty="0">
                <a:solidFill>
                  <a:srgbClr val="000000"/>
                </a:solidFill>
                <a:latin typeface="Montserrat" panose="02000505000000020004"/>
                <a:cs typeface="Courier New" panose="02070309020205020404" pitchFamily="49" charset="0"/>
              </a:rPr>
              <a:t>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paling </a:t>
            </a:r>
            <a:r>
              <a:rPr lang="en-US" sz="2600" dirty="0" err="1">
                <a:solidFill>
                  <a:srgbClr val="000000"/>
                </a:solidFill>
                <a:latin typeface="Montserrat" panose="02000505000000020004"/>
                <a:cs typeface="Courier New" panose="02070309020205020404" pitchFamily="49" charset="0"/>
              </a:rPr>
              <a:t>kiri</a:t>
            </a:r>
            <a:r>
              <a:rPr lang="en-US" sz="2600" dirty="0">
                <a:solidFill>
                  <a:srgbClr val="000000"/>
                </a:solidFill>
                <a:latin typeface="Montserrat" panose="02000505000000020004"/>
                <a:cs typeface="Courier New" panose="02070309020205020404" pitchFamily="49" charset="0"/>
              </a:rPr>
              <a:t> atau paling </a:t>
            </a:r>
            <a:r>
              <a:rPr lang="en-US" sz="2600" dirty="0" err="1">
                <a:solidFill>
                  <a:srgbClr val="000000"/>
                </a:solidFill>
                <a:latin typeface="Montserrat" panose="02000505000000020004"/>
                <a:cs typeface="Courier New" panose="02070309020205020404" pitchFamily="49" charset="0"/>
              </a:rPr>
              <a:t>kanan</a:t>
            </a:r>
            <a:r>
              <a:rPr lang="en-US" sz="2600" dirty="0">
                <a:solidFill>
                  <a:srgbClr val="000000"/>
                </a:solidFill>
                <a:latin typeface="Montserrat" panose="02000505000000020004"/>
                <a:cs typeface="Courier New" panose="02070309020205020404" pitchFamily="49" charset="0"/>
              </a:rPr>
              <a:t> dapat diubah menjadi </a:t>
            </a:r>
            <a:r>
              <a:rPr lang="en-US" sz="2600" dirty="0" err="1">
                <a:solidFill>
                  <a:srgbClr val="000000"/>
                </a:solidFill>
                <a:latin typeface="Montserrat" panose="02000505000000020004"/>
                <a:cs typeface="Courier New" panose="02070309020205020404" pitchFamily="49" charset="0"/>
              </a:rPr>
              <a:t>pohon</a:t>
            </a:r>
            <a:r>
              <a:rPr lang="en-US" sz="2600" dirty="0">
                <a:solidFill>
                  <a:srgbClr val="000000"/>
                </a:solidFill>
                <a:latin typeface="Montserrat" panose="02000505000000020004"/>
                <a:cs typeface="Courier New" panose="02070309020205020404" pitchFamily="49" charset="0"/>
              </a:rPr>
              <a:t> </a:t>
            </a:r>
            <a:r>
              <a:rPr lang="en-US" sz="2600" dirty="0" err="1">
                <a:solidFill>
                  <a:srgbClr val="000000"/>
                </a:solidFill>
                <a:latin typeface="Montserrat" panose="02000505000000020004"/>
                <a:cs typeface="Courier New" panose="02070309020205020404" pitchFamily="49" charset="0"/>
              </a:rPr>
              <a:t>derivasi</a:t>
            </a:r>
            <a:r>
              <a:rPr lang="en-US" sz="2600" dirty="0">
                <a:solidFill>
                  <a:srgbClr val="000000"/>
                </a:solidFill>
                <a:latin typeface="Montserrat" panose="02000505000000020004"/>
                <a:cs typeface="Courier New" panose="02070309020205020404" pitchFamily="49" charset="0"/>
              </a:rPr>
              <a:t> yang unik. Representasi-representasi ini pada </a:t>
            </a:r>
            <a:r>
              <a:rPr lang="en-US" sz="2600" dirty="0" err="1">
                <a:solidFill>
                  <a:srgbClr val="000000"/>
                </a:solidFill>
                <a:latin typeface="Montserrat" panose="02000505000000020004"/>
                <a:cs typeface="Courier New" panose="02070309020205020404" pitchFamily="49" charset="0"/>
              </a:rPr>
              <a:t>dasarnya</a:t>
            </a:r>
            <a:r>
              <a:rPr lang="en-US" sz="2600" dirty="0">
                <a:solidFill>
                  <a:srgbClr val="000000"/>
                </a:solidFill>
                <a:latin typeface="Montserrat" panose="02000505000000020004"/>
                <a:cs typeface="Courier New" panose="02070309020205020404" pitchFamily="49" charset="0"/>
              </a:rPr>
              <a:t> dapat saling </a:t>
            </a:r>
            <a:r>
              <a:rPr lang="en-US" sz="2600" dirty="0" err="1">
                <a:solidFill>
                  <a:srgbClr val="000000"/>
                </a:solidFill>
                <a:latin typeface="Montserrat" panose="02000505000000020004"/>
                <a:cs typeface="Courier New" panose="02070309020205020404" pitchFamily="49" charset="0"/>
              </a:rPr>
              <a:t>dipertukarkan</a:t>
            </a:r>
            <a:r>
              <a:rPr lang="en-US" sz="2600" dirty="0">
                <a:solidFill>
                  <a:srgbClr val="000000"/>
                </a:solidFill>
                <a:latin typeface="Montserrat" panose="02000505000000020004"/>
                <a:cs typeface="Courier New" panose="02070309020205020404" pitchFamily="49" charset="0"/>
              </a:rPr>
              <a:t>.</a:t>
            </a:r>
          </a:p>
        </p:txBody>
      </p:sp>
    </p:spTree>
    <p:extLst>
      <p:ext uri="{BB962C8B-B14F-4D97-AF65-F5344CB8AC3E}">
        <p14:creationId xmlns:p14="http://schemas.microsoft.com/office/powerpoint/2010/main" val="3752148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35467"/>
            <a:ext cx="6522450" cy="634697"/>
          </a:xfrm>
        </p:spPr>
        <p:txBody>
          <a:bodyPr>
            <a:noAutofit/>
          </a:bodyPr>
          <a:lstStyle/>
          <a:p>
            <a:r>
              <a:rPr lang="en-US" sz="2400" dirty="0"/>
              <a:t>2.3.5 </a:t>
            </a:r>
            <a:r>
              <a:rPr lang="fr-FR" sz="2400" dirty="0" err="1"/>
              <a:t>Ambiguous</a:t>
            </a:r>
            <a:r>
              <a:rPr lang="fr-FR" sz="2400" dirty="0"/>
              <a:t> </a:t>
            </a:r>
            <a:r>
              <a:rPr lang="fr-FR" sz="2400" dirty="0" err="1"/>
              <a:t>Grammars</a:t>
            </a:r>
            <a:r>
              <a:rPr lang="fr-FR" sz="2400" dirty="0"/>
              <a:t>/</a:t>
            </a:r>
            <a:r>
              <a:rPr lang="fr-FR" sz="2400" dirty="0" err="1"/>
              <a:t>Ambiguous</a:t>
            </a:r>
            <a:r>
              <a:rPr lang="fr-FR" sz="2400" dirty="0"/>
              <a:t> </a:t>
            </a:r>
            <a:r>
              <a:rPr lang="fr-FR" sz="2400" dirty="0" err="1"/>
              <a:t>Languages</a:t>
            </a:r>
            <a:r>
              <a:rPr lang="en-ID" sz="2400" dirty="0"/>
              <a:t> </a:t>
            </a:r>
            <a:endParaRPr lang="id-ID" sz="24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1083734"/>
            <a:ext cx="8501044" cy="5052024"/>
          </a:xfrm>
        </p:spPr>
        <p:txBody>
          <a:bodyPr>
            <a:normAutofit/>
          </a:bodyPr>
          <a:lstStyle/>
          <a:p>
            <a:r>
              <a:rPr lang="en-ID" sz="2800" dirty="0">
                <a:solidFill>
                  <a:srgbClr val="000000"/>
                </a:solidFill>
              </a:rPr>
              <a:t>Karena </a:t>
            </a:r>
            <a:r>
              <a:rPr lang="en-ID" sz="2800" dirty="0" err="1">
                <a:solidFill>
                  <a:srgbClr val="000000"/>
                </a:solidFill>
              </a:rPr>
              <a:t>pohon</a:t>
            </a:r>
            <a:r>
              <a:rPr lang="en-ID" sz="2800" dirty="0">
                <a:solidFill>
                  <a:srgbClr val="000000"/>
                </a:solidFill>
              </a:rPr>
              <a:t> </a:t>
            </a:r>
            <a:r>
              <a:rPr lang="en-ID" sz="2800" dirty="0" err="1">
                <a:solidFill>
                  <a:srgbClr val="000000"/>
                </a:solidFill>
              </a:rPr>
              <a:t>derivasi</a:t>
            </a:r>
            <a:r>
              <a:rPr lang="en-ID" sz="2800" dirty="0">
                <a:solidFill>
                  <a:srgbClr val="000000"/>
                </a:solidFill>
              </a:rPr>
              <a:t>, </a:t>
            </a:r>
            <a:r>
              <a:rPr lang="en-ID" sz="2800" dirty="0" err="1">
                <a:solidFill>
                  <a:srgbClr val="000000"/>
                </a:solidFill>
              </a:rPr>
              <a:t>derivasi</a:t>
            </a:r>
            <a:r>
              <a:rPr lang="en-ID" sz="2800" dirty="0">
                <a:solidFill>
                  <a:srgbClr val="000000"/>
                </a:solidFill>
              </a:rPr>
              <a:t> paling </a:t>
            </a:r>
            <a:r>
              <a:rPr lang="en-ID" sz="2800" dirty="0" err="1">
                <a:solidFill>
                  <a:srgbClr val="000000"/>
                </a:solidFill>
              </a:rPr>
              <a:t>kiri</a:t>
            </a:r>
            <a:r>
              <a:rPr lang="en-ID" sz="2800" dirty="0">
                <a:solidFill>
                  <a:srgbClr val="000000"/>
                </a:solidFill>
              </a:rPr>
              <a:t>, dan </a:t>
            </a:r>
            <a:r>
              <a:rPr lang="en-ID" sz="2800" dirty="0" err="1">
                <a:solidFill>
                  <a:srgbClr val="000000"/>
                </a:solidFill>
              </a:rPr>
              <a:t>derivasi</a:t>
            </a:r>
            <a:r>
              <a:rPr lang="en-ID" sz="2800" dirty="0">
                <a:solidFill>
                  <a:srgbClr val="000000"/>
                </a:solidFill>
              </a:rPr>
              <a:t> paling </a:t>
            </a:r>
            <a:r>
              <a:rPr lang="en-ID" sz="2800" dirty="0" err="1">
                <a:solidFill>
                  <a:srgbClr val="000000"/>
                </a:solidFill>
              </a:rPr>
              <a:t>kanan</a:t>
            </a:r>
            <a:r>
              <a:rPr lang="en-ID" sz="2800" dirty="0">
                <a:solidFill>
                  <a:srgbClr val="000000"/>
                </a:solidFill>
              </a:rPr>
              <a:t> </a:t>
            </a:r>
            <a:r>
              <a:rPr lang="en-ID" sz="2800" dirty="0" err="1">
                <a:solidFill>
                  <a:srgbClr val="000000"/>
                </a:solidFill>
              </a:rPr>
              <a:t>adalah</a:t>
            </a:r>
            <a:r>
              <a:rPr lang="en-ID" sz="2800" dirty="0">
                <a:solidFill>
                  <a:srgbClr val="000000"/>
                </a:solidFill>
              </a:rPr>
              <a:t> </a:t>
            </a:r>
            <a:r>
              <a:rPr lang="en-ID" sz="2800" dirty="0" err="1">
                <a:solidFill>
                  <a:srgbClr val="000000"/>
                </a:solidFill>
              </a:rPr>
              <a:t>rotasi</a:t>
            </a:r>
            <a:r>
              <a:rPr lang="en-ID" sz="2800" dirty="0">
                <a:solidFill>
                  <a:srgbClr val="000000"/>
                </a:solidFill>
              </a:rPr>
              <a:t> yang </a:t>
            </a:r>
            <a:r>
              <a:rPr lang="en-ID" sz="2800" dirty="0" err="1">
                <a:solidFill>
                  <a:srgbClr val="000000"/>
                </a:solidFill>
              </a:rPr>
              <a:t>setara</a:t>
            </a:r>
            <a:r>
              <a:rPr lang="en-ID" sz="2800" dirty="0">
                <a:solidFill>
                  <a:srgbClr val="000000"/>
                </a:solidFill>
              </a:rPr>
              <a:t>, </a:t>
            </a:r>
            <a:r>
              <a:rPr lang="en-ID" sz="2800" dirty="0" err="1">
                <a:solidFill>
                  <a:srgbClr val="000000"/>
                </a:solidFill>
              </a:rPr>
              <a:t>maka</a:t>
            </a:r>
            <a:r>
              <a:rPr lang="en-ID" sz="2800" dirty="0">
                <a:solidFill>
                  <a:srgbClr val="000000"/>
                </a:solidFill>
              </a:rPr>
              <a:t> </a:t>
            </a:r>
            <a:r>
              <a:rPr lang="en-ID" sz="2800" dirty="0" err="1">
                <a:solidFill>
                  <a:srgbClr val="000000"/>
                </a:solidFill>
              </a:rPr>
              <a:t>definisi</a:t>
            </a:r>
            <a:r>
              <a:rPr lang="en-ID" sz="2800" dirty="0">
                <a:solidFill>
                  <a:srgbClr val="000000"/>
                </a:solidFill>
              </a:rPr>
              <a:t> </a:t>
            </a:r>
            <a:r>
              <a:rPr lang="en-ID" sz="2800" dirty="0" err="1">
                <a:solidFill>
                  <a:srgbClr val="000000"/>
                </a:solidFill>
              </a:rPr>
              <a:t>berikut</a:t>
            </a:r>
            <a:r>
              <a:rPr lang="en-ID" sz="2800" dirty="0">
                <a:solidFill>
                  <a:srgbClr val="000000"/>
                </a:solidFill>
              </a:rPr>
              <a:t> </a:t>
            </a:r>
            <a:r>
              <a:rPr lang="en-ID" sz="2800" dirty="0" err="1">
                <a:solidFill>
                  <a:srgbClr val="000000"/>
                </a:solidFill>
              </a:rPr>
              <a:t>ini</a:t>
            </a:r>
            <a:r>
              <a:rPr lang="en-ID" sz="2800" dirty="0">
                <a:solidFill>
                  <a:srgbClr val="000000"/>
                </a:solidFill>
              </a:rPr>
              <a:t> </a:t>
            </a:r>
            <a:r>
              <a:rPr lang="en-ID" sz="2800" dirty="0" err="1">
                <a:solidFill>
                  <a:srgbClr val="000000"/>
                </a:solidFill>
              </a:rPr>
              <a:t>adalah</a:t>
            </a:r>
            <a:r>
              <a:rPr lang="en-ID" sz="2800" dirty="0">
                <a:solidFill>
                  <a:srgbClr val="000000"/>
                </a:solidFill>
              </a:rPr>
              <a:t> </a:t>
            </a:r>
            <a:r>
              <a:rPr lang="en-ID" sz="2800" dirty="0" err="1">
                <a:solidFill>
                  <a:srgbClr val="000000"/>
                </a:solidFill>
              </a:rPr>
              <a:t>setara</a:t>
            </a:r>
            <a:r>
              <a:rPr lang="en-ID" sz="2800" dirty="0">
                <a:solidFill>
                  <a:srgbClr val="000000"/>
                </a:solidFill>
              </a:rPr>
              <a:t>:</a:t>
            </a:r>
          </a:p>
          <a:p>
            <a:r>
              <a:rPr lang="en-ID" sz="2800" b="1" dirty="0" err="1">
                <a:solidFill>
                  <a:srgbClr val="000000"/>
                </a:solidFill>
              </a:rPr>
              <a:t>Definisi</a:t>
            </a:r>
            <a:r>
              <a:rPr lang="en-ID" sz="2800" b="1" dirty="0">
                <a:solidFill>
                  <a:srgbClr val="000000"/>
                </a:solidFill>
              </a:rPr>
              <a:t>:</a:t>
            </a:r>
            <a:r>
              <a:rPr lang="en-ID" sz="2800" dirty="0">
                <a:solidFill>
                  <a:srgbClr val="000000"/>
                </a:solidFill>
              </a:rPr>
              <a:t> </a:t>
            </a:r>
            <a:r>
              <a:rPr lang="en-ID" sz="2800" dirty="0" err="1">
                <a:solidFill>
                  <a:srgbClr val="000000"/>
                </a:solidFill>
              </a:rPr>
              <a:t>Misalkan</a:t>
            </a:r>
            <a:r>
              <a:rPr lang="en-ID" sz="2800" dirty="0">
                <a:solidFill>
                  <a:srgbClr val="000000"/>
                </a:solidFill>
              </a:rPr>
              <a:t> G = (N, T, P, S) </a:t>
            </a:r>
            <a:r>
              <a:rPr lang="en-ID" sz="2800" dirty="0" err="1">
                <a:solidFill>
                  <a:srgbClr val="000000"/>
                </a:solidFill>
              </a:rPr>
              <a:t>adalah</a:t>
            </a:r>
            <a:r>
              <a:rPr lang="en-ID" sz="2800" dirty="0">
                <a:solidFill>
                  <a:srgbClr val="000000"/>
                </a:solidFill>
              </a:rPr>
              <a:t> </a:t>
            </a:r>
            <a:r>
              <a:rPr lang="en-ID" sz="2800" dirty="0" err="1">
                <a:solidFill>
                  <a:srgbClr val="000000"/>
                </a:solidFill>
              </a:rPr>
              <a:t>sebuah</a:t>
            </a:r>
            <a:r>
              <a:rPr lang="en-ID" sz="2800" dirty="0">
                <a:solidFill>
                  <a:srgbClr val="000000"/>
                </a:solidFill>
              </a:rPr>
              <a:t> </a:t>
            </a:r>
            <a:r>
              <a:rPr lang="en-ID" sz="2800" i="1" dirty="0">
                <a:solidFill>
                  <a:srgbClr val="000000"/>
                </a:solidFill>
              </a:rPr>
              <a:t>Context-Free Grammar</a:t>
            </a:r>
            <a:r>
              <a:rPr lang="en-ID" sz="2800" dirty="0">
                <a:solidFill>
                  <a:srgbClr val="000000"/>
                </a:solidFill>
              </a:rPr>
              <a:t> (CFG).</a:t>
            </a:r>
          </a:p>
          <a:p>
            <a:r>
              <a:rPr lang="en-ID" sz="2800" dirty="0" err="1">
                <a:solidFill>
                  <a:srgbClr val="000000"/>
                </a:solidFill>
              </a:rPr>
              <a:t>Suatu</a:t>
            </a:r>
            <a:r>
              <a:rPr lang="en-ID" sz="2800" dirty="0">
                <a:solidFill>
                  <a:srgbClr val="000000"/>
                </a:solidFill>
              </a:rPr>
              <a:t> string </a:t>
            </a:r>
            <a:r>
              <a:rPr lang="en-ID" sz="2800" dirty="0" err="1">
                <a:solidFill>
                  <a:srgbClr val="000000"/>
                </a:solidFill>
                <a:latin typeface="Courier New" panose="02070309020205020404" pitchFamily="49" charset="0"/>
                <a:cs typeface="Courier New" panose="02070309020205020404" pitchFamily="49" charset="0"/>
              </a:rPr>
              <a:t>w∈L</a:t>
            </a:r>
            <a:r>
              <a:rPr lang="en-ID" sz="2800" dirty="0">
                <a:solidFill>
                  <a:srgbClr val="000000"/>
                </a:solidFill>
                <a:latin typeface="Courier New" panose="02070309020205020404" pitchFamily="49" charset="0"/>
                <a:cs typeface="Courier New" panose="02070309020205020404" pitchFamily="49" charset="0"/>
              </a:rPr>
              <a:t>(G) </a:t>
            </a:r>
            <a:r>
              <a:rPr lang="en-ID" sz="2800" dirty="0" err="1">
                <a:solidFill>
                  <a:srgbClr val="000000"/>
                </a:solidFill>
              </a:rPr>
              <a:t>disebut</a:t>
            </a:r>
            <a:r>
              <a:rPr lang="en-ID" sz="2800" dirty="0">
                <a:solidFill>
                  <a:srgbClr val="000000"/>
                </a:solidFill>
              </a:rPr>
              <a:t> “</a:t>
            </a:r>
            <a:r>
              <a:rPr lang="en-ID" sz="2800" b="1" dirty="0">
                <a:solidFill>
                  <a:srgbClr val="000000"/>
                </a:solidFill>
              </a:rPr>
              <a:t>ambiguously derivable</a:t>
            </a:r>
            <a:r>
              <a:rPr lang="en-ID" sz="2800" dirty="0">
                <a:solidFill>
                  <a:srgbClr val="000000"/>
                </a:solidFill>
              </a:rPr>
              <a:t>” </a:t>
            </a:r>
            <a:r>
              <a:rPr lang="en-ID" sz="2800" dirty="0" err="1">
                <a:solidFill>
                  <a:srgbClr val="000000"/>
                </a:solidFill>
              </a:rPr>
              <a:t>jika</a:t>
            </a:r>
            <a:r>
              <a:rPr lang="en-ID" sz="2800" dirty="0">
                <a:solidFill>
                  <a:srgbClr val="000000"/>
                </a:solidFill>
              </a:rPr>
              <a:t> </a:t>
            </a:r>
            <a:r>
              <a:rPr lang="en-ID" sz="2800" dirty="0" err="1">
                <a:solidFill>
                  <a:srgbClr val="000000"/>
                </a:solidFill>
              </a:rPr>
              <a:t>terdapat</a:t>
            </a:r>
            <a:r>
              <a:rPr lang="en-ID" sz="2800" dirty="0">
                <a:solidFill>
                  <a:srgbClr val="000000"/>
                </a:solidFill>
              </a:rPr>
              <a:t> </a:t>
            </a:r>
            <a:r>
              <a:rPr lang="en-ID" sz="2800" dirty="0" err="1">
                <a:solidFill>
                  <a:srgbClr val="000000"/>
                </a:solidFill>
              </a:rPr>
              <a:t>dua</a:t>
            </a:r>
            <a:r>
              <a:rPr lang="en-ID" sz="2800" dirty="0">
                <a:solidFill>
                  <a:srgbClr val="000000"/>
                </a:solidFill>
              </a:rPr>
              <a:t> </a:t>
            </a:r>
            <a:r>
              <a:rPr lang="en-ID" sz="2800" dirty="0" err="1">
                <a:solidFill>
                  <a:srgbClr val="000000"/>
                </a:solidFill>
              </a:rPr>
              <a:t>atau</a:t>
            </a:r>
            <a:r>
              <a:rPr lang="en-ID" sz="2800" dirty="0">
                <a:solidFill>
                  <a:srgbClr val="000000"/>
                </a:solidFill>
              </a:rPr>
              <a:t> </a:t>
            </a:r>
            <a:r>
              <a:rPr lang="en-ID" sz="2800" dirty="0" err="1">
                <a:solidFill>
                  <a:srgbClr val="000000"/>
                </a:solidFill>
              </a:rPr>
              <a:t>lebih</a:t>
            </a:r>
            <a:r>
              <a:rPr lang="en-ID" sz="2800" dirty="0">
                <a:solidFill>
                  <a:srgbClr val="000000"/>
                </a:solidFill>
              </a:rPr>
              <a:t> </a:t>
            </a:r>
            <a:r>
              <a:rPr lang="en-ID" sz="2800" dirty="0" err="1">
                <a:solidFill>
                  <a:srgbClr val="000000"/>
                </a:solidFill>
              </a:rPr>
              <a:t>pohon</a:t>
            </a:r>
            <a:r>
              <a:rPr lang="en-ID" sz="2800" dirty="0">
                <a:solidFill>
                  <a:srgbClr val="000000"/>
                </a:solidFill>
              </a:rPr>
              <a:t> </a:t>
            </a:r>
            <a:r>
              <a:rPr lang="en-ID" sz="2800" dirty="0" err="1">
                <a:solidFill>
                  <a:srgbClr val="000000"/>
                </a:solidFill>
              </a:rPr>
              <a:t>derivasi</a:t>
            </a:r>
            <a:r>
              <a:rPr lang="en-ID" sz="2800" dirty="0">
                <a:solidFill>
                  <a:srgbClr val="000000"/>
                </a:solidFill>
              </a:rPr>
              <a:t> yang </a:t>
            </a:r>
            <a:r>
              <a:rPr lang="en-ID" sz="2800" dirty="0" err="1">
                <a:solidFill>
                  <a:srgbClr val="000000"/>
                </a:solidFill>
              </a:rPr>
              <a:t>berbeda</a:t>
            </a:r>
            <a:r>
              <a:rPr lang="en-ID" sz="2800" dirty="0">
                <a:solidFill>
                  <a:srgbClr val="000000"/>
                </a:solidFill>
              </a:rPr>
              <a:t> </a:t>
            </a:r>
            <a:r>
              <a:rPr lang="en-ID" sz="2800" dirty="0" err="1">
                <a:solidFill>
                  <a:srgbClr val="000000"/>
                </a:solidFill>
              </a:rPr>
              <a:t>untuk</a:t>
            </a:r>
            <a:r>
              <a:rPr lang="en-ID" sz="2800" dirty="0">
                <a:solidFill>
                  <a:srgbClr val="000000"/>
                </a:solidFill>
              </a:rPr>
              <a:t> string </a:t>
            </a:r>
            <a:r>
              <a:rPr lang="en-ID" sz="2800" dirty="0" err="1">
                <a:solidFill>
                  <a:srgbClr val="000000"/>
                </a:solidFill>
              </a:rPr>
              <a:t>tersebut</a:t>
            </a:r>
            <a:r>
              <a:rPr lang="en-ID" sz="2800" dirty="0">
                <a:solidFill>
                  <a:srgbClr val="000000"/>
                </a:solidFill>
              </a:rPr>
              <a:t> di </a:t>
            </a:r>
            <a:r>
              <a:rPr lang="en-ID" sz="2800" dirty="0" err="1">
                <a:solidFill>
                  <a:srgbClr val="000000"/>
                </a:solidFill>
              </a:rPr>
              <a:t>dalam</a:t>
            </a:r>
            <a:r>
              <a:rPr lang="en-ID" sz="2800" dirty="0">
                <a:solidFill>
                  <a:srgbClr val="000000"/>
                </a:solidFill>
              </a:rPr>
              <a:t> GGG.</a:t>
            </a:r>
          </a:p>
        </p:txBody>
      </p:sp>
    </p:spTree>
    <p:extLst>
      <p:ext uri="{BB962C8B-B14F-4D97-AF65-F5344CB8AC3E}">
        <p14:creationId xmlns:p14="http://schemas.microsoft.com/office/powerpoint/2010/main" val="23681399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35467"/>
            <a:ext cx="6522450" cy="634697"/>
          </a:xfrm>
        </p:spPr>
        <p:txBody>
          <a:bodyPr>
            <a:noAutofit/>
          </a:bodyPr>
          <a:lstStyle/>
          <a:p>
            <a:r>
              <a:rPr lang="en-US" sz="2400" dirty="0"/>
              <a:t>2.3.5 </a:t>
            </a:r>
            <a:r>
              <a:rPr lang="fr-FR" sz="2400" dirty="0" err="1"/>
              <a:t>Ambiguous</a:t>
            </a:r>
            <a:r>
              <a:rPr lang="fr-FR" sz="2400" dirty="0"/>
              <a:t> </a:t>
            </a:r>
            <a:r>
              <a:rPr lang="fr-FR" sz="2400" dirty="0" err="1"/>
              <a:t>Grammars</a:t>
            </a:r>
            <a:r>
              <a:rPr lang="fr-FR" sz="2400" dirty="0"/>
              <a:t>/</a:t>
            </a:r>
            <a:r>
              <a:rPr lang="fr-FR" sz="2400" dirty="0" err="1"/>
              <a:t>Ambiguous</a:t>
            </a:r>
            <a:r>
              <a:rPr lang="fr-FR" sz="2400" dirty="0"/>
              <a:t> </a:t>
            </a:r>
            <a:r>
              <a:rPr lang="fr-FR" sz="2400" dirty="0" err="1"/>
              <a:t>Languages</a:t>
            </a:r>
            <a:r>
              <a:rPr lang="en-ID" sz="2400" dirty="0"/>
              <a:t> </a:t>
            </a:r>
            <a:endParaRPr lang="id-ID" sz="24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1083734"/>
            <a:ext cx="8501044" cy="5052024"/>
          </a:xfrm>
        </p:spPr>
        <p:txBody>
          <a:bodyPr>
            <a:normAutofit/>
          </a:bodyPr>
          <a:lstStyle/>
          <a:p>
            <a:r>
              <a:rPr lang="en-ID" sz="2800" b="1" dirty="0" err="1">
                <a:solidFill>
                  <a:srgbClr val="000000"/>
                </a:solidFill>
              </a:rPr>
              <a:t>Definisi</a:t>
            </a:r>
            <a:r>
              <a:rPr lang="en-ID" sz="2800" b="1" dirty="0">
                <a:solidFill>
                  <a:srgbClr val="000000"/>
                </a:solidFill>
              </a:rPr>
              <a:t>:</a:t>
            </a:r>
            <a:r>
              <a:rPr lang="en-ID" sz="2800" dirty="0">
                <a:solidFill>
                  <a:srgbClr val="000000"/>
                </a:solidFill>
              </a:rPr>
              <a:t> </a:t>
            </a:r>
            <a:r>
              <a:rPr lang="en-ID" sz="2800" dirty="0" err="1">
                <a:solidFill>
                  <a:srgbClr val="000000"/>
                </a:solidFill>
              </a:rPr>
              <a:t>Sebuah</a:t>
            </a:r>
            <a:r>
              <a:rPr lang="en-ID" sz="2800" dirty="0">
                <a:solidFill>
                  <a:srgbClr val="000000"/>
                </a:solidFill>
              </a:rPr>
              <a:t> CFG yang </a:t>
            </a:r>
            <a:r>
              <a:rPr lang="en-ID" sz="2800" dirty="0" err="1">
                <a:solidFill>
                  <a:srgbClr val="000000"/>
                </a:solidFill>
              </a:rPr>
              <a:t>diberikan</a:t>
            </a:r>
            <a:r>
              <a:rPr lang="en-ID" sz="2800" dirty="0">
                <a:solidFill>
                  <a:srgbClr val="000000"/>
                </a:solidFill>
              </a:rPr>
              <a:t> oleh </a:t>
            </a:r>
            <a:br>
              <a:rPr lang="en-ID" sz="2800" dirty="0">
                <a:solidFill>
                  <a:srgbClr val="000000"/>
                </a:solidFill>
              </a:rPr>
            </a:br>
            <a:r>
              <a:rPr lang="en-ID" sz="2800" dirty="0">
                <a:solidFill>
                  <a:srgbClr val="000000"/>
                </a:solidFill>
                <a:latin typeface="Courier New" panose="02070309020205020404" pitchFamily="49" charset="0"/>
                <a:cs typeface="Courier New" panose="02070309020205020404" pitchFamily="49" charset="0"/>
              </a:rPr>
              <a:t>G = (N, T, P, S) </a:t>
            </a:r>
            <a:r>
              <a:rPr lang="en-ID" sz="2800" dirty="0" err="1">
                <a:solidFill>
                  <a:srgbClr val="000000"/>
                </a:solidFill>
              </a:rPr>
              <a:t>disebut</a:t>
            </a:r>
            <a:r>
              <a:rPr lang="en-ID" sz="2800" dirty="0">
                <a:solidFill>
                  <a:srgbClr val="000000"/>
                </a:solidFill>
              </a:rPr>
              <a:t> “</a:t>
            </a:r>
            <a:r>
              <a:rPr lang="en-ID" sz="2800" b="1" dirty="0" err="1">
                <a:solidFill>
                  <a:srgbClr val="000000"/>
                </a:solidFill>
              </a:rPr>
              <a:t>ambigu</a:t>
            </a:r>
            <a:r>
              <a:rPr lang="en-ID" sz="2800" dirty="0">
                <a:solidFill>
                  <a:srgbClr val="000000"/>
                </a:solidFill>
              </a:rPr>
              <a:t>” </a:t>
            </a:r>
            <a:r>
              <a:rPr lang="en-ID" sz="2800" dirty="0" err="1">
                <a:solidFill>
                  <a:srgbClr val="000000"/>
                </a:solidFill>
              </a:rPr>
              <a:t>jika</a:t>
            </a:r>
            <a:r>
              <a:rPr lang="en-ID" sz="2800" dirty="0">
                <a:solidFill>
                  <a:srgbClr val="000000"/>
                </a:solidFill>
              </a:rPr>
              <a:t> </a:t>
            </a:r>
            <a:r>
              <a:rPr lang="en-ID" sz="2800" dirty="0" err="1">
                <a:solidFill>
                  <a:srgbClr val="000000"/>
                </a:solidFill>
              </a:rPr>
              <a:t>terdapat</a:t>
            </a:r>
            <a:r>
              <a:rPr lang="en-ID" sz="2800" dirty="0">
                <a:solidFill>
                  <a:srgbClr val="000000"/>
                </a:solidFill>
              </a:rPr>
              <a:t> </a:t>
            </a:r>
            <a:r>
              <a:rPr lang="en-ID" sz="2800" dirty="0" err="1">
                <a:solidFill>
                  <a:srgbClr val="000000"/>
                </a:solidFill>
              </a:rPr>
              <a:t>setidaknya</a:t>
            </a:r>
            <a:r>
              <a:rPr lang="en-ID" sz="2800" dirty="0">
                <a:solidFill>
                  <a:srgbClr val="000000"/>
                </a:solidFill>
              </a:rPr>
              <a:t> </a:t>
            </a:r>
            <a:r>
              <a:rPr lang="en-ID" sz="2800" dirty="0" err="1">
                <a:solidFill>
                  <a:srgbClr val="000000"/>
                </a:solidFill>
              </a:rPr>
              <a:t>satu</a:t>
            </a:r>
            <a:r>
              <a:rPr lang="en-ID" sz="2800" dirty="0">
                <a:solidFill>
                  <a:srgbClr val="000000"/>
                </a:solidFill>
              </a:rPr>
              <a:t> string </a:t>
            </a:r>
            <a:r>
              <a:rPr lang="en-ID" sz="2800" dirty="0" err="1">
                <a:solidFill>
                  <a:srgbClr val="000000"/>
                </a:solidFill>
              </a:rPr>
              <a:t>dalam</a:t>
            </a:r>
            <a:r>
              <a:rPr lang="en-ID" sz="2800" dirty="0">
                <a:solidFill>
                  <a:srgbClr val="000000"/>
                </a:solidFill>
                <a:latin typeface="Courier New" panose="02070309020205020404" pitchFamily="49" charset="0"/>
                <a:cs typeface="Courier New" panose="02070309020205020404" pitchFamily="49" charset="0"/>
              </a:rPr>
              <a:t> L(G) </a:t>
            </a:r>
            <a:r>
              <a:rPr lang="en-ID" sz="2800" dirty="0">
                <a:solidFill>
                  <a:srgbClr val="000000"/>
                </a:solidFill>
              </a:rPr>
              <a:t>yang </a:t>
            </a:r>
            <a:r>
              <a:rPr lang="en-ID" sz="2800" dirty="0" err="1">
                <a:solidFill>
                  <a:srgbClr val="000000"/>
                </a:solidFill>
              </a:rPr>
              <a:t>diderivasi</a:t>
            </a:r>
            <a:r>
              <a:rPr lang="en-ID" sz="2800" dirty="0">
                <a:solidFill>
                  <a:srgbClr val="000000"/>
                </a:solidFill>
              </a:rPr>
              <a:t> </a:t>
            </a:r>
            <a:r>
              <a:rPr lang="en-ID" sz="2800" dirty="0" err="1">
                <a:solidFill>
                  <a:srgbClr val="000000"/>
                </a:solidFill>
              </a:rPr>
              <a:t>secara</a:t>
            </a:r>
            <a:r>
              <a:rPr lang="en-ID" sz="2800" dirty="0">
                <a:solidFill>
                  <a:srgbClr val="000000"/>
                </a:solidFill>
              </a:rPr>
              <a:t> </a:t>
            </a:r>
            <a:r>
              <a:rPr lang="en-ID" sz="2800" dirty="0" err="1">
                <a:solidFill>
                  <a:srgbClr val="000000"/>
                </a:solidFill>
              </a:rPr>
              <a:t>ambigu</a:t>
            </a:r>
            <a:r>
              <a:rPr lang="en-ID" sz="2800" dirty="0">
                <a:solidFill>
                  <a:srgbClr val="000000"/>
                </a:solidFill>
              </a:rPr>
              <a:t>. </a:t>
            </a:r>
            <a:r>
              <a:rPr lang="en-ID" sz="2800" dirty="0" err="1">
                <a:solidFill>
                  <a:srgbClr val="000000"/>
                </a:solidFill>
              </a:rPr>
              <a:t>Jika</a:t>
            </a:r>
            <a:r>
              <a:rPr lang="en-ID" sz="2800" dirty="0">
                <a:solidFill>
                  <a:srgbClr val="000000"/>
                </a:solidFill>
              </a:rPr>
              <a:t> </a:t>
            </a:r>
            <a:r>
              <a:rPr lang="en-ID" sz="2800" dirty="0" err="1">
                <a:solidFill>
                  <a:srgbClr val="000000"/>
                </a:solidFill>
              </a:rPr>
              <a:t>tidak</a:t>
            </a:r>
            <a:r>
              <a:rPr lang="en-ID" sz="2800" dirty="0">
                <a:solidFill>
                  <a:srgbClr val="000000"/>
                </a:solidFill>
              </a:rPr>
              <a:t>, </a:t>
            </a:r>
            <a:r>
              <a:rPr lang="en-ID" sz="2800" dirty="0" err="1">
                <a:solidFill>
                  <a:srgbClr val="000000"/>
                </a:solidFill>
              </a:rPr>
              <a:t>maka</a:t>
            </a:r>
            <a:r>
              <a:rPr lang="en-ID" sz="2800" dirty="0">
                <a:solidFill>
                  <a:srgbClr val="000000"/>
                </a:solidFill>
              </a:rPr>
              <a:t> </a:t>
            </a:r>
            <a:r>
              <a:rPr lang="en-ID" sz="2800" dirty="0" err="1">
                <a:solidFill>
                  <a:srgbClr val="000000"/>
                </a:solidFill>
              </a:rPr>
              <a:t>disebut</a:t>
            </a:r>
            <a:r>
              <a:rPr lang="en-ID" sz="2800" dirty="0">
                <a:solidFill>
                  <a:srgbClr val="000000"/>
                </a:solidFill>
              </a:rPr>
              <a:t> “</a:t>
            </a:r>
            <a:r>
              <a:rPr lang="en-ID" sz="2800" b="1" dirty="0" err="1">
                <a:solidFill>
                  <a:srgbClr val="000000"/>
                </a:solidFill>
              </a:rPr>
              <a:t>tidak</a:t>
            </a:r>
            <a:r>
              <a:rPr lang="en-ID" sz="2800" b="1" dirty="0">
                <a:solidFill>
                  <a:srgbClr val="000000"/>
                </a:solidFill>
              </a:rPr>
              <a:t> </a:t>
            </a:r>
            <a:r>
              <a:rPr lang="en-ID" sz="2800" b="1" dirty="0" err="1">
                <a:solidFill>
                  <a:srgbClr val="000000"/>
                </a:solidFill>
              </a:rPr>
              <a:t>ambigu</a:t>
            </a:r>
            <a:r>
              <a:rPr lang="en-ID" sz="2800" dirty="0">
                <a:solidFill>
                  <a:srgbClr val="000000"/>
                </a:solidFill>
              </a:rPr>
              <a:t>”.</a:t>
            </a:r>
          </a:p>
          <a:p>
            <a:r>
              <a:rPr lang="en-ID" sz="2800" b="1" dirty="0" err="1">
                <a:solidFill>
                  <a:srgbClr val="000000"/>
                </a:solidFill>
              </a:rPr>
              <a:t>Ambiguitas</a:t>
            </a:r>
            <a:r>
              <a:rPr lang="en-ID" sz="2800" dirty="0">
                <a:solidFill>
                  <a:srgbClr val="000000"/>
                </a:solidFill>
              </a:rPr>
              <a:t> </a:t>
            </a:r>
            <a:r>
              <a:rPr lang="en-ID" sz="2800" dirty="0" err="1">
                <a:solidFill>
                  <a:srgbClr val="000000"/>
                </a:solidFill>
              </a:rPr>
              <a:t>adalah</a:t>
            </a:r>
            <a:r>
              <a:rPr lang="en-ID" sz="2800" dirty="0">
                <a:solidFill>
                  <a:srgbClr val="000000"/>
                </a:solidFill>
              </a:rPr>
              <a:t> </a:t>
            </a:r>
            <a:r>
              <a:rPr lang="en-ID" sz="2800" dirty="0" err="1">
                <a:solidFill>
                  <a:srgbClr val="000000"/>
                </a:solidFill>
              </a:rPr>
              <a:t>sifat</a:t>
            </a:r>
            <a:r>
              <a:rPr lang="en-ID" sz="2800" dirty="0">
                <a:solidFill>
                  <a:srgbClr val="000000"/>
                </a:solidFill>
              </a:rPr>
              <a:t> </a:t>
            </a:r>
            <a:r>
              <a:rPr lang="en-ID" sz="2800" dirty="0" err="1">
                <a:solidFill>
                  <a:srgbClr val="000000"/>
                </a:solidFill>
              </a:rPr>
              <a:t>dari</a:t>
            </a:r>
            <a:r>
              <a:rPr lang="en-ID" sz="2800" dirty="0">
                <a:solidFill>
                  <a:srgbClr val="000000"/>
                </a:solidFill>
              </a:rPr>
              <a:t> </a:t>
            </a:r>
            <a:r>
              <a:rPr lang="en-ID" sz="2800" dirty="0" err="1">
                <a:solidFill>
                  <a:srgbClr val="000000"/>
                </a:solidFill>
              </a:rPr>
              <a:t>sebuah</a:t>
            </a:r>
            <a:r>
              <a:rPr lang="en-ID" sz="2800" dirty="0">
                <a:solidFill>
                  <a:srgbClr val="000000"/>
                </a:solidFill>
              </a:rPr>
              <a:t> tata </a:t>
            </a:r>
            <a:r>
              <a:rPr lang="en-ID" sz="2800" dirty="0" err="1">
                <a:solidFill>
                  <a:srgbClr val="000000"/>
                </a:solidFill>
              </a:rPr>
              <a:t>bahasa</a:t>
            </a:r>
            <a:r>
              <a:rPr lang="en-ID" sz="2800" dirty="0">
                <a:solidFill>
                  <a:srgbClr val="000000"/>
                </a:solidFill>
              </a:rPr>
              <a:t>, dan </a:t>
            </a:r>
            <a:r>
              <a:rPr lang="en-ID" sz="2800" dirty="0" err="1">
                <a:solidFill>
                  <a:srgbClr val="000000"/>
                </a:solidFill>
              </a:rPr>
              <a:t>biasanya</a:t>
            </a:r>
            <a:r>
              <a:rPr lang="en-ID" sz="2800" dirty="0">
                <a:solidFill>
                  <a:srgbClr val="000000"/>
                </a:solidFill>
              </a:rPr>
              <a:t> (</a:t>
            </a:r>
            <a:r>
              <a:rPr lang="en-ID" sz="2800" dirty="0" err="1">
                <a:solidFill>
                  <a:srgbClr val="000000"/>
                </a:solidFill>
              </a:rPr>
              <a:t>meskipun</a:t>
            </a:r>
            <a:r>
              <a:rPr lang="en-ID" sz="2800" dirty="0">
                <a:solidFill>
                  <a:srgbClr val="000000"/>
                </a:solidFill>
              </a:rPr>
              <a:t> </a:t>
            </a:r>
            <a:r>
              <a:rPr lang="en-ID" sz="2800" dirty="0" err="1">
                <a:solidFill>
                  <a:srgbClr val="000000"/>
                </a:solidFill>
              </a:rPr>
              <a:t>tidak</a:t>
            </a:r>
            <a:r>
              <a:rPr lang="en-ID" sz="2800" dirty="0">
                <a:solidFill>
                  <a:srgbClr val="000000"/>
                </a:solidFill>
              </a:rPr>
              <a:t> </a:t>
            </a:r>
            <a:r>
              <a:rPr lang="en-ID" sz="2800" dirty="0" err="1">
                <a:solidFill>
                  <a:srgbClr val="000000"/>
                </a:solidFill>
              </a:rPr>
              <a:t>selalu</a:t>
            </a:r>
            <a:r>
              <a:rPr lang="en-ID" sz="2800" dirty="0">
                <a:solidFill>
                  <a:srgbClr val="000000"/>
                </a:solidFill>
              </a:rPr>
              <a:t>) </a:t>
            </a:r>
            <a:r>
              <a:rPr lang="en-ID" sz="2800" dirty="0" err="1">
                <a:solidFill>
                  <a:srgbClr val="000000"/>
                </a:solidFill>
              </a:rPr>
              <a:t>memungkinkan</a:t>
            </a:r>
            <a:r>
              <a:rPr lang="en-ID" sz="2800" dirty="0">
                <a:solidFill>
                  <a:srgbClr val="000000"/>
                </a:solidFill>
              </a:rPr>
              <a:t> </a:t>
            </a:r>
            <a:r>
              <a:rPr lang="en-ID" sz="2800" dirty="0" err="1">
                <a:solidFill>
                  <a:srgbClr val="000000"/>
                </a:solidFill>
              </a:rPr>
              <a:t>untuk</a:t>
            </a:r>
            <a:r>
              <a:rPr lang="en-ID" sz="2800" dirty="0">
                <a:solidFill>
                  <a:srgbClr val="000000"/>
                </a:solidFill>
              </a:rPr>
              <a:t> </a:t>
            </a:r>
            <a:r>
              <a:rPr lang="en-ID" sz="2800" dirty="0" err="1">
                <a:solidFill>
                  <a:srgbClr val="000000"/>
                </a:solidFill>
              </a:rPr>
              <a:t>menemukan</a:t>
            </a:r>
            <a:r>
              <a:rPr lang="en-ID" sz="2800" dirty="0">
                <a:solidFill>
                  <a:srgbClr val="000000"/>
                </a:solidFill>
              </a:rPr>
              <a:t> tata </a:t>
            </a:r>
            <a:r>
              <a:rPr lang="en-ID" sz="2800" dirty="0" err="1">
                <a:solidFill>
                  <a:srgbClr val="000000"/>
                </a:solidFill>
              </a:rPr>
              <a:t>bahasa</a:t>
            </a:r>
            <a:r>
              <a:rPr lang="en-ID" sz="2800" dirty="0">
                <a:solidFill>
                  <a:srgbClr val="000000"/>
                </a:solidFill>
              </a:rPr>
              <a:t> </a:t>
            </a:r>
            <a:r>
              <a:rPr lang="en-ID" sz="2800" dirty="0" err="1">
                <a:solidFill>
                  <a:srgbClr val="000000"/>
                </a:solidFill>
              </a:rPr>
              <a:t>setara</a:t>
            </a:r>
            <a:r>
              <a:rPr lang="en-ID" sz="2800" dirty="0">
                <a:solidFill>
                  <a:srgbClr val="000000"/>
                </a:solidFill>
              </a:rPr>
              <a:t> yang </a:t>
            </a:r>
            <a:r>
              <a:rPr lang="en-ID" sz="2800" dirty="0" err="1">
                <a:solidFill>
                  <a:srgbClr val="000000"/>
                </a:solidFill>
              </a:rPr>
              <a:t>tidak</a:t>
            </a:r>
            <a:r>
              <a:rPr lang="en-ID" sz="2800" dirty="0">
                <a:solidFill>
                  <a:srgbClr val="000000"/>
                </a:solidFill>
              </a:rPr>
              <a:t> </a:t>
            </a:r>
            <a:r>
              <a:rPr lang="en-ID" sz="2800" dirty="0" err="1">
                <a:solidFill>
                  <a:srgbClr val="000000"/>
                </a:solidFill>
              </a:rPr>
              <a:t>ambigu</a:t>
            </a:r>
            <a:r>
              <a:rPr lang="en-ID" sz="2800" dirty="0">
                <a:solidFill>
                  <a:srgbClr val="000000"/>
                </a:solidFill>
              </a:rPr>
              <a:t>.</a:t>
            </a:r>
          </a:p>
          <a:p>
            <a:r>
              <a:rPr lang="en-ID" sz="2800" dirty="0" err="1">
                <a:solidFill>
                  <a:srgbClr val="000000"/>
                </a:solidFill>
              </a:rPr>
              <a:t>Sebuah</a:t>
            </a:r>
            <a:r>
              <a:rPr lang="en-ID" sz="2800" dirty="0">
                <a:solidFill>
                  <a:srgbClr val="000000"/>
                </a:solidFill>
              </a:rPr>
              <a:t> “</a:t>
            </a:r>
            <a:r>
              <a:rPr lang="en-ID" sz="2800" b="1" dirty="0" err="1">
                <a:solidFill>
                  <a:srgbClr val="000000"/>
                </a:solidFill>
              </a:rPr>
              <a:t>inherantly</a:t>
            </a:r>
            <a:r>
              <a:rPr lang="en-ID" sz="2800" b="1" dirty="0">
                <a:solidFill>
                  <a:srgbClr val="000000"/>
                </a:solidFill>
              </a:rPr>
              <a:t> ambiguous language</a:t>
            </a:r>
            <a:r>
              <a:rPr lang="en-ID" sz="2800" dirty="0">
                <a:solidFill>
                  <a:srgbClr val="000000"/>
                </a:solidFill>
              </a:rPr>
              <a:t>” </a:t>
            </a:r>
            <a:r>
              <a:rPr lang="en-ID" sz="2800" dirty="0" err="1">
                <a:solidFill>
                  <a:srgbClr val="000000"/>
                </a:solidFill>
              </a:rPr>
              <a:t>adalah</a:t>
            </a:r>
            <a:r>
              <a:rPr lang="en-ID" sz="2800" dirty="0">
                <a:solidFill>
                  <a:srgbClr val="000000"/>
                </a:solidFill>
              </a:rPr>
              <a:t> </a:t>
            </a:r>
            <a:r>
              <a:rPr lang="en-ID" sz="2800" dirty="0" err="1">
                <a:solidFill>
                  <a:srgbClr val="000000"/>
                </a:solidFill>
              </a:rPr>
              <a:t>bahasa</a:t>
            </a:r>
            <a:r>
              <a:rPr lang="en-ID" sz="2800" dirty="0">
                <a:solidFill>
                  <a:srgbClr val="000000"/>
                </a:solidFill>
              </a:rPr>
              <a:t> yang </a:t>
            </a:r>
            <a:r>
              <a:rPr lang="en-ID" sz="2800" dirty="0" err="1">
                <a:solidFill>
                  <a:srgbClr val="000000"/>
                </a:solidFill>
              </a:rPr>
              <a:t>tidak</a:t>
            </a:r>
            <a:r>
              <a:rPr lang="en-ID" sz="2800" dirty="0">
                <a:solidFill>
                  <a:srgbClr val="000000"/>
                </a:solidFill>
              </a:rPr>
              <a:t> </a:t>
            </a:r>
            <a:r>
              <a:rPr lang="en-ID" sz="2800" dirty="0" err="1">
                <a:solidFill>
                  <a:srgbClr val="000000"/>
                </a:solidFill>
              </a:rPr>
              <a:t>memiliki</a:t>
            </a:r>
            <a:r>
              <a:rPr lang="en-ID" sz="2800" dirty="0">
                <a:solidFill>
                  <a:srgbClr val="000000"/>
                </a:solidFill>
              </a:rPr>
              <a:t> tata </a:t>
            </a:r>
            <a:r>
              <a:rPr lang="en-ID" sz="2800" dirty="0" err="1">
                <a:solidFill>
                  <a:srgbClr val="000000"/>
                </a:solidFill>
              </a:rPr>
              <a:t>bahasa</a:t>
            </a:r>
            <a:r>
              <a:rPr lang="en-ID" sz="2800" dirty="0">
                <a:solidFill>
                  <a:srgbClr val="000000"/>
                </a:solidFill>
              </a:rPr>
              <a:t> yang </a:t>
            </a:r>
            <a:r>
              <a:rPr lang="en-ID" sz="2800" dirty="0" err="1">
                <a:solidFill>
                  <a:srgbClr val="000000"/>
                </a:solidFill>
              </a:rPr>
              <a:t>tidak</a:t>
            </a:r>
            <a:r>
              <a:rPr lang="en-ID" sz="2800" dirty="0">
                <a:solidFill>
                  <a:srgbClr val="000000"/>
                </a:solidFill>
              </a:rPr>
              <a:t> </a:t>
            </a:r>
            <a:r>
              <a:rPr lang="en-ID" sz="2800" dirty="0" err="1">
                <a:solidFill>
                  <a:srgbClr val="000000"/>
                </a:solidFill>
              </a:rPr>
              <a:t>ambigu</a:t>
            </a:r>
            <a:r>
              <a:rPr lang="en-ID" sz="2800" dirty="0">
                <a:solidFill>
                  <a:srgbClr val="000000"/>
                </a:solidFill>
              </a:rPr>
              <a:t>.</a:t>
            </a:r>
          </a:p>
          <a:p>
            <a:pPr marL="0" indent="0">
              <a:buNone/>
            </a:pPr>
            <a:endParaRPr lang="en-ID" sz="2800" dirty="0">
              <a:solidFill>
                <a:srgbClr val="000000"/>
              </a:solidFill>
            </a:endParaRPr>
          </a:p>
        </p:txBody>
      </p:sp>
    </p:spTree>
    <p:extLst>
      <p:ext uri="{BB962C8B-B14F-4D97-AF65-F5344CB8AC3E}">
        <p14:creationId xmlns:p14="http://schemas.microsoft.com/office/powerpoint/2010/main" val="20511517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0773-5DDA-428B-8169-F615ACA708CB}"/>
              </a:ext>
            </a:extLst>
          </p:cNvPr>
          <p:cNvSpPr>
            <a:spLocks noGrp="1"/>
          </p:cNvSpPr>
          <p:nvPr>
            <p:ph type="title"/>
          </p:nvPr>
        </p:nvSpPr>
        <p:spPr/>
        <p:txBody>
          <a:bodyPr>
            <a:normAutofit fontScale="90000"/>
          </a:bodyPr>
          <a:lstStyle/>
          <a:p>
            <a:r>
              <a:rPr lang="en-US" sz="2800" b="1" dirty="0"/>
              <a:t>Contoh 2.3.1</a:t>
            </a:r>
            <a:endParaRPr lang="en-ID" sz="2800" b="1" dirty="0"/>
          </a:p>
        </p:txBody>
      </p:sp>
      <p:sp>
        <p:nvSpPr>
          <p:cNvPr id="3" name="Content Placeholder 2">
            <a:extLst>
              <a:ext uri="{FF2B5EF4-FFF2-40B4-BE49-F238E27FC236}">
                <a16:creationId xmlns:a16="http://schemas.microsoft.com/office/drawing/2014/main" id="{6B1677BA-85AA-420F-9A76-0A7FF85A3E86}"/>
              </a:ext>
            </a:extLst>
          </p:cNvPr>
          <p:cNvSpPr>
            <a:spLocks noGrp="1"/>
          </p:cNvSpPr>
          <p:nvPr>
            <p:ph sz="half" idx="2"/>
          </p:nvPr>
        </p:nvSpPr>
        <p:spPr/>
        <p:txBody>
          <a:bodyPr>
            <a:normAutofit/>
          </a:bodyPr>
          <a:lstStyle/>
          <a:p>
            <a:r>
              <a:rPr lang="en-ID" sz="3200" dirty="0" err="1">
                <a:solidFill>
                  <a:srgbClr val="000000"/>
                </a:solidFill>
              </a:rPr>
              <a:t>Buktikan</a:t>
            </a:r>
            <a:r>
              <a:rPr lang="en-ID" sz="3200" dirty="0">
                <a:solidFill>
                  <a:srgbClr val="000000"/>
                </a:solidFill>
              </a:rPr>
              <a:t> </a:t>
            </a:r>
            <a:r>
              <a:rPr lang="en-ID" sz="3200" dirty="0" err="1">
                <a:solidFill>
                  <a:srgbClr val="000000"/>
                </a:solidFill>
              </a:rPr>
              <a:t>bahwa</a:t>
            </a:r>
            <a:r>
              <a:rPr lang="en-ID" sz="3200" dirty="0">
                <a:solidFill>
                  <a:srgbClr val="000000"/>
                </a:solidFill>
              </a:rPr>
              <a:t> tata </a:t>
            </a:r>
            <a:r>
              <a:rPr lang="en-ID" sz="3200" dirty="0" err="1">
                <a:solidFill>
                  <a:srgbClr val="000000"/>
                </a:solidFill>
              </a:rPr>
              <a:t>bahasa</a:t>
            </a:r>
            <a:r>
              <a:rPr lang="en-ID" sz="3200" dirty="0">
                <a:solidFill>
                  <a:srgbClr val="000000"/>
                </a:solidFill>
              </a:rPr>
              <a:t> </a:t>
            </a:r>
            <a:r>
              <a:rPr lang="en-ID" sz="3200" dirty="0" err="1">
                <a:solidFill>
                  <a:srgbClr val="000000"/>
                </a:solidFill>
              </a:rPr>
              <a:t>berikut</a:t>
            </a:r>
            <a:r>
              <a:rPr lang="en-ID" sz="3200" dirty="0">
                <a:solidFill>
                  <a:srgbClr val="000000"/>
                </a:solidFill>
              </a:rPr>
              <a:t> </a:t>
            </a:r>
            <a:r>
              <a:rPr lang="en-ID" sz="3200" dirty="0" err="1">
                <a:solidFill>
                  <a:srgbClr val="000000"/>
                </a:solidFill>
              </a:rPr>
              <a:t>ini</a:t>
            </a:r>
            <a:r>
              <a:rPr lang="en-ID" sz="3200" dirty="0">
                <a:solidFill>
                  <a:srgbClr val="000000"/>
                </a:solidFill>
              </a:rPr>
              <a:t> </a:t>
            </a:r>
            <a:r>
              <a:rPr lang="en-ID" sz="3200" dirty="0" err="1">
                <a:solidFill>
                  <a:srgbClr val="000000"/>
                </a:solidFill>
              </a:rPr>
              <a:t>adalah</a:t>
            </a:r>
            <a:r>
              <a:rPr lang="en-ID" sz="3200" dirty="0">
                <a:solidFill>
                  <a:srgbClr val="000000"/>
                </a:solidFill>
              </a:rPr>
              <a:t> </a:t>
            </a:r>
            <a:r>
              <a:rPr lang="en-ID" sz="3200" dirty="0" err="1">
                <a:solidFill>
                  <a:srgbClr val="000000"/>
                </a:solidFill>
              </a:rPr>
              <a:t>ambigu</a:t>
            </a:r>
            <a:r>
              <a:rPr lang="en-ID" sz="3200" dirty="0">
                <a:solidFill>
                  <a:srgbClr val="000000"/>
                </a:solidFill>
              </a:rPr>
              <a:t>:</a:t>
            </a:r>
          </a:p>
          <a:p>
            <a:pPr marL="2743200" lvl="6" indent="0">
              <a:buNone/>
            </a:pPr>
            <a:br>
              <a:rPr lang="en-ID" sz="3400" dirty="0">
                <a:solidFill>
                  <a:srgbClr val="000000"/>
                </a:solidFill>
              </a:rPr>
            </a:br>
            <a:r>
              <a:rPr lang="en-ID" sz="3400" dirty="0">
                <a:solidFill>
                  <a:srgbClr val="000000"/>
                </a:solidFill>
                <a:latin typeface="Courier New" panose="02070309020205020404" pitchFamily="49" charset="0"/>
                <a:cs typeface="Courier New" panose="02070309020205020404" pitchFamily="49" charset="0"/>
              </a:rPr>
              <a:t>𝑆→𝑎𝐵 ∣ 𝑎𝑏</a:t>
            </a:r>
            <a:br>
              <a:rPr lang="en-ID" sz="3400" dirty="0">
                <a:solidFill>
                  <a:srgbClr val="000000"/>
                </a:solidFill>
                <a:latin typeface="Courier New" panose="02070309020205020404" pitchFamily="49" charset="0"/>
                <a:cs typeface="Courier New" panose="02070309020205020404" pitchFamily="49" charset="0"/>
              </a:rPr>
            </a:br>
            <a:r>
              <a:rPr lang="en-ID" sz="3400" dirty="0" err="1">
                <a:solidFill>
                  <a:srgbClr val="000000"/>
                </a:solidFill>
                <a:latin typeface="Courier New" panose="02070309020205020404" pitchFamily="49" charset="0"/>
                <a:cs typeface="Courier New" panose="02070309020205020404" pitchFamily="49" charset="0"/>
              </a:rPr>
              <a:t>A→aAB</a:t>
            </a:r>
            <a:r>
              <a:rPr lang="en-ID" sz="3400" dirty="0">
                <a:solidFill>
                  <a:srgbClr val="000000"/>
                </a:solidFill>
                <a:latin typeface="Courier New" panose="02070309020205020404" pitchFamily="49" charset="0"/>
                <a:cs typeface="Courier New" panose="02070309020205020404" pitchFamily="49" charset="0"/>
              </a:rPr>
              <a:t> ∣ a</a:t>
            </a:r>
            <a:br>
              <a:rPr lang="en-ID" sz="3400" dirty="0">
                <a:solidFill>
                  <a:srgbClr val="000000"/>
                </a:solidFill>
                <a:latin typeface="Courier New" panose="02070309020205020404" pitchFamily="49" charset="0"/>
                <a:cs typeface="Courier New" panose="02070309020205020404" pitchFamily="49" charset="0"/>
              </a:rPr>
            </a:br>
            <a:r>
              <a:rPr lang="en-ID" sz="3400" dirty="0">
                <a:solidFill>
                  <a:srgbClr val="000000"/>
                </a:solidFill>
                <a:latin typeface="Courier New" panose="02070309020205020404" pitchFamily="49" charset="0"/>
                <a:cs typeface="Courier New" panose="02070309020205020404" pitchFamily="49" charset="0"/>
              </a:rPr>
              <a:t>𝐵→𝐴𝐵𝑏 ∣ 𝑏</a:t>
            </a:r>
          </a:p>
        </p:txBody>
      </p:sp>
    </p:spTree>
    <p:extLst>
      <p:ext uri="{BB962C8B-B14F-4D97-AF65-F5344CB8AC3E}">
        <p14:creationId xmlns:p14="http://schemas.microsoft.com/office/powerpoint/2010/main" val="19731411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0773-5DDA-428B-8169-F615ACA708CB}"/>
              </a:ext>
            </a:extLst>
          </p:cNvPr>
          <p:cNvSpPr>
            <a:spLocks noGrp="1"/>
          </p:cNvSpPr>
          <p:nvPr>
            <p:ph type="title"/>
          </p:nvPr>
        </p:nvSpPr>
        <p:spPr/>
        <p:txBody>
          <a:bodyPr>
            <a:normAutofit fontScale="90000"/>
          </a:bodyPr>
          <a:lstStyle/>
          <a:p>
            <a:r>
              <a:rPr lang="en-US" sz="2800" b="1" dirty="0"/>
              <a:t>Contoh 2.3.1</a:t>
            </a:r>
            <a:endParaRPr lang="en-ID" sz="2800" b="1" dirty="0"/>
          </a:p>
        </p:txBody>
      </p:sp>
      <p:sp>
        <p:nvSpPr>
          <p:cNvPr id="3" name="Content Placeholder 2">
            <a:extLst>
              <a:ext uri="{FF2B5EF4-FFF2-40B4-BE49-F238E27FC236}">
                <a16:creationId xmlns:a16="http://schemas.microsoft.com/office/drawing/2014/main" id="{6B1677BA-85AA-420F-9A76-0A7FF85A3E86}"/>
              </a:ext>
            </a:extLst>
          </p:cNvPr>
          <p:cNvSpPr>
            <a:spLocks noGrp="1"/>
          </p:cNvSpPr>
          <p:nvPr>
            <p:ph sz="half" idx="2"/>
          </p:nvPr>
        </p:nvSpPr>
        <p:spPr>
          <a:xfrm>
            <a:off x="308309" y="1068538"/>
            <a:ext cx="8285499" cy="5078261"/>
          </a:xfrm>
        </p:spPr>
        <p:txBody>
          <a:bodyPr>
            <a:normAutofit lnSpcReduction="10000"/>
          </a:bodyPr>
          <a:lstStyle/>
          <a:p>
            <a:pPr marL="0" indent="0">
              <a:buNone/>
            </a:pPr>
            <a:r>
              <a:rPr lang="en-ID" sz="2400" b="1" dirty="0">
                <a:solidFill>
                  <a:srgbClr val="000000"/>
                </a:solidFill>
              </a:rPr>
              <a:t>Jawab</a:t>
            </a:r>
          </a:p>
          <a:p>
            <a:pPr marL="0" indent="0">
              <a:buNone/>
            </a:pPr>
            <a:r>
              <a:rPr lang="en-ID" sz="2400" dirty="0" err="1">
                <a:solidFill>
                  <a:srgbClr val="000000"/>
                </a:solidFill>
              </a:rPr>
              <a:t>Dapat</a:t>
            </a:r>
            <a:r>
              <a:rPr lang="en-ID" sz="2400" dirty="0">
                <a:solidFill>
                  <a:srgbClr val="000000"/>
                </a:solidFill>
              </a:rPr>
              <a:t> </a:t>
            </a:r>
            <a:r>
              <a:rPr lang="en-ID" sz="2400" dirty="0" err="1">
                <a:solidFill>
                  <a:srgbClr val="000000"/>
                </a:solidFill>
              </a:rPr>
              <a:t>dilihat</a:t>
            </a:r>
            <a:r>
              <a:rPr lang="en-ID" sz="2400" dirty="0">
                <a:solidFill>
                  <a:srgbClr val="000000"/>
                </a:solidFill>
              </a:rPr>
              <a:t> </a:t>
            </a:r>
            <a:r>
              <a:rPr lang="en-ID" sz="2400" dirty="0" err="1">
                <a:solidFill>
                  <a:srgbClr val="000000"/>
                </a:solidFill>
              </a:rPr>
              <a:t>bahwa</a:t>
            </a:r>
            <a:r>
              <a:rPr lang="en-ID" sz="2400" dirty="0">
                <a:solidFill>
                  <a:srgbClr val="000000"/>
                </a:solidFill>
              </a:rPr>
              <a:t> "ab" </a:t>
            </a:r>
            <a:r>
              <a:rPr lang="en-ID" sz="2400" dirty="0" err="1">
                <a:solidFill>
                  <a:srgbClr val="000000"/>
                </a:solidFill>
              </a:rPr>
              <a:t>memiliki</a:t>
            </a:r>
            <a:r>
              <a:rPr lang="en-ID" sz="2400" dirty="0">
                <a:solidFill>
                  <a:srgbClr val="000000"/>
                </a:solidFill>
              </a:rPr>
              <a:t> </a:t>
            </a:r>
            <a:r>
              <a:rPr lang="en-ID" sz="2400" dirty="0" err="1">
                <a:solidFill>
                  <a:srgbClr val="000000"/>
                </a:solidFill>
              </a:rPr>
              <a:t>dua</a:t>
            </a:r>
            <a:r>
              <a:rPr lang="en-ID" sz="2400" dirty="0">
                <a:solidFill>
                  <a:srgbClr val="000000"/>
                </a:solidFill>
              </a:rPr>
              <a:t> </a:t>
            </a:r>
            <a:r>
              <a:rPr lang="en-ID" sz="2400" dirty="0" err="1">
                <a:solidFill>
                  <a:srgbClr val="000000"/>
                </a:solidFill>
              </a:rPr>
              <a:t>derivasi</a:t>
            </a:r>
            <a:r>
              <a:rPr lang="en-ID" sz="2400" dirty="0">
                <a:solidFill>
                  <a:srgbClr val="000000"/>
                </a:solidFill>
              </a:rPr>
              <a:t> yang </a:t>
            </a:r>
            <a:r>
              <a:rPr lang="en-ID" sz="2400" dirty="0" err="1">
                <a:solidFill>
                  <a:srgbClr val="000000"/>
                </a:solidFill>
              </a:rPr>
              <a:t>berbeda</a:t>
            </a:r>
            <a:r>
              <a:rPr lang="en-ID" sz="2400" dirty="0">
                <a:solidFill>
                  <a:srgbClr val="000000"/>
                </a:solidFill>
              </a:rPr>
              <a:t> </a:t>
            </a:r>
            <a:r>
              <a:rPr lang="en-ID" sz="2400" dirty="0" err="1">
                <a:solidFill>
                  <a:srgbClr val="000000"/>
                </a:solidFill>
              </a:rPr>
              <a:t>seperti</a:t>
            </a:r>
            <a:r>
              <a:rPr lang="en-ID" sz="2400" dirty="0">
                <a:solidFill>
                  <a:srgbClr val="000000"/>
                </a:solidFill>
              </a:rPr>
              <a:t> yang </a:t>
            </a:r>
            <a:r>
              <a:rPr lang="en-ID" sz="2400" dirty="0" err="1">
                <a:solidFill>
                  <a:srgbClr val="000000"/>
                </a:solidFill>
              </a:rPr>
              <a:t>ditunjukkan</a:t>
            </a:r>
            <a:r>
              <a:rPr lang="en-ID" sz="2400" dirty="0">
                <a:solidFill>
                  <a:srgbClr val="000000"/>
                </a:solidFill>
              </a:rPr>
              <a:t> di </a:t>
            </a:r>
            <a:r>
              <a:rPr lang="en-ID" sz="2400" dirty="0" err="1">
                <a:solidFill>
                  <a:srgbClr val="000000"/>
                </a:solidFill>
              </a:rPr>
              <a:t>bawah</a:t>
            </a:r>
            <a:r>
              <a:rPr lang="en-ID" sz="2400" dirty="0">
                <a:solidFill>
                  <a:srgbClr val="000000"/>
                </a:solidFill>
              </a:rPr>
              <a:t> </a:t>
            </a:r>
            <a:r>
              <a:rPr lang="en-ID" sz="2400" dirty="0" err="1">
                <a:solidFill>
                  <a:srgbClr val="000000"/>
                </a:solidFill>
              </a:rPr>
              <a:t>ini</a:t>
            </a:r>
            <a:r>
              <a:rPr lang="en-ID" sz="2400" dirty="0">
                <a:solidFill>
                  <a:srgbClr val="000000"/>
                </a:solidFill>
              </a:rPr>
              <a:t>.</a:t>
            </a:r>
          </a:p>
          <a:p>
            <a:pPr marL="0" indent="0">
              <a:buNone/>
            </a:pPr>
            <a:r>
              <a:rPr lang="en-ID" sz="2400" dirty="0" err="1">
                <a:solidFill>
                  <a:srgbClr val="000000"/>
                </a:solidFill>
              </a:rPr>
              <a:t>Diberikan</a:t>
            </a:r>
            <a:r>
              <a:rPr lang="en-ID" sz="2400" dirty="0">
                <a:solidFill>
                  <a:srgbClr val="000000"/>
                </a:solidFill>
              </a:rPr>
              <a:t> tata </a:t>
            </a:r>
            <a:r>
              <a:rPr lang="en-ID" sz="2400" dirty="0" err="1">
                <a:solidFill>
                  <a:srgbClr val="000000"/>
                </a:solidFill>
              </a:rPr>
              <a:t>bahasa</a:t>
            </a:r>
            <a:r>
              <a:rPr lang="en-ID" sz="2400" dirty="0">
                <a:solidFill>
                  <a:srgbClr val="000000"/>
                </a:solidFill>
              </a:rPr>
              <a:t> 𝐺G </a:t>
            </a:r>
            <a:r>
              <a:rPr lang="en-ID" sz="2400" dirty="0" err="1">
                <a:solidFill>
                  <a:srgbClr val="000000"/>
                </a:solidFill>
              </a:rPr>
              <a:t>dengan</a:t>
            </a:r>
            <a:r>
              <a:rPr lang="en-ID" sz="2400" dirty="0">
                <a:solidFill>
                  <a:srgbClr val="000000"/>
                </a:solidFill>
              </a:rPr>
              <a:t> </a:t>
            </a:r>
            <a:r>
              <a:rPr lang="en-ID" sz="2400" dirty="0" err="1">
                <a:solidFill>
                  <a:srgbClr val="000000"/>
                </a:solidFill>
              </a:rPr>
              <a:t>produksi</a:t>
            </a:r>
            <a:r>
              <a:rPr lang="en-ID" sz="2400" dirty="0">
                <a:solidFill>
                  <a:srgbClr val="000000"/>
                </a:solidFill>
              </a:rPr>
              <a:t>:</a:t>
            </a:r>
          </a:p>
          <a:p>
            <a:pPr marL="457200" indent="-457200">
              <a:buFont typeface="+mj-lt"/>
              <a:buAutoNum type="arabicPeriod"/>
            </a:pPr>
            <a:r>
              <a:rPr lang="en-ID" sz="2400" dirty="0">
                <a:solidFill>
                  <a:srgbClr val="000000"/>
                </a:solidFill>
              </a:rPr>
              <a:t>𝑆→𝑎𝐵</a:t>
            </a:r>
          </a:p>
          <a:p>
            <a:pPr marL="457200" indent="-457200">
              <a:buFont typeface="+mj-lt"/>
              <a:buAutoNum type="arabicPeriod"/>
            </a:pPr>
            <a:r>
              <a:rPr lang="en-ID" sz="2400" dirty="0">
                <a:solidFill>
                  <a:srgbClr val="000000"/>
                </a:solidFill>
              </a:rPr>
              <a:t>𝑆→𝑎𝑏</a:t>
            </a:r>
          </a:p>
          <a:p>
            <a:pPr marL="457200" indent="-457200">
              <a:buFont typeface="+mj-lt"/>
              <a:buAutoNum type="arabicPeriod"/>
            </a:pPr>
            <a:r>
              <a:rPr lang="en-ID" sz="2400" dirty="0">
                <a:solidFill>
                  <a:srgbClr val="000000"/>
                </a:solidFill>
              </a:rPr>
              <a:t>𝐴→𝑎𝐴𝐵</a:t>
            </a:r>
          </a:p>
          <a:p>
            <a:pPr marL="457200" indent="-457200">
              <a:buFont typeface="+mj-lt"/>
              <a:buAutoNum type="arabicPeriod"/>
            </a:pPr>
            <a:r>
              <a:rPr lang="en-ID" sz="2400" dirty="0">
                <a:solidFill>
                  <a:srgbClr val="000000"/>
                </a:solidFill>
              </a:rPr>
              <a:t>𝐴→𝑎</a:t>
            </a:r>
          </a:p>
          <a:p>
            <a:pPr marL="457200" indent="-457200">
              <a:buFont typeface="+mj-lt"/>
              <a:buAutoNum type="arabicPeriod"/>
            </a:pPr>
            <a:r>
              <a:rPr lang="en-ID" sz="2400" dirty="0">
                <a:solidFill>
                  <a:srgbClr val="000000"/>
                </a:solidFill>
              </a:rPr>
              <a:t>𝐵→𝐴𝐵𝑏</a:t>
            </a:r>
          </a:p>
          <a:p>
            <a:pPr marL="457200" indent="-457200">
              <a:buFont typeface="+mj-lt"/>
              <a:buAutoNum type="arabicPeriod"/>
            </a:pPr>
            <a:r>
              <a:rPr lang="en-ID" sz="2400" dirty="0">
                <a:solidFill>
                  <a:srgbClr val="000000"/>
                </a:solidFill>
              </a:rPr>
              <a:t>𝐵→𝑏</a:t>
            </a:r>
          </a:p>
          <a:p>
            <a:pPr marL="0" indent="0">
              <a:buNone/>
            </a:pPr>
            <a:r>
              <a:rPr lang="en-ID" sz="2400" dirty="0" err="1">
                <a:solidFill>
                  <a:srgbClr val="000000"/>
                </a:solidFill>
              </a:rPr>
              <a:t>Menggunakan</a:t>
            </a:r>
            <a:r>
              <a:rPr lang="en-ID" sz="2400" dirty="0">
                <a:solidFill>
                  <a:srgbClr val="000000"/>
                </a:solidFill>
              </a:rPr>
              <a:t> </a:t>
            </a:r>
            <a:r>
              <a:rPr lang="en-ID" sz="2400" dirty="0" err="1">
                <a:solidFill>
                  <a:srgbClr val="000000"/>
                </a:solidFill>
              </a:rPr>
              <a:t>aturan</a:t>
            </a:r>
            <a:r>
              <a:rPr lang="en-ID" sz="2400" dirty="0">
                <a:solidFill>
                  <a:srgbClr val="000000"/>
                </a:solidFill>
              </a:rPr>
              <a:t> (2): 𝑆⇒𝑎𝑏</a:t>
            </a:r>
          </a:p>
          <a:p>
            <a:pPr marL="0" indent="0">
              <a:buNone/>
            </a:pPr>
            <a:r>
              <a:rPr lang="en-ID" sz="2400" dirty="0" err="1">
                <a:solidFill>
                  <a:srgbClr val="000000"/>
                </a:solidFill>
              </a:rPr>
              <a:t>Menggunakan</a:t>
            </a:r>
            <a:r>
              <a:rPr lang="en-ID" sz="2400" dirty="0">
                <a:solidFill>
                  <a:srgbClr val="000000"/>
                </a:solidFill>
              </a:rPr>
              <a:t> </a:t>
            </a:r>
            <a:r>
              <a:rPr lang="en-ID" sz="2400" dirty="0" err="1">
                <a:solidFill>
                  <a:srgbClr val="000000"/>
                </a:solidFill>
              </a:rPr>
              <a:t>aturan</a:t>
            </a:r>
            <a:r>
              <a:rPr lang="en-ID" sz="2400" dirty="0">
                <a:solidFill>
                  <a:srgbClr val="000000"/>
                </a:solidFill>
              </a:rPr>
              <a:t> (1), </a:t>
            </a:r>
            <a:r>
              <a:rPr lang="en-ID" sz="2400" dirty="0" err="1">
                <a:solidFill>
                  <a:srgbClr val="000000"/>
                </a:solidFill>
              </a:rPr>
              <a:t>lalu</a:t>
            </a:r>
            <a:r>
              <a:rPr lang="en-ID" sz="2400" dirty="0">
                <a:solidFill>
                  <a:srgbClr val="000000"/>
                </a:solidFill>
              </a:rPr>
              <a:t> (6): 𝑆⇒𝑎𝐵⇒𝑎𝑏</a:t>
            </a:r>
          </a:p>
          <a:p>
            <a:pPr marL="0" indent="0">
              <a:buNone/>
            </a:pPr>
            <a:endParaRPr lang="en-ID" sz="2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956338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0773-5DDA-428B-8169-F615ACA708CB}"/>
              </a:ext>
            </a:extLst>
          </p:cNvPr>
          <p:cNvSpPr>
            <a:spLocks noGrp="1"/>
          </p:cNvSpPr>
          <p:nvPr>
            <p:ph type="title"/>
          </p:nvPr>
        </p:nvSpPr>
        <p:spPr/>
        <p:txBody>
          <a:bodyPr>
            <a:normAutofit fontScale="90000"/>
          </a:bodyPr>
          <a:lstStyle/>
          <a:p>
            <a:r>
              <a:rPr lang="en-US" sz="2800" b="1" dirty="0"/>
              <a:t>Contoh 2.3.2</a:t>
            </a:r>
            <a:endParaRPr lang="en-ID" sz="2800" b="1" dirty="0"/>
          </a:p>
        </p:txBody>
      </p:sp>
      <p:sp>
        <p:nvSpPr>
          <p:cNvPr id="3" name="Content Placeholder 2">
            <a:extLst>
              <a:ext uri="{FF2B5EF4-FFF2-40B4-BE49-F238E27FC236}">
                <a16:creationId xmlns:a16="http://schemas.microsoft.com/office/drawing/2014/main" id="{6B1677BA-85AA-420F-9A76-0A7FF85A3E86}"/>
              </a:ext>
            </a:extLst>
          </p:cNvPr>
          <p:cNvSpPr>
            <a:spLocks noGrp="1"/>
          </p:cNvSpPr>
          <p:nvPr>
            <p:ph sz="half" idx="2"/>
          </p:nvPr>
        </p:nvSpPr>
        <p:spPr/>
        <p:txBody>
          <a:bodyPr>
            <a:normAutofit/>
          </a:bodyPr>
          <a:lstStyle/>
          <a:p>
            <a:r>
              <a:rPr lang="en-ID" sz="3200" dirty="0" err="1">
                <a:solidFill>
                  <a:srgbClr val="000000"/>
                </a:solidFill>
                <a:latin typeface="Montserrat" panose="02000505000000020004"/>
                <a:cs typeface="Courier New" panose="02070309020205020404" pitchFamily="49" charset="0"/>
              </a:rPr>
              <a:t>Tunjukkan</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bahwa</a:t>
            </a:r>
            <a:r>
              <a:rPr lang="en-ID" sz="3200" dirty="0">
                <a:solidFill>
                  <a:srgbClr val="000000"/>
                </a:solidFill>
                <a:latin typeface="Montserrat" panose="02000505000000020004"/>
                <a:cs typeface="Courier New" panose="02070309020205020404" pitchFamily="49" charset="0"/>
              </a:rPr>
              <a:t> tata </a:t>
            </a:r>
            <a:r>
              <a:rPr lang="en-ID" sz="3200" dirty="0" err="1">
                <a:solidFill>
                  <a:srgbClr val="000000"/>
                </a:solidFill>
                <a:latin typeface="Montserrat" panose="02000505000000020004"/>
                <a:cs typeface="Courier New" panose="02070309020205020404" pitchFamily="49" charset="0"/>
              </a:rPr>
              <a:t>bahasa</a:t>
            </a:r>
            <a:r>
              <a:rPr lang="en-ID" sz="3200" dirty="0">
                <a:solidFill>
                  <a:srgbClr val="000000"/>
                </a:solidFill>
                <a:latin typeface="Montserrat" panose="02000505000000020004"/>
                <a:cs typeface="Courier New" panose="02070309020205020404" pitchFamily="49" charset="0"/>
              </a:rPr>
              <a:t> </a:t>
            </a:r>
            <a:br>
              <a:rPr lang="en-ID" sz="3200" dirty="0">
                <a:solidFill>
                  <a:srgbClr val="000000"/>
                </a:solidFill>
                <a:latin typeface="Montserrat" panose="02000505000000020004"/>
                <a:cs typeface="Courier New" panose="02070309020205020404" pitchFamily="49" charset="0"/>
              </a:rPr>
            </a:br>
            <a:r>
              <a:rPr lang="en-ID" sz="3200" dirty="0">
                <a:solidFill>
                  <a:srgbClr val="000000"/>
                </a:solidFill>
                <a:latin typeface="Courier New" panose="02070309020205020404" pitchFamily="49" charset="0"/>
                <a:cs typeface="Courier New" panose="02070309020205020404" pitchFamily="49" charset="0"/>
              </a:rPr>
              <a:t>𝑆 → 𝑆,𝑆 ∣ 𝑎 </a:t>
            </a:r>
            <a:r>
              <a:rPr lang="en-ID" sz="3200" dirty="0" err="1">
                <a:solidFill>
                  <a:srgbClr val="000000"/>
                </a:solidFill>
                <a:latin typeface="Montserrat" panose="02000505000000020004"/>
                <a:cs typeface="Courier New" panose="02070309020205020404" pitchFamily="49" charset="0"/>
              </a:rPr>
              <a:t>adalah</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ambigu</a:t>
            </a:r>
            <a:r>
              <a:rPr lang="en-ID" sz="3200" dirty="0">
                <a:solidFill>
                  <a:srgbClr val="000000"/>
                </a:solidFill>
                <a:latin typeface="Montserrat" panose="02000505000000020004"/>
                <a:cs typeface="Courier New" panose="02070309020205020404" pitchFamily="49" charset="0"/>
              </a:rPr>
              <a:t>.</a:t>
            </a:r>
          </a:p>
          <a:p>
            <a:pPr marL="0" indent="0">
              <a:buNone/>
            </a:pPr>
            <a:r>
              <a:rPr lang="en-ID" sz="3200" dirty="0">
                <a:solidFill>
                  <a:srgbClr val="000000"/>
                </a:solidFill>
                <a:latin typeface="Montserrat" panose="02000505000000020004"/>
                <a:cs typeface="Courier New" panose="02070309020205020404" pitchFamily="49" charset="0"/>
              </a:rPr>
              <a:t>Jawab :</a:t>
            </a:r>
          </a:p>
          <a:p>
            <a:pPr marL="0" indent="0">
              <a:buNone/>
            </a:pPr>
            <a:r>
              <a:rPr lang="en-ID" sz="3200" dirty="0" err="1">
                <a:solidFill>
                  <a:srgbClr val="00325A"/>
                </a:solidFill>
                <a:latin typeface="Montserrat" panose="02000505000000020004"/>
                <a:cs typeface="Courier New" panose="02070309020205020404" pitchFamily="49" charset="0"/>
              </a:rPr>
              <a:t>Untuk</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menunjukkan</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bahwa</a:t>
            </a:r>
            <a:r>
              <a:rPr lang="en-ID" sz="3200" dirty="0">
                <a:solidFill>
                  <a:srgbClr val="00325A"/>
                </a:solidFill>
                <a:latin typeface="Montserrat" panose="02000505000000020004"/>
                <a:cs typeface="Courier New" panose="02070309020205020404" pitchFamily="49" charset="0"/>
              </a:rPr>
              <a:t> 𝐺 </a:t>
            </a:r>
            <a:r>
              <a:rPr lang="en-ID" sz="3200" dirty="0" err="1">
                <a:solidFill>
                  <a:srgbClr val="00325A"/>
                </a:solidFill>
                <a:latin typeface="Montserrat" panose="02000505000000020004"/>
                <a:cs typeface="Courier New" panose="02070309020205020404" pitchFamily="49" charset="0"/>
              </a:rPr>
              <a:t>adalah</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ambigu</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kita</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perlu</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menemukan</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sebuah</a:t>
            </a:r>
            <a:r>
              <a:rPr lang="en-ID" sz="3200" dirty="0">
                <a:solidFill>
                  <a:srgbClr val="00325A"/>
                </a:solidFill>
                <a:latin typeface="Montserrat" panose="02000505000000020004"/>
                <a:cs typeface="Courier New" panose="02070309020205020404" pitchFamily="49" charset="0"/>
              </a:rPr>
              <a:t> 𝑤∈𝐿(𝐺) yang </a:t>
            </a:r>
            <a:r>
              <a:rPr lang="en-ID" sz="3200" dirty="0" err="1">
                <a:solidFill>
                  <a:srgbClr val="00325A"/>
                </a:solidFill>
                <a:latin typeface="Montserrat" panose="02000505000000020004"/>
                <a:cs typeface="Courier New" panose="02070309020205020404" pitchFamily="49" charset="0"/>
              </a:rPr>
              <a:t>bersifat</a:t>
            </a:r>
            <a:r>
              <a:rPr lang="en-ID" sz="3200" dirty="0">
                <a:solidFill>
                  <a:srgbClr val="00325A"/>
                </a:solidFill>
                <a:latin typeface="Montserrat" panose="02000505000000020004"/>
                <a:cs typeface="Courier New" panose="02070309020205020404" pitchFamily="49" charset="0"/>
              </a:rPr>
              <a:t> </a:t>
            </a:r>
            <a:r>
              <a:rPr lang="en-ID" sz="3200" dirty="0" err="1">
                <a:solidFill>
                  <a:srgbClr val="00325A"/>
                </a:solidFill>
                <a:latin typeface="Montserrat" panose="02000505000000020004"/>
                <a:cs typeface="Courier New" panose="02070309020205020404" pitchFamily="49" charset="0"/>
              </a:rPr>
              <a:t>ambigu</a:t>
            </a:r>
            <a:r>
              <a:rPr lang="en-ID" sz="3200" dirty="0">
                <a:solidFill>
                  <a:srgbClr val="00325A"/>
                </a:solidFill>
                <a:latin typeface="Montserrat" panose="02000505000000020004"/>
                <a:cs typeface="Courier New" panose="02070309020205020404" pitchFamily="49" charset="0"/>
              </a:rPr>
              <a:t>.</a:t>
            </a:r>
          </a:p>
        </p:txBody>
      </p:sp>
    </p:spTree>
    <p:extLst>
      <p:ext uri="{BB962C8B-B14F-4D97-AF65-F5344CB8AC3E}">
        <p14:creationId xmlns:p14="http://schemas.microsoft.com/office/powerpoint/2010/main" val="22942884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0773-5DDA-428B-8169-F615ACA708CB}"/>
              </a:ext>
            </a:extLst>
          </p:cNvPr>
          <p:cNvSpPr>
            <a:spLocks noGrp="1"/>
          </p:cNvSpPr>
          <p:nvPr>
            <p:ph type="title"/>
          </p:nvPr>
        </p:nvSpPr>
        <p:spPr/>
        <p:txBody>
          <a:bodyPr>
            <a:normAutofit fontScale="90000"/>
          </a:bodyPr>
          <a:lstStyle/>
          <a:p>
            <a:r>
              <a:rPr lang="en-US" sz="2800" b="1" dirty="0"/>
              <a:t>Contoh 2.3.2</a:t>
            </a:r>
            <a:endParaRPr lang="en-ID" sz="2800" b="1" dirty="0"/>
          </a:p>
        </p:txBody>
      </p:sp>
      <p:sp>
        <p:nvSpPr>
          <p:cNvPr id="3" name="Content Placeholder 2">
            <a:extLst>
              <a:ext uri="{FF2B5EF4-FFF2-40B4-BE49-F238E27FC236}">
                <a16:creationId xmlns:a16="http://schemas.microsoft.com/office/drawing/2014/main" id="{6B1677BA-85AA-420F-9A76-0A7FF85A3E86}"/>
              </a:ext>
            </a:extLst>
          </p:cNvPr>
          <p:cNvSpPr>
            <a:spLocks noGrp="1"/>
          </p:cNvSpPr>
          <p:nvPr>
            <p:ph sz="half" idx="2"/>
          </p:nvPr>
        </p:nvSpPr>
        <p:spPr>
          <a:xfrm>
            <a:off x="308309" y="1068538"/>
            <a:ext cx="8285499" cy="5466249"/>
          </a:xfrm>
        </p:spPr>
        <p:txBody>
          <a:bodyPr>
            <a:normAutofit/>
          </a:bodyPr>
          <a:lstStyle/>
          <a:p>
            <a:pPr marL="0" indent="0">
              <a:buNone/>
            </a:pPr>
            <a:r>
              <a:rPr lang="en-US" sz="3200" dirty="0" err="1">
                <a:solidFill>
                  <a:srgbClr val="00325A"/>
                </a:solidFill>
                <a:latin typeface="Montserrat" panose="02000505000000020004"/>
                <a:cs typeface="Courier New" panose="02070309020205020404" pitchFamily="49" charset="0"/>
              </a:rPr>
              <a:t>Asumsikan</a:t>
            </a:r>
            <a:r>
              <a:rPr lang="en-US" sz="3200" dirty="0">
                <a:solidFill>
                  <a:srgbClr val="00325A"/>
                </a:solidFill>
                <a:latin typeface="Montserrat" panose="02000505000000020004"/>
                <a:cs typeface="Courier New" panose="02070309020205020404" pitchFamily="49" charset="0"/>
              </a:rPr>
              <a:t> 	</a:t>
            </a:r>
            <a:r>
              <a:rPr lang="en-US" sz="3200" dirty="0">
                <a:solidFill>
                  <a:srgbClr val="00325A"/>
                </a:solidFill>
                <a:latin typeface="Courier New" panose="02070309020205020404" pitchFamily="49" charset="0"/>
                <a:cs typeface="Courier New" panose="02070309020205020404" pitchFamily="49" charset="0"/>
              </a:rPr>
              <a:t>w = </a:t>
            </a:r>
            <a:r>
              <a:rPr lang="en-US" sz="3200" dirty="0" err="1">
                <a:solidFill>
                  <a:srgbClr val="00325A"/>
                </a:solidFill>
                <a:latin typeface="Courier New" panose="02070309020205020404" pitchFamily="49" charset="0"/>
                <a:cs typeface="Courier New" panose="02070309020205020404" pitchFamily="49" charset="0"/>
              </a:rPr>
              <a:t>abababa</a:t>
            </a:r>
            <a:br>
              <a:rPr lang="en-US" sz="3200" dirty="0">
                <a:solidFill>
                  <a:srgbClr val="00325A"/>
                </a:solidFill>
                <a:latin typeface="Courier New" panose="02070309020205020404" pitchFamily="49" charset="0"/>
                <a:cs typeface="Courier New" panose="02070309020205020404" pitchFamily="49" charset="0"/>
              </a:rPr>
            </a:br>
            <a:r>
              <a:rPr lang="en-US" sz="3200" dirty="0">
                <a:solidFill>
                  <a:srgbClr val="00325A"/>
                </a:solidFill>
                <a:latin typeface="Montserrat" panose="02000505000000020004"/>
                <a:cs typeface="Courier New" panose="02070309020205020404" pitchFamily="49" charset="0"/>
              </a:rPr>
              <a:t>Dua </a:t>
            </a:r>
            <a:r>
              <a:rPr lang="en-US" sz="3200" dirty="0" err="1">
                <a:solidFill>
                  <a:srgbClr val="00325A"/>
                </a:solidFill>
                <a:latin typeface="Montserrat" panose="02000505000000020004"/>
                <a:cs typeface="Courier New" panose="02070309020205020404" pitchFamily="49" charset="0"/>
              </a:rPr>
              <a:t>pohon</a:t>
            </a:r>
            <a:r>
              <a:rPr lang="en-US" sz="3200" dirty="0">
                <a:solidFill>
                  <a:srgbClr val="00325A"/>
                </a:solidFill>
                <a:latin typeface="Montserrat" panose="02000505000000020004"/>
                <a:cs typeface="Courier New" panose="02070309020205020404" pitchFamily="49" charset="0"/>
              </a:rPr>
              <a:t> </a:t>
            </a:r>
            <a:r>
              <a:rPr lang="en-US" sz="3200" dirty="0" err="1">
                <a:solidFill>
                  <a:srgbClr val="00325A"/>
                </a:solidFill>
                <a:latin typeface="Montserrat" panose="02000505000000020004"/>
                <a:cs typeface="Courier New" panose="02070309020205020404" pitchFamily="49" charset="0"/>
              </a:rPr>
              <a:t>turunan</a:t>
            </a:r>
            <a:r>
              <a:rPr lang="en-US" sz="3200" dirty="0">
                <a:solidFill>
                  <a:srgbClr val="00325A"/>
                </a:solidFill>
                <a:latin typeface="Montserrat" panose="02000505000000020004"/>
                <a:cs typeface="Courier New" panose="02070309020205020404" pitchFamily="49" charset="0"/>
              </a:rPr>
              <a:t> untuk w = </a:t>
            </a:r>
            <a:r>
              <a:rPr lang="en-US" sz="3200" dirty="0" err="1">
                <a:solidFill>
                  <a:srgbClr val="00325A"/>
                </a:solidFill>
                <a:latin typeface="Montserrat" panose="02000505000000020004"/>
                <a:cs typeface="Courier New" panose="02070309020205020404" pitchFamily="49" charset="0"/>
              </a:rPr>
              <a:t>abababa</a:t>
            </a:r>
            <a:r>
              <a:rPr lang="en-US" sz="3200" dirty="0">
                <a:solidFill>
                  <a:srgbClr val="00325A"/>
                </a:solidFill>
                <a:latin typeface="Montserrat" panose="02000505000000020004"/>
                <a:cs typeface="Courier New" panose="02070309020205020404" pitchFamily="49" charset="0"/>
              </a:rPr>
              <a:t> </a:t>
            </a:r>
            <a:r>
              <a:rPr lang="en-US" sz="3200" dirty="0" err="1">
                <a:solidFill>
                  <a:srgbClr val="00325A"/>
                </a:solidFill>
                <a:latin typeface="Montserrat" panose="02000505000000020004"/>
                <a:cs typeface="Courier New" panose="02070309020205020404" pitchFamily="49" charset="0"/>
              </a:rPr>
              <a:t>ditunjukkan</a:t>
            </a:r>
            <a:r>
              <a:rPr lang="en-US" sz="3200" dirty="0">
                <a:solidFill>
                  <a:srgbClr val="00325A"/>
                </a:solidFill>
                <a:latin typeface="Montserrat" panose="02000505000000020004"/>
                <a:cs typeface="Courier New" panose="02070309020205020404" pitchFamily="49" charset="0"/>
              </a:rPr>
              <a:t> di bawah ini pada Gambar (a) dan (b).</a:t>
            </a:r>
          </a:p>
          <a:p>
            <a:pPr marL="0" indent="0">
              <a:buNone/>
            </a:pPr>
            <a:endParaRPr lang="en-US" sz="3200" dirty="0">
              <a:solidFill>
                <a:srgbClr val="00325A"/>
              </a:solidFill>
              <a:latin typeface="Montserrat" panose="02000505000000020004"/>
              <a:cs typeface="Courier New" panose="02070309020205020404" pitchFamily="49" charset="0"/>
            </a:endParaRPr>
          </a:p>
          <a:p>
            <a:pPr marL="0" indent="0">
              <a:buNone/>
            </a:pPr>
            <a:endParaRPr lang="en-US" sz="3200" dirty="0">
              <a:solidFill>
                <a:srgbClr val="00325A"/>
              </a:solidFill>
              <a:latin typeface="Montserrat" panose="02000505000000020004"/>
              <a:cs typeface="Courier New" panose="02070309020205020404" pitchFamily="49" charset="0"/>
            </a:endParaRPr>
          </a:p>
          <a:p>
            <a:pPr marL="0" indent="0">
              <a:buNone/>
            </a:pPr>
            <a:endParaRPr lang="en-US" sz="3200" dirty="0">
              <a:solidFill>
                <a:srgbClr val="00325A"/>
              </a:solidFill>
              <a:latin typeface="Montserrat" panose="02000505000000020004"/>
              <a:cs typeface="Courier New" panose="02070309020205020404" pitchFamily="49" charset="0"/>
            </a:endParaRPr>
          </a:p>
          <a:p>
            <a:pPr marL="0" indent="0">
              <a:buNone/>
            </a:pPr>
            <a:endParaRPr lang="en-US" sz="3200" dirty="0">
              <a:solidFill>
                <a:srgbClr val="00325A"/>
              </a:solidFill>
              <a:latin typeface="Montserrat" panose="02000505000000020004"/>
              <a:cs typeface="Courier New" panose="02070309020205020404" pitchFamily="49" charset="0"/>
            </a:endParaRPr>
          </a:p>
          <a:p>
            <a:pPr marL="0" indent="0">
              <a:buNone/>
            </a:pPr>
            <a:r>
              <a:rPr lang="en-US" sz="3200" dirty="0">
                <a:solidFill>
                  <a:srgbClr val="00325A"/>
                </a:solidFill>
                <a:latin typeface="Montserrat" panose="02000505000000020004"/>
                <a:cs typeface="Courier New" panose="02070309020205020404" pitchFamily="49" charset="0"/>
              </a:rPr>
              <a:t>Jadi, </a:t>
            </a:r>
            <a:r>
              <a:rPr lang="it-IT" sz="3200" dirty="0">
                <a:solidFill>
                  <a:srgbClr val="00325A"/>
                </a:solidFill>
                <a:latin typeface="Montserrat" panose="02000505000000020004"/>
                <a:cs typeface="Courier New" panose="02070309020205020404" pitchFamily="49" charset="0"/>
              </a:rPr>
              <a:t>tata bahasa G bersifat ambigu.</a:t>
            </a:r>
            <a:br>
              <a:rPr lang="en-US" sz="3200" dirty="0">
                <a:solidFill>
                  <a:srgbClr val="00325A"/>
                </a:solidFill>
                <a:latin typeface="Courier New" panose="02070309020205020404" pitchFamily="49" charset="0"/>
                <a:cs typeface="Courier New" panose="02070309020205020404" pitchFamily="49" charset="0"/>
              </a:rPr>
            </a:br>
            <a:endParaRPr lang="en-ID" sz="3200" dirty="0">
              <a:solidFill>
                <a:srgbClr val="00325A"/>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5FA8FB88-2F6C-4D4B-B85E-12E8A15C3991}"/>
              </a:ext>
            </a:extLst>
          </p:cNvPr>
          <p:cNvPicPr>
            <a:picLocks noChangeAspect="1"/>
          </p:cNvPicPr>
          <p:nvPr/>
        </p:nvPicPr>
        <p:blipFill>
          <a:blip r:embed="rId2"/>
          <a:stretch>
            <a:fillRect/>
          </a:stretch>
        </p:blipFill>
        <p:spPr>
          <a:xfrm>
            <a:off x="1922715" y="2886481"/>
            <a:ext cx="5022421" cy="2244319"/>
          </a:xfrm>
          <a:prstGeom prst="rect">
            <a:avLst/>
          </a:prstGeom>
        </p:spPr>
      </p:pic>
    </p:spTree>
    <p:extLst>
      <p:ext uri="{BB962C8B-B14F-4D97-AF65-F5344CB8AC3E}">
        <p14:creationId xmlns:p14="http://schemas.microsoft.com/office/powerpoint/2010/main" val="3882174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0773-5DDA-428B-8169-F615ACA708CB}"/>
              </a:ext>
            </a:extLst>
          </p:cNvPr>
          <p:cNvSpPr>
            <a:spLocks noGrp="1"/>
          </p:cNvSpPr>
          <p:nvPr>
            <p:ph type="title"/>
          </p:nvPr>
        </p:nvSpPr>
        <p:spPr/>
        <p:txBody>
          <a:bodyPr>
            <a:normAutofit fontScale="90000"/>
          </a:bodyPr>
          <a:lstStyle/>
          <a:p>
            <a:r>
              <a:rPr lang="en-US" sz="2800" b="1" dirty="0"/>
              <a:t>Contoh 2.3.3</a:t>
            </a:r>
            <a:endParaRPr lang="en-ID" sz="2800" b="1" dirty="0"/>
          </a:p>
        </p:txBody>
      </p:sp>
      <p:sp>
        <p:nvSpPr>
          <p:cNvPr id="3" name="Content Placeholder 2">
            <a:extLst>
              <a:ext uri="{FF2B5EF4-FFF2-40B4-BE49-F238E27FC236}">
                <a16:creationId xmlns:a16="http://schemas.microsoft.com/office/drawing/2014/main" id="{6B1677BA-85AA-420F-9A76-0A7FF85A3E86}"/>
              </a:ext>
            </a:extLst>
          </p:cNvPr>
          <p:cNvSpPr>
            <a:spLocks noGrp="1"/>
          </p:cNvSpPr>
          <p:nvPr>
            <p:ph sz="half" idx="2"/>
          </p:nvPr>
        </p:nvSpPr>
        <p:spPr>
          <a:xfrm>
            <a:off x="308309" y="1068538"/>
            <a:ext cx="8285499" cy="5281461"/>
          </a:xfrm>
        </p:spPr>
        <p:txBody>
          <a:bodyPr>
            <a:normAutofit/>
          </a:bodyPr>
          <a:lstStyle/>
          <a:p>
            <a:r>
              <a:rPr lang="en-ID" sz="3200" dirty="0" err="1">
                <a:solidFill>
                  <a:srgbClr val="000000"/>
                </a:solidFill>
                <a:latin typeface="Montserrat" panose="02000505000000020004"/>
                <a:cs typeface="Courier New" panose="02070309020205020404" pitchFamily="49" charset="0"/>
              </a:rPr>
              <a:t>Tunjukkan</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bahwa</a:t>
            </a:r>
            <a:r>
              <a:rPr lang="en-ID" sz="3200" dirty="0">
                <a:solidFill>
                  <a:srgbClr val="000000"/>
                </a:solidFill>
                <a:latin typeface="Montserrat" panose="02000505000000020004"/>
                <a:cs typeface="Courier New" panose="02070309020205020404" pitchFamily="49" charset="0"/>
              </a:rPr>
              <a:t> tata </a:t>
            </a:r>
            <a:r>
              <a:rPr lang="en-ID" sz="3200" dirty="0" err="1">
                <a:solidFill>
                  <a:srgbClr val="000000"/>
                </a:solidFill>
                <a:latin typeface="Montserrat" panose="02000505000000020004"/>
                <a:cs typeface="Courier New" panose="02070309020205020404" pitchFamily="49" charset="0"/>
              </a:rPr>
              <a:t>bahasa</a:t>
            </a:r>
            <a:r>
              <a:rPr lang="en-ID" sz="3200" dirty="0">
                <a:solidFill>
                  <a:srgbClr val="000000"/>
                </a:solidFill>
                <a:latin typeface="Montserrat" panose="02000505000000020004"/>
                <a:cs typeface="Courier New" panose="02070309020205020404" pitchFamily="49" charset="0"/>
              </a:rPr>
              <a:t> 𝐺G </a:t>
            </a:r>
            <a:r>
              <a:rPr lang="en-ID" sz="3200" dirty="0" err="1">
                <a:solidFill>
                  <a:srgbClr val="000000"/>
                </a:solidFill>
                <a:latin typeface="Montserrat" panose="02000505000000020004"/>
                <a:cs typeface="Courier New" panose="02070309020205020404" pitchFamily="49" charset="0"/>
              </a:rPr>
              <a:t>dengan</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produksi</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berikut</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ini</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adalah</a:t>
            </a:r>
            <a:r>
              <a:rPr lang="en-ID" sz="3200" dirty="0">
                <a:solidFill>
                  <a:srgbClr val="000000"/>
                </a:solidFill>
                <a:latin typeface="Montserrat" panose="02000505000000020004"/>
                <a:cs typeface="Courier New" panose="02070309020205020404" pitchFamily="49" charset="0"/>
              </a:rPr>
              <a:t> </a:t>
            </a:r>
            <a:r>
              <a:rPr lang="en-ID" sz="3200" dirty="0" err="1">
                <a:solidFill>
                  <a:srgbClr val="000000"/>
                </a:solidFill>
                <a:latin typeface="Montserrat" panose="02000505000000020004"/>
                <a:cs typeface="Courier New" panose="02070309020205020404" pitchFamily="49" charset="0"/>
              </a:rPr>
              <a:t>ambigu</a:t>
            </a:r>
            <a:r>
              <a:rPr lang="en-ID" sz="3200" dirty="0">
                <a:solidFill>
                  <a:srgbClr val="000000"/>
                </a:solidFill>
                <a:latin typeface="Montserrat" panose="02000505000000020004"/>
                <a:cs typeface="Courier New" panose="02070309020205020404" pitchFamily="49" charset="0"/>
              </a:rPr>
              <a:t>:</a:t>
            </a:r>
            <a:br>
              <a:rPr lang="en-ID" sz="3200" dirty="0">
                <a:solidFill>
                  <a:srgbClr val="000000"/>
                </a:solidFill>
                <a:latin typeface="Montserrat" panose="02000505000000020004"/>
                <a:cs typeface="Courier New" panose="02070309020205020404" pitchFamily="49" charset="0"/>
              </a:rPr>
            </a:br>
            <a:r>
              <a:rPr lang="en-ID" sz="3200" dirty="0">
                <a:solidFill>
                  <a:srgbClr val="000000"/>
                </a:solidFill>
                <a:latin typeface="Montserrat" panose="02000505000000020004"/>
                <a:cs typeface="Courier New" panose="02070309020205020404" pitchFamily="49" charset="0"/>
              </a:rPr>
              <a:t>𝑆→𝑎 ∣ 𝑎𝐴𝑏 ∣ 𝑎𝑏𝑆𝑏</a:t>
            </a:r>
            <a:br>
              <a:rPr lang="en-ID" sz="3200" dirty="0">
                <a:solidFill>
                  <a:srgbClr val="000000"/>
                </a:solidFill>
                <a:latin typeface="Montserrat" panose="02000505000000020004"/>
                <a:cs typeface="Courier New" panose="02070309020205020404" pitchFamily="49" charset="0"/>
              </a:rPr>
            </a:br>
            <a:r>
              <a:rPr lang="en-ID" sz="3200" dirty="0">
                <a:solidFill>
                  <a:srgbClr val="000000"/>
                </a:solidFill>
                <a:latin typeface="Montserrat" panose="02000505000000020004"/>
                <a:cs typeface="Courier New" panose="02070309020205020404" pitchFamily="49" charset="0"/>
              </a:rPr>
              <a:t>𝐴→𝑎𝐴𝐴𝑏 ∣ 𝑏𝑆</a:t>
            </a:r>
          </a:p>
          <a:p>
            <a:pPr marL="0" indent="0">
              <a:buNone/>
            </a:pPr>
            <a:endParaRPr lang="en-ID" sz="3200" dirty="0">
              <a:solidFill>
                <a:srgbClr val="00325A"/>
              </a:solidFill>
              <a:latin typeface="Montserrat" panose="02000505000000020004"/>
              <a:cs typeface="Courier New" panose="02070309020205020404" pitchFamily="49" charset="0"/>
            </a:endParaRPr>
          </a:p>
        </p:txBody>
      </p:sp>
    </p:spTree>
    <p:extLst>
      <p:ext uri="{BB962C8B-B14F-4D97-AF65-F5344CB8AC3E}">
        <p14:creationId xmlns:p14="http://schemas.microsoft.com/office/powerpoint/2010/main" val="40669491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0773-5DDA-428B-8169-F615ACA708CB}"/>
              </a:ext>
            </a:extLst>
          </p:cNvPr>
          <p:cNvSpPr>
            <a:spLocks noGrp="1"/>
          </p:cNvSpPr>
          <p:nvPr>
            <p:ph type="title"/>
          </p:nvPr>
        </p:nvSpPr>
        <p:spPr/>
        <p:txBody>
          <a:bodyPr>
            <a:normAutofit fontScale="90000"/>
          </a:bodyPr>
          <a:lstStyle/>
          <a:p>
            <a:r>
              <a:rPr lang="en-US" sz="2800" b="1" dirty="0"/>
              <a:t>Contoh 2.3.3</a:t>
            </a:r>
            <a:endParaRPr lang="en-ID" sz="2800" b="1" dirty="0"/>
          </a:p>
        </p:txBody>
      </p:sp>
      <p:sp>
        <p:nvSpPr>
          <p:cNvPr id="3" name="Content Placeholder 2">
            <a:extLst>
              <a:ext uri="{FF2B5EF4-FFF2-40B4-BE49-F238E27FC236}">
                <a16:creationId xmlns:a16="http://schemas.microsoft.com/office/drawing/2014/main" id="{6B1677BA-85AA-420F-9A76-0A7FF85A3E86}"/>
              </a:ext>
            </a:extLst>
          </p:cNvPr>
          <p:cNvSpPr>
            <a:spLocks noGrp="1"/>
          </p:cNvSpPr>
          <p:nvPr>
            <p:ph sz="half" idx="2"/>
          </p:nvPr>
        </p:nvSpPr>
        <p:spPr>
          <a:xfrm>
            <a:off x="308309" y="1068538"/>
            <a:ext cx="8285499" cy="5281461"/>
          </a:xfrm>
        </p:spPr>
        <p:txBody>
          <a:bodyPr>
            <a:normAutofit/>
          </a:bodyPr>
          <a:lstStyle/>
          <a:p>
            <a:pPr marL="0" indent="0">
              <a:buNone/>
            </a:pPr>
            <a:r>
              <a:rPr lang="en-US" sz="3200" dirty="0">
                <a:solidFill>
                  <a:srgbClr val="000000"/>
                </a:solidFill>
                <a:latin typeface="Montserrat" panose="02000505000000020004"/>
                <a:cs typeface="Courier New" panose="02070309020205020404" pitchFamily="49" charset="0"/>
              </a:rPr>
              <a:t>Jawab:</a:t>
            </a:r>
          </a:p>
          <a:p>
            <a:pPr marL="0" indent="0">
              <a:buNone/>
            </a:pPr>
            <a:r>
              <a:rPr lang="en-ID" sz="3200" dirty="0">
                <a:solidFill>
                  <a:srgbClr val="000000"/>
                </a:solidFill>
                <a:latin typeface="Courier New" panose="02070309020205020404" pitchFamily="49" charset="0"/>
                <a:cs typeface="Courier New" panose="02070309020205020404" pitchFamily="49" charset="0"/>
              </a:rPr>
              <a:t>S	⇒ </a:t>
            </a:r>
            <a:r>
              <a:rPr lang="en-ID" sz="3200" dirty="0" err="1">
                <a:solidFill>
                  <a:srgbClr val="000000"/>
                </a:solidFill>
                <a:latin typeface="Courier New" panose="02070309020205020404" pitchFamily="49" charset="0"/>
                <a:cs typeface="Courier New" panose="02070309020205020404" pitchFamily="49" charset="0"/>
              </a:rPr>
              <a:t>abSb</a:t>
            </a:r>
            <a:r>
              <a:rPr lang="en-ID" sz="3200" dirty="0">
                <a:solidFill>
                  <a:srgbClr val="000000"/>
                </a:solidFill>
                <a:latin typeface="Courier New" panose="02070309020205020404" pitchFamily="49" charset="0"/>
                <a:cs typeface="Courier New" panose="02070309020205020404" pitchFamily="49" charset="0"/>
              </a:rPr>
              <a:t>	(⸪S </a:t>
            </a: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ID" sz="32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abSb</a:t>
            </a: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endParaRPr lang="en-ID" sz="3200" dirty="0">
              <a:solidFill>
                <a:srgbClr val="000000"/>
              </a:solidFill>
              <a:latin typeface="Courier New" panose="02070309020205020404" pitchFamily="49" charset="0"/>
              <a:cs typeface="Courier New" panose="02070309020205020404" pitchFamily="49" charset="0"/>
            </a:endParaRPr>
          </a:p>
          <a:p>
            <a:pPr marL="0" indent="0">
              <a:buNone/>
            </a:pPr>
            <a:r>
              <a:rPr lang="en-ID" sz="3200" dirty="0">
                <a:solidFill>
                  <a:srgbClr val="000000"/>
                </a:solidFill>
                <a:latin typeface="Courier New" panose="02070309020205020404" pitchFamily="49" charset="0"/>
                <a:cs typeface="Courier New" panose="02070309020205020404" pitchFamily="49" charset="0"/>
              </a:rPr>
              <a:t>	 ⇒</a:t>
            </a:r>
            <a:r>
              <a:rPr lang="en-ID" sz="3200" dirty="0" err="1">
                <a:solidFill>
                  <a:srgbClr val="000000"/>
                </a:solidFill>
                <a:latin typeface="Courier New" panose="02070309020205020404" pitchFamily="49" charset="0"/>
                <a:cs typeface="Courier New" panose="02070309020205020404" pitchFamily="49" charset="0"/>
              </a:rPr>
              <a:t>abab</a:t>
            </a:r>
            <a:r>
              <a:rPr lang="en-ID" sz="3200" dirty="0">
                <a:solidFill>
                  <a:srgbClr val="000000"/>
                </a:solidFill>
                <a:latin typeface="Courier New" panose="02070309020205020404" pitchFamily="49" charset="0"/>
                <a:cs typeface="Courier New" panose="02070309020205020404" pitchFamily="49" charset="0"/>
              </a:rPr>
              <a:t>	(⸪S </a:t>
            </a: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a:t>
            </a:r>
            <a:br>
              <a:rPr lang="en-ID" sz="32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br>
            <a:r>
              <a:rPr lang="en-ID" sz="32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dapat</a:t>
            </a:r>
            <a:r>
              <a:rPr lang="en-ID" sz="32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D" sz="32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dikerjakan</a:t>
            </a:r>
            <a:r>
              <a:rPr lang="en-ID" sz="32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D" sz="32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dengan</a:t>
            </a:r>
            <a:r>
              <a:rPr lang="en-ID" sz="32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D" sz="32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cara</a:t>
            </a:r>
            <a:r>
              <a:rPr lang="en-ID" sz="32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yang </a:t>
            </a:r>
            <a:r>
              <a:rPr lang="en-ID" sz="3200" dirty="0" err="1">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sama</a:t>
            </a:r>
            <a:r>
              <a:rPr lang="en-ID" sz="32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t>
            </a:r>
          </a:p>
          <a:p>
            <a:pPr marL="0" indent="0">
              <a:buNone/>
            </a:pPr>
            <a:r>
              <a:rPr lang="en-ID" sz="3200" dirty="0">
                <a:solidFill>
                  <a:srgbClr val="000000"/>
                </a:solidFill>
                <a:latin typeface="Courier New" panose="02070309020205020404" pitchFamily="49" charset="0"/>
                <a:cs typeface="Courier New" panose="02070309020205020404" pitchFamily="49" charset="0"/>
              </a:rPr>
              <a:t>S	⇒ </a:t>
            </a:r>
            <a:r>
              <a:rPr lang="en-ID" sz="3200" dirty="0" err="1">
                <a:solidFill>
                  <a:srgbClr val="000000"/>
                </a:solidFill>
                <a:latin typeface="Courier New" panose="02070309020205020404" pitchFamily="49" charset="0"/>
                <a:cs typeface="Courier New" panose="02070309020205020404" pitchFamily="49" charset="0"/>
              </a:rPr>
              <a:t>aAb</a:t>
            </a:r>
            <a:r>
              <a:rPr lang="en-ID" sz="3200" dirty="0">
                <a:solidFill>
                  <a:srgbClr val="000000"/>
                </a:solidFill>
                <a:latin typeface="Courier New" panose="02070309020205020404" pitchFamily="49" charset="0"/>
                <a:cs typeface="Courier New" panose="02070309020205020404" pitchFamily="49" charset="0"/>
              </a:rPr>
              <a:t>	(⸪S </a:t>
            </a: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ID" sz="32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aAb</a:t>
            </a: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endParaRPr lang="en-ID" sz="3200" dirty="0">
              <a:solidFill>
                <a:srgbClr val="000000"/>
              </a:solidFill>
              <a:latin typeface="Courier New" panose="02070309020205020404" pitchFamily="49" charset="0"/>
              <a:cs typeface="Courier New" panose="02070309020205020404" pitchFamily="49" charset="0"/>
            </a:endParaRPr>
          </a:p>
          <a:p>
            <a:pPr marL="0" indent="0">
              <a:buNone/>
            </a:pPr>
            <a:r>
              <a:rPr lang="en-ID" sz="3200" dirty="0">
                <a:solidFill>
                  <a:srgbClr val="000000"/>
                </a:solidFill>
                <a:latin typeface="Courier New" panose="02070309020205020404" pitchFamily="49" charset="0"/>
                <a:cs typeface="Courier New" panose="02070309020205020404" pitchFamily="49" charset="0"/>
              </a:rPr>
              <a:t>	⇒ </a:t>
            </a:r>
            <a:r>
              <a:rPr lang="en-ID" sz="3200" dirty="0" err="1">
                <a:solidFill>
                  <a:srgbClr val="000000"/>
                </a:solidFill>
                <a:latin typeface="Courier New" panose="02070309020205020404" pitchFamily="49" charset="0"/>
                <a:cs typeface="Courier New" panose="02070309020205020404" pitchFamily="49" charset="0"/>
              </a:rPr>
              <a:t>abSb</a:t>
            </a:r>
            <a:r>
              <a:rPr lang="en-ID" sz="3200" dirty="0">
                <a:solidFill>
                  <a:srgbClr val="000000"/>
                </a:solidFill>
                <a:latin typeface="Courier New" panose="02070309020205020404" pitchFamily="49" charset="0"/>
                <a:cs typeface="Courier New" panose="02070309020205020404" pitchFamily="49" charset="0"/>
              </a:rPr>
              <a:t>	(⸪A </a:t>
            </a: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ID" sz="3200" dirty="0" err="1">
                <a:solidFill>
                  <a:srgbClr val="000000"/>
                </a:solidFill>
                <a:latin typeface="Courier New" panose="02070309020205020404" pitchFamily="49" charset="0"/>
                <a:cs typeface="Courier New" panose="02070309020205020404" pitchFamily="49" charset="0"/>
                <a:sym typeface="Wingdings" panose="05000000000000000000" pitchFamily="2" charset="2"/>
              </a:rPr>
              <a:t>bS</a:t>
            </a: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a:t>
            </a:r>
          </a:p>
          <a:p>
            <a:pPr marL="0" indent="0">
              <a:buNone/>
            </a:pPr>
            <a:r>
              <a:rPr lang="en-ID" sz="32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	</a:t>
            </a:r>
            <a:r>
              <a:rPr lang="en-ID" sz="3200" dirty="0">
                <a:solidFill>
                  <a:srgbClr val="000000"/>
                </a:solidFill>
                <a:latin typeface="Courier New" panose="02070309020205020404" pitchFamily="49" charset="0"/>
                <a:cs typeface="Courier New" panose="02070309020205020404" pitchFamily="49" charset="0"/>
              </a:rPr>
              <a:t>⇒ </a:t>
            </a:r>
            <a:r>
              <a:rPr lang="en-ID" sz="3200" dirty="0" err="1">
                <a:solidFill>
                  <a:srgbClr val="000000"/>
                </a:solidFill>
                <a:latin typeface="Courier New" panose="02070309020205020404" pitchFamily="49" charset="0"/>
                <a:cs typeface="Courier New" panose="02070309020205020404" pitchFamily="49" charset="0"/>
              </a:rPr>
              <a:t>abab</a:t>
            </a:r>
            <a:endParaRPr lang="en-ID" sz="3200" dirty="0">
              <a:solidFill>
                <a:srgbClr val="000000"/>
              </a:solidFill>
              <a:latin typeface="Courier New" panose="02070309020205020404" pitchFamily="49" charset="0"/>
              <a:cs typeface="Courier New" panose="02070309020205020404" pitchFamily="49" charset="0"/>
            </a:endParaRPr>
          </a:p>
          <a:p>
            <a:pPr marL="0" indent="0">
              <a:buNone/>
            </a:pPr>
            <a:r>
              <a:rPr lang="en-ID" sz="3200" dirty="0">
                <a:solidFill>
                  <a:srgbClr val="000000"/>
                </a:solidFill>
              </a:rPr>
              <a:t>Karena '</a:t>
            </a:r>
            <a:r>
              <a:rPr lang="en-ID" sz="3200" dirty="0" err="1">
                <a:solidFill>
                  <a:srgbClr val="000000"/>
                </a:solidFill>
              </a:rPr>
              <a:t>abab</a:t>
            </a:r>
            <a:r>
              <a:rPr lang="en-ID" sz="3200" dirty="0">
                <a:solidFill>
                  <a:srgbClr val="000000"/>
                </a:solidFill>
              </a:rPr>
              <a:t>' </a:t>
            </a:r>
            <a:r>
              <a:rPr lang="en-ID" sz="3200" dirty="0" err="1">
                <a:solidFill>
                  <a:srgbClr val="000000"/>
                </a:solidFill>
              </a:rPr>
              <a:t>memiliki</a:t>
            </a:r>
            <a:r>
              <a:rPr lang="en-ID" sz="3200" dirty="0">
                <a:solidFill>
                  <a:srgbClr val="000000"/>
                </a:solidFill>
              </a:rPr>
              <a:t> </a:t>
            </a:r>
            <a:r>
              <a:rPr lang="en-ID" sz="3200" dirty="0" err="1">
                <a:solidFill>
                  <a:srgbClr val="000000"/>
                </a:solidFill>
              </a:rPr>
              <a:t>dua</a:t>
            </a:r>
            <a:r>
              <a:rPr lang="en-ID" sz="3200" dirty="0">
                <a:solidFill>
                  <a:srgbClr val="000000"/>
                </a:solidFill>
              </a:rPr>
              <a:t> </a:t>
            </a:r>
            <a:r>
              <a:rPr lang="en-ID" sz="3200" dirty="0" err="1">
                <a:solidFill>
                  <a:srgbClr val="000000"/>
                </a:solidFill>
              </a:rPr>
              <a:t>derivasi</a:t>
            </a:r>
            <a:r>
              <a:rPr lang="en-ID" sz="3200" dirty="0">
                <a:solidFill>
                  <a:srgbClr val="000000"/>
                </a:solidFill>
              </a:rPr>
              <a:t> yang </a:t>
            </a:r>
            <a:r>
              <a:rPr lang="en-ID" sz="3200" dirty="0" err="1">
                <a:solidFill>
                  <a:srgbClr val="000000"/>
                </a:solidFill>
              </a:rPr>
              <a:t>berbeda</a:t>
            </a:r>
            <a:r>
              <a:rPr lang="en-ID" sz="3200" dirty="0">
                <a:solidFill>
                  <a:srgbClr val="000000"/>
                </a:solidFill>
              </a:rPr>
              <a:t>, </a:t>
            </a:r>
            <a:r>
              <a:rPr lang="en-ID" sz="3200" dirty="0" err="1">
                <a:solidFill>
                  <a:srgbClr val="000000"/>
                </a:solidFill>
              </a:rPr>
              <a:t>maka</a:t>
            </a:r>
            <a:r>
              <a:rPr lang="en-ID" sz="3200" dirty="0">
                <a:solidFill>
                  <a:srgbClr val="000000"/>
                </a:solidFill>
              </a:rPr>
              <a:t> tata </a:t>
            </a:r>
            <a:r>
              <a:rPr lang="en-ID" sz="3200" dirty="0" err="1">
                <a:solidFill>
                  <a:srgbClr val="000000"/>
                </a:solidFill>
              </a:rPr>
              <a:t>bahasa</a:t>
            </a:r>
            <a:r>
              <a:rPr lang="en-ID" sz="3200" dirty="0">
                <a:solidFill>
                  <a:srgbClr val="000000"/>
                </a:solidFill>
              </a:rPr>
              <a:t> </a:t>
            </a:r>
            <a:r>
              <a:rPr lang="en-ID" sz="3200" dirty="0">
                <a:solidFill>
                  <a:srgbClr val="000000"/>
                </a:solidFill>
                <a:latin typeface="Courier New" panose="02070309020205020404" pitchFamily="49" charset="0"/>
                <a:cs typeface="Courier New" panose="02070309020205020404" pitchFamily="49" charset="0"/>
              </a:rPr>
              <a:t>G</a:t>
            </a:r>
            <a:r>
              <a:rPr lang="en-ID" sz="3200" dirty="0">
                <a:solidFill>
                  <a:srgbClr val="000000"/>
                </a:solidFill>
              </a:rPr>
              <a:t> </a:t>
            </a:r>
            <a:r>
              <a:rPr lang="en-ID" sz="3200" dirty="0" err="1">
                <a:solidFill>
                  <a:srgbClr val="000000"/>
                </a:solidFill>
              </a:rPr>
              <a:t>adalah</a:t>
            </a:r>
            <a:r>
              <a:rPr lang="en-ID" sz="3200" dirty="0">
                <a:solidFill>
                  <a:srgbClr val="000000"/>
                </a:solidFill>
              </a:rPr>
              <a:t> </a:t>
            </a:r>
            <a:r>
              <a:rPr lang="en-ID" sz="3200" dirty="0" err="1">
                <a:solidFill>
                  <a:srgbClr val="000000"/>
                </a:solidFill>
              </a:rPr>
              <a:t>ambigu</a:t>
            </a:r>
            <a:r>
              <a:rPr lang="en-ID" sz="3200" dirty="0">
                <a:solidFill>
                  <a:srgbClr val="000000"/>
                </a:solidFill>
              </a:rPr>
              <a:t>.	</a:t>
            </a:r>
          </a:p>
          <a:p>
            <a:pPr marL="0" indent="0">
              <a:buNone/>
            </a:pPr>
            <a:endParaRPr lang="en-ID" sz="3200" dirty="0">
              <a:solidFill>
                <a:srgbClr val="000000"/>
              </a:solidFill>
            </a:endParaRPr>
          </a:p>
          <a:p>
            <a:pPr marL="0" indent="0">
              <a:buNone/>
            </a:pPr>
            <a:endParaRPr lang="en-ID" sz="3200" dirty="0">
              <a:solidFill>
                <a:srgbClr val="000000"/>
              </a:solidFill>
            </a:endParaRPr>
          </a:p>
          <a:p>
            <a:pPr marL="0" indent="0">
              <a:buNone/>
            </a:pPr>
            <a:endParaRPr lang="en-ID" sz="3200" dirty="0">
              <a:solidFill>
                <a:srgbClr val="000000"/>
              </a:solidFill>
              <a:latin typeface="Montserrat" panose="02000505000000020004"/>
              <a:cs typeface="Courier New" panose="02070309020205020404" pitchFamily="49" charset="0"/>
            </a:endParaRPr>
          </a:p>
        </p:txBody>
      </p:sp>
    </p:spTree>
    <p:extLst>
      <p:ext uri="{BB962C8B-B14F-4D97-AF65-F5344CB8AC3E}">
        <p14:creationId xmlns:p14="http://schemas.microsoft.com/office/powerpoint/2010/main" val="37094295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F9E33A-672E-4499-A7BA-EE4327F4D3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94092" cy="6858000"/>
          </a:xfrm>
          <a:prstGeom prst="rect">
            <a:avLst/>
          </a:prstGeom>
        </p:spPr>
      </p:pic>
      <p:sp>
        <p:nvSpPr>
          <p:cNvPr id="16" name="TextBox 15">
            <a:extLst>
              <a:ext uri="{FF2B5EF4-FFF2-40B4-BE49-F238E27FC236}">
                <a16:creationId xmlns:a16="http://schemas.microsoft.com/office/drawing/2014/main" id="{26BC89EC-D40D-42F1-BD48-19B2C7F83B44}"/>
              </a:ext>
            </a:extLst>
          </p:cNvPr>
          <p:cNvSpPr txBox="1"/>
          <p:nvPr/>
        </p:nvSpPr>
        <p:spPr>
          <a:xfrm>
            <a:off x="348343" y="5332903"/>
            <a:ext cx="4049486" cy="757130"/>
          </a:xfrm>
          <a:prstGeom prst="rect">
            <a:avLst/>
          </a:prstGeom>
          <a:noFill/>
        </p:spPr>
        <p:txBody>
          <a:bodyPr wrap="square" rtlCol="0">
            <a:spAutoFit/>
          </a:bodyPr>
          <a:lstStyle/>
          <a:p>
            <a:pPr>
              <a:lnSpc>
                <a:spcPct val="90000"/>
              </a:lnSpc>
            </a:pPr>
            <a:r>
              <a:rPr lang="en-US" sz="4800" dirty="0">
                <a:solidFill>
                  <a:srgbClr val="FFE12E"/>
                </a:solidFill>
                <a:latin typeface="Montserrat" panose="02000505000000020004" pitchFamily="2" charset="0"/>
                <a:ea typeface="Roboto" pitchFamily="2" charset="0"/>
                <a:cs typeface="Arial"/>
              </a:rPr>
              <a:t>Thank You</a:t>
            </a:r>
          </a:p>
        </p:txBody>
      </p:sp>
      <p:sp>
        <p:nvSpPr>
          <p:cNvPr id="17" name="TextBox 16">
            <a:extLst>
              <a:ext uri="{FF2B5EF4-FFF2-40B4-BE49-F238E27FC236}">
                <a16:creationId xmlns:a16="http://schemas.microsoft.com/office/drawing/2014/main" id="{E0171AE4-0AA8-41EE-9C53-D4398596FF8A}"/>
              </a:ext>
            </a:extLst>
          </p:cNvPr>
          <p:cNvSpPr txBox="1"/>
          <p:nvPr/>
        </p:nvSpPr>
        <p:spPr>
          <a:xfrm>
            <a:off x="348343" y="5968113"/>
            <a:ext cx="4049486" cy="279500"/>
          </a:xfrm>
          <a:prstGeom prst="rect">
            <a:avLst/>
          </a:prstGeom>
          <a:noFill/>
        </p:spPr>
        <p:txBody>
          <a:bodyPr wrap="square" rtlCol="0">
            <a:spAutoFit/>
          </a:bodyPr>
          <a:lstStyle/>
          <a:p>
            <a:pPr>
              <a:lnSpc>
                <a:spcPct val="120000"/>
              </a:lnSpc>
            </a:pPr>
            <a:r>
              <a:rPr lang="en-US" sz="1100" dirty="0">
                <a:solidFill>
                  <a:schemeClr val="bg1"/>
                </a:solidFill>
                <a:latin typeface="Montserrat" panose="02000505000000020004" pitchFamily="2" charset="0"/>
                <a:ea typeface="Roboto" pitchFamily="2" charset="0"/>
                <a:cs typeface="Arial"/>
              </a:rPr>
              <a:t>ukrida.ac.id</a:t>
            </a:r>
          </a:p>
        </p:txBody>
      </p:sp>
    </p:spTree>
    <p:extLst>
      <p:ext uri="{BB962C8B-B14F-4D97-AF65-F5344CB8AC3E}">
        <p14:creationId xmlns:p14="http://schemas.microsoft.com/office/powerpoint/2010/main" val="2848738527"/>
      </p:ext>
    </p:extLst>
  </p:cSld>
  <p:clrMapOvr>
    <a:masterClrMapping/>
  </p:clrMapOvr>
</p:sld>
</file>

<file path=ppt/theme/theme1.xml><?xml version="1.0" encoding="utf-8"?>
<a:theme xmlns:a="http://schemas.openxmlformats.org/drawingml/2006/main" name="Custom Design">
  <a:themeElements>
    <a:clrScheme name="Ukrida Color">
      <a:dk1>
        <a:srgbClr val="00325A"/>
      </a:dk1>
      <a:lt1>
        <a:srgbClr val="FFFFFF"/>
      </a:lt1>
      <a:dk2>
        <a:srgbClr val="00325A"/>
      </a:dk2>
      <a:lt2>
        <a:srgbClr val="FFE12D"/>
      </a:lt2>
      <a:accent1>
        <a:srgbClr val="0080C6"/>
      </a:accent1>
      <a:accent2>
        <a:srgbClr val="ED7D31"/>
      </a:accent2>
      <a:accent3>
        <a:srgbClr val="A5A5A5"/>
      </a:accent3>
      <a:accent4>
        <a:srgbClr val="FFC000"/>
      </a:accent4>
      <a:accent5>
        <a:srgbClr val="5B9BD5"/>
      </a:accent5>
      <a:accent6>
        <a:srgbClr val="70AD47"/>
      </a:accent6>
      <a:hlink>
        <a:srgbClr val="0563C1"/>
      </a:hlink>
      <a:folHlink>
        <a:srgbClr val="2DA1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3573</TotalTime>
  <Words>2925</Words>
  <Application>Microsoft Office PowerPoint</Application>
  <PresentationFormat>On-screen Show (4:3)</PresentationFormat>
  <Paragraphs>421</Paragraphs>
  <Slides>63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63</vt:i4>
      </vt:variant>
    </vt:vector>
  </HeadingPairs>
  <TitlesOfParts>
    <vt:vector size="73" baseType="lpstr">
      <vt:lpstr>Arial</vt:lpstr>
      <vt:lpstr>Calibri</vt:lpstr>
      <vt:lpstr>Calibri Light</vt:lpstr>
      <vt:lpstr>Cambria Math</vt:lpstr>
      <vt:lpstr>Courier New</vt:lpstr>
      <vt:lpstr>Montserrat</vt:lpstr>
      <vt:lpstr>Montserrat Light</vt:lpstr>
      <vt:lpstr>Times New Roman</vt:lpstr>
      <vt:lpstr>Wingdings</vt:lpstr>
      <vt:lpstr>Custom Design</vt:lpstr>
      <vt:lpstr>PowerPoint Presentation</vt:lpstr>
      <vt:lpstr>PowerPoint Presentation</vt:lpstr>
      <vt:lpstr>2.1.1 Definisi CFG (TC)</vt:lpstr>
      <vt:lpstr>2.1.1 Definisi CFG (TC)</vt:lpstr>
      <vt:lpstr>2.1.2 Contoh CFG (TC)</vt:lpstr>
      <vt:lpstr>2.1.3 Right-Linear Grammar</vt:lpstr>
      <vt:lpstr>2.1.4 Right-Linear Grammars dan NFAs</vt:lpstr>
      <vt:lpstr>2.1.4 Right-Linear Grammars dan NFAs</vt:lpstr>
      <vt:lpstr>2.1.5 Left-Linear Grammars </vt:lpstr>
      <vt:lpstr>2.1.6 Conversion of Left-linear Grammar into Right-Linear Grammar</vt:lpstr>
      <vt:lpstr>Contoh 2.1.1</vt:lpstr>
      <vt:lpstr>Contoh 2.1.1</vt:lpstr>
      <vt:lpstr>Contoh 2.1.2</vt:lpstr>
      <vt:lpstr>PowerPoint Presentation</vt:lpstr>
      <vt:lpstr>2.2 Derivation Trees</vt:lpstr>
      <vt:lpstr>2.2.1 Definition of a Derivation Trees</vt:lpstr>
      <vt:lpstr>2.2.2 Sentential Form</vt:lpstr>
      <vt:lpstr>2.2.3 Partial Derivation Tree</vt:lpstr>
      <vt:lpstr>2.2.4 Right Most/Left Most/Mixed Derivation</vt:lpstr>
      <vt:lpstr>2.2.4 Right Most/Left Most/Mixed Derivation</vt:lpstr>
      <vt:lpstr>2.2.4 Right Most/Left Most/Mixed Derivation</vt:lpstr>
      <vt:lpstr>Contoh 2.2.1</vt:lpstr>
      <vt:lpstr>Contoh 2.2.1</vt:lpstr>
      <vt:lpstr>Contoh 2.2.2</vt:lpstr>
      <vt:lpstr>Contoh 2.2.2</vt:lpstr>
      <vt:lpstr>Contoh 2.2.3</vt:lpstr>
      <vt:lpstr>Contoh 2.2.3</vt:lpstr>
      <vt:lpstr>Contoh 2.2.4</vt:lpstr>
      <vt:lpstr>Contoh 2.2.4</vt:lpstr>
      <vt:lpstr>Contoh 2.2.4</vt:lpstr>
      <vt:lpstr>Contoh 2.2.5</vt:lpstr>
      <vt:lpstr>Contoh 2.2.5</vt:lpstr>
      <vt:lpstr>Contoh 2.2.6</vt:lpstr>
      <vt:lpstr>Contoh 2.2.7</vt:lpstr>
      <vt:lpstr>Contoh 2.2.7</vt:lpstr>
      <vt:lpstr>Contoh 2.2.8</vt:lpstr>
      <vt:lpstr>Contoh 2.2.8</vt:lpstr>
      <vt:lpstr>Contoh 2.2.9</vt:lpstr>
      <vt:lpstr>Contoh 2.2.9</vt:lpstr>
      <vt:lpstr>Contoh 2.2.10</vt:lpstr>
      <vt:lpstr>Contoh 2.2.10</vt:lpstr>
      <vt:lpstr>Contoh 2.2.11</vt:lpstr>
      <vt:lpstr>Contoh 2.2.11</vt:lpstr>
      <vt:lpstr>PowerPoint Presentation</vt:lpstr>
      <vt:lpstr>2.3.1 Parsing</vt:lpstr>
      <vt:lpstr>2.3.2 Exhaustive Search Parsing</vt:lpstr>
      <vt:lpstr>2.3.2 Exhaustive Search Parsing</vt:lpstr>
      <vt:lpstr>2.3.2 Exhaustive Search Parsing</vt:lpstr>
      <vt:lpstr>2.3.3 Top down/Bottomup Parsing</vt:lpstr>
      <vt:lpstr>2.3.3 Top down/Bottomup Parsing</vt:lpstr>
      <vt:lpstr>2.3.3 Top down/Bottomup Parsing</vt:lpstr>
      <vt:lpstr>2.3.4 Ambiguity </vt:lpstr>
      <vt:lpstr>2.3.4 Ambiguity </vt:lpstr>
      <vt:lpstr>2.3.4 Ambiguity </vt:lpstr>
      <vt:lpstr>2.3.5 Ambiguous Grammars/Ambiguous Languages </vt:lpstr>
      <vt:lpstr>2.3.5 Ambiguous Grammars/Ambiguous Languages </vt:lpstr>
      <vt:lpstr>Contoh 2.3.1</vt:lpstr>
      <vt:lpstr>Contoh 2.3.1</vt:lpstr>
      <vt:lpstr>Contoh 2.3.2</vt:lpstr>
      <vt:lpstr>Contoh 2.3.2</vt:lpstr>
      <vt:lpstr>Contoh 2.3.3</vt:lpstr>
      <vt:lpstr>Contoh 2.3.3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PMP</dc:creator>
  <cp:lastModifiedBy>floren rp</cp:lastModifiedBy>
  <cp:revision>128</cp:revision>
  <dcterms:created xsi:type="dcterms:W3CDTF">2017-09-11T12:08:03Z</dcterms:created>
  <dcterms:modified xsi:type="dcterms:W3CDTF">2025-11-06T03:26:17Z</dcterms:modified>
</cp:coreProperties>
</file>