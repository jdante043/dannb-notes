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51"/>
  </p:handoutMasterIdLst>
  <p:sldIdLst>
    <p:sldId id="264" r:id="rId2"/>
    <p:sldId id="422" r:id="rId3"/>
    <p:sldId id="423" r:id="rId4"/>
    <p:sldId id="424" r:id="rId5"/>
    <p:sldId id="425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40" r:id="rId20"/>
    <p:sldId id="439" r:id="rId21"/>
    <p:sldId id="441" r:id="rId22"/>
    <p:sldId id="442" r:id="rId23"/>
    <p:sldId id="443" r:id="rId24"/>
    <p:sldId id="444" r:id="rId25"/>
    <p:sldId id="445" r:id="rId26"/>
    <p:sldId id="446" r:id="rId27"/>
    <p:sldId id="447" r:id="rId28"/>
    <p:sldId id="448" r:id="rId29"/>
    <p:sldId id="449" r:id="rId30"/>
    <p:sldId id="450" r:id="rId31"/>
    <p:sldId id="451" r:id="rId32"/>
    <p:sldId id="452" r:id="rId33"/>
    <p:sldId id="453" r:id="rId34"/>
    <p:sldId id="454" r:id="rId35"/>
    <p:sldId id="455" r:id="rId36"/>
    <p:sldId id="456" r:id="rId37"/>
    <p:sldId id="457" r:id="rId38"/>
    <p:sldId id="458" r:id="rId39"/>
    <p:sldId id="459" r:id="rId40"/>
    <p:sldId id="460" r:id="rId41"/>
    <p:sldId id="461" r:id="rId42"/>
    <p:sldId id="462" r:id="rId43"/>
    <p:sldId id="463" r:id="rId44"/>
    <p:sldId id="464" r:id="rId45"/>
    <p:sldId id="465" r:id="rId46"/>
    <p:sldId id="467" r:id="rId47"/>
    <p:sldId id="466" r:id="rId48"/>
    <p:sldId id="468" r:id="rId49"/>
    <p:sldId id="261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325A"/>
    <a:srgbClr val="FFE12E"/>
    <a:srgbClr val="003258"/>
    <a:srgbClr val="E1F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C9D74-A3DF-4807-B513-ED1C37684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27127-C60F-48F1-9035-89750229E0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E62F-46C1-49F8-AE8F-0B301CA791E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78E1E-86B5-4357-9195-4516B2D705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591-2F61-4136-BAB4-4DF68AAB1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9A7E-B14A-4E32-B8E1-5B58813BD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2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92634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531BF4-3342-4DC8-8EE2-3BD3F7EC2E75}"/>
              </a:ext>
            </a:extLst>
          </p:cNvPr>
          <p:cNvSpPr txBox="1">
            <a:spLocks/>
          </p:cNvSpPr>
          <p:nvPr userDrawn="1"/>
        </p:nvSpPr>
        <p:spPr>
          <a:xfrm>
            <a:off x="404418" y="80759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5A"/>
                </a:solidFill>
                <a:latin typeface="Montserrat" panose="02000505000000020004" pitchFamily="2" charset="0"/>
              </a:rPr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0E760F-81DA-4BAE-AC97-982573EC6D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72831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309" y="1068539"/>
            <a:ext cx="8285499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160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03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21CE-1BFB-4C33-9E39-9E365E85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4CF2-F9B2-4A2F-8879-48B31C82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EA90-32AA-4707-952A-6016A899B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12DA-7C3F-4F5E-A3EF-25444230DB4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81A-1314-46EF-8E8C-577D4775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EFBB-8EF2-4237-B64F-A4D16560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2CBB-99DC-4D92-93F8-130B3B4D4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5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508" y="0"/>
            <a:ext cx="9197508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4404184"/>
            <a:ext cx="4049486" cy="1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00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Kuliah 12 Teori Bahasa dan </a:t>
            </a:r>
            <a:r>
              <a:rPr lang="en-US" sz="2800" dirty="0" err="1">
                <a:solidFill>
                  <a:srgbClr val="FFFF00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Otomata</a:t>
            </a:r>
            <a:endParaRPr lang="id-ID" sz="2800" dirty="0">
              <a:solidFill>
                <a:srgbClr val="FFE12E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  <a:p>
            <a:pPr>
              <a:lnSpc>
                <a:spcPct val="120000"/>
              </a:lnSpc>
            </a:pPr>
            <a:r>
              <a:rPr lang="id-ID" sz="14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(</a:t>
            </a:r>
            <a:r>
              <a:rPr lang="en-ID" sz="1400" dirty="0">
                <a:solidFill>
                  <a:schemeClr val="bg1"/>
                </a:solidFill>
              </a:rPr>
              <a:t>SIMPLIFICATION OF CFG </a:t>
            </a:r>
            <a:r>
              <a:rPr lang="id-ID" sz="14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)</a:t>
            </a:r>
            <a:endParaRPr lang="en-US" sz="2800" dirty="0">
              <a:solidFill>
                <a:srgbClr val="FFE12E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384608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25"/>
          <a:stretch/>
        </p:blipFill>
        <p:spPr>
          <a:xfrm>
            <a:off x="2625765" y="0"/>
            <a:ext cx="6518235" cy="46889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r="-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60BCB-9860-40F9-A670-EE8D68304150}"/>
              </a:ext>
            </a:extLst>
          </p:cNvPr>
          <p:cNvSpPr txBox="1"/>
          <p:nvPr/>
        </p:nvSpPr>
        <p:spPr>
          <a:xfrm>
            <a:off x="348342" y="4235161"/>
            <a:ext cx="4223658" cy="505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2.4 </a:t>
            </a:r>
            <a:r>
              <a:rPr lang="en-ID" sz="2400" dirty="0"/>
              <a:t>SIMPLIFICATION OF CFG</a:t>
            </a:r>
            <a:endParaRPr lang="en-US" sz="2400" dirty="0">
              <a:solidFill>
                <a:srgbClr val="003258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6325F-D6C2-4013-B76D-978800568C36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412557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2.4.1 </a:t>
            </a:r>
            <a:r>
              <a:rPr lang="en-ID" sz="2800" dirty="0"/>
              <a:t>Simplification of CFG-Introduction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475320"/>
          </a:xfrm>
        </p:spPr>
        <p:txBody>
          <a:bodyPr>
            <a:normAutofit/>
          </a:bodyPr>
          <a:lstStyle/>
          <a:p>
            <a:pPr algn="just"/>
            <a:r>
              <a:rPr lang="sv-SE" sz="2600" dirty="0">
                <a:solidFill>
                  <a:srgbClr val="000000"/>
                </a:solidFill>
                <a:latin typeface="Montserrat" panose="02000505000000020004"/>
              </a:rPr>
              <a:t>Dalam sebuah Tata Bahasa Bebas Konteks (CFG), mungkin tidak perlu menggunakan semua simbol dalam 𝑉∪𝑇, atau semua aturan produksi dalam 𝑃 saat membangun kalimat. Mari kita coba menghilangkan simbol dan produksi dalam 𝐺 yang tidak berguna dalam membangun kalimat.</a:t>
            </a:r>
          </a:p>
          <a:p>
            <a:pPr algn="just"/>
            <a:r>
              <a:rPr lang="sv-SE" sz="2600" dirty="0">
                <a:solidFill>
                  <a:srgbClr val="000000"/>
                </a:solidFill>
                <a:latin typeface="Montserrat" panose="02000505000000020004"/>
              </a:rPr>
              <a:t>Misalkan 𝐺=(𝑉,𝑇,𝑆,  ) adalah sebuah tata bahasa bebas konteks(CFG). Misalkan  mengandung sebuah produksi dengan bentuk: </a:t>
            </a:r>
          </a:p>
          <a:p>
            <a:pPr marL="0" indent="0" algn="ctr">
              <a:buNone/>
            </a:pPr>
            <a:r>
              <a:rPr lang="sv-SE" sz="2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𝐴→𝑥</a:t>
            </a:r>
            <a:r>
              <a:rPr lang="sv-SE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sv-SE" sz="2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𝐵𝑥</a:t>
            </a:r>
            <a:r>
              <a:rPr lang="sv-SE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sv-SE" sz="2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09CCA-6C52-4368-9ED6-FE41CB7EF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57" y="3474720"/>
            <a:ext cx="231768" cy="42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2.4.1 </a:t>
            </a:r>
            <a:r>
              <a:rPr lang="en-ID" sz="2800" dirty="0"/>
              <a:t>Simplification of CFG-Introduction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504348"/>
          </a:xfrm>
        </p:spPr>
        <p:txBody>
          <a:bodyPr>
            <a:normAutofit/>
          </a:bodyPr>
          <a:lstStyle/>
          <a:p>
            <a:r>
              <a:rPr lang="en-ID" sz="2800" dirty="0" err="1">
                <a:solidFill>
                  <a:srgbClr val="000000"/>
                </a:solidFill>
              </a:rPr>
              <a:t>Asumsikan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bahwa</a:t>
            </a:r>
            <a:r>
              <a:rPr lang="en-ID" sz="2800" dirty="0">
                <a:solidFill>
                  <a:srgbClr val="000000"/>
                </a:solidFill>
              </a:rPr>
              <a:t> A dan B </a:t>
            </a:r>
            <a:r>
              <a:rPr lang="en-ID" sz="2800" dirty="0" err="1">
                <a:solidFill>
                  <a:srgbClr val="000000"/>
                </a:solidFill>
              </a:rPr>
              <a:t>adalah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variabel</a:t>
            </a:r>
            <a:r>
              <a:rPr lang="en-ID" sz="2800" dirty="0">
                <a:solidFill>
                  <a:srgbClr val="000000"/>
                </a:solidFill>
              </a:rPr>
              <a:t> yang </a:t>
            </a:r>
            <a:r>
              <a:rPr lang="en-ID" sz="2800" dirty="0" err="1">
                <a:solidFill>
                  <a:srgbClr val="000000"/>
                </a:solidFill>
              </a:rPr>
              <a:t>berbeda</a:t>
            </a:r>
            <a:r>
              <a:rPr lang="en-ID" sz="2800" dirty="0">
                <a:solidFill>
                  <a:srgbClr val="000000"/>
                </a:solidFill>
              </a:rPr>
              <a:t> dan </a:t>
            </a:r>
            <a:r>
              <a:rPr lang="en-ID" sz="2800" dirty="0" err="1">
                <a:solidFill>
                  <a:srgbClr val="000000"/>
                </a:solidFill>
              </a:rPr>
              <a:t>bahwa</a:t>
            </a:r>
            <a:endParaRPr lang="en-ID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D" sz="2800" dirty="0">
                <a:solidFill>
                  <a:srgbClr val="000000"/>
                </a:solidFill>
              </a:rPr>
              <a:t>			B→y</a:t>
            </a:r>
            <a:r>
              <a:rPr lang="en-ID" sz="2000" dirty="0">
                <a:solidFill>
                  <a:srgbClr val="000000"/>
                </a:solidFill>
              </a:rPr>
              <a:t>1</a:t>
            </a:r>
            <a:r>
              <a:rPr lang="en-ID" sz="2800" dirty="0">
                <a:solidFill>
                  <a:srgbClr val="000000"/>
                </a:solidFill>
              </a:rPr>
              <a:t>​ | y</a:t>
            </a:r>
            <a:r>
              <a:rPr lang="en-ID" sz="2000" dirty="0">
                <a:solidFill>
                  <a:srgbClr val="000000"/>
                </a:solidFill>
              </a:rPr>
              <a:t>2</a:t>
            </a:r>
            <a:r>
              <a:rPr lang="en-ID" sz="2800" dirty="0">
                <a:solidFill>
                  <a:srgbClr val="000000"/>
                </a:solidFill>
              </a:rPr>
              <a:t>​|……. | </a:t>
            </a:r>
            <a:r>
              <a:rPr lang="en-ID" sz="2800" dirty="0" err="1">
                <a:solidFill>
                  <a:srgbClr val="000000"/>
                </a:solidFill>
              </a:rPr>
              <a:t>y</a:t>
            </a:r>
            <a:r>
              <a:rPr lang="en-ID" sz="2000" dirty="0" err="1">
                <a:solidFill>
                  <a:srgbClr val="000000"/>
                </a:solidFill>
              </a:rPr>
              <a:t>n</a:t>
            </a:r>
            <a:r>
              <a:rPr lang="en-ID" sz="2000" dirty="0">
                <a:solidFill>
                  <a:srgbClr val="000000"/>
                </a:solidFill>
              </a:rPr>
              <a:t>​.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 yang memiliki 𝐵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Misalkan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=(𝑉,𝑇,𝑆,     ) adalah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 mana 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dibentuk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menghapus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			𝐴→𝑥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𝐵𝑥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2</a:t>
            </a:r>
            <a:br>
              <a:rPr lang="en-US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𝑃, </a:t>
            </a:r>
            <a:r>
              <a:rPr lang="en-ID" sz="2800" dirty="0">
                <a:solidFill>
                  <a:srgbClr val="000000"/>
                </a:solidFill>
              </a:rPr>
              <a:t>dan </a:t>
            </a:r>
            <a:r>
              <a:rPr lang="en-ID" sz="2800" dirty="0" err="1">
                <a:solidFill>
                  <a:srgbClr val="000000"/>
                </a:solidFill>
              </a:rPr>
              <a:t>menambahkannya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dengan</a:t>
            </a:r>
            <a:endParaRPr lang="en-ID" sz="28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A→x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​y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∣ ​ 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​y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∣…| 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</a:t>
            </a:r>
            <a:r>
              <a:rPr lang="es-ES" sz="28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s-ES" sz="20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​x</a:t>
            </a:r>
            <a:r>
              <a:rPr lang="es-ES" sz="20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s-ES" sz="2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sv-SE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Maka L(Ĝ)=L(G)</a:t>
            </a:r>
            <a:endParaRPr lang="en-US" sz="2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2D78F-B8A7-47A6-AB1D-95084A79C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53" y="3156657"/>
            <a:ext cx="231767" cy="426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26F87-E0C4-4CC5-BDFE-DB034B469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167" y="3181107"/>
            <a:ext cx="231767" cy="42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2.4.1 </a:t>
            </a:r>
            <a:r>
              <a:rPr lang="en-ID" sz="2800" dirty="0"/>
              <a:t>Simplification of CFG-Introduction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3864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0000"/>
                </a:solidFill>
                <a:latin typeface="Montserrat" panose="02000505000000020004"/>
              </a:rPr>
              <a:t>Substitution Rule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𝐴→𝑥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𝐵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𝑥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dihilangkan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menggantinya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 mana 𝐵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digantikan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semua string yang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dihasilkan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langkah.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hasil ini, perlu dicatat bahwa 𝐴 dan 𝐵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berbeda.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ilustrasi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diberikan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contoh 2.4.1 dan 2.4.2.</a:t>
            </a:r>
          </a:p>
        </p:txBody>
      </p:sp>
    </p:spTree>
    <p:extLst>
      <p:ext uri="{BB962C8B-B14F-4D97-AF65-F5344CB8AC3E}">
        <p14:creationId xmlns:p14="http://schemas.microsoft.com/office/powerpoint/2010/main" val="210934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Substitution Rule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5"/>
            <a:ext cx="8501044" cy="5354367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𝐴→𝑥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𝐵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𝑥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dihilangkan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menggantinya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 mana 𝐵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digantikan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semua string yang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dihasilkan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langkah.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hasil ini, perlu dicatat bahwa 𝐴 dan 𝐵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berbeda.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ilustrasi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diberikan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contoh 2.4.1 dan 2.4.2.</a:t>
            </a:r>
          </a:p>
        </p:txBody>
      </p:sp>
    </p:spTree>
    <p:extLst>
      <p:ext uri="{BB962C8B-B14F-4D97-AF65-F5344CB8AC3E}">
        <p14:creationId xmlns:p14="http://schemas.microsoft.com/office/powerpoint/2010/main" val="1951019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474476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Pada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𝑆→𝑎𝑆𝑏 ∣ 𝐴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𝐴→𝑎𝐴 ∣ 𝜆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𝑆→𝐴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memainkan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peran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apa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pun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diubah menjadi string terminal.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Meskipun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'A' dapat muncul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string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diturunkan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𝑆, ini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pernah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menghasilkan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bentuk kalimat. 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aturan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ini dapat dihapus tanpa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memengaruhi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90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4083" y="910966"/>
                <a:ext cx="8501044" cy="4744768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Definisi: </a:t>
                </a:r>
              </a:p>
              <a:p>
                <a:pPr marL="0" indent="0">
                  <a:buNone/>
                </a:pP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Misalkan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𝐺=(𝑉,𝑇,𝑆,𝑃) adalah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sebuah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CFG.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Suatu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variabel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𝐴∈𝑉 disebut “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usefull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"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jika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terdapat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setidaknya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satu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𝑤∈𝐿(𝐺)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sedemikian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sehingga </a:t>
                </a:r>
              </a:p>
              <a:p>
                <a:pPr marL="0" indent="0">
                  <a:buNone/>
                </a:pPr>
                <a:endParaRPr lang="en-US" sz="2800" dirty="0">
                  <a:solidFill>
                    <a:srgbClr val="000000"/>
                  </a:solidFill>
                  <a:latin typeface="Montserrat" panose="02000505000000020004"/>
                </a:endParaRPr>
              </a:p>
              <a:p>
                <a:pPr marL="0" indent="0">
                  <a:buNone/>
                </a:pPr>
                <a:endParaRPr lang="en-US" sz="2800" dirty="0">
                  <a:solidFill>
                    <a:srgbClr val="000000"/>
                  </a:solidFill>
                  <a:latin typeface="Montserrat" panose="02000505000000020004"/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dengan 𝑥 dan 𝑦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dalam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00"/>
                            </a:solidFill>
                            <a:latin typeface="Montserrat" panose="02000505000000020004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00"/>
                            </a:solidFill>
                            <a:latin typeface="Montserrat" panose="02000505000000020004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00"/>
                            </a:solidFill>
                            <a:latin typeface="Montserrat" panose="02000505000000020004"/>
                          </a:rPr>
                          <m:t>∪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00"/>
                            </a:solidFill>
                            <a:latin typeface="Montserrat" panose="02000505000000020004"/>
                          </a:rPr>
                          <m:t>𝑇</m:t>
                        </m:r>
                        <m:r>
                          <m:rPr>
                            <m:nor/>
                          </m:rPr>
                          <a:rPr lang="en-US" sz="2800" dirty="0">
                            <a:solidFill>
                              <a:srgbClr val="000000"/>
                            </a:solidFill>
                            <a:latin typeface="Montserrat" panose="02000505000000020004"/>
                          </a:rPr>
                          <m:t>)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. Artinya,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sebuah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variabel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disebut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berguna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jika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ia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muncul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dalam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setidaknya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satu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 </a:t>
                </a:r>
                <a:r>
                  <a:rPr lang="en-US" sz="2800" dirty="0" err="1">
                    <a:solidFill>
                      <a:srgbClr val="000000"/>
                    </a:solidFill>
                    <a:latin typeface="Montserrat" panose="02000505000000020004"/>
                  </a:rPr>
                  <a:t>derivasi</a:t>
                </a:r>
                <a:r>
                  <a:rPr lang="en-US" sz="2800" dirty="0">
                    <a:solidFill>
                      <a:srgbClr val="000000"/>
                    </a:solidFill>
                    <a:latin typeface="Montserrat" panose="02000505000000020004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4083" y="910966"/>
                <a:ext cx="8501044" cy="4744768"/>
              </a:xfrm>
              <a:blipFill>
                <a:blip r:embed="rId2"/>
                <a:stretch>
                  <a:fillRect l="-1434" t="-205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8CE4282-663F-4F4C-8B50-6DCC47C22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31" y="2785533"/>
            <a:ext cx="2310938" cy="64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7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4744768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Ilustrasi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: 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Pertimbangkan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𝑆→𝐴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𝐴→𝑎𝐴 ∣ 𝜆</a:t>
            </a:r>
          </a:p>
          <a:p>
            <a:pPr marL="0" indent="0" algn="ctr">
              <a:buNone/>
            </a:pP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𝐵→𝑏𝐴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sini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𝐵 disebut “Useless", sehingga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𝐵→𝑏𝐴juga “Useless". Tidak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cara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mencapai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𝑆⇒𝑥𝐵𝑦.</a:t>
            </a:r>
          </a:p>
        </p:txBody>
      </p:sp>
    </p:spTree>
    <p:extLst>
      <p:ext uri="{BB962C8B-B14F-4D97-AF65-F5344CB8AC3E}">
        <p14:creationId xmlns:p14="http://schemas.microsoft.com/office/powerpoint/2010/main" val="283920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294983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TEOREMA: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Misalkan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𝐺=(𝑉,𝑇,𝑆,𝑃)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CFG. Terdapat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ekuivalen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𝐺′=(𝑉′,𝑇,𝑆,𝑃′)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mengandung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atau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berguna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Prosedur: Bagian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pertama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yaitu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Part-A, adalah menemukan 𝐺1 menggunakan algoritma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606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185034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Langkah 1: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Tetapkan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𝑉1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∅.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Langkah 2: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Ulangi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langkah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sampai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lagi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ditambahkan ke 𝑉1​ . 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𝐴∈𝑉 di mana 𝑃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bentuk: 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𝐴→𝑥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𝑥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…𝑥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𝑛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​ , </a:t>
            </a:r>
            <a:r>
              <a:rPr lang="en-US" sz="2200" dirty="0">
                <a:solidFill>
                  <a:srgbClr val="000000"/>
                </a:solidFill>
                <a:latin typeface="Montserrat" panose="02000505000000020004"/>
                <a:cs typeface="Courier New" panose="02070309020205020404" pitchFamily="49" charset="0"/>
              </a:rPr>
              <a:t>dengan semua 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𝑥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𝑖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∈𝑉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∪𝑇, </a:t>
            </a:r>
            <a:r>
              <a:rPr lang="en-US" sz="2200" dirty="0" err="1">
                <a:solidFill>
                  <a:srgbClr val="000000"/>
                </a:solidFill>
                <a:latin typeface="Montserrat" panose="02000505000000020004"/>
                <a:cs typeface="Courier New" panose="02070309020205020404" pitchFamily="49" charset="0"/>
              </a:rPr>
              <a:t>tambahkan</a:t>
            </a:r>
            <a:r>
              <a:rPr lang="en-US" sz="2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𝐴 ke 𝑉1​ .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Langkah 3: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Tetapkan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𝑃1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𝑃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simbol-simbolnya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 (𝑉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∪𝑇).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Dengan demikian,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dihasilkan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 menggunakan algoritma di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atas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sini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𝐺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=(𝑉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,𝑇,𝑆,𝑃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) di mana 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hanya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memenuhi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br>
              <a:rPr lang="en-US" sz="2800" dirty="0">
                <a:solidFill>
                  <a:srgbClr val="000000"/>
                </a:solidFill>
                <a:latin typeface="Montserrat" panose="02000505000000020004"/>
              </a:rPr>
            </a:b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9F2633-C917-4ECD-86DA-1281B48F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009" y="5401019"/>
            <a:ext cx="2024657" cy="6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44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185034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Langkah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selanjutnya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memeriksa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apakah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memenuhi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 ditambahkan ke 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sebelum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prosedur selesai.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Langkah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menjelaskan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Bagian B kedua.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Grafik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ketergantungan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(Dependency graph) dibuat untuk menemukan semua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dicapai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simbol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awal 𝑆.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Variabel-variabel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ini dihapus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dan juga semua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melibatkan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variabel-variabel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tersebut. 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Hasil akhirnya adalah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6B5A47-36DF-4381-BA4F-364589730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00" y="1280159"/>
            <a:ext cx="1879662" cy="40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1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18503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anose="02000505000000020004"/>
              </a:rPr>
              <a:t>a.)Empty Production Removal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bebas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konteks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diubah ke berbagai bentuk tanpa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memengaruhi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ekspresi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tersebut.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string kosong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termasuk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suatu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maka terdapat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cara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menghilangkan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bentuk 𝐴→𝜆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tersebut. 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string kosong termasuk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bisa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menghilangkan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kecuali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𝑆→𝜆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kasus ini,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juga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menghapus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kemunculan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right-hand side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6944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389810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Mari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ilustrasikan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ini melalui Contoh 2.4.4.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bebas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konteks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bentuk 𝐴→𝜆 disebut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-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λ (λ-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production).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 yang memungkinkan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derivasi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𝐴⇒*𝜆 disebut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Montserrat" panose="02000505000000020004"/>
              </a:rPr>
              <a:t>NULLABLE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Misalkan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sembarang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bebas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konteks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(CFG) dengan 𝜆∉𝐿(𝐺). Maka, terdapat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ekuivalen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-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λ.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879560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2697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Procedure to find CFG with out λ-Productions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  <a:t>Langkah (</a:t>
            </a:r>
            <a:r>
              <a:rPr lang="en-US" sz="2400" b="1" dirty="0" err="1">
                <a:solidFill>
                  <a:srgbClr val="000000"/>
                </a:solidFill>
                <a:latin typeface="Montserrat" panose="02000505000000020004"/>
              </a:rPr>
              <a:t>i</a:t>
            </a:r>
            <a: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  <a:t>): 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Untuk semua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𝐴→𝜆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masukkan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𝐴 ke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𝑉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𝑁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  <a:t>Langkah (ii):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Ulangi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langkah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hingga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lagi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ditambahkan ke 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𝑁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. Untuk semua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…𝐴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𝑛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 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di mana 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,…,𝐴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𝑛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 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𝑁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 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masukkan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𝐵 ke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𝑉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𝑁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Untuk menemukan 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mari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pertimbangkan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bentuk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𝐴→𝑥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…𝑥</a:t>
            </a:r>
            <a:r>
              <a:rPr lang="en-US" dirty="0">
                <a:solidFill>
                  <a:srgbClr val="000000"/>
                </a:solidFill>
                <a:latin typeface="Montserrat" panose="02000505000000020004"/>
              </a:rPr>
              <a:t>𝑚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​ , m≥1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𝑖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∈𝑉∪𝑇.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9610B-B4BE-4591-9D37-33A7312C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24" y="3185160"/>
            <a:ext cx="231767" cy="42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26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2697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semacam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itu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𝑃,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masukkan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tersebut ke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serta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dihasilkan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menggantikan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dapat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semua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kombinasi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memungkinkan. 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semua 𝑥</a:t>
            </a:r>
            <a:r>
              <a:rPr lang="en-US" sz="1800" dirty="0">
                <a:solidFill>
                  <a:srgbClr val="000000"/>
                </a:solidFill>
                <a:latin typeface="Montserrat" panose="02000505000000020004"/>
              </a:rPr>
              <a:t>𝑖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bernilai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𝐴→𝜆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dimasukkan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ke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    ).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Mari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ilustrasikan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prosedur ini melalui contoh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ditunjukkan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Contoh 2.4.5.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9610B-B4BE-4591-9D37-33A7312C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158" y="1275371"/>
            <a:ext cx="159776" cy="293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39D67E-354B-47C3-B0AC-3F80EBF7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828" y="2697772"/>
            <a:ext cx="159776" cy="29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01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18503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anose="02000505000000020004"/>
              </a:rPr>
              <a:t>b.) Unit Productions Removal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CFG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berbentuk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𝐴→𝐵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dengan 𝐴,𝐵∈𝑉 disebut “Unit-Production".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 salah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terkadang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diinginkan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 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“Substitution Rule"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digunakan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menghapus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unit.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Diketahu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𝐺=(𝑉,𝑇,𝑆,𝑃),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CFG tanpa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, 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terdapat CFG                   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unit dan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𝐺. 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Mari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ilustrasikan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prosedur 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menghapus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unit melalui Contoh 2.4.6.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1CE33-4A36-42DA-9FBA-724EFD1B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925" y="4984142"/>
            <a:ext cx="1563757" cy="39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370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 fontScale="92500" lnSpcReduction="10000"/>
          </a:bodyPr>
          <a:lstStyle/>
          <a:p>
            <a:r>
              <a:rPr lang="en-ID" sz="2400" dirty="0" err="1">
                <a:solidFill>
                  <a:srgbClr val="000000"/>
                </a:solidFill>
              </a:rPr>
              <a:t>Prosedur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untuk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menghapus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produksi</a:t>
            </a:r>
            <a:r>
              <a:rPr lang="en-ID" sz="2400" dirty="0">
                <a:solidFill>
                  <a:srgbClr val="000000"/>
                </a:solidFill>
              </a:rPr>
              <a:t> unit:</a:t>
            </a:r>
          </a:p>
          <a:p>
            <a:r>
              <a:rPr lang="en-ID" sz="2400" dirty="0" err="1">
                <a:solidFill>
                  <a:srgbClr val="000000"/>
                </a:solidFill>
              </a:rPr>
              <a:t>Temukan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semua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variabel</a:t>
            </a:r>
            <a:r>
              <a:rPr lang="en-ID" sz="2400" dirty="0">
                <a:solidFill>
                  <a:srgbClr val="000000"/>
                </a:solidFill>
              </a:rPr>
              <a:t> B </a:t>
            </a:r>
            <a:r>
              <a:rPr lang="en-ID" sz="2400" dirty="0" err="1">
                <a:solidFill>
                  <a:srgbClr val="000000"/>
                </a:solidFill>
              </a:rPr>
              <a:t>untuk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setiap</a:t>
            </a:r>
            <a:r>
              <a:rPr lang="en-ID" sz="2400" dirty="0">
                <a:solidFill>
                  <a:srgbClr val="000000"/>
                </a:solidFill>
              </a:rPr>
              <a:t> A yang </a:t>
            </a:r>
            <a:r>
              <a:rPr lang="en-ID" sz="2400" dirty="0" err="1">
                <a:solidFill>
                  <a:srgbClr val="000000"/>
                </a:solidFill>
              </a:rPr>
              <a:t>memenuhi</a:t>
            </a:r>
            <a:endParaRPr lang="en-ID" sz="2400" dirty="0">
              <a:solidFill>
                <a:srgbClr val="000000"/>
              </a:solidFill>
            </a:endParaRPr>
          </a:p>
          <a:p>
            <a:endParaRPr lang="en-ID" sz="2400" dirty="0">
              <a:solidFill>
                <a:srgbClr val="000000"/>
              </a:solidFill>
            </a:endParaRPr>
          </a:p>
          <a:p>
            <a:r>
              <a:rPr lang="en-ID" sz="2400" dirty="0" err="1">
                <a:solidFill>
                  <a:srgbClr val="000000"/>
                </a:solidFill>
              </a:rPr>
              <a:t>Ini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dilakukan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dengan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menggambar</a:t>
            </a:r>
            <a:r>
              <a:rPr lang="en-ID" sz="2400" dirty="0">
                <a:solidFill>
                  <a:srgbClr val="000000"/>
                </a:solidFill>
              </a:rPr>
              <a:t> “depending graph" </a:t>
            </a:r>
            <a:r>
              <a:rPr lang="en-ID" sz="2400" dirty="0" err="1">
                <a:solidFill>
                  <a:srgbClr val="000000"/>
                </a:solidFill>
              </a:rPr>
              <a:t>dengan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sebuah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sisi</a:t>
            </a:r>
            <a:r>
              <a:rPr lang="en-ID" sz="2400" dirty="0">
                <a:solidFill>
                  <a:srgbClr val="000000"/>
                </a:solidFill>
              </a:rPr>
              <a:t> (C, D) </a:t>
            </a:r>
            <a:r>
              <a:rPr lang="en-ID" sz="2400" dirty="0" err="1">
                <a:solidFill>
                  <a:srgbClr val="000000"/>
                </a:solidFill>
              </a:rPr>
              <a:t>setiap</a:t>
            </a:r>
            <a:r>
              <a:rPr lang="en-ID" sz="2400" dirty="0">
                <a:solidFill>
                  <a:srgbClr val="000000"/>
                </a:solidFill>
              </a:rPr>
              <a:t> kali tata </a:t>
            </a:r>
            <a:r>
              <a:rPr lang="en-ID" sz="2400" dirty="0" err="1">
                <a:solidFill>
                  <a:srgbClr val="000000"/>
                </a:solidFill>
              </a:rPr>
              <a:t>bahasa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memiliki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produksi</a:t>
            </a:r>
            <a:r>
              <a:rPr lang="en-ID" sz="2400" dirty="0">
                <a:solidFill>
                  <a:srgbClr val="000000"/>
                </a:solidFill>
              </a:rPr>
              <a:t> unit 𝐶→𝐷. </a:t>
            </a:r>
            <a:r>
              <a:rPr lang="en-ID" sz="2400" dirty="0" err="1">
                <a:solidFill>
                  <a:srgbClr val="000000"/>
                </a:solidFill>
              </a:rPr>
              <a:t>Maka</a:t>
            </a:r>
            <a:r>
              <a:rPr lang="en-ID" sz="2400" dirty="0">
                <a:solidFill>
                  <a:srgbClr val="000000"/>
                </a:solidFill>
              </a:rPr>
              <a:t>                 </a:t>
            </a:r>
            <a:r>
              <a:rPr lang="en-ID" sz="2400" dirty="0" err="1">
                <a:solidFill>
                  <a:srgbClr val="000000"/>
                </a:solidFill>
              </a:rPr>
              <a:t>berlaku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setiap</a:t>
            </a:r>
            <a:r>
              <a:rPr lang="en-ID" sz="2400" dirty="0">
                <a:solidFill>
                  <a:srgbClr val="000000"/>
                </a:solidFill>
              </a:rPr>
              <a:t> kali </a:t>
            </a:r>
            <a:r>
              <a:rPr lang="en-ID" sz="2400" dirty="0" err="1">
                <a:solidFill>
                  <a:srgbClr val="000000"/>
                </a:solidFill>
              </a:rPr>
              <a:t>ada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jalur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antara</a:t>
            </a:r>
            <a:r>
              <a:rPr lang="en-ID" sz="2400" dirty="0">
                <a:solidFill>
                  <a:srgbClr val="000000"/>
                </a:solidFill>
              </a:rPr>
              <a:t> 𝐴 dan 𝐵. </a:t>
            </a:r>
          </a:p>
          <a:p>
            <a:r>
              <a:rPr lang="en-ID" sz="2400" dirty="0">
                <a:solidFill>
                  <a:srgbClr val="000000"/>
                </a:solidFill>
              </a:rPr>
              <a:t>Tata </a:t>
            </a:r>
            <a:r>
              <a:rPr lang="en-ID" sz="2400" dirty="0" err="1">
                <a:solidFill>
                  <a:srgbClr val="000000"/>
                </a:solidFill>
              </a:rPr>
              <a:t>bahasa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baru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ID" sz="2400" dirty="0">
                <a:solidFill>
                  <a:srgbClr val="000000"/>
                </a:solidFill>
              </a:rPr>
              <a:t> , yang </a:t>
            </a:r>
            <a:r>
              <a:rPr lang="en-ID" sz="2400" dirty="0" err="1">
                <a:solidFill>
                  <a:srgbClr val="000000"/>
                </a:solidFill>
              </a:rPr>
              <a:t>setara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dengan</a:t>
            </a:r>
            <a:r>
              <a:rPr lang="en-ID" sz="2400" dirty="0">
                <a:solidFill>
                  <a:srgbClr val="000000"/>
                </a:solidFill>
              </a:rPr>
              <a:t> 𝐺, </a:t>
            </a:r>
            <a:r>
              <a:rPr lang="en-ID" sz="2400" dirty="0" err="1">
                <a:solidFill>
                  <a:srgbClr val="000000"/>
                </a:solidFill>
              </a:rPr>
              <a:t>diperoleh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dengan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memasukkan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semua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produksi</a:t>
            </a:r>
            <a:r>
              <a:rPr lang="en-ID" sz="2400" dirty="0">
                <a:solidFill>
                  <a:srgbClr val="000000"/>
                </a:solidFill>
              </a:rPr>
              <a:t> non-unit </a:t>
            </a:r>
            <a:r>
              <a:rPr lang="en-ID" sz="2400" dirty="0" err="1">
                <a:solidFill>
                  <a:srgbClr val="000000"/>
                </a:solidFill>
              </a:rPr>
              <a:t>dari</a:t>
            </a:r>
            <a:r>
              <a:rPr lang="en-ID" sz="2400" dirty="0">
                <a:solidFill>
                  <a:srgbClr val="000000"/>
                </a:solidFill>
              </a:rPr>
              <a:t> 𝑃 </a:t>
            </a:r>
            <a:r>
              <a:rPr lang="en-ID" sz="2400" dirty="0" err="1">
                <a:solidFill>
                  <a:srgbClr val="000000"/>
                </a:solidFill>
              </a:rPr>
              <a:t>ke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dalam</a:t>
            </a:r>
            <a:r>
              <a:rPr lang="en-ID" sz="2400" dirty="0">
                <a:solidFill>
                  <a:srgbClr val="000000"/>
                </a:solidFill>
              </a:rPr>
              <a:t>    . </a:t>
            </a:r>
          </a:p>
          <a:p>
            <a:r>
              <a:rPr lang="en-ID" sz="2400" dirty="0" err="1">
                <a:solidFill>
                  <a:srgbClr val="000000"/>
                </a:solidFill>
              </a:rPr>
              <a:t>Kemudian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untuk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semua</a:t>
            </a:r>
            <a:r>
              <a:rPr lang="en-ID" sz="2400" dirty="0">
                <a:solidFill>
                  <a:srgbClr val="000000"/>
                </a:solidFill>
              </a:rPr>
              <a:t> 𝐴 dan 𝐵 yang </a:t>
            </a:r>
            <a:r>
              <a:rPr lang="en-ID" sz="2400" dirty="0" err="1">
                <a:solidFill>
                  <a:srgbClr val="000000"/>
                </a:solidFill>
              </a:rPr>
              <a:t>memenuhi</a:t>
            </a:r>
            <a:r>
              <a:rPr lang="en-ID" sz="2400" dirty="0">
                <a:solidFill>
                  <a:srgbClr val="000000"/>
                </a:solidFill>
              </a:rPr>
              <a:t>             , </a:t>
            </a:r>
            <a:r>
              <a:rPr lang="en-ID" sz="2400" dirty="0" err="1">
                <a:solidFill>
                  <a:srgbClr val="000000"/>
                </a:solidFill>
              </a:rPr>
              <a:t>kita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tambahkan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ke</a:t>
            </a:r>
            <a:r>
              <a:rPr lang="en-ID" sz="2400" dirty="0">
                <a:solidFill>
                  <a:srgbClr val="000000"/>
                </a:solidFill>
              </a:rPr>
              <a:t>       </a:t>
            </a:r>
          </a:p>
          <a:p>
            <a:pPr marL="0" indent="0" algn="ctr">
              <a:buNone/>
            </a:pPr>
            <a:r>
              <a:rPr lang="en-ID" sz="2400" dirty="0">
                <a:solidFill>
                  <a:srgbClr val="000000"/>
                </a:solidFill>
              </a:rPr>
              <a:t>𝐴→𝑦</a:t>
            </a:r>
            <a:r>
              <a:rPr lang="en-ID" sz="1800" dirty="0">
                <a:solidFill>
                  <a:srgbClr val="000000"/>
                </a:solidFill>
              </a:rPr>
              <a:t>1</a:t>
            </a:r>
            <a:r>
              <a:rPr lang="en-ID" sz="2400" dirty="0">
                <a:solidFill>
                  <a:srgbClr val="000000"/>
                </a:solidFill>
              </a:rPr>
              <a:t>∣𝑦</a:t>
            </a:r>
            <a:r>
              <a:rPr lang="en-ID" sz="1800" dirty="0">
                <a:solidFill>
                  <a:srgbClr val="000000"/>
                </a:solidFill>
              </a:rPr>
              <a:t>2</a:t>
            </a:r>
            <a:r>
              <a:rPr lang="en-ID" sz="2400" dirty="0">
                <a:solidFill>
                  <a:srgbClr val="000000"/>
                </a:solidFill>
              </a:rPr>
              <a:t>∣…∣𝑦</a:t>
            </a:r>
            <a:r>
              <a:rPr lang="en-ID" sz="1800" dirty="0">
                <a:solidFill>
                  <a:srgbClr val="000000"/>
                </a:solidFill>
              </a:rPr>
              <a:t>𝑛</a:t>
            </a:r>
            <a:endParaRPr lang="en-ID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D" sz="2400" dirty="0">
                <a:solidFill>
                  <a:srgbClr val="000000"/>
                </a:solidFill>
              </a:rPr>
              <a:t>di mana 𝐵→𝑦</a:t>
            </a:r>
            <a:r>
              <a:rPr lang="en-ID" sz="1800" dirty="0">
                <a:solidFill>
                  <a:srgbClr val="000000"/>
                </a:solidFill>
              </a:rPr>
              <a:t>1</a:t>
            </a:r>
            <a:r>
              <a:rPr lang="en-ID" sz="2400" dirty="0">
                <a:solidFill>
                  <a:srgbClr val="000000"/>
                </a:solidFill>
              </a:rPr>
              <a:t>∣𝑦</a:t>
            </a:r>
            <a:r>
              <a:rPr lang="en-ID" sz="1800" dirty="0">
                <a:solidFill>
                  <a:srgbClr val="000000"/>
                </a:solidFill>
              </a:rPr>
              <a:t>2</a:t>
            </a:r>
            <a:r>
              <a:rPr lang="en-ID" sz="2400" dirty="0">
                <a:solidFill>
                  <a:srgbClr val="000000"/>
                </a:solidFill>
              </a:rPr>
              <a:t>∣…∣𝑦</a:t>
            </a:r>
            <a:r>
              <a:rPr lang="en-ID" sz="1800" dirty="0">
                <a:solidFill>
                  <a:srgbClr val="000000"/>
                </a:solidFill>
              </a:rPr>
              <a:t>𝑛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adalah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kumpulan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semua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aturan</a:t>
            </a:r>
            <a:r>
              <a:rPr lang="en-ID" sz="2400" dirty="0">
                <a:solidFill>
                  <a:srgbClr val="000000"/>
                </a:solidFill>
              </a:rPr>
              <a:t> di    </a:t>
            </a:r>
            <a:r>
              <a:rPr lang="en-ID" sz="2400" dirty="0" err="1">
                <a:solidFill>
                  <a:srgbClr val="000000"/>
                </a:solidFill>
              </a:rPr>
              <a:t>dengan</a:t>
            </a:r>
            <a:r>
              <a:rPr lang="en-ID" sz="2400" dirty="0">
                <a:solidFill>
                  <a:srgbClr val="000000"/>
                </a:solidFill>
              </a:rPr>
              <a:t> 𝐵 di </a:t>
            </a:r>
            <a:r>
              <a:rPr lang="en-ID" sz="2400" dirty="0" err="1">
                <a:solidFill>
                  <a:srgbClr val="000000"/>
                </a:solidFill>
              </a:rPr>
              <a:t>sebelah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r>
              <a:rPr lang="en-ID" sz="2400" dirty="0" err="1">
                <a:solidFill>
                  <a:srgbClr val="000000"/>
                </a:solidFill>
              </a:rPr>
              <a:t>kiri</a:t>
            </a:r>
            <a:r>
              <a:rPr lang="en-ID" sz="24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D90C48-74C6-4C92-8DA8-3F4B04480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064" y="1822956"/>
            <a:ext cx="768936" cy="4721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6FBCF5-2A82-41AC-A61C-C49545CC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003" y="2871869"/>
            <a:ext cx="701203" cy="4555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0D8493-1A79-4DB6-A98D-4C7A207F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222" y="3793067"/>
            <a:ext cx="174978" cy="3217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48B552-6567-4663-8F85-3A85B3C73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711" y="4366548"/>
            <a:ext cx="768936" cy="472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20B155-D8D6-46A7-BEB3-C4C7EEC8E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53" y="4516968"/>
            <a:ext cx="174978" cy="3217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B5460-D9D2-48AC-A2B0-76472A811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0" y="5431368"/>
            <a:ext cx="174978" cy="32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61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2.4.2 Abolishing Useless Productions 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185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Montserrat" panose="02000505000000020004"/>
              </a:rPr>
              <a:t>c.) Left Recursion Removal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 disebut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left-recursive (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rekursif-kiri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)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muncul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berbentuk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𝐴→𝐴𝑥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untuk 𝑥∈(𝑉∪𝑇)*.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disebut</a:t>
            </a:r>
            <a:r>
              <a:rPr lang="en-US" sz="2800" i="1" dirty="0">
                <a:solidFill>
                  <a:srgbClr val="000000"/>
                </a:solidFill>
                <a:latin typeface="Montserrat" panose="02000505000000020004"/>
              </a:rPr>
              <a:t> left-recursive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mengandung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setidaknya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satu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rekursif-kiri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Setiap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bebas-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konteks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direpresentasikan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oleh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rekursif-kiri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1327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2.4.1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𝐺=({𝐴,𝐵},{𝑎,𝑏,𝑐},𝐴,𝑃)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𝐴→𝑎∣𝑎𝑎𝐴∣𝑎𝑏𝐵𝑐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𝐵→𝑎𝑏𝑏𝐴∣𝑏.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Dapatkan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sehingga baik 𝐺 maupun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menerima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string "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aaabbc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".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 𝐺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𝐴→𝑎∣𝑎𝑎𝐴∣𝑎𝑏𝐵𝑐	(1)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𝐵→𝑎𝑏𝑏𝐴∣𝑏.		(2)</a:t>
            </a:r>
          </a:p>
        </p:txBody>
      </p:sp>
    </p:spTree>
    <p:extLst>
      <p:ext uri="{BB962C8B-B14F-4D97-AF65-F5344CB8AC3E}">
        <p14:creationId xmlns:p14="http://schemas.microsoft.com/office/powerpoint/2010/main" val="3963038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2.4.1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48125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Dengan menggunakan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𝐵→𝑎𝑏𝑏𝐴∣𝑏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𝐴→𝑎𝑏𝐵𝑐,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memiliki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𝐴→𝑎∣𝑎𝑎𝐴∣𝑎𝑏𝑎𝑏𝑏𝐴𝑐∣𝑎𝑏𝑏𝑐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𝐵→𝑎𝑏𝑏𝐴∣𝑏.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G.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Dengan demikian, string "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aaabbc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"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diturunkan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𝐴⇒𝑎𝑎𝐴⇒𝑎𝑎𝑎𝑏𝐵𝑐⇒𝑎𝑎𝑎𝑏𝑏𝑐(dengan 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)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dan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𝐴⇒𝑎𝑎𝐴⇒𝑎𝑎𝑎𝑏𝑏𝑐(dengan 𝐺)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𝐺 dan 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288547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2.4.2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CFG 𝐺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=({S,A,B,C,E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},{𝑎,𝑏,𝑐},𝑃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,S)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S 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AB</a:t>
            </a: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C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E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c/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Buat L(G) dan dapatkan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tata Bahasa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ekuivalen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L(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Ĝ)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mengeliminasi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terminal-terminal dan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produksi-produksi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useless.</a:t>
            </a:r>
          </a:p>
          <a:p>
            <a:pPr marL="0" indent="0">
              <a:buNone/>
            </a:pPr>
            <a:endParaRPr lang="en-US" sz="2400" b="1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512065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2.4.2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  <a:br>
              <a:rPr lang="en-US" sz="2400" b="1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L(G)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diperoleh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𝑆⇒𝐴𝐵⇒𝑎𝐵⇒𝑎𝑏.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Oleh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itu, 𝐿(𝐺)={𝑎𝑏}.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sini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=({𝑆,𝐴,𝐵},{𝑎,𝑏},𝑃′,𝑆),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di mana 𝑃′  memiliki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aturan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𝑆→𝐴𝐵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𝐴→𝑎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𝐵→𝑏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Kita telah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menghilangkan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𝐶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menghasilkan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string terminal. 𝐸 dan 𝐶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muncul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bentuk kalimat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apa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pun.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𝐸→𝜆 adalah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kosong, sehingga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dihilangkan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𝐵→𝐶 hanya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menggantikan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𝐵 dengan 𝐶.</a:t>
            </a:r>
          </a:p>
        </p:txBody>
      </p:sp>
    </p:spTree>
    <p:extLst>
      <p:ext uri="{BB962C8B-B14F-4D97-AF65-F5344CB8AC3E}">
        <p14:creationId xmlns:p14="http://schemas.microsoft.com/office/powerpoint/2010/main" val="2089016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2.4.3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𝐺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=(V,T,S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,𝑃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aS|A|C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aa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C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aCb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Eliminasi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symbol dan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berguna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𝐺</a:t>
            </a:r>
          </a:p>
          <a:p>
            <a:pPr marL="0" indent="0">
              <a:buNone/>
            </a:pPr>
            <a:endParaRPr lang="en-US" sz="2400" b="1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891436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2.4.3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</a:p>
          <a:p>
            <a:r>
              <a:rPr lang="sv-SE" sz="2400" dirty="0">
                <a:solidFill>
                  <a:srgbClr val="000000"/>
                </a:solidFill>
                <a:latin typeface="Montserrat" panose="02000505000000020004"/>
              </a:rPr>
              <a:t>Di sini V = {S, A, B, C}. Mari kita tentukan himpunan variabel yang dapat menghasilkan string terminal.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Karena 𝐴→𝑎 dan 𝐵→𝑎𝑎, maka 𝐴 dan 𝐵 termasuk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ini. Begitu pula 𝑆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𝑆⇒𝐴⇒𝑎.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Namun, 𝐶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termasuk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ini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𝐶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menghasilkan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terminal,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𝐶→𝑎𝐶𝑏. Dengan demikian, 𝐶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dihilangkan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bersama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terkait.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sekarang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S→aS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 ∣ A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A→a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𝐵→𝑎𝑎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Di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sini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, 𝑉1={𝑆,𝐴,𝐵}.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186378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2.4.3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menghilangkan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dapat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dicapai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awal, dibuat “dependency graph” dan ditentukan.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Graf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ketergantungan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untuk 𝑉1={𝑆,𝐴,𝐵}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digambar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dianggap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berguna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hanya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jika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ada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jalur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simpul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dilabeli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𝑆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menuju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simpul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dilabeli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tersebut.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A83BAA-C864-41CE-8283-A8A3A1B57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853" y="3082113"/>
            <a:ext cx="2939080" cy="69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25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2.4.3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Dari gambar di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atas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jelas bahwa 𝐵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tidak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berguna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 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                  dengan                    dan P yang baru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S 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aS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 A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A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 a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D4E7A-D70C-40DA-9971-AC79EE6E7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640" y="1737174"/>
            <a:ext cx="1303001" cy="3316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20EFAA-B623-46CB-B3BD-F6BD44766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611" y="1737174"/>
            <a:ext cx="1433306" cy="33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58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2.4.4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CFG dengan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</a:rPr>
              <a:t>P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aS</a:t>
            </a:r>
            <a:r>
              <a:rPr lang="en-US" sz="18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1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</a:p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</a:t>
            </a:r>
            <a:r>
              <a:rPr lang="en-US" sz="18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aS</a:t>
            </a:r>
            <a:r>
              <a:rPr lang="en-US" sz="18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1</a:t>
            </a:r>
            <a:r>
              <a:rPr lang="en-US" sz="2400" i="1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|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endParaRPr lang="en-US" sz="2400" i="1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Buat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P yang baru untuk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sebuah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sama dengan CFG yang diberikan.</a:t>
            </a:r>
            <a:endParaRPr lang="en-US" sz="2400" b="1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489722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2.4.4</a:t>
            </a:r>
            <a:endParaRPr lang="id-ID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4083" y="910966"/>
                <a:ext cx="8501044" cy="538823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</a:rPr>
                  <a:t>Jawab:</a:t>
                </a:r>
              </a:p>
              <a:p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</a:rPr>
                  <a:t>Grammar yang diberikan</a:t>
                </a:r>
              </a:p>
              <a:p>
                <a:pPr marL="0" indent="0" algn="ctr">
                  <a:buNone/>
                </a:pP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S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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aS</a:t>
                </a:r>
                <a:r>
                  <a:rPr lang="en-US" sz="18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1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b</a:t>
                </a:r>
              </a:p>
              <a:p>
                <a:pPr marL="0" indent="0" algn="ctr">
                  <a:buNone/>
                </a:pP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S</a:t>
                </a:r>
                <a:r>
                  <a:rPr lang="en-US" sz="18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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aS</a:t>
                </a:r>
                <a:r>
                  <a:rPr lang="en-US" sz="18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1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b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|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</a:rPr>
                  <a:t> 𝜆</a:t>
                </a:r>
              </a:p>
              <a:p>
                <a:r>
                  <a:rPr lang="en-US" sz="2400" dirty="0" err="1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menghasilkan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bahasa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bebas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-𝜆</a:t>
                </a:r>
                <a:r>
                  <a:rPr lang="el-GR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yang diberikan oleh 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: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𝑛≥1}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.</a:t>
                </a:r>
              </a:p>
              <a:p>
                <a:r>
                  <a:rPr lang="en-US" sz="2400" dirty="0" err="1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Produksi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𝜆</a:t>
                </a:r>
                <a:r>
                  <a:rPr lang="el-GR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dalam</a:t>
                </a:r>
                <a:r>
                  <a:rPr lang="en-US" sz="2400" i="1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 P, </a:t>
                </a:r>
                <a:r>
                  <a:rPr lang="en-US" sz="2400" dirty="0" err="1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yaitu</a:t>
                </a: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  <a:sym typeface="Wingdings" panose="05000000000000000000" pitchFamily="2" charset="2"/>
                  </a:rPr>
                  <a:t>:</a:t>
                </a:r>
              </a:p>
              <a:p>
                <a:pPr marL="0" indent="0" algn="ctr">
                  <a:buNone/>
                </a:pPr>
                <a:r>
                  <a:rPr lang="en-ID" sz="2400" dirty="0">
                    <a:solidFill>
                      <a:srgbClr val="000000"/>
                    </a:solidFill>
                  </a:rPr>
                  <a:t>S1​→</a:t>
                </a:r>
                <a:r>
                  <a:rPr lang="el-GR" sz="2400" dirty="0">
                    <a:solidFill>
                      <a:srgbClr val="000000"/>
                    </a:solidFill>
                  </a:rPr>
                  <a:t>λ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 err="1">
                    <a:solidFill>
                      <a:srgbClr val="000000"/>
                    </a:solidFill>
                  </a:rPr>
                  <a:t>dihilangkan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 setelah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menambahkan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produksi</a:t>
                </a:r>
                <a:r>
                  <a:rPr lang="en-US" sz="2400" dirty="0">
                    <a:solidFill>
                      <a:srgbClr val="000000"/>
                    </a:solidFill>
                  </a:rPr>
                  <a:t> baru dengan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menggantikan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 𝜆</a:t>
                </a:r>
                <a:r>
                  <a:rPr lang="el-GR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</a:rPr>
                  <a:t>untuk 𝑆</a:t>
                </a:r>
                <a:r>
                  <a:rPr lang="en-US" sz="1800" dirty="0">
                    <a:solidFill>
                      <a:srgbClr val="000000"/>
                    </a:solidFill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</a:rPr>
                  <a:t> di tempat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ia</a:t>
                </a:r>
                <a:r>
                  <a:rPr lang="en-US" sz="2400" dirty="0">
                    <a:solidFill>
                      <a:srgbClr val="000000"/>
                    </a:solidFill>
                  </a:rPr>
                  <a:t> muncul di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sisi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kanan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. Sehingga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kita</a:t>
                </a:r>
                <a:r>
                  <a:rPr lang="en-US" sz="2400" dirty="0">
                    <a:solidFill>
                      <a:srgbClr val="000000"/>
                    </a:solidFill>
                  </a:rPr>
                  <a:t> mendapatkan</a:t>
                </a: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𝑆→𝑎𝑆</a:t>
                </a:r>
                <a:r>
                  <a:rPr lang="en-US" sz="1800" dirty="0">
                    <a:solidFill>
                      <a:srgbClr val="000000"/>
                    </a:solidFill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</a:rPr>
                  <a:t>𝑏 ∣ 𝑎𝑏</a:t>
                </a: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S</a:t>
                </a:r>
                <a:r>
                  <a:rPr lang="en-US" sz="1800" dirty="0">
                    <a:solidFill>
                      <a:srgbClr val="000000"/>
                    </a:solidFill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</a:rPr>
                  <a:t>→aS</a:t>
                </a:r>
                <a:r>
                  <a:rPr lang="en-US" sz="1800" dirty="0">
                    <a:solidFill>
                      <a:srgbClr val="000000"/>
                    </a:solidFill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</a:rPr>
                  <a:t>​b ∣ ab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Montserrat" panose="02000505000000020004"/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00"/>
                  </a:solidFill>
                  <a:latin typeface="Montserrat" panose="020005050000000200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4083" y="910966"/>
                <a:ext cx="8501044" cy="5388234"/>
              </a:xfrm>
              <a:blipFill>
                <a:blip r:embed="rId2"/>
                <a:stretch>
                  <a:fillRect l="-1075" t="-2149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852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2.4.4</a:t>
            </a:r>
            <a:endParaRPr lang="id-ID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54083" y="910966"/>
                <a:ext cx="8501044" cy="204426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000000"/>
                    </a:solidFill>
                    <a:latin typeface="Montserrat" panose="02000505000000020004"/>
                  </a:rPr>
                  <a:t>Jawab: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yang merupakan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himpunan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produksi</a:t>
                </a:r>
                <a:r>
                  <a:rPr lang="en-US" sz="2400" dirty="0">
                    <a:solidFill>
                      <a:srgbClr val="000000"/>
                    </a:solidFill>
                  </a:rPr>
                  <a:t> baru 𝑃 yang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menghasilkan</a:t>
                </a:r>
                <a:r>
                  <a:rPr 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bahasa</a:t>
                </a:r>
                <a:r>
                  <a:rPr lang="en-US" sz="2400" dirty="0">
                    <a:solidFill>
                      <a:srgbClr val="000000"/>
                    </a:solidFill>
                  </a:rPr>
                  <a:t> yang sama, </a:t>
                </a:r>
                <a:r>
                  <a:rPr lang="en-US" sz="2400" dirty="0" err="1">
                    <a:solidFill>
                      <a:srgbClr val="000000"/>
                    </a:solidFill>
                  </a:rPr>
                  <a:t>yaitu</a:t>
                </a:r>
                <a:endParaRPr lang="en-US" sz="2400" dirty="0">
                  <a:solidFill>
                    <a:srgbClr val="00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000000"/>
                    </a:solidFill>
                  </a:rPr>
                  <a:t>{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:𝑛≥1}.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000000"/>
                  </a:solidFill>
                  <a:latin typeface="Montserrat" panose="02000505000000020004"/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0000"/>
                  </a:solidFill>
                  <a:latin typeface="Montserrat" panose="020005050000000200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6BC64-42D2-4474-8C0C-A0CB0FAD0A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54083" y="910966"/>
                <a:ext cx="8501044" cy="2044269"/>
              </a:xfrm>
              <a:blipFill>
                <a:blip r:embed="rId2"/>
                <a:stretch>
                  <a:fillRect l="-1075" t="-416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6956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2.4.5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Tentukan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CFG tanpa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diberikan oleh 𝑃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S→ABaC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 ∣ A ∣ B ∣ 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λ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𝐴→𝐵𝐶 ∣ 𝜆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B→b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𝐶→𝐷 ∣ 𝜆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C→D ∣ 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λ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𝐷→𝑑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0416001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2.4.5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  <a:br>
              <a:rPr lang="en-US" sz="2400" dirty="0">
                <a:solidFill>
                  <a:srgbClr val="000000"/>
                </a:solidFill>
                <a:latin typeface="Montserrat" panose="02000505000000020004"/>
              </a:rPr>
            </a:b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Lihat prosedur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dijelaskan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di bagian 2.4.2 untuk menemukan CFG tanpa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.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Langkah 1: "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Variabel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Null" adalah 𝐴, 𝐵, dan 𝐶.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Langkah 2:</a:t>
            </a:r>
          </a:p>
          <a:p>
            <a:pPr marL="2286000" lvl="5" indent="0">
              <a:buNone/>
            </a:pPr>
            <a:r>
              <a:rPr lang="en-US" sz="2600" dirty="0" err="1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en-US" sz="26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ABaC|BaC|Aba|AaC|Aa|Ba|ac|a</a:t>
            </a:r>
            <a:endParaRPr lang="en-US" sz="26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2286000" lvl="5" indent="0">
              <a:buNone/>
            </a:pPr>
            <a:r>
              <a:rPr lang="en-US" sz="26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AB|C|BC</a:t>
            </a:r>
          </a:p>
          <a:p>
            <a:pPr marL="2286000" lvl="5" indent="0">
              <a:buNone/>
            </a:pPr>
            <a:r>
              <a:rPr lang="en-US" sz="26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Bb</a:t>
            </a:r>
            <a:endParaRPr lang="en-US" sz="26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2286000" lvl="5" indent="0">
              <a:buNone/>
            </a:pPr>
            <a:r>
              <a:rPr lang="en-US" sz="26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CD</a:t>
            </a:r>
          </a:p>
          <a:p>
            <a:pPr marL="2286000" lvl="5" indent="0">
              <a:buNone/>
            </a:pPr>
            <a:r>
              <a:rPr lang="en-US" sz="26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Dd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nn-NO" sz="2400" dirty="0">
                <a:solidFill>
                  <a:srgbClr val="000000"/>
                </a:solidFill>
                <a:latin typeface="Montserrat" panose="02000505000000020004"/>
              </a:rPr>
              <a:t>Satu set aturan di atas merepresentasikan P′ untuk CFG yang baru setelah eliminasi λ-produksi.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2286000" lvl="5" indent="0">
              <a:buNone/>
            </a:pPr>
            <a:endParaRPr lang="en-US" sz="26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71975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2.4.6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Hilangkan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unit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G yang diberikan oleh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(P).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S→AB</a:t>
            </a:r>
          </a:p>
          <a:p>
            <a:pPr marL="0" indent="0" algn="ctr">
              <a:buNone/>
            </a:pP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𝐴→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a</a:t>
            </a:r>
          </a:p>
          <a:p>
            <a:pPr marL="0" indent="0" algn="ctr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B→C|b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𝐶→𝐷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 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E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E</a:t>
            </a:r>
            <a:r>
              <a:rPr lang="el-GR" sz="2400" dirty="0">
                <a:solidFill>
                  <a:srgbClr val="000000"/>
                </a:solidFill>
                <a:latin typeface="Montserrat" panose="02000505000000020004"/>
              </a:rPr>
              <a:t>→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a.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20099142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2.4.6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A→a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, 𝐵→𝑏, dan 𝐸→𝑎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non-unit. 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itu,     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ini. 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Karena            ,dan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adalah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non-unit, termasuk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Ba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dalam</a:t>
            </a:r>
            <a:endParaRPr lang="en-US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Karena             ,D</a:t>
            </a:r>
            <a:r>
              <a:rPr lang="en-ID" sz="2800" dirty="0">
                <a:solidFill>
                  <a:srgbClr val="000000"/>
                </a:solidFill>
              </a:rPr>
              <a:t>⇒E, </a:t>
            </a:r>
            <a:r>
              <a:rPr lang="en-ID" sz="2800" dirty="0" err="1">
                <a:solidFill>
                  <a:srgbClr val="000000"/>
                </a:solidFill>
              </a:rPr>
              <a:t>termasuk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C</a:t>
            </a:r>
            <a:r>
              <a:rPr lang="en-ID" sz="2800" dirty="0" err="1">
                <a:solidFill>
                  <a:srgbClr val="000000"/>
                </a:solidFill>
                <a:sym typeface="Wingdings" panose="05000000000000000000" pitchFamily="2" charset="2"/>
              </a:rPr>
              <a:t>a</a:t>
            </a:r>
            <a:r>
              <a:rPr lang="en-ID" sz="2800" dirty="0">
                <a:solidFill>
                  <a:srgbClr val="000000"/>
                </a:solidFill>
                <a:sym typeface="Wingdings" panose="05000000000000000000" pitchFamily="2" charset="2"/>
              </a:rPr>
              <a:t>, </a:t>
            </a:r>
            <a:r>
              <a:rPr lang="en-ID" sz="2800" dirty="0" err="1">
                <a:solidFill>
                  <a:srgbClr val="000000"/>
                </a:solidFill>
                <a:sym typeface="Wingdings" panose="05000000000000000000" pitchFamily="2" charset="2"/>
              </a:rPr>
              <a:t>Da</a:t>
            </a:r>
            <a:r>
              <a:rPr lang="en-ID" sz="2800" dirty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sym typeface="Wingdings" panose="05000000000000000000" pitchFamily="2" charset="2"/>
              </a:rPr>
              <a:t>dalam</a:t>
            </a:r>
            <a:endParaRPr lang="en-ID" sz="2800" dirty="0">
              <a:solidFill>
                <a:srgbClr val="000000"/>
              </a:solidFill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9A47E-8196-4C9E-9D98-1E05E14193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3981920" y="2800446"/>
            <a:ext cx="242513" cy="408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5E2E0E-34D4-4283-A9B1-FB7FF5406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793" y="1725841"/>
            <a:ext cx="795383" cy="537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A60454-EEA9-4ABC-B128-4A66092623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7943128" y="3179986"/>
            <a:ext cx="228044" cy="498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A3C93-BE29-4F26-B108-0174C5951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489" y="2737103"/>
            <a:ext cx="795383" cy="442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03EC77-CA53-42E8-A536-7DAE10DA84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2426784" y="1820682"/>
            <a:ext cx="202794" cy="44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52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2.4.6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Oleh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karena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itu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,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kita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memiliki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tata Bahasa yang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setara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tanpa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produksi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unit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sebagai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Ĝ yang </a:t>
            </a:r>
            <a:r>
              <a:rPr lang="en-ID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didefinisikan</a:t>
            </a:r>
            <a:r>
              <a:rPr lang="en-ID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oleh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Ĝ</a:t>
            </a:r>
            <a:r>
              <a:rPr lang="pt-BR" sz="2800" dirty="0">
                <a:solidFill>
                  <a:srgbClr val="000000"/>
                </a:solidFill>
              </a:rPr>
              <a:t> = ({S, A, B, C, D, E},{a,b},   , S )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0000"/>
                </a:solidFill>
                <a:latin typeface="Montserrat" panose="02000505000000020004"/>
              </a:rPr>
              <a:t>Dengan      yang terdiri dari: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S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AB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A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 a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B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 b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B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a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C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 a </a:t>
            </a:r>
          </a:p>
          <a:p>
            <a:pPr marL="0" indent="0" algn="ctr">
              <a:buNone/>
            </a:pPr>
            <a:r>
              <a:rPr lang="pt-BR" sz="2800" dirty="0">
                <a:solidFill>
                  <a:srgbClr val="000000"/>
                </a:solidFill>
              </a:rPr>
              <a:t>D </a:t>
            </a:r>
            <a:r>
              <a:rPr lang="pt-BR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pt-BR" sz="2800" dirty="0">
                <a:solidFill>
                  <a:srgbClr val="000000"/>
                </a:solidFill>
              </a:rPr>
              <a:t> a      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DAD038-0EC9-4900-98D6-6E3C8180C3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4807007" y="2180686"/>
            <a:ext cx="242513" cy="408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0F7508-E423-4141-A810-8168D97934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2170053" y="2722553"/>
            <a:ext cx="242513" cy="40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22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2.4.7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Jawab: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didefinisikan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oleh 𝑃,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memiliki: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𝐵→𝐶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C→D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unit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Kita dapat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mengganti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dengan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				B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C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				CD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Dan 				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D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b</a:t>
            </a:r>
            <a:endParaRPr lang="en-US" sz="24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Dengan			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Bb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6721054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2.4.7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Sehingga     untuk tata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Montserrat" panose="02000505000000020004"/>
              </a:rPr>
              <a:t>ekuivalen</a:t>
            </a:r>
            <a:r>
              <a:rPr lang="en-US" sz="2400" dirty="0">
                <a:solidFill>
                  <a:srgbClr val="000000"/>
                </a:solidFill>
                <a:latin typeface="Montserrat" panose="02000505000000020004"/>
              </a:rPr>
              <a:t> diberikan oleh:</a:t>
            </a:r>
          </a:p>
          <a:p>
            <a:pPr marL="0" indent="0" algn="ctr">
              <a:buNone/>
            </a:pPr>
            <a:r>
              <a:rPr lang="en-ID" sz="2400" dirty="0">
                <a:solidFill>
                  <a:srgbClr val="000000"/>
                </a:solidFill>
              </a:rPr>
              <a:t>S</a:t>
            </a:r>
            <a:r>
              <a:rPr lang="en-ID" sz="24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400" dirty="0">
                <a:solidFill>
                  <a:srgbClr val="000000"/>
                </a:solidFill>
              </a:rPr>
              <a:t>AB </a:t>
            </a:r>
          </a:p>
          <a:p>
            <a:pPr marL="0" indent="0" algn="ctr">
              <a:buNone/>
            </a:pPr>
            <a:r>
              <a:rPr lang="en-ID" sz="2400" dirty="0" err="1">
                <a:solidFill>
                  <a:srgbClr val="000000"/>
                </a:solidFill>
              </a:rPr>
              <a:t>A</a:t>
            </a:r>
            <a:r>
              <a:rPr lang="en-ID" sz="2400" dirty="0" err="1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400" dirty="0" err="1">
                <a:solidFill>
                  <a:srgbClr val="000000"/>
                </a:solidFill>
              </a:rPr>
              <a:t>a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ID" sz="2400" dirty="0" err="1">
                <a:solidFill>
                  <a:srgbClr val="000000"/>
                </a:solidFill>
              </a:rPr>
              <a:t>B</a:t>
            </a:r>
            <a:r>
              <a:rPr lang="en-ID" sz="2400" dirty="0" err="1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400" dirty="0" err="1">
                <a:solidFill>
                  <a:srgbClr val="000000"/>
                </a:solidFill>
              </a:rPr>
              <a:t>b</a:t>
            </a:r>
            <a:r>
              <a:rPr lang="en-ID" sz="2400" dirty="0">
                <a:solidFill>
                  <a:srgbClr val="000000"/>
                </a:solidFill>
              </a:rPr>
              <a:t> </a:t>
            </a:r>
            <a:endParaRPr lang="en-US" sz="24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80B38-CED8-4C6F-BABE-A167B34112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2131607" y="910966"/>
            <a:ext cx="228044" cy="4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819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2.4.8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Hilangkan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produksi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unit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dari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CFG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dengan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𝑃 yang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diberikan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sebagai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berikut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: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𝑆→𝐴𝑎∣𝐵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𝐵→𝐴∣𝑏𝑏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𝐴→𝑎∣𝑏𝑐∣𝐵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3652377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2.4.8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J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awab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Dari 𝑃 yang diberikan,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akan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menggambar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grafik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ketergantungan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berikut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Dari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grafik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tersebut,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melihat bahwa: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B853E-65BF-4C72-9D60-2D3075E3F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983" y="2478508"/>
            <a:ext cx="3176034" cy="950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C881FA-54B0-4423-88C1-8CEF7A51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372" y="4464609"/>
            <a:ext cx="1329255" cy="168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04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2.4.8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r>
              <a:rPr lang="en-ID" sz="2800" dirty="0">
                <a:solidFill>
                  <a:srgbClr val="000000"/>
                </a:solidFill>
              </a:rPr>
              <a:t>Oleh </a:t>
            </a:r>
            <a:r>
              <a:rPr lang="en-ID" sz="2800" dirty="0" err="1">
                <a:solidFill>
                  <a:srgbClr val="000000"/>
                </a:solidFill>
              </a:rPr>
              <a:t>karena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itu</a:t>
            </a:r>
            <a:r>
              <a:rPr lang="en-ID" sz="2800" dirty="0">
                <a:solidFill>
                  <a:srgbClr val="000000"/>
                </a:solidFill>
              </a:rPr>
              <a:t>, </a:t>
            </a:r>
            <a:r>
              <a:rPr lang="en-ID" sz="2800" dirty="0" err="1">
                <a:solidFill>
                  <a:srgbClr val="000000"/>
                </a:solidFill>
              </a:rPr>
              <a:t>aturan-aturan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ini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ditambahkan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ke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dalam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produksi</a:t>
            </a:r>
            <a:r>
              <a:rPr lang="en-ID" sz="2800" dirty="0">
                <a:solidFill>
                  <a:srgbClr val="000000"/>
                </a:solidFill>
              </a:rPr>
              <a:t> non-unit original:</a:t>
            </a:r>
          </a:p>
          <a:p>
            <a:pPr marL="0" indent="0">
              <a:buNone/>
            </a:pP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Aa</a:t>
            </a: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Aa|bc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	(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diberikan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dari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P)</a:t>
            </a:r>
          </a:p>
          <a:p>
            <a:pPr marL="0" indent="0">
              <a:buNone/>
            </a:pP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Bbb</a:t>
            </a: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Aturan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baru</a:t>
            </a: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 yang 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dibentuk</a:t>
            </a: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S→a|bc|bb</a:t>
            </a: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𝐴→bb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𝐵→𝑎|</a:t>
            </a:r>
            <a:r>
              <a:rPr lang="en-ID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bc</a:t>
            </a: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D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392791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2.4.8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88234"/>
          </a:xfrm>
        </p:spPr>
        <p:txBody>
          <a:bodyPr>
            <a:normAutofit/>
          </a:bodyPr>
          <a:lstStyle/>
          <a:p>
            <a:r>
              <a:rPr lang="en-ID" sz="2800" dirty="0" err="1">
                <a:solidFill>
                  <a:srgbClr val="000000"/>
                </a:solidFill>
              </a:rPr>
              <a:t>Untuk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mendapatkan</a:t>
            </a:r>
            <a:r>
              <a:rPr lang="en-ID" sz="2800" dirty="0">
                <a:solidFill>
                  <a:srgbClr val="000000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</a:rPr>
              <a:t>S </a:t>
            </a:r>
            <a:r>
              <a:rPr lang="en-ID" sz="2800" dirty="0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800" dirty="0" err="1">
                <a:solidFill>
                  <a:srgbClr val="000000"/>
                </a:solidFill>
              </a:rPr>
              <a:t>a|bc|bb</a:t>
            </a:r>
            <a:endParaRPr lang="en-ID" sz="2800" dirty="0">
              <a:solidFill>
                <a:srgbClr val="000000"/>
              </a:solidFill>
            </a:endParaRPr>
          </a:p>
          <a:p>
            <a:pPr marL="0" indent="0" algn="ctr">
              <a:buNone/>
            </a:pPr>
            <a:r>
              <a:rPr lang="en-ID" sz="2800" dirty="0" err="1">
                <a:solidFill>
                  <a:srgbClr val="000000"/>
                </a:solidFill>
              </a:rPr>
              <a:t>A</a:t>
            </a:r>
            <a:r>
              <a:rPr lang="en-ID" sz="2800" dirty="0" err="1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800" dirty="0" err="1">
                <a:solidFill>
                  <a:srgbClr val="000000"/>
                </a:solidFill>
              </a:rPr>
              <a:t>a|bb|bc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</a:p>
          <a:p>
            <a:pPr marL="0" indent="0" algn="ctr">
              <a:buNone/>
            </a:pPr>
            <a:r>
              <a:rPr lang="en-ID" sz="2800" dirty="0" err="1">
                <a:solidFill>
                  <a:srgbClr val="000000"/>
                </a:solidFill>
              </a:rPr>
              <a:t>B</a:t>
            </a:r>
            <a:r>
              <a:rPr lang="en-ID" sz="2800" dirty="0" err="1">
                <a:solidFill>
                  <a:srgbClr val="000000"/>
                </a:solidFill>
                <a:sym typeface="Wingdings" panose="05000000000000000000" pitchFamily="2" charset="2"/>
              </a:rPr>
              <a:t></a:t>
            </a:r>
            <a:r>
              <a:rPr lang="en-ID" sz="2800" dirty="0" err="1">
                <a:solidFill>
                  <a:srgbClr val="000000"/>
                </a:solidFill>
              </a:rPr>
              <a:t>a|bb</a:t>
            </a:r>
            <a:r>
              <a:rPr lang="en-ID" sz="2800" dirty="0">
                <a:solidFill>
                  <a:srgbClr val="000000"/>
                </a:solidFill>
              </a:rPr>
              <a:t>| </a:t>
            </a:r>
            <a:r>
              <a:rPr lang="en-ID" sz="2800" dirty="0" err="1">
                <a:solidFill>
                  <a:srgbClr val="000000"/>
                </a:solidFill>
              </a:rPr>
              <a:t>bc</a:t>
            </a:r>
            <a:endParaRPr lang="en-ID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ID" sz="2800" dirty="0" err="1">
                <a:solidFill>
                  <a:srgbClr val="000000"/>
                </a:solidFill>
              </a:rPr>
              <a:t>yaitu</a:t>
            </a:r>
            <a:r>
              <a:rPr lang="en-ID" sz="2800" dirty="0">
                <a:solidFill>
                  <a:srgbClr val="000000"/>
                </a:solidFill>
              </a:rPr>
              <a:t>      </a:t>
            </a:r>
            <a:r>
              <a:rPr lang="en-ID" sz="2800" dirty="0" err="1">
                <a:solidFill>
                  <a:srgbClr val="000000"/>
                </a:solidFill>
              </a:rPr>
              <a:t>untuk</a:t>
            </a:r>
            <a:r>
              <a:rPr lang="en-ID" sz="2800" dirty="0">
                <a:solidFill>
                  <a:srgbClr val="000000"/>
                </a:solidFill>
              </a:rPr>
              <a:t> tata </a:t>
            </a:r>
            <a:r>
              <a:rPr lang="en-ID" sz="2800" dirty="0" err="1">
                <a:solidFill>
                  <a:srgbClr val="000000"/>
                </a:solidFill>
              </a:rPr>
              <a:t>bahasa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baru</a:t>
            </a:r>
            <a:r>
              <a:rPr lang="en-ID" sz="2800" dirty="0">
                <a:solidFill>
                  <a:srgbClr val="000000"/>
                </a:solidFill>
              </a:rPr>
              <a:t> yang </a:t>
            </a:r>
            <a:r>
              <a:rPr lang="en-ID" sz="2800" dirty="0" err="1">
                <a:solidFill>
                  <a:srgbClr val="000000"/>
                </a:solidFill>
              </a:rPr>
              <a:t>dihasilkan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setara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dengan</a:t>
            </a:r>
            <a:r>
              <a:rPr lang="en-ID" sz="2800" dirty="0">
                <a:solidFill>
                  <a:srgbClr val="000000"/>
                </a:solidFill>
              </a:rPr>
              <a:t> tata </a:t>
            </a:r>
            <a:r>
              <a:rPr lang="en-ID" sz="2800" dirty="0" err="1">
                <a:solidFill>
                  <a:srgbClr val="000000"/>
                </a:solidFill>
              </a:rPr>
              <a:t>bahasa</a:t>
            </a:r>
            <a:r>
              <a:rPr lang="en-ID" sz="2800" dirty="0">
                <a:solidFill>
                  <a:srgbClr val="000000"/>
                </a:solidFill>
              </a:rPr>
              <a:t> yang </a:t>
            </a:r>
            <a:r>
              <a:rPr lang="en-ID" sz="2800" dirty="0" err="1">
                <a:solidFill>
                  <a:srgbClr val="000000"/>
                </a:solidFill>
              </a:rPr>
              <a:t>diberikan</a:t>
            </a:r>
            <a:r>
              <a:rPr lang="en-ID" sz="2800" dirty="0">
                <a:solidFill>
                  <a:srgbClr val="000000"/>
                </a:solidFill>
              </a:rPr>
              <a:t>. </a:t>
            </a:r>
          </a:p>
          <a:p>
            <a:pPr marL="0" indent="0" algn="ctr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FE0140-D61D-402D-8212-33E6F8F998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70" b="-1814"/>
          <a:stretch/>
        </p:blipFill>
        <p:spPr>
          <a:xfrm>
            <a:off x="1593129" y="2930973"/>
            <a:ext cx="228044" cy="49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96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2.4.9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3034501"/>
          </a:xfrm>
        </p:spPr>
        <p:txBody>
          <a:bodyPr>
            <a:normAutofit/>
          </a:bodyPr>
          <a:lstStyle/>
          <a:p>
            <a:r>
              <a:rPr lang="en-ID" sz="2800" dirty="0" err="1">
                <a:solidFill>
                  <a:srgbClr val="000000"/>
                </a:solidFill>
              </a:rPr>
              <a:t>Diberikan</a:t>
            </a:r>
            <a:r>
              <a:rPr lang="en-ID" sz="2800" dirty="0">
                <a:solidFill>
                  <a:srgbClr val="000000"/>
                </a:solidFill>
              </a:rPr>
              <a:t> CFG </a:t>
            </a:r>
            <a:r>
              <a:rPr lang="en-ID" sz="2800" dirty="0" err="1">
                <a:solidFill>
                  <a:srgbClr val="000000"/>
                </a:solidFill>
              </a:rPr>
              <a:t>dengan</a:t>
            </a:r>
            <a:r>
              <a:rPr lang="en-ID" sz="2800" dirty="0">
                <a:solidFill>
                  <a:srgbClr val="000000"/>
                </a:solidFill>
              </a:rPr>
              <a:t> 𝑃 </a:t>
            </a:r>
            <a:r>
              <a:rPr lang="en-ID" sz="2800" dirty="0" err="1">
                <a:solidFill>
                  <a:srgbClr val="000000"/>
                </a:solidFill>
              </a:rPr>
              <a:t>sebagai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berikut</a:t>
            </a:r>
            <a:r>
              <a:rPr lang="en-ID" sz="2800" dirty="0">
                <a:solidFill>
                  <a:srgbClr val="000000"/>
                </a:solidFill>
              </a:rPr>
              <a:t>: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</a:rPr>
              <a:t>𝑆→𝐴𝐵∣𝑎</a:t>
            </a:r>
          </a:p>
          <a:p>
            <a:pPr marL="0" indent="0" algn="ctr">
              <a:buNone/>
            </a:pPr>
            <a:r>
              <a:rPr lang="en-ID" sz="2800" dirty="0">
                <a:solidFill>
                  <a:srgbClr val="000000"/>
                </a:solidFill>
              </a:rPr>
              <a:t>𝐴→𝑏</a:t>
            </a:r>
          </a:p>
          <a:p>
            <a:pPr marL="0" indent="0">
              <a:buNone/>
            </a:pPr>
            <a:r>
              <a:rPr lang="en-ID" sz="2800" dirty="0" err="1">
                <a:solidFill>
                  <a:srgbClr val="000000"/>
                </a:solidFill>
              </a:rPr>
              <a:t>Eliminasi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simbol-simbol</a:t>
            </a:r>
            <a:r>
              <a:rPr lang="en-ID" sz="2800" dirty="0">
                <a:solidFill>
                  <a:srgbClr val="000000"/>
                </a:solidFill>
              </a:rPr>
              <a:t> yang </a:t>
            </a:r>
            <a:r>
              <a:rPr lang="en-ID" sz="2800" dirty="0" err="1">
                <a:solidFill>
                  <a:srgbClr val="000000"/>
                </a:solidFill>
              </a:rPr>
              <a:t>tidak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berguna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untuk</a:t>
            </a:r>
            <a:r>
              <a:rPr lang="en-ID" sz="2800" dirty="0">
                <a:solidFill>
                  <a:srgbClr val="000000"/>
                </a:solidFill>
              </a:rPr>
              <a:t> </a:t>
            </a:r>
            <a:r>
              <a:rPr lang="en-ID" sz="2800" dirty="0" err="1">
                <a:solidFill>
                  <a:srgbClr val="000000"/>
                </a:solidFill>
              </a:rPr>
              <a:t>mendapatkan</a:t>
            </a:r>
            <a:r>
              <a:rPr lang="en-ID" sz="2800" dirty="0">
                <a:solidFill>
                  <a:srgbClr val="000000"/>
                </a:solidFill>
              </a:rPr>
              <a:t> tata </a:t>
            </a:r>
            <a:r>
              <a:rPr lang="en-ID" sz="2800" dirty="0" err="1">
                <a:solidFill>
                  <a:srgbClr val="000000"/>
                </a:solidFill>
              </a:rPr>
              <a:t>bahasa</a:t>
            </a:r>
            <a:r>
              <a:rPr lang="en-ID" sz="2800" dirty="0">
                <a:solidFill>
                  <a:srgbClr val="000000"/>
                </a:solidFill>
              </a:rPr>
              <a:t> yang </a:t>
            </a:r>
            <a:r>
              <a:rPr lang="en-ID" sz="2800" dirty="0" err="1">
                <a:solidFill>
                  <a:srgbClr val="000000"/>
                </a:solidFill>
              </a:rPr>
              <a:t>ekuivalen</a:t>
            </a:r>
            <a:r>
              <a:rPr lang="en-ID" sz="2800" dirty="0">
                <a:solidFill>
                  <a:srgbClr val="000000"/>
                </a:solidFill>
              </a:rPr>
              <a:t>.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31137844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2.4.9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03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Jawab :</a:t>
            </a:r>
          </a:p>
          <a:p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Diketahui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 algn="ctr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AB|a</a:t>
            </a:r>
            <a:endParaRPr lang="en-US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Ab</a:t>
            </a:r>
            <a:endParaRPr lang="en-US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 adalah symbol </a:t>
            </a:r>
            <a:r>
              <a:rPr lang="en-ID" sz="2800" dirty="0">
                <a:solidFill>
                  <a:srgbClr val="000000"/>
                </a:solidFill>
              </a:rPr>
              <a:t>non-generating. </a:t>
            </a:r>
            <a:r>
              <a:rPr lang="it-IT" sz="2800" dirty="0">
                <a:solidFill>
                  <a:srgbClr val="000000"/>
                </a:solidFill>
              </a:rPr>
              <a:t>a dan b menghasilkan dirinya sendiri. S menghasilkan a dan A menghasilkan b. </a:t>
            </a:r>
          </a:p>
          <a:p>
            <a:r>
              <a:rPr lang="fi-FI" sz="2800" dirty="0">
                <a:solidFill>
                  <a:srgbClr val="000000"/>
                </a:solidFill>
              </a:rPr>
              <a:t>Ketika B dieliminasi, S → AB dieliminasi. Oleh karena itu kita memiliki</a:t>
            </a:r>
          </a:p>
          <a:p>
            <a:pPr marL="0" indent="0" algn="ctr">
              <a:buNone/>
            </a:pPr>
            <a:r>
              <a:rPr lang="fi-FI" sz="2800" dirty="0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fi-FI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</a:t>
            </a:r>
          </a:p>
          <a:p>
            <a:pPr marL="0" indent="0" algn="ctr">
              <a:buNone/>
            </a:pPr>
            <a:r>
              <a:rPr lang="fi-FI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Ab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063955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2.4.9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28313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S dan a hanya dapat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dijangkau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S. 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mengeliminasi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 dan b, 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</a:t>
            </a:r>
          </a:p>
          <a:p>
            <a:pPr marL="0" indent="0" algn="ctr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sebagai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   baru untuk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4484E-2A81-40BF-AC1E-F28C0E3A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683934"/>
            <a:ext cx="266700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657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2.4.10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713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Diberikan CFG dengan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aturan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P: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AB</a:t>
            </a:r>
          </a:p>
          <a:p>
            <a:pPr marL="0" indent="0" algn="ctr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AaAA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|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  <a:endParaRPr lang="en-US" sz="2800" dirty="0">
              <a:solidFill>
                <a:srgbClr val="000000"/>
              </a:solidFill>
              <a:latin typeface="Montserrat" panose="02000505000000020004"/>
              <a:sym typeface="Wingdings" panose="05000000000000000000" pitchFamily="2" charset="2"/>
            </a:endParaRPr>
          </a:p>
          <a:p>
            <a:pPr marL="0" indent="0" algn="ctr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BbBB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  <a:sym typeface="Wingdings" panose="05000000000000000000" pitchFamily="2" charset="2"/>
              </a:rPr>
              <a:t>|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𝜆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eliminasi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hasil kali 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λ 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untuk mendapatkan    untuk CFG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ekuivalen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4484E-2A81-40BF-AC1E-F28C0E3AB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032" y="2925234"/>
            <a:ext cx="266700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22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2.4.10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713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Jawab :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A dan B adalah "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Simbol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Nullable"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mereka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λ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. S juga "Nullable",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𝑆→𝐴𝐵, yang hanya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terdiri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dari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simbol-simbol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"Nullable",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yaitu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A dan B.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𝑆→𝐴𝐵,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tiga kemungkinan,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yaitu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𝑆→𝐴𝐵∣𝐴∣𝐵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𝐴→𝑎𝐴𝐴,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empat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kemungkinan,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yaitu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𝐴→𝑎𝐴𝐴∣𝑎𝐴∣𝑎A|𝑎</a:t>
            </a:r>
          </a:p>
          <a:p>
            <a:pPr marL="0" indent="0">
              <a:buNone/>
            </a:pP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16710080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6CFF-5B03-46FC-B72D-66963639D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/>
              <a:t>Contoh 2.4.10</a:t>
            </a:r>
            <a:endParaRPr lang="id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BC64-42D2-4474-8C0C-A0CB0FAD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910966"/>
            <a:ext cx="8501044" cy="53713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Untuk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𝐵→𝑏𝐵𝐵,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kita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memiliki tiga kemungkinan,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yaitu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𝐵→𝑏𝐵𝐵∣𝑏𝐵∣𝑏</a:t>
            </a:r>
          </a:p>
          <a:p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Oleh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karena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itu,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himpunan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produksi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baru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   untuk tata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bahasa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yang </a:t>
            </a:r>
            <a:r>
              <a:rPr lang="en-US" sz="2800" dirty="0" err="1">
                <a:solidFill>
                  <a:srgbClr val="000000"/>
                </a:solidFill>
                <a:latin typeface="Montserrat" panose="02000505000000020004"/>
              </a:rPr>
              <a:t>setara</a:t>
            </a: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 dengan CFG yang diberikan adalah: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𝑆→𝐴𝐵 ∣ 𝐴 ∣ 𝐵 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ontserrat" panose="02000505000000020004"/>
              </a:rPr>
              <a:t>S→</a:t>
            </a: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𝑎𝐴𝐴 ∣ 𝑎𝐴 ∣ 𝑎 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  <a:p>
            <a:pPr marL="0" indent="0" algn="ctr">
              <a:buNone/>
            </a:pPr>
            <a:r>
              <a:rPr lang="el-GR" sz="2800" dirty="0">
                <a:solidFill>
                  <a:srgbClr val="000000"/>
                </a:solidFill>
                <a:latin typeface="Montserrat" panose="02000505000000020004"/>
              </a:rPr>
              <a:t>𝐵→𝑏𝐵𝐵 ∣ 𝑏𝐵 ∣ 𝑏 </a:t>
            </a:r>
            <a:endParaRPr lang="en-US" sz="2800" dirty="0">
              <a:solidFill>
                <a:srgbClr val="000000"/>
              </a:solidFill>
              <a:latin typeface="Montserrat" panose="020005050000000200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65BF0-CB95-48EA-A403-56616A589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297" y="2336514"/>
            <a:ext cx="266700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032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AC466-EBA4-FC49-9B09-A59809026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D8658-4921-9FD0-A2B4-9506F0FE14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TC </a:t>
            </a:r>
            <a:r>
              <a:rPr lang="en-US" sz="3200" dirty="0" err="1"/>
              <a:t>hal</a:t>
            </a:r>
            <a:r>
              <a:rPr lang="en-US" sz="3200" dirty="0"/>
              <a:t> 152 – 153  no 18 - 23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4236338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E33A-672E-4499-A7BA-EE4327F4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092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5332903"/>
            <a:ext cx="404948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2848738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krida Color">
      <a:dk1>
        <a:srgbClr val="00325A"/>
      </a:dk1>
      <a:lt1>
        <a:srgbClr val="FFFFFF"/>
      </a:lt1>
      <a:dk2>
        <a:srgbClr val="00325A"/>
      </a:dk2>
      <a:lt2>
        <a:srgbClr val="FFE12D"/>
      </a:lt2>
      <a:accent1>
        <a:srgbClr val="0080C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DA1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3692</TotalTime>
  <Words>2973</Words>
  <Application>Microsoft Office PowerPoint</Application>
  <PresentationFormat>On-screen Show (4:3)</PresentationFormat>
  <Paragraphs>312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Courier New</vt:lpstr>
      <vt:lpstr>Montserrat</vt:lpstr>
      <vt:lpstr>Montserrat Light</vt:lpstr>
      <vt:lpstr>Times New Roman</vt:lpstr>
      <vt:lpstr>Wingdings</vt:lpstr>
      <vt:lpstr>Custom Design</vt:lpstr>
      <vt:lpstr>PowerPoint Presentation</vt:lpstr>
      <vt:lpstr>PowerPoint Presentation</vt:lpstr>
      <vt:lpstr>2.4.1 Simplification of CFG-Introduction </vt:lpstr>
      <vt:lpstr>2.4.1 Simplification of CFG-Introduction </vt:lpstr>
      <vt:lpstr>2.4.1 Simplification of CFG-Introduction </vt:lpstr>
      <vt:lpstr>Substitution Rule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2.4.2 Abolishing Useless Productions </vt:lpstr>
      <vt:lpstr>Contoh 2.4.1</vt:lpstr>
      <vt:lpstr>Contoh 2.4.1</vt:lpstr>
      <vt:lpstr>Contoh 2.4.2</vt:lpstr>
      <vt:lpstr>Contoh 2.4.2</vt:lpstr>
      <vt:lpstr>Contoh 2.4.3</vt:lpstr>
      <vt:lpstr>Contoh 2.4.3</vt:lpstr>
      <vt:lpstr>Contoh 2.4.3</vt:lpstr>
      <vt:lpstr>Contoh 2.4.3</vt:lpstr>
      <vt:lpstr>Contoh 2.4.4</vt:lpstr>
      <vt:lpstr>Contoh 2.4.4</vt:lpstr>
      <vt:lpstr>Contoh 2.4.4</vt:lpstr>
      <vt:lpstr>Contoh 2.4.5</vt:lpstr>
      <vt:lpstr>Contoh 2.4.5</vt:lpstr>
      <vt:lpstr>Contoh 2.4.6</vt:lpstr>
      <vt:lpstr>Contoh 2.4.6</vt:lpstr>
      <vt:lpstr>Contoh 2.4.6</vt:lpstr>
      <vt:lpstr>Contoh 2.4.7</vt:lpstr>
      <vt:lpstr>Contoh 2.4.7</vt:lpstr>
      <vt:lpstr>Contoh 2.4.8</vt:lpstr>
      <vt:lpstr>Contoh 2.4.8</vt:lpstr>
      <vt:lpstr>Contoh 2.4.8</vt:lpstr>
      <vt:lpstr>Contoh 2.4.8</vt:lpstr>
      <vt:lpstr>Contoh 2.4.9</vt:lpstr>
      <vt:lpstr>Contoh 2.4.9</vt:lpstr>
      <vt:lpstr>Contoh 2.4.9</vt:lpstr>
      <vt:lpstr>Contoh 2.4.10</vt:lpstr>
      <vt:lpstr>Contoh 2.4.10</vt:lpstr>
      <vt:lpstr>Contoh 2.4.10</vt:lpstr>
      <vt:lpstr>tugas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PMP</dc:creator>
  <cp:lastModifiedBy>floren rp</cp:lastModifiedBy>
  <cp:revision>134</cp:revision>
  <dcterms:created xsi:type="dcterms:W3CDTF">2017-09-11T12:08:03Z</dcterms:created>
  <dcterms:modified xsi:type="dcterms:W3CDTF">2025-11-13T04:53:01Z</dcterms:modified>
</cp:coreProperties>
</file>