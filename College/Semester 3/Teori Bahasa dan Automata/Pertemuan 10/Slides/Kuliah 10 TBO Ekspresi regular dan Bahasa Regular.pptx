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handoutMasterIdLst>
    <p:handoutMasterId r:id="rId33"/>
  </p:handoutMasterIdLst>
  <p:sldIdLst>
    <p:sldId id="263" r:id="rId2"/>
    <p:sldId id="259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91" r:id="rId28"/>
    <p:sldId id="288" r:id="rId29"/>
    <p:sldId id="289" r:id="rId30"/>
    <p:sldId id="290" r:id="rId31"/>
    <p:sldId id="26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30CE"/>
    <a:srgbClr val="569E2E"/>
    <a:srgbClr val="000000"/>
    <a:srgbClr val="00325A"/>
    <a:srgbClr val="FFE12E"/>
    <a:srgbClr val="003258"/>
    <a:srgbClr val="E1FF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91" autoAdjust="0"/>
    <p:restoredTop sz="94660"/>
  </p:normalViewPr>
  <p:slideViewPr>
    <p:cSldViewPr snapToGrid="0">
      <p:cViewPr varScale="1">
        <p:scale>
          <a:sx n="63" d="100"/>
          <a:sy n="63" d="100"/>
        </p:scale>
        <p:origin x="14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79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CC9D74-A3DF-4807-B513-ED1C37684F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727127-C60F-48F1-9035-89750229E0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34E62F-46C1-49F8-AE8F-0B301CA791E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378E1E-86B5-4357-9195-4516B2D705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7E2591-2F61-4136-BAB4-4DF68AAB178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D9A7E-B14A-4E32-B8E1-5B58813BD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232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C8604-F9F9-4826-AFA2-26F2A8C8E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83" y="392634"/>
            <a:ext cx="6353117" cy="44695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>
                <a:latin typeface="Montserrat Light" panose="00000400000000000000" pitchFamily="50" charset="0"/>
              </a:defRPr>
            </a:lvl1pPr>
          </a:lstStyle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1A2C98-6B1D-4EE6-A033-426F392A5280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451" y="770164"/>
            <a:ext cx="625474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75D6B45-2776-4541-AA7D-3BCE7EF8CE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514" y="343835"/>
            <a:ext cx="1740068" cy="46375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B531BF4-3342-4DC8-8EE2-3BD3F7EC2E75}"/>
              </a:ext>
            </a:extLst>
          </p:cNvPr>
          <p:cNvSpPr txBox="1">
            <a:spLocks/>
          </p:cNvSpPr>
          <p:nvPr userDrawn="1"/>
        </p:nvSpPr>
        <p:spPr>
          <a:xfrm>
            <a:off x="404418" y="807591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00325A"/>
                </a:solidFill>
                <a:latin typeface="Montserrat" panose="02000505000000020004" pitchFamily="2" charset="0"/>
              </a:rPr>
              <a:t>Click to edit Master title style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F738E19-97A3-4227-B257-7F949888D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83" y="1956435"/>
            <a:ext cx="3868737" cy="3684588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Montserrat" panose="02000505000000020004" pitchFamily="2" charset="0"/>
              </a:defRPr>
            </a:lvl1pPr>
            <a:lvl2pPr>
              <a:defRPr sz="1400">
                <a:solidFill>
                  <a:schemeClr val="tx1"/>
                </a:solidFill>
                <a:latin typeface="Montserrat" panose="02000505000000020004" pitchFamily="2" charset="0"/>
              </a:defRPr>
            </a:lvl2pPr>
            <a:lvl3pPr>
              <a:defRPr sz="12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E0E760F-81DA-4BAE-AC97-982573EC6DDE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872831" y="1956435"/>
            <a:ext cx="3868737" cy="3684588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Montserrat" panose="02000505000000020004" pitchFamily="2" charset="0"/>
              </a:defRPr>
            </a:lvl1pPr>
            <a:lvl2pPr>
              <a:defRPr sz="1400">
                <a:solidFill>
                  <a:schemeClr val="tx1"/>
                </a:solidFill>
                <a:latin typeface="Montserrat" panose="02000505000000020004" pitchFamily="2" charset="0"/>
              </a:defRPr>
            </a:lvl2pPr>
            <a:lvl3pPr>
              <a:defRPr sz="12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5468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C8604-F9F9-4826-AFA2-26F2A8C8E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83" y="323212"/>
            <a:ext cx="6353117" cy="44695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Montserrat Light" panose="00000400000000000000" pitchFamily="50" charset="0"/>
              </a:defRPr>
            </a:lvl1pPr>
          </a:lstStyle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1A2C98-6B1D-4EE6-A033-426F392A5280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451" y="770164"/>
            <a:ext cx="625474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75D6B45-2776-4541-AA7D-3BCE7EF8CE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9514" y="343835"/>
            <a:ext cx="1740068" cy="463756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F738E19-97A3-4227-B257-7F949888D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8309" y="1068539"/>
            <a:ext cx="8285499" cy="3684588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Montserrat" panose="02000505000000020004" pitchFamily="2" charset="0"/>
              </a:defRPr>
            </a:lvl1pPr>
            <a:lvl2pPr>
              <a:defRPr sz="1400">
                <a:solidFill>
                  <a:schemeClr val="tx1"/>
                </a:solidFill>
                <a:latin typeface="Montserrat" panose="02000505000000020004" pitchFamily="2" charset="0"/>
              </a:defRPr>
            </a:lvl2pPr>
            <a:lvl3pPr>
              <a:defRPr sz="12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31609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1039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F921CE-1BFB-4C33-9E39-9E365E85F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E4CF2-F9B2-4A2F-8879-48B31C82B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FEA90-32AA-4707-952A-6016A899B1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C12DA-7C3F-4F5E-A3EF-25444230DB43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581A-1314-46EF-8E8C-577D4775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4EFBB-8EF2-4237-B64F-A4D1656066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A2CBB-99DC-4D92-93F8-130B3B4D4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154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5" r:id="rId2"/>
    <p:sldLayoutId id="214748367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jp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E306FF1-BEF2-43D4-B7EC-25BB33C8811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" r="-1"/>
          <a:stretch/>
        </p:blipFill>
        <p:spPr>
          <a:xfrm>
            <a:off x="0" y="-1"/>
            <a:ext cx="9144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A60BCB-9860-40F9-A670-EE8D68304150}"/>
              </a:ext>
            </a:extLst>
          </p:cNvPr>
          <p:cNvSpPr txBox="1"/>
          <p:nvPr/>
        </p:nvSpPr>
        <p:spPr>
          <a:xfrm>
            <a:off x="348343" y="4430889"/>
            <a:ext cx="4049486" cy="1609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id-ID" sz="2800" dirty="0">
                <a:solidFill>
                  <a:srgbClr val="003258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Kuliah </a:t>
            </a:r>
            <a:r>
              <a:rPr lang="en-US" sz="2800" dirty="0">
                <a:solidFill>
                  <a:srgbClr val="003258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10</a:t>
            </a:r>
            <a:r>
              <a:rPr lang="id-ID" sz="2800" dirty="0">
                <a:solidFill>
                  <a:srgbClr val="003258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 TBO</a:t>
            </a:r>
          </a:p>
          <a:p>
            <a:pPr>
              <a:lnSpc>
                <a:spcPct val="120000"/>
              </a:lnSpc>
            </a:pPr>
            <a:r>
              <a:rPr lang="id-ID" sz="2800" dirty="0">
                <a:solidFill>
                  <a:srgbClr val="003258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Ekspresi Regular dan Bahasa Regular</a:t>
            </a:r>
            <a:endParaRPr lang="en-US" sz="2800" dirty="0">
              <a:solidFill>
                <a:srgbClr val="003258"/>
              </a:solidFill>
              <a:latin typeface="Montserrat" panose="02000505000000020004" pitchFamily="2" charset="0"/>
              <a:ea typeface="Roboto" pitchFamily="2" charset="0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36325F-D6C2-4013-B76D-978800568C36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5874F9AE-6762-4FEB-8D26-D1C62D41A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944" y="276044"/>
            <a:ext cx="4322056" cy="2136747"/>
          </a:xfrm>
          <a:prstGeom prst="rect">
            <a:avLst/>
          </a:prstGeom>
        </p:spPr>
      </p:pic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id="{DB86C1E3-11D7-4358-9612-C15906EED3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938" y="2319337"/>
            <a:ext cx="4562475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33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63387"/>
            <a:ext cx="819945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Ekspresi regular disusun dari bahasa regular.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Dua atau lebih ekspresi regular disebut ekuivalen apabila merupakan bahasa yang sama.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Sebuah bahasa regular L dengan alfabet </a:t>
            </a: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 </a:t>
            </a: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adalah sebuah bahasa yang dapat dihasilkan dengan menggunakan operasi gabungan, konkatenasi, dan/atau Kleene*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Jika diasumsikan bahwa </a:t>
            </a: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</a:t>
            </a: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adalah himpunan alfabet, maka ekspresi regular dapat didefinisikan sebagai berikut: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Bila 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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termasuk anggota dari R, maka 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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adalah regular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Bila A adalah anggota dari R, maka A adalah ekspresi regular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Untuk setiap x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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, {x} adalah anggota dari R ekspresi regularnya adalah x.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Bila L dan M adalah anggota R dan r1 dan r2 adalah ekspresi regular, maka:</a:t>
            </a:r>
          </a:p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id-ID" sz="20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L</a:t>
            </a:r>
            <a:r>
              <a:rPr lang="id-ID" sz="20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</a:t>
            </a:r>
            <a:r>
              <a:rPr lang="id-ID" sz="20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M anggota R, ekspresi regularnya adalah (r1 + r2)</a:t>
            </a:r>
          </a:p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id-ID" sz="20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LM anggota R, ekspresi regularnya adalah (r1r2)</a:t>
            </a:r>
          </a:p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id-ID" sz="20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L* anggota R, ekspresi regularnya adalah r1</a:t>
            </a:r>
            <a:endParaRPr lang="en-US" sz="2000" dirty="0">
              <a:solidFill>
                <a:srgbClr val="FF0000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003258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id-ID" sz="2800" dirty="0">
                <a:solidFill>
                  <a:srgbClr val="569E2E"/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Pedahuluan</a:t>
            </a:r>
            <a:endParaRPr lang="en-US" sz="2800" dirty="0">
              <a:solidFill>
                <a:srgbClr val="569E2E"/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299" y="6064836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433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6515100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800" b="0" i="0" u="none" strike="noStrike" kern="1200" cap="none" spc="0" normalizeH="0" baseline="0" noProof="0" dirty="0">
                <a:ln>
                  <a:noFill/>
                </a:ln>
                <a:solidFill>
                  <a:srgbClr val="569E2E"/>
                </a:solidFill>
                <a:effectLst/>
                <a:uLnTx/>
                <a:uFillTx/>
                <a:latin typeface="Montserrat Light" panose="00000400000000000000" pitchFamily="50" charset="0"/>
                <a:ea typeface="Roboto" pitchFamily="2" charset="0"/>
                <a:cs typeface="Arial"/>
              </a:rPr>
              <a:t>Korespondensi ER dan Bahasa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569E2E"/>
              </a:solidFill>
              <a:effectLst/>
              <a:uLnTx/>
              <a:uFillTx/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4C7113AD-C17F-447F-8C43-331772C61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337540"/>
              </p:ext>
            </p:extLst>
          </p:nvPr>
        </p:nvGraphicFramePr>
        <p:xfrm>
          <a:off x="1617785" y="1397000"/>
          <a:ext cx="6002215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4215">
                  <a:extLst>
                    <a:ext uri="{9D8B030D-6E8A-4147-A177-3AD203B41FA5}">
                      <a16:colId xmlns:a16="http://schemas.microsoft.com/office/drawing/2014/main" val="28118452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0095017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Ekspresi Regular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Bahasa Regular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088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x, untuk setiap x</a:t>
                      </a:r>
                      <a:r>
                        <a:rPr lang="id-ID" b="1" dirty="0">
                          <a:sym typeface="Symbol" panose="05050102010706020507" pitchFamily="18" charset="2"/>
                        </a:rPr>
                        <a:t></a:t>
                      </a:r>
                      <a:endParaRPr lang="id-ID" b="1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{x}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155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>
                          <a:sym typeface="Symbol" panose="05050102010706020507" pitchFamily="18" charset="2"/>
                        </a:rPr>
                        <a:t></a:t>
                      </a:r>
                      <a:endParaRPr lang="id-ID" b="1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{ </a:t>
                      </a:r>
                      <a:r>
                        <a:rPr lang="id-ID" b="1" dirty="0">
                          <a:sym typeface="Symbol" panose="05050102010706020507" pitchFamily="18" charset="2"/>
                        </a:rPr>
                        <a:t></a:t>
                      </a:r>
                      <a:r>
                        <a:rPr lang="id-ID" b="1" dirty="0"/>
                        <a:t>}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032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>
                          <a:sym typeface="Symbol" panose="05050102010706020507" pitchFamily="18" charset="2"/>
                        </a:rPr>
                        <a:t></a:t>
                      </a:r>
                      <a:endParaRPr lang="id-ID" b="1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{ }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768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(r1)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L(r1)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47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r1*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{L(r1)}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953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r1r2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L(r1)L(r2)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269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r1 + r2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L(r1) </a:t>
                      </a:r>
                      <a:r>
                        <a:rPr lang="id-ID" b="1" dirty="0">
                          <a:sym typeface="Symbol" panose="05050102010706020507" pitchFamily="18" charset="2"/>
                        </a:rPr>
                        <a:t></a:t>
                      </a:r>
                      <a:r>
                        <a:rPr lang="id-ID" b="1" dirty="0"/>
                        <a:t>  L(r2)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936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2473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92096" y="761313"/>
            <a:ext cx="819945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d-ID" sz="28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Sebuah bahasa regular jika dioperasikan dengan bahasa regular lainnya maka akan menghasilkan bahasa regular.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d-ID" sz="28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Operator dalam ekspresi regular adalah: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id-ID" sz="28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Gabungan dari dua bahasa L dan M</a:t>
            </a:r>
            <a:r>
              <a:rPr lang="id-ID" sz="28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, dinotasikan dengan </a:t>
            </a:r>
            <a:r>
              <a:rPr lang="id-ID" sz="28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L</a:t>
            </a:r>
            <a:r>
              <a:rPr lang="id-ID" sz="28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</a:t>
            </a:r>
            <a:r>
              <a:rPr lang="id-ID" sz="28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M</a:t>
            </a:r>
            <a:r>
              <a:rPr lang="id-ID" sz="28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adalah himpunan dari string yang ada dalam L maupun dalam M.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Co</a:t>
            </a:r>
            <a:r>
              <a:rPr lang="id-ID" sz="28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ntoh</a:t>
            </a:r>
            <a:r>
              <a:rPr lang="id-ID" sz="28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: </a:t>
            </a:r>
          </a:p>
          <a:p>
            <a:pPr lvl="0"/>
            <a:r>
              <a:rPr lang="id-ID" sz="28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Jika terdapat bahasa L= { </a:t>
            </a:r>
            <a:r>
              <a:rPr lang="id-ID" sz="28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</a:t>
            </a:r>
            <a:r>
              <a:rPr lang="id-ID" sz="28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, ab, abb, aba, abba} dan M = (ab, abb, aba, abba} maka L </a:t>
            </a:r>
            <a:r>
              <a:rPr lang="id-ID" sz="28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</a:t>
            </a:r>
            <a:r>
              <a:rPr lang="id-ID" sz="28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M = {</a:t>
            </a:r>
            <a:r>
              <a:rPr lang="id-ID" sz="28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</a:t>
            </a:r>
            <a:r>
              <a:rPr lang="id-ID" sz="28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, ab, abb,aba, abba}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32214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800" b="0" i="0" u="none" strike="noStrike" kern="1200" cap="none" spc="0" normalizeH="0" baseline="0" noProof="0" dirty="0">
                <a:ln>
                  <a:noFill/>
                </a:ln>
                <a:solidFill>
                  <a:srgbClr val="569E2E"/>
                </a:solidFill>
                <a:effectLst/>
                <a:uLnTx/>
                <a:uFillTx/>
                <a:latin typeface="Montserrat Light" panose="00000400000000000000" pitchFamily="50" charset="0"/>
                <a:ea typeface="Roboto" pitchFamily="2" charset="0"/>
                <a:cs typeface="Arial"/>
              </a:rPr>
              <a:t>Operator ekspresi Regular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569E2E"/>
              </a:solidFill>
              <a:effectLst/>
              <a:uLnTx/>
              <a:uFillTx/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185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2" y="863387"/>
            <a:ext cx="844396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 startAt="2"/>
              <a:defRPr/>
            </a:pPr>
            <a:r>
              <a:rPr lang="id-ID" sz="24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Konkatenasi bahasa L dan M adalah himpunan string yang dapat dibentuk dengan mengambil string apa saja di L dan </a:t>
            </a:r>
            <a:r>
              <a:rPr lang="id-ID" sz="24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disambungkan</a:t>
            </a:r>
            <a:r>
              <a:rPr lang="id-ID" sz="24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dengan string apa saja di M.</a:t>
            </a:r>
          </a:p>
          <a:p>
            <a:pPr lvl="0">
              <a:defRPr/>
            </a:pPr>
            <a:r>
              <a:rPr lang="id-ID" sz="24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Contoh:</a:t>
            </a:r>
            <a:r>
              <a:rPr lang="id-ID" sz="24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</a:t>
            </a:r>
          </a:p>
          <a:p>
            <a:pPr lvl="0">
              <a:defRPr/>
            </a:pPr>
            <a:r>
              <a:rPr lang="id-ID" sz="24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Jika terdapat bahasa L= {</a:t>
            </a:r>
            <a:r>
              <a:rPr lang="id-ID" sz="24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</a:t>
            </a:r>
            <a:r>
              <a:rPr lang="id-ID" sz="24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, ab, abb, aba, abba, } dan M = {</a:t>
            </a:r>
            <a:r>
              <a:rPr lang="id-ID" sz="24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</a:t>
            </a:r>
            <a:r>
              <a:rPr lang="id-ID" sz="24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, ab, abb, aba, abba} maka LM = {ab, abb, baa, abba, abab, ababb, </a:t>
            </a:r>
            <a:r>
              <a:rPr lang="id-ID" sz="24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abba</a:t>
            </a:r>
            <a:r>
              <a:rPr lang="id-ID" sz="24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a, abbaabba, babb, ...}</a:t>
            </a:r>
          </a:p>
          <a:p>
            <a:pPr lvl="0">
              <a:defRPr/>
            </a:pPr>
            <a:endParaRPr lang="id-ID" sz="24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lvl="0">
              <a:defRPr/>
            </a:pPr>
            <a:r>
              <a:rPr lang="id-ID" sz="24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String yang disambungkan tidak harus semuanya, biasa saja hanya 1 string </a:t>
            </a:r>
            <a:r>
              <a:rPr lang="id-ID" sz="24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dari bahasa L disambungkan dengan beberapa string dari bahasa M.</a:t>
            </a:r>
          </a:p>
          <a:p>
            <a:pPr lvl="0">
              <a:defRPr/>
            </a:pPr>
            <a:r>
              <a:rPr lang="id-ID" sz="24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Pada string </a:t>
            </a:r>
            <a:r>
              <a:rPr lang="id-ID" sz="24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babb</a:t>
            </a:r>
            <a:r>
              <a:rPr lang="id-ID" sz="24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, konkatenasi dari huruf kedua string “</a:t>
            </a:r>
            <a:r>
              <a:rPr lang="id-ID" sz="24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a</a:t>
            </a:r>
            <a:r>
              <a:rPr lang="id-ID" sz="24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b</a:t>
            </a:r>
            <a:r>
              <a:rPr lang="id-ID" sz="24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” pada L dan string “</a:t>
            </a:r>
            <a:r>
              <a:rPr lang="id-ID" sz="24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abb</a:t>
            </a:r>
            <a:r>
              <a:rPr lang="id-ID" sz="24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” pada M.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569E2E"/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Operator ekspresi Regular</a:t>
            </a:r>
            <a:endParaRPr lang="en-US" sz="2800" dirty="0">
              <a:solidFill>
                <a:srgbClr val="569E2E"/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724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63387"/>
            <a:ext cx="819945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 startAt="3"/>
              <a:defRPr/>
            </a:pPr>
            <a:r>
              <a:rPr lang="id-ID" sz="28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Closure adalah operasi string dengan Kleene*, sebuah bahasa dinotasikan dengan L* berarti merupakan himpunan string yang dapat dibentuk dengan mengambil </a:t>
            </a:r>
            <a:r>
              <a:rPr lang="id-ID" sz="28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sejumlah string</a:t>
            </a:r>
            <a:r>
              <a:rPr lang="id-ID" sz="28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dari L, kemungkinan juga dengan perulangan (repetisi).</a:t>
            </a:r>
          </a:p>
          <a:p>
            <a:pPr lvl="0">
              <a:defRPr/>
            </a:pPr>
            <a:r>
              <a:rPr lang="id-ID" sz="28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Contoh:</a:t>
            </a:r>
            <a:r>
              <a:rPr lang="id-ID" sz="28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</a:t>
            </a:r>
          </a:p>
          <a:p>
            <a:pPr lvl="0">
              <a:defRPr/>
            </a:pPr>
            <a:r>
              <a:rPr lang="id-ID" sz="28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Jika terdapat bahasa L = { </a:t>
            </a:r>
            <a:r>
              <a:rPr lang="id-ID" sz="28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,</a:t>
            </a:r>
            <a:r>
              <a:rPr lang="id-ID" sz="28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ab, aba, bb} maka L* dapat mengandung string { ab, abab, abbb, ababb, ...}</a:t>
            </a:r>
            <a:endParaRPr lang="en-US" sz="28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569E2E"/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Operator ekspresi Regular</a:t>
            </a:r>
            <a:endParaRPr lang="en-US" sz="2800" dirty="0">
              <a:solidFill>
                <a:srgbClr val="569E2E"/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112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63387"/>
            <a:ext cx="819945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Pumping lemma atau dalam bahasa indonesia berarti pemompaan adalah suatu metode untuk membuktikan jika suatu bahasa adalah regular.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d-ID" sz="24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Definisi pumping lemma menurut Hopcroft adalah:</a:t>
            </a:r>
          </a:p>
          <a:p>
            <a:pPr lvl="1"/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Misalkan L adalah sebuah bahasa regular, terdapat sebuah bilangan n yang sedemikian sehingga terdapat string w pada L yang panjangnya </a:t>
            </a:r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</a:t>
            </a:r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 n, string w harus dapat dibagi tiga bagian, w = xyz.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Dengan ketentuan:</a:t>
            </a:r>
          </a:p>
          <a:p>
            <a:pPr marL="914400" lvl="1" indent="-457200">
              <a:buFont typeface="+mj-lt"/>
              <a:buAutoNum type="arabicPeriod"/>
            </a:pPr>
            <a:r>
              <a:rPr lang="id-ID" sz="24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y </a:t>
            </a:r>
            <a:r>
              <a:rPr lang="id-ID" sz="24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 </a:t>
            </a:r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 </a:t>
            </a:r>
          </a:p>
          <a:p>
            <a:pPr marL="914400" lvl="1" indent="-457200">
              <a:buFont typeface="+mj-lt"/>
              <a:buAutoNum type="arabicPeriod"/>
            </a:pPr>
            <a:r>
              <a:rPr lang="id-ID" sz="24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|xy| </a:t>
            </a:r>
            <a:r>
              <a:rPr lang="id-ID" sz="24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</a:t>
            </a:r>
            <a:r>
              <a:rPr lang="id-ID" sz="24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n</a:t>
            </a:r>
          </a:p>
          <a:p>
            <a:pPr marL="914400" lvl="1" indent="-457200">
              <a:buFont typeface="+mj-lt"/>
              <a:buAutoNum type="arabicPeriod"/>
            </a:pPr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Untuk semua k </a:t>
            </a:r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</a:t>
            </a:r>
            <a:r>
              <a:rPr kumimoji="0" lang="id-ID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 </a:t>
            </a:r>
            <a:r>
              <a:rPr lang="id-ID" sz="24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0,  string xy</a:t>
            </a:r>
            <a:r>
              <a:rPr lang="id-ID" sz="2400" baseline="500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k</a:t>
            </a:r>
            <a:r>
              <a:rPr lang="id-ID" sz="24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z juga merupakan bahasa L.</a:t>
            </a:r>
          </a:p>
          <a:p>
            <a:pPr lvl="0"/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800" b="0" i="0" u="none" strike="noStrike" kern="1200" cap="none" spc="0" normalizeH="0" baseline="0" noProof="0" dirty="0">
                <a:ln>
                  <a:noFill/>
                </a:ln>
                <a:solidFill>
                  <a:srgbClr val="569E2E"/>
                </a:solidFill>
                <a:effectLst/>
                <a:uLnTx/>
                <a:uFillTx/>
                <a:latin typeface="Montserrat Light" panose="00000400000000000000" pitchFamily="50" charset="0"/>
                <a:ea typeface="Roboto" pitchFamily="2" charset="0"/>
                <a:cs typeface="Arial"/>
              </a:rPr>
              <a:t>Pumping Lemma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569E2E"/>
              </a:solidFill>
              <a:effectLst/>
              <a:uLnTx/>
              <a:uFillTx/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996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63387"/>
            <a:ext cx="819945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id-ID" sz="20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Contoh 1: </a:t>
            </a:r>
          </a:p>
          <a:p>
            <a:pPr lvl="0">
              <a:defRPr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Terdapat bahasa L = {ab</a:t>
            </a:r>
            <a:r>
              <a:rPr lang="id-ID" sz="2000" baseline="50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n</a:t>
            </a: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; n&gt;0}. Apakah L merupakan bahasa regular?</a:t>
            </a:r>
          </a:p>
          <a:p>
            <a:pPr lvl="0">
              <a:defRPr/>
            </a:pP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Dengan pumping lemma dapat dibuktikan apakah L bahasa regular atau bukan. </a:t>
            </a:r>
            <a:r>
              <a:rPr lang="id-ID" sz="20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Misalkan w = xyz adalah string dari L yang panjangnya 3 dan diuraikan menjadi x = a, y = b, z = b.</a:t>
            </a:r>
          </a:p>
          <a:p>
            <a:pPr lvl="0"/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Ketentuan 1 : y 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 , terpenuhi</a:t>
            </a:r>
          </a:p>
          <a:p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Ketentuan 2 : 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|xy| = |ab| 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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3 terpenuhi</a:t>
            </a:r>
          </a:p>
          <a:p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Ketentuan 3 : Untuk semua k 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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0, string string xy</a:t>
            </a:r>
            <a:r>
              <a:rPr lang="id-ID" sz="2000" baseline="50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k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z juga merupakan string dari bahasa L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Jika k bernilai 0 maka terbentuk string ab </a:t>
            </a: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</a:t>
            </a: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L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Jika k bernilai 1 maka terbentuk string abb </a:t>
            </a: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</a:t>
            </a: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L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Jika k bernilai 2 maka terbentuk string abbb </a:t>
            </a: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</a:t>
            </a: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L</a:t>
            </a:r>
          </a:p>
          <a:p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Karena semua ketentuan terpenuhi, maka L adalah bahasa regular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569E2E"/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Pumping Lemma</a:t>
            </a:r>
            <a:endParaRPr lang="en-US" sz="2800" dirty="0">
              <a:solidFill>
                <a:srgbClr val="569E2E"/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585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182880" y="863387"/>
            <a:ext cx="876417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Contoh 2: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Terdapat bahasa L yang terdiri dari string yang dibentuk dari substring ab, atau ba yang dapat berulang-ulang. Misalnya string ab, ba, aaabb, abab, aababababaa, ... . Apakah L merupakan bahasa regular?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Dimisalkan w adalah string berbentuk perulangan ba. Dapat diambil contoh w = xyz dengan panjang string 4 dan diuraikan menjadi x = a, y = ba, z = b.</a:t>
            </a:r>
          </a:p>
          <a:p>
            <a:pPr lvl="0"/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Ketentuan 1 : y 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 , terpenuhi</a:t>
            </a:r>
          </a:p>
          <a:p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Ketentuan 2 : 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|xy| = |aba| 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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4 terpenuhi</a:t>
            </a:r>
          </a:p>
          <a:p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Ketentuan 3 : Untuk semua k 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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0, string string xy</a:t>
            </a:r>
            <a:r>
              <a:rPr lang="id-ID" sz="2000" baseline="50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k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z juga merupakan string dari bahasa L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id-ID" sz="2000" dirty="0">
                <a:solidFill>
                  <a:srgbClr val="FFC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Jika k bernilai 0 maka terbentuk string ab </a:t>
            </a:r>
            <a:r>
              <a:rPr lang="id-ID" sz="2000" dirty="0">
                <a:solidFill>
                  <a:srgbClr val="FFC00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</a:t>
            </a:r>
            <a:r>
              <a:rPr lang="id-ID" sz="2000" dirty="0">
                <a:solidFill>
                  <a:srgbClr val="FFC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L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id-ID" sz="2000" dirty="0">
                <a:solidFill>
                  <a:srgbClr val="FFC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Jika k bernilai 1 maka terbentuk string abab </a:t>
            </a:r>
            <a:r>
              <a:rPr lang="id-ID" sz="2000" dirty="0">
                <a:solidFill>
                  <a:srgbClr val="FFC00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</a:t>
            </a:r>
            <a:r>
              <a:rPr lang="id-ID" sz="2000" dirty="0">
                <a:solidFill>
                  <a:srgbClr val="FFC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L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id-ID" sz="2000" dirty="0">
                <a:solidFill>
                  <a:srgbClr val="FFC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Jika k bernilai 2 maka terbentuk string ababab </a:t>
            </a:r>
            <a:r>
              <a:rPr lang="id-ID" sz="2000" dirty="0">
                <a:solidFill>
                  <a:srgbClr val="FFC00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</a:t>
            </a:r>
            <a:r>
              <a:rPr lang="id-ID" sz="2000" dirty="0">
                <a:solidFill>
                  <a:srgbClr val="FFC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L</a:t>
            </a:r>
          </a:p>
          <a:p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Karena semua ketentuan terpenuhi, maka L adalah bahasa regular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569E2E"/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Pumping Lemma</a:t>
            </a:r>
            <a:endParaRPr lang="en-US" sz="2800" dirty="0">
              <a:solidFill>
                <a:srgbClr val="569E2E"/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769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63387"/>
            <a:ext cx="8199454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Contoh 3: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Terdapat bahasa L = {a</a:t>
            </a:r>
            <a:r>
              <a:rPr lang="id-ID" sz="2000" baseline="50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n</a:t>
            </a: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b</a:t>
            </a:r>
            <a:r>
              <a:rPr lang="id-ID" sz="2000" baseline="50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n</a:t>
            </a: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|n </a:t>
            </a: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</a:t>
            </a: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1} dengan memiliki substring ab. Apakah L merupakan bahasa regular?</a:t>
            </a:r>
          </a:p>
          <a:p>
            <a:pPr lvl="0">
              <a:defRPr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Dimisalkan w adalah string berbentuk perulangan ab. Dapat diambil contoh w = xyz dengan panjang string 4 dan diuraikan menjadi x = a, y = ab, z = b.</a:t>
            </a:r>
          </a:p>
          <a:p>
            <a:pPr lvl="0"/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Ketentuan 1 : y 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 , terpenuhi</a:t>
            </a:r>
          </a:p>
          <a:p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Ketentuan 2 : 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|xy| = |aab| 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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4 terpenuhi</a:t>
            </a:r>
          </a:p>
          <a:p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Ketentuan 3 : Untuk semua k 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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0, string string xy</a:t>
            </a:r>
            <a:r>
              <a:rPr lang="id-ID" sz="2000" baseline="50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k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z juga merupakan string dari bahasa L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id-ID" sz="2000" dirty="0">
                <a:solidFill>
                  <a:srgbClr val="FFC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Jika k bernilai 0 maka terbentuk string ab </a:t>
            </a:r>
            <a:r>
              <a:rPr lang="id-ID" sz="2000" dirty="0">
                <a:solidFill>
                  <a:srgbClr val="FFC00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</a:t>
            </a:r>
            <a:r>
              <a:rPr lang="id-ID" sz="2000" dirty="0">
                <a:solidFill>
                  <a:srgbClr val="FFC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L karena jumlah a dan b sama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id-ID" sz="2000" dirty="0">
                <a:solidFill>
                  <a:srgbClr val="FFC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Jika k bernilai 1 maka terbentuk string aabb </a:t>
            </a:r>
            <a:r>
              <a:rPr lang="id-ID" sz="2000" dirty="0">
                <a:solidFill>
                  <a:srgbClr val="FFC00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</a:t>
            </a:r>
            <a:r>
              <a:rPr lang="id-ID" sz="2000" dirty="0">
                <a:solidFill>
                  <a:srgbClr val="FFC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L karena jumlah a dan b sama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id-ID" sz="2000" dirty="0">
                <a:solidFill>
                  <a:srgbClr val="FFC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Jika k bernilai 2 maka terbentuk string aababb </a:t>
            </a:r>
            <a:r>
              <a:rPr lang="id-ID" sz="2000" dirty="0">
                <a:solidFill>
                  <a:srgbClr val="FFC00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</a:t>
            </a:r>
            <a:r>
              <a:rPr lang="id-ID" sz="2000" dirty="0">
                <a:solidFill>
                  <a:srgbClr val="FFC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L karena jumlah a dan b sama</a:t>
            </a:r>
          </a:p>
          <a:p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Karena semua ketentuan terpenuhi, maka L adalah bahasa regular</a:t>
            </a: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569E2E"/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Pumping Lemma</a:t>
            </a:r>
            <a:endParaRPr lang="en-US" sz="2800" dirty="0">
              <a:solidFill>
                <a:srgbClr val="569E2E"/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725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63387"/>
            <a:ext cx="819945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Contoh 4 : terdapat bahasa L = {a</a:t>
            </a:r>
            <a:r>
              <a:rPr kumimoji="0" lang="id-ID" sz="2000" b="0" i="0" u="none" strike="noStrike" kern="1200" cap="none" spc="0" normalizeH="0" baseline="5000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n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| n bilangan ganjil}. Apakah L merupakan bahasa regular?</a:t>
            </a:r>
          </a:p>
          <a:p>
            <a:pPr lvl="0">
              <a:defRPr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Dimisalkan w adalah string dengan panjang string 3 . Dapat diambil contoh w = xyz dan diuraikan menjadi x = a, y = a, z = a.</a:t>
            </a:r>
          </a:p>
          <a:p>
            <a:pPr lvl="0"/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Ketentuan 1 : y 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 , terpenuhi</a:t>
            </a:r>
          </a:p>
          <a:p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Ketentuan 2 : 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|xy| = |aab| 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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3 terpenuhi</a:t>
            </a:r>
          </a:p>
          <a:p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Ketentuan 3 : Untuk semua k 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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0, string string xy</a:t>
            </a:r>
            <a:r>
              <a:rPr lang="id-ID" sz="2000" baseline="50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k</a:t>
            </a:r>
            <a:r>
              <a:rPr lang="id-ID" sz="2000" dirty="0">
                <a:solidFill>
                  <a:srgbClr val="00B05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z juga merupakan string dari bahasa L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id-ID" sz="2000" dirty="0">
                <a:solidFill>
                  <a:srgbClr val="FFC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Jika k bernilai 1 maka terbentuk string aaa </a:t>
            </a:r>
            <a:r>
              <a:rPr lang="id-ID" sz="2000" dirty="0">
                <a:solidFill>
                  <a:srgbClr val="FFC00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</a:t>
            </a:r>
            <a:r>
              <a:rPr lang="id-ID" sz="2000" dirty="0">
                <a:solidFill>
                  <a:srgbClr val="FFC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L karena jumlah a ganjil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id-ID" sz="20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Jika k bernilai 2 maka terbentuk string aaaa </a:t>
            </a:r>
            <a:r>
              <a:rPr lang="id-ID" sz="20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</a:t>
            </a:r>
            <a:r>
              <a:rPr lang="id-ID" sz="20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L karena jumlah a genap</a:t>
            </a:r>
          </a:p>
          <a:p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Karena semua ketentuan terpenuhi, maka L adalah bukan bahasa regular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569E2E"/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Pumping Lemma</a:t>
            </a:r>
            <a:endParaRPr lang="en-US" sz="2800" dirty="0">
              <a:solidFill>
                <a:srgbClr val="569E2E"/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988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174172" y="797510"/>
            <a:ext cx="844731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Ekspresi regular merupakan bentuk notasi dari bahasa regular.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Contoh 1:</a:t>
            </a:r>
          </a:p>
          <a:p>
            <a:pPr lvl="0"/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Tuliskan ekspresi regular dari L = {a</a:t>
            </a:r>
            <a:r>
              <a:rPr kumimoji="0" lang="id-ID" sz="2000" b="0" i="0" u="none" strike="noStrike" kern="1200" cap="none" spc="0" normalizeH="0" baseline="5000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n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b</a:t>
            </a:r>
            <a:r>
              <a:rPr kumimoji="0" lang="id-ID" sz="2000" b="0" i="0" u="none" strike="noStrike" kern="1200" cap="none" spc="0" normalizeH="0" baseline="5000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m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| n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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 1, m </a:t>
            </a: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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1}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Ekspresi regularnya : </a:t>
            </a:r>
            <a:r>
              <a:rPr lang="id-ID" sz="20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a</a:t>
            </a:r>
            <a:r>
              <a:rPr lang="id-ID" sz="2000" baseline="500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+</a:t>
            </a:r>
            <a:r>
              <a:rPr lang="id-ID" sz="20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b</a:t>
            </a:r>
            <a:r>
              <a:rPr lang="id-ID" sz="2000" baseline="500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+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Contoh 2:</a:t>
            </a:r>
          </a:p>
          <a:p>
            <a:pPr lvl="0"/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Tuliskan ekspresi regular dari L = {a</a:t>
            </a:r>
            <a:r>
              <a:rPr lang="id-ID" sz="2000" baseline="50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2n</a:t>
            </a: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b</a:t>
            </a:r>
            <a:r>
              <a:rPr lang="id-ID" sz="2000" baseline="50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2m+2</a:t>
            </a: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|n </a:t>
            </a: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</a:t>
            </a: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0, m </a:t>
            </a: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</a:t>
            </a: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0}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Ekspresi regularnya : </a:t>
            </a:r>
            <a:r>
              <a:rPr lang="id-ID" sz="20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(aa)*(bb)*bb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Contoh 3: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Tuliskan ekspresi regular dari L = {0</a:t>
            </a:r>
            <a:r>
              <a:rPr lang="id-ID" sz="2000" baseline="50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m</a:t>
            </a: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1</a:t>
            </a:r>
            <a:r>
              <a:rPr lang="id-ID" sz="2000" baseline="50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m</a:t>
            </a: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| m &gt; 0} dengan ketentuan satu atau lebih alfabet 0 diikuti satu atau lebih alfabet 1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Ekspresi regularnya :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00*11*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Contoh 4: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Tuliskan ekspresi regular dari L = {0</a:t>
            </a:r>
            <a:r>
              <a:rPr kumimoji="0" lang="id-ID" sz="2000" b="0" i="0" u="none" strike="noStrike" kern="1200" cap="none" spc="0" normalizeH="0" baseline="5000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m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01</a:t>
            </a:r>
            <a:r>
              <a:rPr kumimoji="0" lang="id-ID" sz="2000" b="0" i="0" u="none" strike="noStrike" kern="1200" cap="none" spc="0" normalizeH="0" baseline="5000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n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| m &gt; 0, n &gt; 0}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4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Ekspresi regularnya : </a:t>
            </a:r>
            <a:r>
              <a:rPr lang="id-ID" sz="24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00*011*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7308166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800" b="0" i="0" u="none" strike="noStrike" kern="1200" cap="none" spc="0" normalizeH="0" baseline="0" noProof="0" dirty="0">
                <a:ln>
                  <a:noFill/>
                </a:ln>
                <a:solidFill>
                  <a:srgbClr val="569E2E"/>
                </a:solidFill>
                <a:effectLst/>
                <a:uLnTx/>
                <a:uFillTx/>
                <a:latin typeface="Montserrat Light" panose="00000400000000000000" pitchFamily="50" charset="0"/>
                <a:ea typeface="Roboto" pitchFamily="2" charset="0"/>
                <a:cs typeface="Arial"/>
              </a:rPr>
              <a:t>Ekspresi regular dan bahasa regular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569E2E"/>
              </a:solidFill>
              <a:effectLst/>
              <a:uLnTx/>
              <a:uFillTx/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448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63387"/>
            <a:ext cx="819945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Ekspresi regular mendefinisikan kelas yang sama pada setiap finite automata.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Setiap bahasa yang didefinisikan oleh mesin automata didefinisikan juga oleh ekspresi regular.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Sebuah ekspresi regular dapat dibentuk menjadi finite automata.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Teorema mengkonversi ekspresi regular menjadi finite automata (Hopcroft):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d-ID" sz="2000" dirty="0">
                <a:solidFill>
                  <a:schemeClr val="accent2">
                    <a:lumMod val="75000"/>
                  </a:schemeClr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Untuk setiap x dari himpunan alfabet input  ekspresi regular menandakan suatu bahasa {x}. Pernyataan ini ditunjukkan dengan gambar NFA satu start state dan satu final state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7251895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800" b="0" i="0" u="none" strike="noStrike" kern="1200" cap="none" spc="0" normalizeH="0" baseline="0" noProof="0" dirty="0">
                <a:ln>
                  <a:noFill/>
                </a:ln>
                <a:solidFill>
                  <a:srgbClr val="569E2E"/>
                </a:solidFill>
                <a:effectLst/>
                <a:uLnTx/>
                <a:uFillTx/>
                <a:latin typeface="Montserrat Light" panose="00000400000000000000" pitchFamily="50" charset="0"/>
                <a:ea typeface="Roboto" pitchFamily="2" charset="0"/>
                <a:cs typeface="Arial"/>
              </a:rPr>
              <a:t>Ekspresi regular ke finite automata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569E2E"/>
              </a:solidFill>
              <a:effectLst/>
              <a:uLnTx/>
              <a:uFillTx/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852580F3-7B1D-49DD-86C1-C2A584D29F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086" y="4604351"/>
            <a:ext cx="3671667" cy="136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247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63387"/>
            <a:ext cx="819945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Ekspresi regular  menandakan bahasa {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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} yaitu bahasa yang hanya mengandung empty string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d-ID" sz="2000" dirty="0">
                <a:solidFill>
                  <a:schemeClr val="accent2">
                    <a:lumMod val="75000"/>
                  </a:schemeClr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Ekspresi regular </a:t>
            </a:r>
            <a:r>
              <a:rPr lang="id-ID" sz="2000" dirty="0">
                <a:solidFill>
                  <a:schemeClr val="accent2">
                    <a:lumMod val="75000"/>
                  </a:schemeClr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</a:t>
            </a:r>
            <a:r>
              <a:rPr lang="id-ID" sz="2000" dirty="0">
                <a:solidFill>
                  <a:schemeClr val="accent2">
                    <a:lumMod val="75000"/>
                  </a:schemeClr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menandakan bahasa </a:t>
            </a:r>
            <a:r>
              <a:rPr lang="id-ID" sz="2000" dirty="0">
                <a:solidFill>
                  <a:schemeClr val="accent2">
                    <a:lumMod val="75000"/>
                  </a:schemeClr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</a:t>
            </a:r>
            <a:r>
              <a:rPr lang="id-ID" sz="2000" dirty="0">
                <a:solidFill>
                  <a:schemeClr val="accent2">
                    <a:lumMod val="75000"/>
                  </a:schemeClr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 . Tidak ada string pada bahasa ini, empty stringpun tidak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7673926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569E2E"/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Ekspresi regular ke finite automata</a:t>
            </a:r>
            <a:endParaRPr lang="en-US" sz="2800" dirty="0">
              <a:solidFill>
                <a:srgbClr val="569E2E"/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257C60C2-C35B-4FC6-BA64-946B0BA528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102" y="1625388"/>
            <a:ext cx="3555547" cy="1375842"/>
          </a:xfrm>
          <a:prstGeom prst="rect">
            <a:avLst/>
          </a:prstGeom>
        </p:spPr>
      </p:pic>
      <p:pic>
        <p:nvPicPr>
          <p:cNvPr id="9" name="Picture 8" descr="A picture containing drawing, game&#10;&#10;Description automatically generated">
            <a:extLst>
              <a:ext uri="{FF2B5EF4-FFF2-40B4-BE49-F238E27FC236}">
                <a16:creationId xmlns:a16="http://schemas.microsoft.com/office/drawing/2014/main" id="{6FB69DB1-3F8C-4E7E-84C3-BC2B12B72A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9023" y="4213437"/>
            <a:ext cx="3943277" cy="162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09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63387"/>
            <a:ext cx="819945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Untuk konkatenasi, string dalam L1 diikuti oleh string dalam L2. NFA disambungkan.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							</a:t>
            </a:r>
            <a:r>
              <a:rPr lang="id-ID" sz="2000" dirty="0">
                <a:solidFill>
                  <a:schemeClr val="accent2">
                    <a:lumMod val="75000"/>
                  </a:schemeClr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NFA L1L2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7434775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569E2E"/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Ekspresi regular ke finite automata</a:t>
            </a:r>
            <a:endParaRPr lang="en-US" sz="2800" dirty="0">
              <a:solidFill>
                <a:srgbClr val="569E2E"/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5D768021-14EE-4F2B-AD07-1D31FE0367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566" y="1588996"/>
            <a:ext cx="7913220" cy="15621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431C5A-014E-4A1C-ABCF-013DFEDA8E2C}"/>
              </a:ext>
            </a:extLst>
          </p:cNvPr>
          <p:cNvSpPr txBox="1"/>
          <p:nvPr/>
        </p:nvSpPr>
        <p:spPr>
          <a:xfrm>
            <a:off x="2532183" y="1828802"/>
            <a:ext cx="1083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200" dirty="0"/>
              <a:t>Mesin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7F4B8A-29E0-4C4C-BE9C-A444D88B2DC4}"/>
              </a:ext>
            </a:extLst>
          </p:cNvPr>
          <p:cNvSpPr txBox="1"/>
          <p:nvPr/>
        </p:nvSpPr>
        <p:spPr>
          <a:xfrm>
            <a:off x="4851010" y="1840508"/>
            <a:ext cx="10832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200" dirty="0"/>
              <a:t>Mesin 2</a:t>
            </a:r>
          </a:p>
        </p:txBody>
      </p:sp>
    </p:spTree>
    <p:extLst>
      <p:ext uri="{BB962C8B-B14F-4D97-AF65-F5344CB8AC3E}">
        <p14:creationId xmlns:p14="http://schemas.microsoft.com/office/powerpoint/2010/main" val="1428616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63387"/>
            <a:ext cx="819945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Untuk operator “+ “ menandakan gabungan (operator or) pada ekspresi regular, sehingga NFAnya memiliki dua atau lebih jalur.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							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NFA L1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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L2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6556786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569E2E"/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Ekspresi regular ke finite automata</a:t>
            </a:r>
            <a:endParaRPr lang="en-US" sz="2800" dirty="0">
              <a:solidFill>
                <a:srgbClr val="569E2E"/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40E56177-E29E-412F-9DEA-0367F8A480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718" y="2112248"/>
            <a:ext cx="6696221" cy="33104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2A8C60-A5D7-47F0-907D-BB61C1F1C834}"/>
              </a:ext>
            </a:extLst>
          </p:cNvPr>
          <p:cNvSpPr txBox="1"/>
          <p:nvPr/>
        </p:nvSpPr>
        <p:spPr>
          <a:xfrm>
            <a:off x="3545058" y="1742916"/>
            <a:ext cx="133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/>
              <a:t>Mesin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FBF36A-4CA0-4F7F-81AA-563BB0B91549}"/>
              </a:ext>
            </a:extLst>
          </p:cNvPr>
          <p:cNvSpPr txBox="1"/>
          <p:nvPr/>
        </p:nvSpPr>
        <p:spPr>
          <a:xfrm>
            <a:off x="3545058" y="3590706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/>
              <a:t>Mesin 2</a:t>
            </a:r>
          </a:p>
        </p:txBody>
      </p:sp>
    </p:spTree>
    <p:extLst>
      <p:ext uri="{BB962C8B-B14F-4D97-AF65-F5344CB8AC3E}">
        <p14:creationId xmlns:p14="http://schemas.microsoft.com/office/powerpoint/2010/main" val="3389893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63387"/>
            <a:ext cx="819945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Untuk operator Kleene star (*) menandakan nol atau lebih aplikasi regular sehingga terdapat perulangan pada NFA.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id-ID" sz="2000" dirty="0">
              <a:solidFill>
                <a:schemeClr val="accent2">
                  <a:lumMod val="75000"/>
                </a:schemeClr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							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NFA Kleene Star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6689188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569E2E"/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Ekspresi regular ke finite automata</a:t>
            </a:r>
            <a:endParaRPr lang="en-US" sz="2800" dirty="0">
              <a:solidFill>
                <a:srgbClr val="569E2E"/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93E221D8-B806-4075-8C07-159E277038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905" y="1844303"/>
            <a:ext cx="6508789" cy="30591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BD7872-3493-4FE9-838C-C34F3530AF56}"/>
              </a:ext>
            </a:extLst>
          </p:cNvPr>
          <p:cNvSpPr txBox="1"/>
          <p:nvPr/>
        </p:nvSpPr>
        <p:spPr>
          <a:xfrm>
            <a:off x="4079631" y="2813538"/>
            <a:ext cx="125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/>
              <a:t>Mesin 1</a:t>
            </a:r>
          </a:p>
        </p:txBody>
      </p:sp>
    </p:spTree>
    <p:extLst>
      <p:ext uri="{BB962C8B-B14F-4D97-AF65-F5344CB8AC3E}">
        <p14:creationId xmlns:p14="http://schemas.microsoft.com/office/powerpoint/2010/main" val="4060285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63387"/>
            <a:ext cx="819945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Contoh 1: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Diketahui ekspresi regular 01*. Rancanglah finite automata dari ekspresi regular tersebut.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						</a:t>
            </a:r>
            <a:r>
              <a:rPr lang="id-ID" sz="20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Finite Automata 01*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Contoh 2: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Rancanglah finite automata dari ekspresi regular (0 + 1)*1.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							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Finite Automata (01)*1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69E2E"/>
                </a:solidFill>
                <a:effectLst/>
                <a:uLnTx/>
                <a:uFillTx/>
                <a:latin typeface="Montserrat Light" panose="00000400000000000000" pitchFamily="50" charset="0"/>
                <a:ea typeface="Roboto" pitchFamily="2" charset="0"/>
                <a:cs typeface="Arial"/>
              </a:rPr>
              <a:t>Something as title goes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 descr="A picture containing object, clock, drawing&#10;&#10;Description automatically generated">
            <a:extLst>
              <a:ext uri="{FF2B5EF4-FFF2-40B4-BE49-F238E27FC236}">
                <a16:creationId xmlns:a16="http://schemas.microsoft.com/office/drawing/2014/main" id="{8246E61B-BC8A-4A60-AD1D-814F315054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132" y="1610268"/>
            <a:ext cx="3119487" cy="1456485"/>
          </a:xfrm>
          <a:prstGeom prst="rect">
            <a:avLst/>
          </a:prstGeom>
        </p:spPr>
      </p:pic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05B5A179-5DFE-4C84-99A0-437086919C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9" y="3963427"/>
            <a:ext cx="3119487" cy="149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196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63387"/>
            <a:ext cx="819945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Sebuah finite automata dapat dikonstruksi menjadi bentuk ekspresi regular. Algoritma konstruksi finite automata menjadi ekspresi regular (Xavier):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id-ID" sz="20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Untuk setiap final state q, hilangkan final state lainnya dengan menjadikan final state tersebut menjadi non-final state kemudian di transisikan dengan </a:t>
            </a:r>
            <a:r>
              <a:rPr lang="id-ID" sz="20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</a:t>
            </a:r>
            <a:r>
              <a:rPr lang="id-ID" sz="20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 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Hilangkan state dari NFA </a:t>
            </a:r>
            <a:r>
              <a:rPr lang="id-ID" sz="20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satu persatu, sehingga tersisa satu start state dan satu final state.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Baca ekspresi regular akhir dari dua state automata tersebut.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Setiap bahasa yang didefinisikan oleh ekspresi regular, didefinisikan juga oleh finite automata, jika: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Hanya terdapat </a:t>
            </a: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satu</a:t>
            </a:r>
            <a:r>
              <a:rPr kumimoji="0" lang="id-ID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final state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d-ID" sz="2000" b="1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Tidak ada transisi ke start state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d-ID" sz="2000" b="1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Tidak ada transisi dari final state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 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681579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800" b="0" i="0" u="none" strike="noStrike" kern="1200" cap="none" spc="0" normalizeH="0" baseline="0" noProof="0" dirty="0">
                <a:ln>
                  <a:noFill/>
                </a:ln>
                <a:solidFill>
                  <a:srgbClr val="569E2E"/>
                </a:solidFill>
                <a:effectLst/>
                <a:uLnTx/>
                <a:uFillTx/>
                <a:latin typeface="Montserrat Light" panose="00000400000000000000" pitchFamily="50" charset="0"/>
                <a:ea typeface="Roboto" pitchFamily="2" charset="0"/>
                <a:cs typeface="Arial"/>
              </a:rPr>
              <a:t>Finite Automata ke Ekspresi Regular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569E2E"/>
              </a:solidFill>
              <a:effectLst/>
              <a:uLnTx/>
              <a:uFillTx/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82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63387"/>
            <a:ext cx="819945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Contoh 1: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Terdapat NFA sebagai berikut kemudian tentukan ekspresi regularnya.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NFA tersebut dapat dibentuk ekspresi regularnya dengan mengikuti teorema diatas. Karena terdapat dua final state, maka perlu dijadikan satu final state, yaitu menambahkan state baru dan transisi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  <a:sym typeface="Symbol" panose="05050102010706020507" pitchFamily="18" charset="2"/>
              </a:rPr>
              <a:t>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 ke state baru tersebut dari final state.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6629400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569E2E"/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Finite Automata ke Ekspresi Regular</a:t>
            </a:r>
            <a:endParaRPr lang="en-US" sz="2800" dirty="0">
              <a:solidFill>
                <a:srgbClr val="569E2E"/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9AAE73BA-046F-474B-B2DE-715561AEDE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789162"/>
            <a:ext cx="502920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262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63387"/>
            <a:ext cx="819945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Langkah-langkahnya: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						NFA awal contoh 1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						Final State dijadikan satu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7223760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569E2E"/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Finite Automata ke Ekspresi Regular</a:t>
            </a:r>
            <a:endParaRPr lang="en-US" sz="2800" dirty="0">
              <a:solidFill>
                <a:srgbClr val="569E2E"/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DA3C4D94-9E04-4BFE-B885-02CF4A9ED9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286" y="1336901"/>
            <a:ext cx="5029200" cy="1238250"/>
          </a:xfrm>
          <a:prstGeom prst="rect">
            <a:avLst/>
          </a:prstGeom>
        </p:spPr>
      </p:pic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A4D4C801-55FD-435D-9531-88F0B0992A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12" y="3306269"/>
            <a:ext cx="4981575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633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63387"/>
            <a:ext cx="819945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				Penulisan transisi diubah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					Eliminasi state q3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6956474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569E2E"/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Finite Automata ke Ekspresi Regular</a:t>
            </a:r>
            <a:endParaRPr lang="en-US" sz="2800" dirty="0">
              <a:solidFill>
                <a:srgbClr val="569E2E"/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045D3EA7-845B-43BF-A874-0626855029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953" y="721886"/>
            <a:ext cx="5019675" cy="2009775"/>
          </a:xfrm>
          <a:prstGeom prst="rect">
            <a:avLst/>
          </a:prstGeom>
        </p:spPr>
      </p:pic>
      <p:pic>
        <p:nvPicPr>
          <p:cNvPr id="9" name="Picture 8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CD9C62EF-A479-435F-B4CA-5DC33885EA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012" y="3262748"/>
            <a:ext cx="4371975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70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83512" y="863387"/>
            <a:ext cx="819945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					Eliminasi state q1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					Eliminasi state q2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Maka ekspresi regular dari NFA diatas adalah </a:t>
            </a:r>
            <a:r>
              <a:rPr lang="id-ID" sz="20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0*11*(0+1)(0+1)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6661052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569E2E"/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Finite Automata ke Ekspresi Regular</a:t>
            </a:r>
            <a:endParaRPr lang="en-US" sz="2800" dirty="0">
              <a:solidFill>
                <a:srgbClr val="569E2E"/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D48C3AB9-B6D0-4494-AE62-008D88A5AE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224" y="825850"/>
            <a:ext cx="4336806" cy="1467178"/>
          </a:xfrm>
          <a:prstGeom prst="rect">
            <a:avLst/>
          </a:prstGeom>
        </p:spPr>
      </p:pic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3EDBED93-4062-4806-A89D-553D11C306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639" y="2815069"/>
            <a:ext cx="4049486" cy="171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0373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63387"/>
            <a:ext cx="819945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FF0000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Contoh 2: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Konversikan NFA berikut menjadi ekspresi regular.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Karena hanya terdapat satu final state, maka dapat langsung dilakukan proses eliminasi state satu per satu.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736443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569E2E"/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Finite Automata ke Ekspresi Regular</a:t>
            </a:r>
            <a:endParaRPr lang="en-US" sz="2800" dirty="0">
              <a:solidFill>
                <a:srgbClr val="569E2E"/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B60783B1-AE8D-42DB-836F-0D8F9D9D2A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086" y="1578968"/>
            <a:ext cx="4391025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8257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457200" y="863387"/>
            <a:ext cx="819945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lvl="0"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lvl="0"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lvl="0"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lvl="0"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lvl="0"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lvl="0"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lvl="0">
              <a:defRPr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						NFA awal contoh 2</a:t>
            </a:r>
          </a:p>
          <a:p>
            <a:pPr lvl="0"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lvl="0"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lvl="0"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lvl="0"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lvl="0"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lvl="0"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lvl="0"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lvl="0"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lvl="0"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lvl="0">
              <a:defRPr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						Eliminasi state q1</a:t>
            </a:r>
            <a:endParaRPr lang="en-US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569E2E"/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Finite Automata ke Ekspresi Regular</a:t>
            </a:r>
            <a:endParaRPr lang="en-US" sz="2800" dirty="0">
              <a:solidFill>
                <a:srgbClr val="569E2E"/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BEBC05-848C-46B1-911C-820DBFCA5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1898" y="842324"/>
            <a:ext cx="4560203" cy="2219136"/>
          </a:xfrm>
          <a:prstGeom prst="rect">
            <a:avLst/>
          </a:prstGeom>
        </p:spPr>
      </p:pic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822CEE37-D973-4AFA-92C5-54D6B97D38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274" y="3385479"/>
            <a:ext cx="4421139" cy="248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7793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63387"/>
            <a:ext cx="819945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					Eliminasi state q2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					Eliminasi state q3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Maka ekspresi regular dari NFA contoh 2 adalah </a:t>
            </a: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110*(0+1)(0+1)0*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6801729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dirty="0">
                <a:solidFill>
                  <a:srgbClr val="569E2E"/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Finite Automata ke Ekspresi Regular</a:t>
            </a:r>
            <a:endParaRPr lang="en-US" sz="2800" dirty="0">
              <a:solidFill>
                <a:srgbClr val="569E2E"/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BA876B0C-856C-4AC1-B87D-B75D9DD14D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566" y="904887"/>
            <a:ext cx="4516441" cy="1416923"/>
          </a:xfrm>
          <a:prstGeom prst="rect">
            <a:avLst/>
          </a:prstGeom>
        </p:spPr>
      </p:pic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B98E6ECE-1179-4686-8A05-4C091EDEC8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274" y="2738437"/>
            <a:ext cx="4168726" cy="188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8757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63387"/>
            <a:ext cx="819945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d-ID" sz="28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Suatu bahasa yang didefinisikan oleh ekspresi regular didefinisikan juga oleh finite automata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d-ID" sz="28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Ekspresi regular dapat dibentuk dari finite automata, begitu juga sebaliknya.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d-ID" sz="28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Eks</a:t>
            </a:r>
            <a:r>
              <a:rPr lang="id-ID" sz="28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presi dapat terbentuk dari finite automata jika hanya ada satu final state, tidak ada transisi ke start state, tidak ada transisi dari final state.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800" b="0" i="0" u="none" strike="noStrike" kern="1200" cap="none" spc="0" normalizeH="0" baseline="0" noProof="0" dirty="0">
                <a:ln>
                  <a:noFill/>
                </a:ln>
                <a:solidFill>
                  <a:srgbClr val="569E2E"/>
                </a:solidFill>
                <a:effectLst/>
                <a:uLnTx/>
                <a:uFillTx/>
                <a:latin typeface="Montserrat Light" panose="00000400000000000000" pitchFamily="50" charset="0"/>
                <a:ea typeface="Roboto" pitchFamily="2" charset="0"/>
                <a:cs typeface="Arial"/>
              </a:rPr>
              <a:t>Rangkuman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569E2E"/>
              </a:solidFill>
              <a:effectLst/>
              <a:uLnTx/>
              <a:uFillTx/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6015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63387"/>
            <a:ext cx="819945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Konversikan ekspresi regular berikut menjadi finite automata</a:t>
            </a:r>
          </a:p>
          <a:p>
            <a:pPr marL="914400" lvl="1" indent="-457200">
              <a:buFont typeface="+mj-lt"/>
              <a:buAutoNum type="alphaLcPeriod"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(0+1)*001*</a:t>
            </a:r>
          </a:p>
          <a:p>
            <a:pPr marL="914400" lvl="1" indent="-457200">
              <a:buFont typeface="+mj-lt"/>
              <a:buAutoNum type="alphaLcPeriod"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1*(01)*11</a:t>
            </a:r>
          </a:p>
          <a:p>
            <a:pPr marL="914400" lvl="1" indent="-457200">
              <a:buFont typeface="+mj-lt"/>
              <a:buAutoNum type="alphaLcPeriod"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00(0+1)*01</a:t>
            </a:r>
          </a:p>
          <a:p>
            <a:pPr marL="914400" lvl="1" indent="-457200">
              <a:buFont typeface="+mj-lt"/>
              <a:buAutoNum type="alphaLcPeriod"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00(0+1)*(0+1)01*</a:t>
            </a:r>
          </a:p>
          <a:p>
            <a:pPr marL="914400" lvl="1" indent="-457200">
              <a:buFont typeface="+mj-lt"/>
              <a:buAutoNum type="alphaLcPeriod"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101*(0+1)*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Konversikan finite automata berikut menjadi ekspresi regular.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a.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7125286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id-ID" sz="2800" b="1" dirty="0">
                <a:solidFill>
                  <a:srgbClr val="FF0000"/>
                </a:solidFill>
                <a:latin typeface="Montserrat Light" panose="00000400000000000000" pitchFamily="50" charset="0"/>
                <a:ea typeface="Roboto" pitchFamily="2" charset="0"/>
                <a:cs typeface="Arial"/>
              </a:rPr>
              <a:t>Tugas dikumpulkan jam 12.00 hari ini</a:t>
            </a:r>
            <a:endParaRPr lang="en-US" sz="2800" b="1" dirty="0">
              <a:solidFill>
                <a:srgbClr val="FF0000"/>
              </a:solidFill>
              <a:latin typeface="Montserrat Light" panose="00000400000000000000" pitchFamily="50" charset="0"/>
              <a:ea typeface="Roboto" pitchFamily="2" charset="0"/>
              <a:cs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0501032A-3640-437C-B3B7-809F715332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560" y="3868615"/>
            <a:ext cx="4844781" cy="170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1433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63387"/>
            <a:ext cx="819945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b.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c.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69E2E"/>
                </a:solidFill>
                <a:effectLst/>
                <a:uLnTx/>
                <a:uFillTx/>
                <a:latin typeface="Montserrat Light" panose="00000400000000000000" pitchFamily="50" charset="0"/>
                <a:ea typeface="Roboto" pitchFamily="2" charset="0"/>
                <a:cs typeface="Arial"/>
              </a:rPr>
              <a:t>Something as title goes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28313878-1BA7-4A57-905A-BFA51D4CBA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106" y="863387"/>
            <a:ext cx="4535338" cy="2400318"/>
          </a:xfrm>
          <a:prstGeom prst="rect">
            <a:avLst/>
          </a:prstGeom>
        </p:spPr>
      </p:pic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A5965A71-143E-46E6-A873-B15FAFDDDB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737" y="3540664"/>
            <a:ext cx="4535338" cy="252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7349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88C9A-B657-42CD-9153-3ADCFB0D62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42" b="81490"/>
          <a:stretch/>
        </p:blipFill>
        <p:spPr>
          <a:xfrm>
            <a:off x="7013986" y="0"/>
            <a:ext cx="2130014" cy="1269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863387"/>
            <a:ext cx="819945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2000" b="0" i="0" u="none" strike="noStrike" kern="1200" cap="none" spc="0" normalizeH="0" baseline="0" noProof="0" dirty="0">
                <a:ln>
                  <a:noFill/>
                </a:ln>
                <a:solidFill>
                  <a:srgbClr val="A830CE"/>
                </a:solidFill>
                <a:effectLst/>
                <a:uLnTx/>
                <a:uFillTx/>
                <a:latin typeface="Montserrat Medium" panose="00000600000000000000" pitchFamily="50" charset="0"/>
                <a:ea typeface="Roboto" pitchFamily="2" charset="0"/>
                <a:cs typeface="Arial"/>
              </a:rPr>
              <a:t>d.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sz="2000" dirty="0">
                <a:solidFill>
                  <a:srgbClr val="A830CE"/>
                </a:solidFill>
                <a:latin typeface="Montserrat Medium" panose="00000600000000000000" pitchFamily="50" charset="0"/>
                <a:ea typeface="Roboto" pitchFamily="2" charset="0"/>
                <a:cs typeface="Arial"/>
              </a:rPr>
              <a:t>e.</a:t>
            </a: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d-ID" sz="2000" dirty="0">
              <a:solidFill>
                <a:srgbClr val="A830CE"/>
              </a:solidFill>
              <a:latin typeface="Montserrat Medium" panose="00000600000000000000" pitchFamily="50" charset="0"/>
              <a:ea typeface="Roboto" pitchFamily="2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A830CE"/>
              </a:solidFill>
              <a:effectLst/>
              <a:uLnTx/>
              <a:uFillTx/>
              <a:latin typeface="Montserrat Medium" panose="00000600000000000000" pitchFamily="50" charset="0"/>
              <a:ea typeface="Roboto" pitchFamily="2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3258"/>
                </a:solidFill>
                <a:effectLst/>
                <a:uLnTx/>
                <a:uFillTx/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B38FBD-B902-4649-A948-F15D616B7712}"/>
              </a:ext>
            </a:extLst>
          </p:cNvPr>
          <p:cNvCxnSpPr>
            <a:cxnSpLocks/>
          </p:cNvCxnSpPr>
          <p:nvPr/>
        </p:nvCxnSpPr>
        <p:spPr>
          <a:xfrm flipH="1">
            <a:off x="552450" y="762000"/>
            <a:ext cx="6172200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568F8D-AB02-484F-A8AF-9963E27FDCE1}"/>
              </a:ext>
            </a:extLst>
          </p:cNvPr>
          <p:cNvSpPr txBox="1"/>
          <p:nvPr/>
        </p:nvSpPr>
        <p:spPr>
          <a:xfrm>
            <a:off x="457200" y="288486"/>
            <a:ext cx="5423807" cy="57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69E2E"/>
                </a:solidFill>
                <a:effectLst/>
                <a:uLnTx/>
                <a:uFillTx/>
                <a:latin typeface="Montserrat Light" panose="00000400000000000000" pitchFamily="50" charset="0"/>
                <a:ea typeface="Roboto" pitchFamily="2" charset="0"/>
                <a:cs typeface="Arial"/>
              </a:rPr>
              <a:t>Something as title goes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B4E4A4-795E-42A9-846C-CDBB2BE073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00" y="5968113"/>
            <a:ext cx="1371600" cy="365554"/>
          </a:xfrm>
          <a:prstGeom prst="rect">
            <a:avLst/>
          </a:prstGeom>
        </p:spPr>
      </p:pic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EE7F9628-5E57-435C-B4F8-DB489A9B4E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935" y="918202"/>
            <a:ext cx="4491477" cy="2649129"/>
          </a:xfrm>
          <a:prstGeom prst="rect">
            <a:avLst/>
          </a:prstGeom>
        </p:spPr>
      </p:pic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8BE004C9-9E60-4E1B-B96E-EF4120D37E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957" y="3688223"/>
            <a:ext cx="5423806" cy="268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6178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F9E33A-672E-4499-A7BA-EE4327F4D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94092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6BC89EC-D40D-42F1-BD48-19B2C7F83B44}"/>
              </a:ext>
            </a:extLst>
          </p:cNvPr>
          <p:cNvSpPr txBox="1"/>
          <p:nvPr/>
        </p:nvSpPr>
        <p:spPr>
          <a:xfrm>
            <a:off x="348343" y="5332903"/>
            <a:ext cx="4049486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FFE12E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Thank You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71AE4-0AA8-41EE-9C53-D4398596FF8A}"/>
              </a:ext>
            </a:extLst>
          </p:cNvPr>
          <p:cNvSpPr txBox="1"/>
          <p:nvPr/>
        </p:nvSpPr>
        <p:spPr>
          <a:xfrm>
            <a:off x="348343" y="5968113"/>
            <a:ext cx="4049486" cy="279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chemeClr val="bg1"/>
                </a:solidFill>
                <a:latin typeface="Montserrat" panose="02000505000000020004" pitchFamily="2" charset="0"/>
                <a:ea typeface="Roboto" pitchFamily="2" charset="0"/>
                <a:cs typeface="Arial"/>
              </a:rPr>
              <a:t>ukrida.ac.id</a:t>
            </a:r>
          </a:p>
        </p:txBody>
      </p:sp>
    </p:spTree>
    <p:extLst>
      <p:ext uri="{BB962C8B-B14F-4D97-AF65-F5344CB8AC3E}">
        <p14:creationId xmlns:p14="http://schemas.microsoft.com/office/powerpoint/2010/main" val="284873852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Ukrida Color">
      <a:dk1>
        <a:srgbClr val="00325A"/>
      </a:dk1>
      <a:lt1>
        <a:srgbClr val="FFFFFF"/>
      </a:lt1>
      <a:dk2>
        <a:srgbClr val="00325A"/>
      </a:dk2>
      <a:lt2>
        <a:srgbClr val="FFE12D"/>
      </a:lt2>
      <a:accent1>
        <a:srgbClr val="0080C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2DA1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858</TotalTime>
  <Words>2207</Words>
  <Application>Microsoft Office PowerPoint</Application>
  <PresentationFormat>On-screen Show (4:3)</PresentationFormat>
  <Paragraphs>429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Calibri</vt:lpstr>
      <vt:lpstr>Calibri Light</vt:lpstr>
      <vt:lpstr>Montserrat</vt:lpstr>
      <vt:lpstr>Montserrat Light</vt:lpstr>
      <vt:lpstr>Montserrat Medium</vt:lpstr>
      <vt:lpstr>Symbol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Admin1152072</dc:creator>
  <cp:lastModifiedBy>floren rp</cp:lastModifiedBy>
  <cp:revision>75</cp:revision>
  <dcterms:created xsi:type="dcterms:W3CDTF">2017-09-11T12:08:03Z</dcterms:created>
  <dcterms:modified xsi:type="dcterms:W3CDTF">2025-10-30T03:37:56Z</dcterms:modified>
</cp:coreProperties>
</file>