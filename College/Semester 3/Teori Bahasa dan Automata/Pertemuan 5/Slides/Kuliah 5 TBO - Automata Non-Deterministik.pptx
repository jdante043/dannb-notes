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2" r:id="rId1"/>
  </p:sldMasterIdLst>
  <p:handoutMasterIdLst>
    <p:handoutMasterId r:id="rId19"/>
  </p:handoutMasterIdLst>
  <p:sldIdLst>
    <p:sldId id="264" r:id="rId2"/>
    <p:sldId id="268" r:id="rId3"/>
    <p:sldId id="312" r:id="rId4"/>
    <p:sldId id="325" r:id="rId5"/>
    <p:sldId id="326" r:id="rId6"/>
    <p:sldId id="313" r:id="rId7"/>
    <p:sldId id="314" r:id="rId8"/>
    <p:sldId id="315" r:id="rId9"/>
    <p:sldId id="316" r:id="rId10"/>
    <p:sldId id="318" r:id="rId11"/>
    <p:sldId id="321" r:id="rId12"/>
    <p:sldId id="322" r:id="rId13"/>
    <p:sldId id="323" r:id="rId14"/>
    <p:sldId id="324" r:id="rId15"/>
    <p:sldId id="296" r:id="rId16"/>
    <p:sldId id="320" r:id="rId17"/>
    <p:sldId id="261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25A"/>
    <a:srgbClr val="000000"/>
    <a:srgbClr val="FFE12E"/>
    <a:srgbClr val="003258"/>
    <a:srgbClr val="E1FF2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191" autoAdjust="0"/>
    <p:restoredTop sz="94660"/>
  </p:normalViewPr>
  <p:slideViewPr>
    <p:cSldViewPr snapToGrid="0">
      <p:cViewPr varScale="1">
        <p:scale>
          <a:sx n="61" d="100"/>
          <a:sy n="61" d="100"/>
        </p:scale>
        <p:origin x="107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9" d="100"/>
          <a:sy n="59" d="100"/>
        </p:scale>
        <p:origin x="2790" y="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4CC9D74-A3DF-4807-B513-ED1C37684F1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8727127-C60F-48F1-9035-89750229E02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34E62F-46C1-49F8-AE8F-0B301CA791E4}" type="datetimeFigureOut">
              <a:rPr lang="en-US" smtClean="0"/>
              <a:t>9/24/2024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6378E1E-86B5-4357-9195-4516B2D705C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D7E2591-2F61-4136-BAB4-4DF68AAB178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2D9A7E-B14A-4E32-B8E1-5B58813BDD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523283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3C8604-F9F9-4826-AFA2-26F2A8C8E9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4083" y="392634"/>
            <a:ext cx="6353117" cy="44695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>
                <a:latin typeface="Montserrat Light" panose="00000400000000000000" pitchFamily="50" charset="0"/>
              </a:defRPr>
            </a:lvl1pPr>
          </a:lstStyle>
          <a:p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01A2C98-6B1D-4EE6-A033-426F392A5280}"/>
              </a:ext>
            </a:extLst>
          </p:cNvPr>
          <p:cNvCxnSpPr>
            <a:cxnSpLocks/>
          </p:cNvCxnSpPr>
          <p:nvPr userDrawn="1"/>
        </p:nvCxnSpPr>
        <p:spPr>
          <a:xfrm flipH="1">
            <a:off x="552451" y="770164"/>
            <a:ext cx="6254749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075D6B45-2776-4541-AA7D-3BCE7EF8CEA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9514" y="343835"/>
            <a:ext cx="1740068" cy="463756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CB531BF4-3342-4DC8-8EE2-3BD3F7EC2E75}"/>
              </a:ext>
            </a:extLst>
          </p:cNvPr>
          <p:cNvSpPr txBox="1">
            <a:spLocks/>
          </p:cNvSpPr>
          <p:nvPr userDrawn="1"/>
        </p:nvSpPr>
        <p:spPr>
          <a:xfrm>
            <a:off x="404418" y="807591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dirty="0">
                <a:solidFill>
                  <a:srgbClr val="00325A"/>
                </a:solidFill>
                <a:latin typeface="Montserrat" panose="02000505000000020004" pitchFamily="2" charset="0"/>
              </a:rPr>
              <a:t>Click to edit Master title style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8F738E19-97A3-4227-B257-7F949888D1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4083" y="1956435"/>
            <a:ext cx="3868737" cy="3684588"/>
          </a:xfrm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Montserrat" panose="02000505000000020004" pitchFamily="2" charset="0"/>
              </a:defRPr>
            </a:lvl1pPr>
            <a:lvl2pPr>
              <a:defRPr sz="1400">
                <a:solidFill>
                  <a:schemeClr val="tx1"/>
                </a:solidFill>
                <a:latin typeface="Montserrat" panose="02000505000000020004" pitchFamily="2" charset="0"/>
              </a:defRPr>
            </a:lvl2pPr>
            <a:lvl3pPr>
              <a:defRPr sz="1200">
                <a:solidFill>
                  <a:schemeClr val="tx1"/>
                </a:solidFill>
                <a:latin typeface="Montserrat Light" panose="00000400000000000000" pitchFamily="50" charset="0"/>
              </a:defRPr>
            </a:lvl3pPr>
            <a:lvl4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1E0E760F-81DA-4BAE-AC97-982573EC6DDE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4872831" y="1956435"/>
            <a:ext cx="3868737" cy="3684588"/>
          </a:xfrm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Montserrat" panose="02000505000000020004" pitchFamily="2" charset="0"/>
              </a:defRPr>
            </a:lvl1pPr>
            <a:lvl2pPr>
              <a:defRPr sz="1400">
                <a:solidFill>
                  <a:schemeClr val="tx1"/>
                </a:solidFill>
                <a:latin typeface="Montserrat" panose="02000505000000020004" pitchFamily="2" charset="0"/>
              </a:defRPr>
            </a:lvl2pPr>
            <a:lvl3pPr>
              <a:defRPr sz="1200">
                <a:solidFill>
                  <a:schemeClr val="tx1"/>
                </a:solidFill>
                <a:latin typeface="Montserrat Light" panose="00000400000000000000" pitchFamily="50" charset="0"/>
              </a:defRPr>
            </a:lvl3pPr>
            <a:lvl4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5546876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3C8604-F9F9-4826-AFA2-26F2A8C8E9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4083" y="323212"/>
            <a:ext cx="6353117" cy="44695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000">
                <a:latin typeface="Montserrat Light" panose="00000400000000000000" pitchFamily="50" charset="0"/>
              </a:defRPr>
            </a:lvl1pPr>
          </a:lstStyle>
          <a:p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01A2C98-6B1D-4EE6-A033-426F392A5280}"/>
              </a:ext>
            </a:extLst>
          </p:cNvPr>
          <p:cNvCxnSpPr>
            <a:cxnSpLocks/>
          </p:cNvCxnSpPr>
          <p:nvPr userDrawn="1"/>
        </p:nvCxnSpPr>
        <p:spPr>
          <a:xfrm flipH="1">
            <a:off x="552451" y="770164"/>
            <a:ext cx="6254749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075D6B45-2776-4541-AA7D-3BCE7EF8CEA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9514" y="343835"/>
            <a:ext cx="1740068" cy="463756"/>
          </a:xfrm>
          <a:prstGeom prst="rect">
            <a:avLst/>
          </a:prstGeom>
        </p:spPr>
      </p:pic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8F738E19-97A3-4227-B257-7F949888D1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08309" y="1068539"/>
            <a:ext cx="8285499" cy="3684588"/>
          </a:xfrm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Montserrat" panose="02000505000000020004" pitchFamily="2" charset="0"/>
              </a:defRPr>
            </a:lvl1pPr>
            <a:lvl2pPr>
              <a:defRPr sz="1400">
                <a:solidFill>
                  <a:schemeClr val="tx1"/>
                </a:solidFill>
                <a:latin typeface="Montserrat" panose="02000505000000020004" pitchFamily="2" charset="0"/>
              </a:defRPr>
            </a:lvl2pPr>
            <a:lvl3pPr>
              <a:defRPr sz="1200">
                <a:solidFill>
                  <a:schemeClr val="tx1"/>
                </a:solidFill>
                <a:latin typeface="Montserrat Light" panose="00000400000000000000" pitchFamily="50" charset="0"/>
              </a:defRPr>
            </a:lvl3pPr>
            <a:lvl4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1316099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010390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DF921CE-1BFB-4C33-9E39-9E365E85FF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8E4CF2-F9B2-4A2F-8879-48B31C82B1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3FEA90-32AA-4707-952A-6016A899B15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5C12DA-7C3F-4F5E-A3EF-25444230DB43}" type="datetimeFigureOut">
              <a:rPr lang="en-US" smtClean="0"/>
              <a:t>9/24/2024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A2581A-1314-46EF-8E8C-577D477589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B4EFBB-8EF2-4237-B64F-A4D1656066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9A2CBB-99DC-4D92-93F8-130B3B4D48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81547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75" r:id="rId2"/>
    <p:sldLayoutId id="2147483674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jp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DE306FF1-BEF2-43D4-B7EC-25BB33C8811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3508" y="0"/>
            <a:ext cx="9197508" cy="68580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26BC89EC-D40D-42F1-BD48-19B2C7F83B44}"/>
              </a:ext>
            </a:extLst>
          </p:cNvPr>
          <p:cNvSpPr txBox="1"/>
          <p:nvPr/>
        </p:nvSpPr>
        <p:spPr>
          <a:xfrm>
            <a:off x="348343" y="4404184"/>
            <a:ext cx="4049486" cy="13677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2800" dirty="0">
                <a:solidFill>
                  <a:srgbClr val="FFFF00"/>
                </a:solidFill>
                <a:latin typeface="Montserrat" panose="02000505000000020004" pitchFamily="2" charset="0"/>
                <a:ea typeface="Roboto" pitchFamily="2" charset="0"/>
                <a:cs typeface="Arial"/>
              </a:rPr>
              <a:t>Kuliah 5 Teori Bahasa dan </a:t>
            </a:r>
            <a:r>
              <a:rPr lang="en-US" sz="2800" dirty="0" err="1">
                <a:solidFill>
                  <a:srgbClr val="FFFF00"/>
                </a:solidFill>
                <a:latin typeface="Montserrat" panose="02000505000000020004" pitchFamily="2" charset="0"/>
                <a:ea typeface="Roboto" pitchFamily="2" charset="0"/>
                <a:cs typeface="Arial"/>
              </a:rPr>
              <a:t>Otomata</a:t>
            </a:r>
            <a:endParaRPr lang="id-ID" sz="2800" dirty="0">
              <a:solidFill>
                <a:srgbClr val="FFE12E"/>
              </a:solidFill>
              <a:latin typeface="Montserrat" panose="02000505000000020004" pitchFamily="2" charset="0"/>
              <a:ea typeface="Roboto" pitchFamily="2" charset="0"/>
              <a:cs typeface="Arial"/>
            </a:endParaRPr>
          </a:p>
          <a:p>
            <a:pPr>
              <a:lnSpc>
                <a:spcPct val="120000"/>
              </a:lnSpc>
            </a:pPr>
            <a:r>
              <a:rPr lang="id-ID" sz="1400" dirty="0">
                <a:solidFill>
                  <a:srgbClr val="FFE12E"/>
                </a:solidFill>
                <a:latin typeface="Montserrat" panose="02000505000000020004" pitchFamily="2" charset="0"/>
                <a:ea typeface="Roboto" pitchFamily="2" charset="0"/>
                <a:cs typeface="Arial"/>
              </a:rPr>
              <a:t>(</a:t>
            </a:r>
            <a:r>
              <a:rPr lang="en-US" sz="1400" dirty="0">
                <a:solidFill>
                  <a:srgbClr val="FFE12E"/>
                </a:solidFill>
                <a:latin typeface="Montserrat" panose="02000505000000020004" pitchFamily="2" charset="0"/>
                <a:ea typeface="Roboto" pitchFamily="2" charset="0"/>
                <a:cs typeface="Arial"/>
              </a:rPr>
              <a:t>Automata Non-</a:t>
            </a:r>
            <a:r>
              <a:rPr lang="en-US" sz="1400" dirty="0" err="1">
                <a:solidFill>
                  <a:srgbClr val="FFE12E"/>
                </a:solidFill>
                <a:latin typeface="Montserrat" panose="02000505000000020004" pitchFamily="2" charset="0"/>
                <a:ea typeface="Roboto" pitchFamily="2" charset="0"/>
                <a:cs typeface="Arial"/>
              </a:rPr>
              <a:t>Deterministik</a:t>
            </a:r>
            <a:r>
              <a:rPr lang="id-ID" sz="1400" dirty="0">
                <a:solidFill>
                  <a:srgbClr val="FFE12E"/>
                </a:solidFill>
                <a:latin typeface="Montserrat" panose="02000505000000020004" pitchFamily="2" charset="0"/>
                <a:ea typeface="Roboto" pitchFamily="2" charset="0"/>
                <a:cs typeface="Arial"/>
              </a:rPr>
              <a:t>)</a:t>
            </a:r>
            <a:endParaRPr lang="en-US" sz="2800" dirty="0">
              <a:solidFill>
                <a:srgbClr val="FFE12E"/>
              </a:solidFill>
              <a:latin typeface="Montserrat" panose="02000505000000020004" pitchFamily="2" charset="0"/>
              <a:ea typeface="Roboto" pitchFamily="2" charset="0"/>
              <a:cs typeface="Arial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0171AE4-0AA8-41EE-9C53-D4398596FF8A}"/>
              </a:ext>
            </a:extLst>
          </p:cNvPr>
          <p:cNvSpPr txBox="1"/>
          <p:nvPr/>
        </p:nvSpPr>
        <p:spPr>
          <a:xfrm>
            <a:off x="348343" y="5968113"/>
            <a:ext cx="4049486" cy="2795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100" dirty="0">
                <a:solidFill>
                  <a:schemeClr val="bg1"/>
                </a:solidFill>
                <a:latin typeface="Montserrat" panose="02000505000000020004" pitchFamily="2" charset="0"/>
                <a:ea typeface="Roboto" pitchFamily="2" charset="0"/>
                <a:cs typeface="Arial"/>
              </a:rPr>
              <a:t>ukrida.ac.id</a:t>
            </a:r>
          </a:p>
        </p:txBody>
      </p:sp>
      <p:pic>
        <p:nvPicPr>
          <p:cNvPr id="5" name="Picture 4" descr="Diagram&#10;&#10;Description automatically generated">
            <a:extLst>
              <a:ext uri="{FF2B5EF4-FFF2-40B4-BE49-F238E27FC236}">
                <a16:creationId xmlns:a16="http://schemas.microsoft.com/office/drawing/2014/main" id="{42819A6B-3B1C-43FE-AD70-6A6FEE9FBDA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1944" y="276044"/>
            <a:ext cx="4322056" cy="2136747"/>
          </a:xfrm>
          <a:prstGeom prst="rect">
            <a:avLst/>
          </a:prstGeom>
        </p:spPr>
      </p:pic>
      <p:pic>
        <p:nvPicPr>
          <p:cNvPr id="6" name="Picture 5" descr="Diagram&#10;&#10;Description automatically generated">
            <a:extLst>
              <a:ext uri="{FF2B5EF4-FFF2-40B4-BE49-F238E27FC236}">
                <a16:creationId xmlns:a16="http://schemas.microsoft.com/office/drawing/2014/main" id="{9C278A14-2E17-436A-A325-54E4F1132FD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2844" y="2595442"/>
            <a:ext cx="3427244" cy="1667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60873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696CFF-5B03-46FC-B72D-66963639D5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2800" dirty="0" err="1"/>
              <a:t>Definisi</a:t>
            </a:r>
            <a:r>
              <a:rPr lang="en-US" sz="2800" dirty="0"/>
              <a:t> Non-</a:t>
            </a:r>
            <a:r>
              <a:rPr lang="en-US" sz="2800" dirty="0" err="1"/>
              <a:t>Deterministik</a:t>
            </a:r>
            <a:r>
              <a:rPr lang="en-US" sz="2800" dirty="0"/>
              <a:t> Automata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B6BC64-42D2-4474-8C0C-A0CB0FAD0A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4083" y="904568"/>
            <a:ext cx="8501044" cy="3753799"/>
          </a:xfrm>
        </p:spPr>
        <p:txBody>
          <a:bodyPr>
            <a:normAutofit lnSpcReduction="10000"/>
          </a:bodyPr>
          <a:lstStyle/>
          <a:p>
            <a:pPr marL="372110" marR="645160" indent="-360045">
              <a:lnSpc>
                <a:spcPct val="100299"/>
              </a:lnSpc>
              <a:spcBef>
                <a:spcPts val="815"/>
              </a:spcBef>
              <a:buClr>
                <a:srgbClr val="006565"/>
              </a:buClr>
              <a:buSzPct val="70149"/>
              <a:buFont typeface="MS Gothic"/>
              <a:buChar char="❖"/>
              <a:tabLst>
                <a:tab pos="372745" algn="l"/>
              </a:tabLst>
            </a:pPr>
            <a:r>
              <a:rPr lang="en-ID" sz="2800" dirty="0"/>
              <a:t>NFA (Non-deterministic Finite Automata) </a:t>
            </a:r>
            <a:r>
              <a:rPr lang="en-ID" sz="2800" dirty="0" err="1"/>
              <a:t>adalah</a:t>
            </a:r>
            <a:r>
              <a:rPr lang="en-ID" sz="2800" dirty="0"/>
              <a:t> salah </a:t>
            </a:r>
            <a:r>
              <a:rPr lang="en-ID" sz="2800" dirty="0" err="1"/>
              <a:t>satu</a:t>
            </a:r>
            <a:r>
              <a:rPr lang="en-ID" sz="2800" dirty="0"/>
              <a:t> </a:t>
            </a:r>
            <a:r>
              <a:rPr lang="en-ID" sz="2800" dirty="0" err="1"/>
              <a:t>jenis</a:t>
            </a:r>
            <a:r>
              <a:rPr lang="en-ID" sz="2800" dirty="0"/>
              <a:t> automata di mana </a:t>
            </a:r>
            <a:r>
              <a:rPr lang="en-ID" sz="2800" dirty="0" err="1">
                <a:solidFill>
                  <a:srgbClr val="FF0000"/>
                </a:solidFill>
              </a:rPr>
              <a:t>untuk</a:t>
            </a:r>
            <a:r>
              <a:rPr lang="en-ID" sz="2800" dirty="0">
                <a:solidFill>
                  <a:srgbClr val="FF0000"/>
                </a:solidFill>
              </a:rPr>
              <a:t> </a:t>
            </a:r>
            <a:r>
              <a:rPr lang="en-ID" sz="2800" dirty="0" err="1">
                <a:solidFill>
                  <a:srgbClr val="FF0000"/>
                </a:solidFill>
              </a:rPr>
              <a:t>setiap</a:t>
            </a:r>
            <a:r>
              <a:rPr lang="en-ID" sz="2800" dirty="0">
                <a:solidFill>
                  <a:srgbClr val="FF0000"/>
                </a:solidFill>
              </a:rPr>
              <a:t> </a:t>
            </a:r>
            <a:r>
              <a:rPr lang="en-ID" sz="2800" dirty="0" err="1">
                <a:solidFill>
                  <a:srgbClr val="FF0000"/>
                </a:solidFill>
              </a:rPr>
              <a:t>keadaan</a:t>
            </a:r>
            <a:r>
              <a:rPr lang="en-ID" sz="2800" dirty="0">
                <a:solidFill>
                  <a:srgbClr val="FF0000"/>
                </a:solidFill>
              </a:rPr>
              <a:t> dan </a:t>
            </a:r>
            <a:r>
              <a:rPr lang="en-ID" sz="2800" dirty="0" err="1">
                <a:solidFill>
                  <a:srgbClr val="FF0000"/>
                </a:solidFill>
              </a:rPr>
              <a:t>simbol</a:t>
            </a:r>
            <a:r>
              <a:rPr lang="en-ID" sz="2800" dirty="0">
                <a:solidFill>
                  <a:srgbClr val="FF0000"/>
                </a:solidFill>
              </a:rPr>
              <a:t> input, automata </a:t>
            </a:r>
            <a:r>
              <a:rPr lang="en-ID" sz="2800" dirty="0" err="1">
                <a:solidFill>
                  <a:srgbClr val="FF0000"/>
                </a:solidFill>
              </a:rPr>
              <a:t>dapat</a:t>
            </a:r>
            <a:r>
              <a:rPr lang="en-ID" sz="2800" dirty="0">
                <a:solidFill>
                  <a:srgbClr val="FF0000"/>
                </a:solidFill>
              </a:rPr>
              <a:t> </a:t>
            </a:r>
            <a:r>
              <a:rPr lang="en-ID" sz="2800" dirty="0" err="1">
                <a:solidFill>
                  <a:srgbClr val="FF0000"/>
                </a:solidFill>
              </a:rPr>
              <a:t>berpindah</a:t>
            </a:r>
            <a:r>
              <a:rPr lang="en-ID" sz="2800" dirty="0">
                <a:solidFill>
                  <a:srgbClr val="FF0000"/>
                </a:solidFill>
              </a:rPr>
              <a:t> </a:t>
            </a:r>
            <a:r>
              <a:rPr lang="en-ID" sz="2800" dirty="0" err="1">
                <a:solidFill>
                  <a:srgbClr val="FF0000"/>
                </a:solidFill>
              </a:rPr>
              <a:t>ke</a:t>
            </a:r>
            <a:r>
              <a:rPr lang="en-ID" sz="2800" dirty="0">
                <a:solidFill>
                  <a:srgbClr val="FF0000"/>
                </a:solidFill>
              </a:rPr>
              <a:t> </a:t>
            </a:r>
            <a:r>
              <a:rPr lang="en-ID" sz="2800" dirty="0" err="1">
                <a:solidFill>
                  <a:srgbClr val="FF0000"/>
                </a:solidFill>
              </a:rPr>
              <a:t>lebih</a:t>
            </a:r>
            <a:r>
              <a:rPr lang="en-ID" sz="2800" dirty="0">
                <a:solidFill>
                  <a:srgbClr val="FF0000"/>
                </a:solidFill>
              </a:rPr>
              <a:t> </a:t>
            </a:r>
            <a:r>
              <a:rPr lang="en-ID" sz="2800" dirty="0" err="1">
                <a:solidFill>
                  <a:srgbClr val="FF0000"/>
                </a:solidFill>
              </a:rPr>
              <a:t>dari</a:t>
            </a:r>
            <a:r>
              <a:rPr lang="en-ID" sz="2800" dirty="0">
                <a:solidFill>
                  <a:srgbClr val="FF0000"/>
                </a:solidFill>
              </a:rPr>
              <a:t> </a:t>
            </a:r>
            <a:r>
              <a:rPr lang="en-ID" sz="2800" dirty="0" err="1">
                <a:solidFill>
                  <a:srgbClr val="FF0000"/>
                </a:solidFill>
              </a:rPr>
              <a:t>satu</a:t>
            </a:r>
            <a:r>
              <a:rPr lang="en-ID" sz="2800" dirty="0">
                <a:solidFill>
                  <a:srgbClr val="FF0000"/>
                </a:solidFill>
              </a:rPr>
              <a:t> </a:t>
            </a:r>
            <a:r>
              <a:rPr lang="en-ID" sz="2800" dirty="0" err="1">
                <a:solidFill>
                  <a:srgbClr val="FF0000"/>
                </a:solidFill>
              </a:rPr>
              <a:t>keadaan</a:t>
            </a:r>
            <a:r>
              <a:rPr lang="en-ID" sz="2800" dirty="0">
                <a:solidFill>
                  <a:srgbClr val="FF0000"/>
                </a:solidFill>
              </a:rPr>
              <a:t>, </a:t>
            </a:r>
            <a:r>
              <a:rPr lang="en-ID" sz="2800" dirty="0" err="1">
                <a:solidFill>
                  <a:srgbClr val="FF0000"/>
                </a:solidFill>
              </a:rPr>
              <a:t>atau</a:t>
            </a:r>
            <a:r>
              <a:rPr lang="en-ID" sz="2800" dirty="0">
                <a:solidFill>
                  <a:srgbClr val="FF0000"/>
                </a:solidFill>
              </a:rPr>
              <a:t> </a:t>
            </a:r>
            <a:r>
              <a:rPr lang="en-ID" sz="2800" dirty="0" err="1">
                <a:solidFill>
                  <a:srgbClr val="FF0000"/>
                </a:solidFill>
              </a:rPr>
              <a:t>bahkan</a:t>
            </a:r>
            <a:r>
              <a:rPr lang="en-ID" sz="2800" dirty="0">
                <a:solidFill>
                  <a:srgbClr val="FF0000"/>
                </a:solidFill>
              </a:rPr>
              <a:t> </a:t>
            </a:r>
            <a:r>
              <a:rPr lang="en-ID" sz="2800" dirty="0" err="1">
                <a:solidFill>
                  <a:srgbClr val="FF0000"/>
                </a:solidFill>
              </a:rPr>
              <a:t>tidak</a:t>
            </a:r>
            <a:r>
              <a:rPr lang="en-ID" sz="2800" dirty="0">
                <a:solidFill>
                  <a:srgbClr val="FF0000"/>
                </a:solidFill>
              </a:rPr>
              <a:t> </a:t>
            </a:r>
            <a:r>
              <a:rPr lang="en-ID" sz="2800" dirty="0" err="1">
                <a:solidFill>
                  <a:srgbClr val="FF0000"/>
                </a:solidFill>
              </a:rPr>
              <a:t>pindah</a:t>
            </a:r>
            <a:r>
              <a:rPr lang="en-ID" sz="2800" dirty="0">
                <a:solidFill>
                  <a:srgbClr val="FF0000"/>
                </a:solidFill>
              </a:rPr>
              <a:t> </a:t>
            </a:r>
            <a:r>
              <a:rPr lang="en-ID" sz="2800" dirty="0" err="1">
                <a:solidFill>
                  <a:srgbClr val="FF0000"/>
                </a:solidFill>
              </a:rPr>
              <a:t>sama</a:t>
            </a:r>
            <a:r>
              <a:rPr lang="en-ID" sz="2800" dirty="0">
                <a:solidFill>
                  <a:srgbClr val="FF0000"/>
                </a:solidFill>
              </a:rPr>
              <a:t> </a:t>
            </a:r>
            <a:r>
              <a:rPr lang="en-ID" sz="2800" dirty="0" err="1">
                <a:solidFill>
                  <a:srgbClr val="FF0000"/>
                </a:solidFill>
              </a:rPr>
              <a:t>sekali</a:t>
            </a:r>
            <a:r>
              <a:rPr lang="en-ID" sz="2800" dirty="0"/>
              <a:t>.</a:t>
            </a:r>
          </a:p>
          <a:p>
            <a:pPr marL="372110" marR="645160" indent="-360045">
              <a:lnSpc>
                <a:spcPct val="100299"/>
              </a:lnSpc>
              <a:spcBef>
                <a:spcPts val="815"/>
              </a:spcBef>
              <a:buClr>
                <a:srgbClr val="006565"/>
              </a:buClr>
              <a:buSzPct val="70149"/>
              <a:buFont typeface="MS Gothic"/>
              <a:buChar char="❖"/>
              <a:tabLst>
                <a:tab pos="372745" algn="l"/>
              </a:tabLst>
            </a:pPr>
            <a:r>
              <a:rPr lang="it-IT" sz="2800" dirty="0"/>
              <a:t>NFA berarti bahwa lebih dari satu transisi keluar dari suatu state mungkin terjadi pada simbol input yang sama</a:t>
            </a:r>
            <a:endParaRPr lang="en-ID" sz="2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AB3AB6F-54A5-42C6-A58F-56BD0A20CC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4654" y="4501000"/>
            <a:ext cx="5737179" cy="2033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15545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696CFF-5B03-46FC-B72D-66963639D5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2800" dirty="0"/>
              <a:t>Non-</a:t>
            </a:r>
            <a:r>
              <a:rPr lang="en-US" sz="2800" dirty="0" err="1"/>
              <a:t>Deterministik</a:t>
            </a:r>
            <a:r>
              <a:rPr lang="en-US" sz="2800" dirty="0"/>
              <a:t> Automata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3B6BC64-42D2-4474-8C0C-A0CB0FAD0A0F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454083" y="1245704"/>
                <a:ext cx="8501044" cy="5155095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ID" sz="2800" dirty="0"/>
                  <a:t>Secara formal, NFA </a:t>
                </a:r>
                <a:r>
                  <a:rPr lang="en-ID" sz="2800" dirty="0" err="1"/>
                  <a:t>didefinisikan</a:t>
                </a:r>
                <a:r>
                  <a:rPr lang="en-ID" sz="2800" dirty="0"/>
                  <a:t> oleh </a:t>
                </a:r>
                <a:r>
                  <a:rPr lang="en-ID" sz="2800" dirty="0" err="1"/>
                  <a:t>sebuah</a:t>
                </a:r>
                <a:r>
                  <a:rPr lang="en-ID" sz="2800" dirty="0"/>
                  <a:t> 5-tuple: 𝑀=(𝑄,</a:t>
                </a:r>
                <a:r>
                  <a:rPr lang="el-GR" sz="2800" dirty="0"/>
                  <a:t>Σ,𝛿,𝑞,𝐹)</a:t>
                </a:r>
                <a:r>
                  <a:rPr lang="en-ID" sz="2800" dirty="0"/>
                  <a:t>M=(Q,</a:t>
                </a:r>
                <a:r>
                  <a:rPr lang="el-GR" sz="2800" dirty="0"/>
                  <a:t>Σ,δ,</a:t>
                </a:r>
                <a:r>
                  <a:rPr lang="en-ID" sz="2800" dirty="0"/>
                  <a:t>q 0​ ,F) di mana:</a:t>
                </a:r>
              </a:p>
              <a:p>
                <a:r>
                  <a:rPr lang="en-ID" sz="2800" dirty="0"/>
                  <a:t>𝑄 </a:t>
                </a:r>
                <a:r>
                  <a:rPr lang="en-ID" sz="2800" dirty="0" err="1"/>
                  <a:t>adalah</a:t>
                </a:r>
                <a:r>
                  <a:rPr lang="en-ID" sz="2800" dirty="0"/>
                  <a:t> </a:t>
                </a:r>
                <a:r>
                  <a:rPr lang="en-ID" sz="2800" dirty="0" err="1"/>
                  <a:t>himpunan</a:t>
                </a:r>
                <a:r>
                  <a:rPr lang="en-ID" sz="2800" dirty="0"/>
                  <a:t> </a:t>
                </a:r>
                <a:r>
                  <a:rPr lang="en-ID" sz="2800" dirty="0" err="1"/>
                  <a:t>terbatas</a:t>
                </a:r>
                <a:r>
                  <a:rPr lang="en-ID" sz="2800" dirty="0"/>
                  <a:t> </a:t>
                </a:r>
                <a:r>
                  <a:rPr lang="en-ID" sz="2800" dirty="0" err="1"/>
                  <a:t>dari</a:t>
                </a:r>
                <a:r>
                  <a:rPr lang="en-ID" sz="2800" dirty="0"/>
                  <a:t> </a:t>
                </a:r>
                <a:r>
                  <a:rPr lang="en-ID" sz="2800" dirty="0" err="1"/>
                  <a:t>keadaan</a:t>
                </a:r>
                <a:r>
                  <a:rPr lang="en-ID" sz="2800" dirty="0"/>
                  <a:t> (states),</a:t>
                </a:r>
              </a:p>
              <a:p>
                <a:r>
                  <a:rPr lang="el-GR" sz="2800" dirty="0"/>
                  <a:t>Σ </a:t>
                </a:r>
                <a:r>
                  <a:rPr lang="en-ID" sz="2800" dirty="0" err="1"/>
                  <a:t>adalah</a:t>
                </a:r>
                <a:r>
                  <a:rPr lang="en-ID" sz="2800" dirty="0"/>
                  <a:t> </a:t>
                </a:r>
                <a:r>
                  <a:rPr lang="en-ID" sz="2800" dirty="0" err="1"/>
                  <a:t>himpunan</a:t>
                </a:r>
                <a:r>
                  <a:rPr lang="en-ID" sz="2800" dirty="0"/>
                  <a:t> </a:t>
                </a:r>
                <a:r>
                  <a:rPr lang="en-ID" sz="2800" dirty="0" err="1"/>
                  <a:t>terbatas</a:t>
                </a:r>
                <a:r>
                  <a:rPr lang="en-ID" sz="2800" dirty="0"/>
                  <a:t> </a:t>
                </a:r>
                <a:r>
                  <a:rPr lang="en-ID" sz="2800" dirty="0" err="1"/>
                  <a:t>dari</a:t>
                </a:r>
                <a:r>
                  <a:rPr lang="en-ID" sz="2800" dirty="0"/>
                  <a:t> </a:t>
                </a:r>
                <a:r>
                  <a:rPr lang="en-ID" sz="2800" dirty="0" err="1"/>
                  <a:t>alfabet</a:t>
                </a:r>
                <a:r>
                  <a:rPr lang="en-ID" sz="2800" dirty="0"/>
                  <a:t> input,</a:t>
                </a:r>
              </a:p>
              <a:p>
                <a:r>
                  <a:rPr lang="el-GR" sz="2800" dirty="0"/>
                  <a:t>δ </a:t>
                </a:r>
                <a:r>
                  <a:rPr lang="en-ID" sz="2800" dirty="0" err="1"/>
                  <a:t>adalah</a:t>
                </a:r>
                <a:r>
                  <a:rPr lang="en-ID" sz="2800" dirty="0"/>
                  <a:t> </a:t>
                </a:r>
                <a:r>
                  <a:rPr lang="en-ID" sz="2800" dirty="0" err="1"/>
                  <a:t>fungsi</a:t>
                </a:r>
                <a:r>
                  <a:rPr lang="en-ID" sz="2800" dirty="0"/>
                  <a:t> </a:t>
                </a:r>
                <a:r>
                  <a:rPr lang="en-ID" sz="2800" dirty="0" err="1"/>
                  <a:t>transisi</a:t>
                </a:r>
                <a:r>
                  <a:rPr lang="en-ID" sz="2800" dirty="0"/>
                  <a:t> yang </a:t>
                </a:r>
                <a:r>
                  <a:rPr lang="en-ID" sz="2800" dirty="0" err="1"/>
                  <a:t>memetakan</a:t>
                </a:r>
                <a:r>
                  <a:rPr lang="en-ID" sz="2800" dirty="0"/>
                  <a:t> </a:t>
                </a:r>
                <a:r>
                  <a:rPr lang="en-ID" sz="2800" dirty="0" err="1"/>
                  <a:t>keadaan</a:t>
                </a:r>
                <a:r>
                  <a:rPr lang="en-ID" sz="2800" dirty="0"/>
                  <a:t> </a:t>
                </a:r>
                <a:r>
                  <a:rPr lang="en-ID" sz="2800" dirty="0" err="1"/>
                  <a:t>saat</a:t>
                </a:r>
                <a:r>
                  <a:rPr lang="en-ID" sz="2800" dirty="0"/>
                  <a:t> </a:t>
                </a:r>
                <a:r>
                  <a:rPr lang="en-ID" sz="2800" dirty="0" err="1"/>
                  <a:t>ini</a:t>
                </a:r>
                <a:r>
                  <a:rPr lang="en-ID" sz="2800" dirty="0"/>
                  <a:t> dan </a:t>
                </a:r>
                <a:r>
                  <a:rPr lang="en-ID" sz="2800" dirty="0" err="1"/>
                  <a:t>simbol</a:t>
                </a:r>
                <a:r>
                  <a:rPr lang="en-ID" sz="2800" dirty="0"/>
                  <a:t> input </a:t>
                </a:r>
                <a:r>
                  <a:rPr lang="en-ID" sz="2800" dirty="0" err="1"/>
                  <a:t>ke</a:t>
                </a:r>
                <a:r>
                  <a:rPr lang="en-ID" sz="2800" dirty="0"/>
                  <a:t> </a:t>
                </a:r>
                <a:r>
                  <a:rPr lang="en-ID" sz="2800" dirty="0" err="1"/>
                  <a:t>himpunan</a:t>
                </a:r>
                <a:r>
                  <a:rPr lang="en-ID" sz="2800" dirty="0"/>
                  <a:t> </a:t>
                </a:r>
                <a:r>
                  <a:rPr lang="en-ID" sz="2800" dirty="0" err="1"/>
                  <a:t>semua</a:t>
                </a:r>
                <a:r>
                  <a:rPr lang="en-ID" sz="2800" dirty="0"/>
                  <a:t> </a:t>
                </a:r>
                <a:r>
                  <a:rPr lang="en-ID" sz="2800" dirty="0" err="1"/>
                  <a:t>keadaan</a:t>
                </a:r>
                <a:r>
                  <a:rPr lang="en-ID" sz="2800" dirty="0"/>
                  <a:t> </a:t>
                </a:r>
                <a:r>
                  <a:rPr lang="en-ID" sz="2800" dirty="0" err="1"/>
                  <a:t>berikutnya</a:t>
                </a:r>
                <a:r>
                  <a:rPr lang="en-ID" sz="2800" dirty="0"/>
                  <a:t>, </a:t>
                </a:r>
                <a:r>
                  <a:rPr lang="en-ID" sz="2800" dirty="0" err="1"/>
                  <a:t>yaitu</a:t>
                </a:r>
                <a:r>
                  <a:rPr lang="en-ID" sz="2800" dirty="0"/>
                  <a:t> </a:t>
                </a:r>
                <a:r>
                  <a:rPr lang="en-ID" sz="2800" dirty="0">
                    <a:solidFill>
                      <a:srgbClr val="FF0000"/>
                    </a:solidFill>
                  </a:rPr>
                  <a:t>𝛿:𝑄×(</a:t>
                </a:r>
                <a:r>
                  <a:rPr lang="el-GR" sz="2800" dirty="0">
                    <a:solidFill>
                      <a:srgbClr val="FF0000"/>
                    </a:solidFill>
                  </a:rPr>
                  <a:t>Σ∪{𝜆})→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l-GR" sz="28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2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sup>
                    </m:sSup>
                  </m:oMath>
                </a14:m>
                <a:r>
                  <a:rPr lang="en-ID" sz="2800" dirty="0">
                    <a:solidFill>
                      <a:srgbClr val="FF0000"/>
                    </a:solidFill>
                  </a:rPr>
                  <a:t> </a:t>
                </a:r>
                <a:r>
                  <a:rPr lang="en-ID" sz="2800" dirty="0"/>
                  <a:t>,</a:t>
                </a:r>
              </a:p>
              <a:p>
                <a:r>
                  <a:rPr lang="en-ID" sz="2800" dirty="0"/>
                  <a:t>𝑞0 ∈ 𝑄  </a:t>
                </a:r>
                <a:r>
                  <a:rPr lang="en-ID" sz="2800" dirty="0" err="1"/>
                  <a:t>adalah</a:t>
                </a:r>
                <a:r>
                  <a:rPr lang="en-ID" sz="2800" dirty="0"/>
                  <a:t> </a:t>
                </a:r>
                <a:r>
                  <a:rPr lang="en-ID" sz="2800" dirty="0" err="1"/>
                  <a:t>keadaan</a:t>
                </a:r>
                <a:r>
                  <a:rPr lang="en-ID" sz="2800" dirty="0"/>
                  <a:t> </a:t>
                </a:r>
                <a:r>
                  <a:rPr lang="en-ID" sz="2800" dirty="0" err="1"/>
                  <a:t>awal</a:t>
                </a:r>
                <a:r>
                  <a:rPr lang="en-ID" sz="2800" dirty="0"/>
                  <a:t>,</a:t>
                </a:r>
              </a:p>
              <a:p>
                <a:r>
                  <a:rPr lang="en-ID" sz="2800" dirty="0"/>
                  <a:t>𝐹 ⊆ 𝑄 </a:t>
                </a:r>
                <a:r>
                  <a:rPr lang="en-ID" sz="2800" dirty="0" err="1"/>
                  <a:t>adalah</a:t>
                </a:r>
                <a:r>
                  <a:rPr lang="en-ID" sz="2800" dirty="0"/>
                  <a:t> </a:t>
                </a:r>
                <a:r>
                  <a:rPr lang="en-ID" sz="2800" dirty="0" err="1"/>
                  <a:t>himpunan</a:t>
                </a:r>
                <a:r>
                  <a:rPr lang="en-ID" sz="2800" dirty="0"/>
                  <a:t> </a:t>
                </a:r>
                <a:r>
                  <a:rPr lang="en-ID" sz="2800" dirty="0" err="1"/>
                  <a:t>keadaan</a:t>
                </a:r>
                <a:r>
                  <a:rPr lang="en-ID" sz="2800" dirty="0"/>
                  <a:t> final.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3B6BC64-42D2-4474-8C0C-A0CB0FAD0A0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454083" y="1245704"/>
                <a:ext cx="8501044" cy="5155095"/>
              </a:xfrm>
              <a:blipFill>
                <a:blip r:embed="rId2"/>
                <a:stretch>
                  <a:fillRect l="-1434" t="-2719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756662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696CFF-5B03-46FC-B72D-66963639D5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2800" dirty="0"/>
              <a:t>DFA Vs NDFA(Table </a:t>
            </a:r>
            <a:r>
              <a:rPr lang="en-US" sz="2800" dirty="0" err="1"/>
              <a:t>Perbedaan</a:t>
            </a:r>
            <a:r>
              <a:rPr lang="en-US" sz="2800" dirty="0"/>
              <a:t>)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FB2E076D-A511-494A-A258-A8D0CB7AE0A2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433180013"/>
              </p:ext>
            </p:extLst>
          </p:nvPr>
        </p:nvGraphicFramePr>
        <p:xfrm>
          <a:off x="321228" y="987762"/>
          <a:ext cx="8459916" cy="582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9972">
                  <a:extLst>
                    <a:ext uri="{9D8B030D-6E8A-4147-A177-3AD203B41FA5}">
                      <a16:colId xmlns:a16="http://schemas.microsoft.com/office/drawing/2014/main" val="2668516791"/>
                    </a:ext>
                  </a:extLst>
                </a:gridCol>
                <a:gridCol w="2819972">
                  <a:extLst>
                    <a:ext uri="{9D8B030D-6E8A-4147-A177-3AD203B41FA5}">
                      <a16:colId xmlns:a16="http://schemas.microsoft.com/office/drawing/2014/main" val="4081720735"/>
                    </a:ext>
                  </a:extLst>
                </a:gridCol>
                <a:gridCol w="2819972">
                  <a:extLst>
                    <a:ext uri="{9D8B030D-6E8A-4147-A177-3AD203B41FA5}">
                      <a16:colId xmlns:a16="http://schemas.microsoft.com/office/drawing/2014/main" val="1905838178"/>
                    </a:ext>
                  </a:extLst>
                </a:gridCol>
              </a:tblGrid>
              <a:tr h="498078">
                <a:tc>
                  <a:txBody>
                    <a:bodyPr/>
                    <a:lstStyle/>
                    <a:p>
                      <a:pPr algn="ctr"/>
                      <a:r>
                        <a:rPr lang="en-ID" sz="1600" b="1" dirty="0" err="1">
                          <a:latin typeface="Montserrat Medium" panose="00000600000000000000"/>
                        </a:rPr>
                        <a:t>Aspek</a:t>
                      </a:r>
                      <a:endParaRPr lang="en-ID" sz="1600" dirty="0">
                        <a:latin typeface="Montserrat Medium" panose="0000060000000000000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D" sz="1600" b="1">
                          <a:latin typeface="Montserrat Medium" panose="00000600000000000000"/>
                        </a:rPr>
                        <a:t>DFA (Deterministic Finite Automata)</a:t>
                      </a:r>
                      <a:endParaRPr lang="en-ID" sz="1600">
                        <a:latin typeface="Montserrat Medium" panose="0000060000000000000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D" sz="1600" b="1" dirty="0">
                          <a:latin typeface="Montserrat Medium" panose="00000600000000000000"/>
                        </a:rPr>
                        <a:t>NFA (Non-Deterministic Finite Automata)</a:t>
                      </a:r>
                      <a:endParaRPr lang="en-ID" sz="1600" dirty="0">
                        <a:latin typeface="Montserrat Medium" panose="0000060000000000000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18177498"/>
                  </a:ext>
                </a:extLst>
              </a:tr>
              <a:tr h="925003">
                <a:tc>
                  <a:txBody>
                    <a:bodyPr/>
                    <a:lstStyle/>
                    <a:p>
                      <a:pPr algn="ctr"/>
                      <a:r>
                        <a:rPr lang="en-ID" sz="1600" b="1" dirty="0" err="1">
                          <a:latin typeface="Montserrat Medium" panose="00000600000000000000"/>
                        </a:rPr>
                        <a:t>Transisi</a:t>
                      </a:r>
                      <a:endParaRPr lang="en-ID" sz="1600" dirty="0">
                        <a:latin typeface="Montserrat Medium" panose="0000060000000000000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D" sz="1600" dirty="0" err="1">
                          <a:latin typeface="Montserrat Medium" panose="00000600000000000000"/>
                        </a:rPr>
                        <a:t>Setiap</a:t>
                      </a:r>
                      <a:r>
                        <a:rPr lang="en-ID" sz="1600" dirty="0">
                          <a:latin typeface="Montserrat Medium" panose="00000600000000000000"/>
                        </a:rPr>
                        <a:t> </a:t>
                      </a:r>
                      <a:r>
                        <a:rPr lang="en-ID" sz="1600" dirty="0" err="1">
                          <a:latin typeface="Montserrat Medium" panose="00000600000000000000"/>
                        </a:rPr>
                        <a:t>keadaan</a:t>
                      </a:r>
                      <a:r>
                        <a:rPr lang="en-ID" sz="1600" dirty="0">
                          <a:latin typeface="Montserrat Medium" panose="00000600000000000000"/>
                        </a:rPr>
                        <a:t> dan </a:t>
                      </a:r>
                      <a:r>
                        <a:rPr lang="en-ID" sz="1600" dirty="0" err="1">
                          <a:latin typeface="Montserrat Medium" panose="00000600000000000000"/>
                        </a:rPr>
                        <a:t>simbol</a:t>
                      </a:r>
                      <a:r>
                        <a:rPr lang="en-ID" sz="1600" dirty="0">
                          <a:latin typeface="Montserrat Medium" panose="00000600000000000000"/>
                        </a:rPr>
                        <a:t> input </a:t>
                      </a:r>
                      <a:r>
                        <a:rPr lang="en-ID" sz="1600" dirty="0" err="1">
                          <a:latin typeface="Montserrat Medium" panose="00000600000000000000"/>
                        </a:rPr>
                        <a:t>hanya</a:t>
                      </a:r>
                      <a:r>
                        <a:rPr lang="en-ID" sz="1600" dirty="0">
                          <a:latin typeface="Montserrat Medium" panose="00000600000000000000"/>
                        </a:rPr>
                        <a:t> </a:t>
                      </a:r>
                      <a:r>
                        <a:rPr lang="en-ID" sz="1600" dirty="0" err="1">
                          <a:latin typeface="Montserrat Medium" panose="00000600000000000000"/>
                        </a:rPr>
                        <a:t>memiliki</a:t>
                      </a:r>
                      <a:r>
                        <a:rPr lang="en-ID" sz="1600" dirty="0">
                          <a:latin typeface="Montserrat Medium" panose="00000600000000000000"/>
                        </a:rPr>
                        <a:t> </a:t>
                      </a:r>
                      <a:r>
                        <a:rPr lang="en-ID" sz="1600" dirty="0" err="1">
                          <a:latin typeface="Montserrat Medium" panose="00000600000000000000"/>
                        </a:rPr>
                        <a:t>satu</a:t>
                      </a:r>
                      <a:r>
                        <a:rPr lang="en-ID" sz="1600" dirty="0">
                          <a:latin typeface="Montserrat Medium" panose="00000600000000000000"/>
                        </a:rPr>
                        <a:t> </a:t>
                      </a:r>
                      <a:r>
                        <a:rPr lang="en-ID" sz="1600" dirty="0" err="1">
                          <a:latin typeface="Montserrat Medium" panose="00000600000000000000"/>
                        </a:rPr>
                        <a:t>transisi</a:t>
                      </a:r>
                      <a:r>
                        <a:rPr lang="en-ID" sz="1600" dirty="0">
                          <a:latin typeface="Montserrat Medium" panose="00000600000000000000"/>
                        </a:rPr>
                        <a:t> </a:t>
                      </a:r>
                      <a:r>
                        <a:rPr lang="en-ID" sz="1600" dirty="0" err="1">
                          <a:latin typeface="Montserrat Medium" panose="00000600000000000000"/>
                        </a:rPr>
                        <a:t>ke</a:t>
                      </a:r>
                      <a:r>
                        <a:rPr lang="en-ID" sz="1600" dirty="0">
                          <a:latin typeface="Montserrat Medium" panose="00000600000000000000"/>
                        </a:rPr>
                        <a:t> </a:t>
                      </a:r>
                      <a:r>
                        <a:rPr lang="en-ID" sz="1600" dirty="0" err="1">
                          <a:latin typeface="Montserrat Medium" panose="00000600000000000000"/>
                        </a:rPr>
                        <a:t>keadaan</a:t>
                      </a:r>
                      <a:r>
                        <a:rPr lang="en-ID" sz="1600" dirty="0">
                          <a:latin typeface="Montserrat Medium" panose="00000600000000000000"/>
                        </a:rPr>
                        <a:t> </a:t>
                      </a:r>
                      <a:r>
                        <a:rPr lang="en-ID" sz="1600" dirty="0" err="1">
                          <a:latin typeface="Montserrat Medium" panose="00000600000000000000"/>
                        </a:rPr>
                        <a:t>berikutnya</a:t>
                      </a:r>
                      <a:r>
                        <a:rPr lang="en-ID" sz="1600" dirty="0">
                          <a:latin typeface="Montserrat Medium" panose="00000600000000000000"/>
                        </a:rPr>
                        <a:t>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D" sz="1600" dirty="0" err="1">
                          <a:latin typeface="Montserrat Medium" panose="00000600000000000000"/>
                        </a:rPr>
                        <a:t>Setiap</a:t>
                      </a:r>
                      <a:r>
                        <a:rPr lang="en-ID" sz="1600" dirty="0">
                          <a:latin typeface="Montserrat Medium" panose="00000600000000000000"/>
                        </a:rPr>
                        <a:t> </a:t>
                      </a:r>
                      <a:r>
                        <a:rPr lang="en-ID" sz="1600" dirty="0" err="1">
                          <a:latin typeface="Montserrat Medium" panose="00000600000000000000"/>
                        </a:rPr>
                        <a:t>keadaan</a:t>
                      </a:r>
                      <a:r>
                        <a:rPr lang="en-ID" sz="1600" dirty="0">
                          <a:latin typeface="Montserrat Medium" panose="00000600000000000000"/>
                        </a:rPr>
                        <a:t> dan </a:t>
                      </a:r>
                      <a:r>
                        <a:rPr lang="en-ID" sz="1600" dirty="0" err="1">
                          <a:latin typeface="Montserrat Medium" panose="00000600000000000000"/>
                        </a:rPr>
                        <a:t>simbol</a:t>
                      </a:r>
                      <a:r>
                        <a:rPr lang="en-ID" sz="1600" dirty="0">
                          <a:latin typeface="Montserrat Medium" panose="00000600000000000000"/>
                        </a:rPr>
                        <a:t> input </a:t>
                      </a:r>
                      <a:r>
                        <a:rPr lang="en-ID" sz="1600" dirty="0" err="1">
                          <a:latin typeface="Montserrat Medium" panose="00000600000000000000"/>
                        </a:rPr>
                        <a:t>bisa</a:t>
                      </a:r>
                      <a:r>
                        <a:rPr lang="en-ID" sz="1600" dirty="0">
                          <a:latin typeface="Montserrat Medium" panose="00000600000000000000"/>
                        </a:rPr>
                        <a:t> </a:t>
                      </a:r>
                      <a:r>
                        <a:rPr lang="en-ID" sz="1600" dirty="0" err="1">
                          <a:latin typeface="Montserrat Medium" panose="00000600000000000000"/>
                        </a:rPr>
                        <a:t>memiliki</a:t>
                      </a:r>
                      <a:r>
                        <a:rPr lang="en-ID" sz="1600" dirty="0">
                          <a:latin typeface="Montserrat Medium" panose="00000600000000000000"/>
                        </a:rPr>
                        <a:t> </a:t>
                      </a:r>
                      <a:r>
                        <a:rPr lang="en-ID" sz="1600" dirty="0" err="1">
                          <a:latin typeface="Montserrat Medium" panose="00000600000000000000"/>
                        </a:rPr>
                        <a:t>lebih</a:t>
                      </a:r>
                      <a:r>
                        <a:rPr lang="en-ID" sz="1600" dirty="0">
                          <a:latin typeface="Montserrat Medium" panose="00000600000000000000"/>
                        </a:rPr>
                        <a:t> </a:t>
                      </a:r>
                      <a:r>
                        <a:rPr lang="en-ID" sz="1600" dirty="0" err="1">
                          <a:latin typeface="Montserrat Medium" panose="00000600000000000000"/>
                        </a:rPr>
                        <a:t>dari</a:t>
                      </a:r>
                      <a:r>
                        <a:rPr lang="en-ID" sz="1600" dirty="0">
                          <a:latin typeface="Montserrat Medium" panose="00000600000000000000"/>
                        </a:rPr>
                        <a:t> </a:t>
                      </a:r>
                      <a:r>
                        <a:rPr lang="en-ID" sz="1600" dirty="0" err="1">
                          <a:latin typeface="Montserrat Medium" panose="00000600000000000000"/>
                        </a:rPr>
                        <a:t>satu</a:t>
                      </a:r>
                      <a:r>
                        <a:rPr lang="en-ID" sz="1600" dirty="0">
                          <a:latin typeface="Montserrat Medium" panose="00000600000000000000"/>
                        </a:rPr>
                        <a:t> </a:t>
                      </a:r>
                      <a:r>
                        <a:rPr lang="en-ID" sz="1600" dirty="0" err="1">
                          <a:latin typeface="Montserrat Medium" panose="00000600000000000000"/>
                        </a:rPr>
                        <a:t>transisi</a:t>
                      </a:r>
                      <a:r>
                        <a:rPr lang="en-ID" sz="1600" dirty="0">
                          <a:latin typeface="Montserrat Medium" panose="00000600000000000000"/>
                        </a:rPr>
                        <a:t>, </a:t>
                      </a:r>
                      <a:r>
                        <a:rPr lang="en-ID" sz="1600" dirty="0" err="1">
                          <a:latin typeface="Montserrat Medium" panose="00000600000000000000"/>
                        </a:rPr>
                        <a:t>atau</a:t>
                      </a:r>
                      <a:r>
                        <a:rPr lang="en-ID" sz="1600" dirty="0">
                          <a:latin typeface="Montserrat Medium" panose="00000600000000000000"/>
                        </a:rPr>
                        <a:t> </a:t>
                      </a:r>
                      <a:r>
                        <a:rPr lang="en-ID" sz="1600" dirty="0" err="1">
                          <a:latin typeface="Montserrat Medium" panose="00000600000000000000"/>
                        </a:rPr>
                        <a:t>tidak</a:t>
                      </a:r>
                      <a:r>
                        <a:rPr lang="en-ID" sz="1600" dirty="0">
                          <a:latin typeface="Montserrat Medium" panose="00000600000000000000"/>
                        </a:rPr>
                        <a:t> </a:t>
                      </a:r>
                      <a:r>
                        <a:rPr lang="en-ID" sz="1600" dirty="0" err="1">
                          <a:latin typeface="Montserrat Medium" panose="00000600000000000000"/>
                        </a:rPr>
                        <a:t>ada</a:t>
                      </a:r>
                      <a:r>
                        <a:rPr lang="en-ID" sz="1600" dirty="0">
                          <a:latin typeface="Montserrat Medium" panose="00000600000000000000"/>
                        </a:rPr>
                        <a:t> </a:t>
                      </a:r>
                      <a:r>
                        <a:rPr lang="en-ID" sz="1600" dirty="0" err="1">
                          <a:latin typeface="Montserrat Medium" panose="00000600000000000000"/>
                        </a:rPr>
                        <a:t>transisi</a:t>
                      </a:r>
                      <a:r>
                        <a:rPr lang="en-ID" sz="1600" dirty="0">
                          <a:latin typeface="Montserrat Medium" panose="00000600000000000000"/>
                        </a:rPr>
                        <a:t> </a:t>
                      </a:r>
                      <a:r>
                        <a:rPr lang="en-ID" sz="1600" dirty="0" err="1">
                          <a:latin typeface="Montserrat Medium" panose="00000600000000000000"/>
                        </a:rPr>
                        <a:t>sama</a:t>
                      </a:r>
                      <a:r>
                        <a:rPr lang="en-ID" sz="1600" dirty="0">
                          <a:latin typeface="Montserrat Medium" panose="00000600000000000000"/>
                        </a:rPr>
                        <a:t> </a:t>
                      </a:r>
                      <a:r>
                        <a:rPr lang="en-ID" sz="1600" dirty="0" err="1">
                          <a:latin typeface="Montserrat Medium" panose="00000600000000000000"/>
                        </a:rPr>
                        <a:t>sekali</a:t>
                      </a:r>
                      <a:r>
                        <a:rPr lang="en-ID" sz="1600" dirty="0">
                          <a:latin typeface="Montserrat Medium" panose="00000600000000000000"/>
                        </a:rPr>
                        <a:t>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31471699"/>
                  </a:ext>
                </a:extLst>
              </a:tr>
              <a:tr h="925003">
                <a:tc>
                  <a:txBody>
                    <a:bodyPr/>
                    <a:lstStyle/>
                    <a:p>
                      <a:pPr algn="ctr"/>
                      <a:r>
                        <a:rPr lang="en-ID" sz="1600" b="1" dirty="0" err="1">
                          <a:latin typeface="Montserrat Medium" panose="00000600000000000000"/>
                        </a:rPr>
                        <a:t>Deterministik</a:t>
                      </a:r>
                      <a:r>
                        <a:rPr lang="en-ID" sz="1600" b="1" dirty="0">
                          <a:latin typeface="Montserrat Medium" panose="00000600000000000000"/>
                        </a:rPr>
                        <a:t>/Non-</a:t>
                      </a:r>
                      <a:r>
                        <a:rPr lang="en-ID" sz="1600" b="1" dirty="0" err="1">
                          <a:latin typeface="Montserrat Medium" panose="00000600000000000000"/>
                        </a:rPr>
                        <a:t>deterministik</a:t>
                      </a:r>
                      <a:endParaRPr lang="en-ID" sz="1600" b="1" dirty="0">
                        <a:latin typeface="Montserrat Medium" panose="0000060000000000000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D" sz="1600" dirty="0" err="1">
                          <a:latin typeface="Montserrat Medium" panose="00000600000000000000"/>
                        </a:rPr>
                        <a:t>Selalu</a:t>
                      </a:r>
                      <a:r>
                        <a:rPr lang="en-ID" sz="1600" dirty="0">
                          <a:latin typeface="Montserrat Medium" panose="00000600000000000000"/>
                        </a:rPr>
                        <a:t> </a:t>
                      </a:r>
                      <a:r>
                        <a:rPr lang="en-ID" sz="1600" dirty="0" err="1">
                          <a:latin typeface="Montserrat Medium" panose="00000600000000000000"/>
                        </a:rPr>
                        <a:t>deterministik</a:t>
                      </a:r>
                      <a:r>
                        <a:rPr lang="en-ID" sz="1600" dirty="0">
                          <a:latin typeface="Montserrat Medium" panose="00000600000000000000"/>
                        </a:rPr>
                        <a:t>: </a:t>
                      </a:r>
                      <a:r>
                        <a:rPr lang="en-ID" sz="1600" dirty="0" err="1">
                          <a:latin typeface="Montserrat Medium" panose="00000600000000000000"/>
                        </a:rPr>
                        <a:t>hanya</a:t>
                      </a:r>
                      <a:r>
                        <a:rPr lang="en-ID" sz="1600" dirty="0">
                          <a:latin typeface="Montserrat Medium" panose="00000600000000000000"/>
                        </a:rPr>
                        <a:t> </a:t>
                      </a:r>
                      <a:r>
                        <a:rPr lang="en-ID" sz="1600" dirty="0" err="1">
                          <a:latin typeface="Montserrat Medium" panose="00000600000000000000"/>
                        </a:rPr>
                        <a:t>ada</a:t>
                      </a:r>
                      <a:r>
                        <a:rPr lang="en-ID" sz="1600" dirty="0">
                          <a:latin typeface="Montserrat Medium" panose="00000600000000000000"/>
                        </a:rPr>
                        <a:t> </a:t>
                      </a:r>
                      <a:r>
                        <a:rPr lang="en-ID" sz="1600" dirty="0" err="1">
                          <a:latin typeface="Montserrat Medium" panose="00000600000000000000"/>
                        </a:rPr>
                        <a:t>satu</a:t>
                      </a:r>
                      <a:r>
                        <a:rPr lang="en-ID" sz="1600" dirty="0">
                          <a:latin typeface="Montserrat Medium" panose="00000600000000000000"/>
                        </a:rPr>
                        <a:t> </a:t>
                      </a:r>
                      <a:r>
                        <a:rPr lang="en-ID" sz="1600" dirty="0" err="1">
                          <a:latin typeface="Montserrat Medium" panose="00000600000000000000"/>
                        </a:rPr>
                        <a:t>jalur</a:t>
                      </a:r>
                      <a:r>
                        <a:rPr lang="en-ID" sz="1600" dirty="0">
                          <a:latin typeface="Montserrat Medium" panose="00000600000000000000"/>
                        </a:rPr>
                        <a:t> yang </a:t>
                      </a:r>
                      <a:r>
                        <a:rPr lang="en-ID" sz="1600" dirty="0" err="1">
                          <a:latin typeface="Montserrat Medium" panose="00000600000000000000"/>
                        </a:rPr>
                        <a:t>mungkin</a:t>
                      </a:r>
                      <a:r>
                        <a:rPr lang="en-ID" sz="1600" dirty="0">
                          <a:latin typeface="Montserrat Medium" panose="00000600000000000000"/>
                        </a:rPr>
                        <a:t> </a:t>
                      </a:r>
                      <a:r>
                        <a:rPr lang="en-ID" sz="1600" dirty="0" err="1">
                          <a:latin typeface="Montserrat Medium" panose="00000600000000000000"/>
                        </a:rPr>
                        <a:t>untuk</a:t>
                      </a:r>
                      <a:r>
                        <a:rPr lang="en-ID" sz="1600" dirty="0">
                          <a:latin typeface="Montserrat Medium" panose="00000600000000000000"/>
                        </a:rPr>
                        <a:t> </a:t>
                      </a:r>
                      <a:r>
                        <a:rPr lang="en-ID" sz="1600" dirty="0" err="1">
                          <a:latin typeface="Montserrat Medium" panose="00000600000000000000"/>
                        </a:rPr>
                        <a:t>setiap</a:t>
                      </a:r>
                      <a:r>
                        <a:rPr lang="en-ID" sz="1600" dirty="0">
                          <a:latin typeface="Montserrat Medium" panose="00000600000000000000"/>
                        </a:rPr>
                        <a:t> input </a:t>
                      </a:r>
                      <a:r>
                        <a:rPr lang="en-ID" sz="1600" dirty="0" err="1">
                          <a:latin typeface="Montserrat Medium" panose="00000600000000000000"/>
                        </a:rPr>
                        <a:t>dari</a:t>
                      </a:r>
                      <a:r>
                        <a:rPr lang="en-ID" sz="1600" dirty="0">
                          <a:latin typeface="Montserrat Medium" panose="00000600000000000000"/>
                        </a:rPr>
                        <a:t> </a:t>
                      </a:r>
                      <a:r>
                        <a:rPr lang="en-ID" sz="1600" dirty="0" err="1">
                          <a:latin typeface="Montserrat Medium" panose="00000600000000000000"/>
                        </a:rPr>
                        <a:t>setiap</a:t>
                      </a:r>
                      <a:r>
                        <a:rPr lang="en-ID" sz="1600" dirty="0">
                          <a:latin typeface="Montserrat Medium" panose="00000600000000000000"/>
                        </a:rPr>
                        <a:t> </a:t>
                      </a:r>
                      <a:r>
                        <a:rPr lang="en-ID" sz="1600" dirty="0" err="1">
                          <a:latin typeface="Montserrat Medium" panose="00000600000000000000"/>
                        </a:rPr>
                        <a:t>keadaan</a:t>
                      </a:r>
                      <a:r>
                        <a:rPr lang="en-ID" sz="1600" dirty="0">
                          <a:latin typeface="Montserrat Medium" panose="00000600000000000000"/>
                        </a:rPr>
                        <a:t>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D" sz="1600" dirty="0">
                          <a:latin typeface="Montserrat Medium" panose="00000600000000000000"/>
                        </a:rPr>
                        <a:t>Non-</a:t>
                      </a:r>
                      <a:r>
                        <a:rPr lang="en-ID" sz="1600" dirty="0" err="1">
                          <a:latin typeface="Montserrat Medium" panose="00000600000000000000"/>
                        </a:rPr>
                        <a:t>deterministik</a:t>
                      </a:r>
                      <a:r>
                        <a:rPr lang="en-ID" sz="1600" dirty="0">
                          <a:latin typeface="Montserrat Medium" panose="00000600000000000000"/>
                        </a:rPr>
                        <a:t>: </a:t>
                      </a:r>
                      <a:r>
                        <a:rPr lang="en-ID" sz="1600" dirty="0" err="1">
                          <a:latin typeface="Montserrat Medium" panose="00000600000000000000"/>
                        </a:rPr>
                        <a:t>bisa</a:t>
                      </a:r>
                      <a:r>
                        <a:rPr lang="en-ID" sz="1600" dirty="0">
                          <a:latin typeface="Montserrat Medium" panose="00000600000000000000"/>
                        </a:rPr>
                        <a:t> </a:t>
                      </a:r>
                      <a:r>
                        <a:rPr lang="en-ID" sz="1600" dirty="0" err="1">
                          <a:latin typeface="Montserrat Medium" panose="00000600000000000000"/>
                        </a:rPr>
                        <a:t>ada</a:t>
                      </a:r>
                      <a:r>
                        <a:rPr lang="en-ID" sz="1600" dirty="0">
                          <a:latin typeface="Montserrat Medium" panose="00000600000000000000"/>
                        </a:rPr>
                        <a:t> </a:t>
                      </a:r>
                      <a:r>
                        <a:rPr lang="en-ID" sz="1600" dirty="0" err="1">
                          <a:latin typeface="Montserrat Medium" panose="00000600000000000000"/>
                        </a:rPr>
                        <a:t>banyak</a:t>
                      </a:r>
                      <a:r>
                        <a:rPr lang="en-ID" sz="1600" dirty="0">
                          <a:latin typeface="Montserrat Medium" panose="00000600000000000000"/>
                        </a:rPr>
                        <a:t> </a:t>
                      </a:r>
                      <a:r>
                        <a:rPr lang="en-ID" sz="1600" dirty="0" err="1">
                          <a:latin typeface="Montserrat Medium" panose="00000600000000000000"/>
                        </a:rPr>
                        <a:t>jalur</a:t>
                      </a:r>
                      <a:r>
                        <a:rPr lang="en-ID" sz="1600" dirty="0">
                          <a:latin typeface="Montserrat Medium" panose="00000600000000000000"/>
                        </a:rPr>
                        <a:t> yang </a:t>
                      </a:r>
                      <a:r>
                        <a:rPr lang="en-ID" sz="1600" dirty="0" err="1">
                          <a:latin typeface="Montserrat Medium" panose="00000600000000000000"/>
                        </a:rPr>
                        <a:t>mungkin</a:t>
                      </a:r>
                      <a:r>
                        <a:rPr lang="en-ID" sz="1600" dirty="0">
                          <a:latin typeface="Montserrat Medium" panose="00000600000000000000"/>
                        </a:rPr>
                        <a:t> </a:t>
                      </a:r>
                      <a:r>
                        <a:rPr lang="en-ID" sz="1600" dirty="0" err="1">
                          <a:latin typeface="Montserrat Medium" panose="00000600000000000000"/>
                        </a:rPr>
                        <a:t>untuk</a:t>
                      </a:r>
                      <a:r>
                        <a:rPr lang="en-ID" sz="1600" dirty="0">
                          <a:latin typeface="Montserrat Medium" panose="00000600000000000000"/>
                        </a:rPr>
                        <a:t> </a:t>
                      </a:r>
                      <a:r>
                        <a:rPr lang="en-ID" sz="1600" dirty="0" err="1">
                          <a:latin typeface="Montserrat Medium" panose="00000600000000000000"/>
                        </a:rPr>
                        <a:t>suatu</a:t>
                      </a:r>
                      <a:r>
                        <a:rPr lang="en-ID" sz="1600" dirty="0">
                          <a:latin typeface="Montserrat Medium" panose="00000600000000000000"/>
                        </a:rPr>
                        <a:t> input </a:t>
                      </a:r>
                      <a:r>
                        <a:rPr lang="en-ID" sz="1600" dirty="0" err="1">
                          <a:latin typeface="Montserrat Medium" panose="00000600000000000000"/>
                        </a:rPr>
                        <a:t>dari</a:t>
                      </a:r>
                      <a:r>
                        <a:rPr lang="en-ID" sz="1600" dirty="0">
                          <a:latin typeface="Montserrat Medium" panose="00000600000000000000"/>
                        </a:rPr>
                        <a:t> </a:t>
                      </a:r>
                      <a:r>
                        <a:rPr lang="en-ID" sz="1600" dirty="0" err="1">
                          <a:latin typeface="Montserrat Medium" panose="00000600000000000000"/>
                        </a:rPr>
                        <a:t>keadaan</a:t>
                      </a:r>
                      <a:r>
                        <a:rPr lang="en-ID" sz="1600" dirty="0">
                          <a:latin typeface="Montserrat Medium" panose="00000600000000000000"/>
                        </a:rPr>
                        <a:t> </a:t>
                      </a:r>
                      <a:r>
                        <a:rPr lang="en-ID" sz="1600" dirty="0" err="1">
                          <a:latin typeface="Montserrat Medium" panose="00000600000000000000"/>
                        </a:rPr>
                        <a:t>tertentu</a:t>
                      </a:r>
                      <a:r>
                        <a:rPr lang="en-ID" sz="1600" dirty="0">
                          <a:latin typeface="Montserrat Medium" panose="00000600000000000000"/>
                        </a:rPr>
                        <a:t>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3640852"/>
                  </a:ext>
                </a:extLst>
              </a:tr>
              <a:tr h="925003">
                <a:tc>
                  <a:txBody>
                    <a:bodyPr/>
                    <a:lstStyle/>
                    <a:p>
                      <a:pPr algn="ctr"/>
                      <a:r>
                        <a:rPr lang="en-ID" sz="1600" b="1" dirty="0" err="1">
                          <a:latin typeface="Montserrat Medium" panose="00000600000000000000"/>
                        </a:rPr>
                        <a:t>Transisi</a:t>
                      </a:r>
                      <a:r>
                        <a:rPr lang="en-ID" sz="1600" b="1" dirty="0">
                          <a:latin typeface="Montserrat Medium" panose="00000600000000000000"/>
                        </a:rPr>
                        <a:t> epsilon (</a:t>
                      </a:r>
                      <a:r>
                        <a:rPr lang="el-GR" sz="1600" b="1" dirty="0">
                          <a:latin typeface="Montserrat Medium" panose="00000600000000000000"/>
                        </a:rPr>
                        <a:t>ε-</a:t>
                      </a:r>
                      <a:r>
                        <a:rPr lang="en-ID" sz="1600" b="1" dirty="0">
                          <a:latin typeface="Montserrat Medium" panose="00000600000000000000"/>
                        </a:rPr>
                        <a:t>transitions)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D" sz="1600" dirty="0" err="1">
                          <a:latin typeface="Montserrat Medium" panose="00000600000000000000"/>
                        </a:rPr>
                        <a:t>Tidak</a:t>
                      </a:r>
                      <a:r>
                        <a:rPr lang="en-ID" sz="1600" dirty="0">
                          <a:latin typeface="Montserrat Medium" panose="00000600000000000000"/>
                        </a:rPr>
                        <a:t> </a:t>
                      </a:r>
                      <a:r>
                        <a:rPr lang="en-ID" sz="1600" dirty="0" err="1">
                          <a:latin typeface="Montserrat Medium" panose="00000600000000000000"/>
                        </a:rPr>
                        <a:t>diizinkan</a:t>
                      </a:r>
                      <a:r>
                        <a:rPr lang="en-ID" sz="1600" dirty="0">
                          <a:latin typeface="Montserrat Medium" panose="00000600000000000000"/>
                        </a:rPr>
                        <a:t>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D" sz="1600" dirty="0" err="1">
                          <a:latin typeface="Montserrat Medium" panose="00000600000000000000"/>
                        </a:rPr>
                        <a:t>Diizinkan</a:t>
                      </a:r>
                      <a:r>
                        <a:rPr lang="en-ID" sz="1600" dirty="0">
                          <a:latin typeface="Montserrat Medium" panose="00000600000000000000"/>
                        </a:rPr>
                        <a:t>: NFA </a:t>
                      </a:r>
                      <a:r>
                        <a:rPr lang="en-ID" sz="1600" dirty="0" err="1">
                          <a:latin typeface="Montserrat Medium" panose="00000600000000000000"/>
                        </a:rPr>
                        <a:t>dapat</a:t>
                      </a:r>
                      <a:r>
                        <a:rPr lang="en-ID" sz="1600" dirty="0">
                          <a:latin typeface="Montserrat Medium" panose="00000600000000000000"/>
                        </a:rPr>
                        <a:t> </a:t>
                      </a:r>
                      <a:r>
                        <a:rPr lang="en-ID" sz="1600" dirty="0" err="1">
                          <a:latin typeface="Montserrat Medium" panose="00000600000000000000"/>
                        </a:rPr>
                        <a:t>berpindah</a:t>
                      </a:r>
                      <a:r>
                        <a:rPr lang="en-ID" sz="1600" dirty="0">
                          <a:latin typeface="Montserrat Medium" panose="00000600000000000000"/>
                        </a:rPr>
                        <a:t> </a:t>
                      </a:r>
                      <a:r>
                        <a:rPr lang="en-ID" sz="1600" dirty="0" err="1">
                          <a:latin typeface="Montserrat Medium" panose="00000600000000000000"/>
                        </a:rPr>
                        <a:t>ke</a:t>
                      </a:r>
                      <a:r>
                        <a:rPr lang="en-ID" sz="1600" dirty="0">
                          <a:latin typeface="Montserrat Medium" panose="00000600000000000000"/>
                        </a:rPr>
                        <a:t> </a:t>
                      </a:r>
                      <a:r>
                        <a:rPr lang="en-ID" sz="1600" dirty="0" err="1">
                          <a:latin typeface="Montserrat Medium" panose="00000600000000000000"/>
                        </a:rPr>
                        <a:t>keadaan</a:t>
                      </a:r>
                      <a:r>
                        <a:rPr lang="en-ID" sz="1600" dirty="0">
                          <a:latin typeface="Montserrat Medium" panose="00000600000000000000"/>
                        </a:rPr>
                        <a:t> lain </a:t>
                      </a:r>
                      <a:r>
                        <a:rPr lang="en-ID" sz="1600" dirty="0" err="1">
                          <a:latin typeface="Montserrat Medium" panose="00000600000000000000"/>
                        </a:rPr>
                        <a:t>tanpa</a:t>
                      </a:r>
                      <a:r>
                        <a:rPr lang="en-ID" sz="1600" dirty="0">
                          <a:latin typeface="Montserrat Medium" panose="00000600000000000000"/>
                        </a:rPr>
                        <a:t> </a:t>
                      </a:r>
                      <a:r>
                        <a:rPr lang="en-ID" sz="1600" dirty="0" err="1">
                          <a:latin typeface="Montserrat Medium" panose="00000600000000000000"/>
                        </a:rPr>
                        <a:t>membaca</a:t>
                      </a:r>
                      <a:r>
                        <a:rPr lang="en-ID" sz="1600" dirty="0">
                          <a:latin typeface="Montserrat Medium" panose="00000600000000000000"/>
                        </a:rPr>
                        <a:t> </a:t>
                      </a:r>
                      <a:r>
                        <a:rPr lang="en-ID" sz="1600" dirty="0" err="1">
                          <a:latin typeface="Montserrat Medium" panose="00000600000000000000"/>
                        </a:rPr>
                        <a:t>simbol</a:t>
                      </a:r>
                      <a:r>
                        <a:rPr lang="en-ID" sz="1600" dirty="0">
                          <a:latin typeface="Montserrat Medium" panose="00000600000000000000"/>
                        </a:rPr>
                        <a:t> input (</a:t>
                      </a:r>
                      <a:r>
                        <a:rPr lang="en-ID" sz="1600" dirty="0" err="1">
                          <a:latin typeface="Montserrat Medium" panose="00000600000000000000"/>
                        </a:rPr>
                        <a:t>transisi</a:t>
                      </a:r>
                      <a:r>
                        <a:rPr lang="en-ID" sz="1600" dirty="0">
                          <a:latin typeface="Montserrat Medium" panose="00000600000000000000"/>
                        </a:rPr>
                        <a:t> </a:t>
                      </a:r>
                      <a:r>
                        <a:rPr lang="el-GR" sz="1600" dirty="0">
                          <a:latin typeface="Montserrat Medium" panose="00000600000000000000"/>
                        </a:rPr>
                        <a:t>ε).</a:t>
                      </a:r>
                      <a:endParaRPr lang="en-ID" sz="1600" dirty="0">
                        <a:latin typeface="Montserrat Medium" panose="0000060000000000000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33191891"/>
                  </a:ext>
                </a:extLst>
              </a:tr>
              <a:tr h="1138465">
                <a:tc>
                  <a:txBody>
                    <a:bodyPr/>
                    <a:lstStyle/>
                    <a:p>
                      <a:pPr algn="ctr"/>
                      <a:r>
                        <a:rPr lang="en-ID" sz="1600" b="1" dirty="0" err="1">
                          <a:latin typeface="Montserrat Medium" panose="00000600000000000000"/>
                        </a:rPr>
                        <a:t>Fungsi</a:t>
                      </a:r>
                      <a:r>
                        <a:rPr lang="en-ID" sz="1600" b="1" dirty="0">
                          <a:latin typeface="Montserrat Medium" panose="00000600000000000000"/>
                        </a:rPr>
                        <a:t> </a:t>
                      </a:r>
                      <a:r>
                        <a:rPr lang="en-ID" sz="1600" b="1" dirty="0" err="1">
                          <a:latin typeface="Montserrat Medium" panose="00000600000000000000"/>
                        </a:rPr>
                        <a:t>Transisi</a:t>
                      </a:r>
                      <a:endParaRPr lang="en-ID" sz="1600" b="1" dirty="0">
                        <a:latin typeface="Montserrat Medium" panose="0000060000000000000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D" sz="1600" dirty="0" err="1">
                          <a:latin typeface="Montserrat Medium" panose="00000600000000000000"/>
                        </a:rPr>
                        <a:t>Fungsi</a:t>
                      </a:r>
                      <a:r>
                        <a:rPr lang="en-ID" sz="1600" dirty="0">
                          <a:latin typeface="Montserrat Medium" panose="00000600000000000000"/>
                        </a:rPr>
                        <a:t> </a:t>
                      </a:r>
                      <a:r>
                        <a:rPr lang="en-ID" sz="1600" dirty="0" err="1">
                          <a:latin typeface="Montserrat Medium" panose="00000600000000000000"/>
                        </a:rPr>
                        <a:t>transisi</a:t>
                      </a:r>
                      <a:r>
                        <a:rPr lang="en-ID" sz="1600" dirty="0">
                          <a:latin typeface="Montserrat Medium" panose="00000600000000000000"/>
                        </a:rPr>
                        <a:t> </a:t>
                      </a:r>
                      <a:r>
                        <a:rPr lang="el-GR" sz="1600" dirty="0">
                          <a:latin typeface="Montserrat Medium" panose="00000600000000000000"/>
                        </a:rPr>
                        <a:t>δ</a:t>
                      </a:r>
                      <a:r>
                        <a:rPr lang="en-ID" sz="1600" dirty="0">
                          <a:latin typeface="Montserrat Medium" panose="00000600000000000000"/>
                        </a:rPr>
                        <a:t> </a:t>
                      </a:r>
                      <a:r>
                        <a:rPr lang="en-ID" sz="1600" dirty="0" err="1">
                          <a:latin typeface="Montserrat Medium" panose="00000600000000000000"/>
                        </a:rPr>
                        <a:t>memetakan</a:t>
                      </a:r>
                      <a:r>
                        <a:rPr lang="en-ID" sz="1600" dirty="0">
                          <a:latin typeface="Montserrat Medium" panose="00000600000000000000"/>
                        </a:rPr>
                        <a:t> </a:t>
                      </a:r>
                      <a:r>
                        <a:rPr lang="en-ID" sz="1600" dirty="0" err="1">
                          <a:latin typeface="Montserrat Medium" panose="00000600000000000000"/>
                        </a:rPr>
                        <a:t>dari</a:t>
                      </a:r>
                      <a:r>
                        <a:rPr lang="en-ID" sz="1600" dirty="0">
                          <a:latin typeface="Montserrat Medium" panose="00000600000000000000"/>
                        </a:rPr>
                        <a:t> </a:t>
                      </a:r>
                      <a:r>
                        <a:rPr lang="en-ID" sz="1600" dirty="0" err="1">
                          <a:latin typeface="Montserrat Medium" panose="00000600000000000000"/>
                        </a:rPr>
                        <a:t>pasangan</a:t>
                      </a:r>
                      <a:r>
                        <a:rPr lang="en-ID" sz="1600" dirty="0">
                          <a:latin typeface="Montserrat Medium" panose="00000600000000000000"/>
                        </a:rPr>
                        <a:t> (</a:t>
                      </a:r>
                      <a:r>
                        <a:rPr lang="en-ID" sz="1600" dirty="0" err="1">
                          <a:latin typeface="Montserrat Medium" panose="00000600000000000000"/>
                        </a:rPr>
                        <a:t>keadaan</a:t>
                      </a:r>
                      <a:r>
                        <a:rPr lang="en-ID" sz="1600" dirty="0">
                          <a:latin typeface="Montserrat Medium" panose="00000600000000000000"/>
                        </a:rPr>
                        <a:t>, </a:t>
                      </a:r>
                      <a:r>
                        <a:rPr lang="en-ID" sz="1600" dirty="0" err="1">
                          <a:latin typeface="Montserrat Medium" panose="00000600000000000000"/>
                        </a:rPr>
                        <a:t>simbol</a:t>
                      </a:r>
                      <a:r>
                        <a:rPr lang="en-ID" sz="1600" dirty="0">
                          <a:latin typeface="Montserrat Medium" panose="00000600000000000000"/>
                        </a:rPr>
                        <a:t> input) </a:t>
                      </a:r>
                      <a:r>
                        <a:rPr lang="en-ID" sz="1600" dirty="0" err="1">
                          <a:latin typeface="Montserrat Medium" panose="00000600000000000000"/>
                        </a:rPr>
                        <a:t>ke</a:t>
                      </a:r>
                      <a:r>
                        <a:rPr lang="en-ID" sz="1600" dirty="0">
                          <a:latin typeface="Montserrat Medium" panose="00000600000000000000"/>
                        </a:rPr>
                        <a:t> </a:t>
                      </a:r>
                      <a:r>
                        <a:rPr lang="en-ID" sz="1600" dirty="0" err="1">
                          <a:solidFill>
                            <a:srgbClr val="FF0000"/>
                          </a:solidFill>
                          <a:latin typeface="Montserrat Medium" panose="00000600000000000000"/>
                        </a:rPr>
                        <a:t>satu</a:t>
                      </a:r>
                      <a:r>
                        <a:rPr lang="en-ID" sz="1600" dirty="0">
                          <a:solidFill>
                            <a:srgbClr val="FF0000"/>
                          </a:solidFill>
                          <a:latin typeface="Montserrat Medium" panose="00000600000000000000"/>
                        </a:rPr>
                        <a:t> </a:t>
                      </a:r>
                      <a:r>
                        <a:rPr lang="en-ID" sz="1600" dirty="0" err="1">
                          <a:solidFill>
                            <a:srgbClr val="FF0000"/>
                          </a:solidFill>
                          <a:latin typeface="Montserrat Medium" panose="00000600000000000000"/>
                        </a:rPr>
                        <a:t>keadaan</a:t>
                      </a:r>
                      <a:r>
                        <a:rPr lang="en-ID" sz="1600" dirty="0">
                          <a:latin typeface="Montserrat Medium" panose="00000600000000000000"/>
                        </a:rPr>
                        <a:t> </a:t>
                      </a:r>
                      <a:r>
                        <a:rPr lang="en-ID" sz="1600" dirty="0" err="1">
                          <a:latin typeface="Montserrat Medium" panose="00000600000000000000"/>
                        </a:rPr>
                        <a:t>berikutnya</a:t>
                      </a:r>
                      <a:r>
                        <a:rPr lang="en-ID" sz="1600" dirty="0">
                          <a:latin typeface="Montserrat Medium" panose="00000600000000000000"/>
                        </a:rPr>
                        <a:t>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D" sz="1600" dirty="0" err="1">
                          <a:latin typeface="Montserrat Medium" panose="00000600000000000000"/>
                        </a:rPr>
                        <a:t>Fungsi</a:t>
                      </a:r>
                      <a:r>
                        <a:rPr lang="en-ID" sz="1600" dirty="0">
                          <a:latin typeface="Montserrat Medium" panose="00000600000000000000"/>
                        </a:rPr>
                        <a:t> </a:t>
                      </a:r>
                      <a:r>
                        <a:rPr lang="en-ID" sz="1600" dirty="0" err="1">
                          <a:latin typeface="Montserrat Medium" panose="00000600000000000000"/>
                        </a:rPr>
                        <a:t>transisi</a:t>
                      </a:r>
                      <a:r>
                        <a:rPr lang="en-ID" sz="1600" dirty="0">
                          <a:latin typeface="Montserrat Medium" panose="00000600000000000000"/>
                        </a:rPr>
                        <a:t> </a:t>
                      </a:r>
                      <a:r>
                        <a:rPr lang="el-GR" sz="1600" dirty="0">
                          <a:latin typeface="Montserrat Medium" panose="00000600000000000000"/>
                        </a:rPr>
                        <a:t>δ</a:t>
                      </a:r>
                      <a:r>
                        <a:rPr lang="en-US" sz="1600" dirty="0">
                          <a:latin typeface="Montserrat Medium" panose="00000600000000000000"/>
                        </a:rPr>
                        <a:t> </a:t>
                      </a:r>
                      <a:r>
                        <a:rPr lang="en-ID" sz="1600" dirty="0" err="1">
                          <a:latin typeface="Montserrat Medium" panose="00000600000000000000"/>
                        </a:rPr>
                        <a:t>memetakan</a:t>
                      </a:r>
                      <a:r>
                        <a:rPr lang="en-ID" sz="1600" dirty="0">
                          <a:latin typeface="Montserrat Medium" panose="00000600000000000000"/>
                        </a:rPr>
                        <a:t> </a:t>
                      </a:r>
                      <a:r>
                        <a:rPr lang="en-ID" sz="1600" dirty="0" err="1">
                          <a:latin typeface="Montserrat Medium" panose="00000600000000000000"/>
                        </a:rPr>
                        <a:t>dari</a:t>
                      </a:r>
                      <a:r>
                        <a:rPr lang="en-ID" sz="1600" dirty="0">
                          <a:latin typeface="Montserrat Medium" panose="00000600000000000000"/>
                        </a:rPr>
                        <a:t> </a:t>
                      </a:r>
                      <a:r>
                        <a:rPr lang="en-ID" sz="1600" dirty="0" err="1">
                          <a:latin typeface="Montserrat Medium" panose="00000600000000000000"/>
                        </a:rPr>
                        <a:t>pasangan</a:t>
                      </a:r>
                      <a:r>
                        <a:rPr lang="en-ID" sz="1600" dirty="0">
                          <a:latin typeface="Montserrat Medium" panose="00000600000000000000"/>
                        </a:rPr>
                        <a:t> (</a:t>
                      </a:r>
                      <a:r>
                        <a:rPr lang="en-ID" sz="1600" dirty="0" err="1">
                          <a:latin typeface="Montserrat Medium" panose="00000600000000000000"/>
                        </a:rPr>
                        <a:t>keadaan</a:t>
                      </a:r>
                      <a:r>
                        <a:rPr lang="en-ID" sz="1600" dirty="0">
                          <a:latin typeface="Montserrat Medium" panose="00000600000000000000"/>
                        </a:rPr>
                        <a:t>, </a:t>
                      </a:r>
                      <a:r>
                        <a:rPr lang="en-ID" sz="1600" dirty="0" err="1">
                          <a:latin typeface="Montserrat Medium" panose="00000600000000000000"/>
                        </a:rPr>
                        <a:t>simbol</a:t>
                      </a:r>
                      <a:r>
                        <a:rPr lang="en-ID" sz="1600" dirty="0">
                          <a:latin typeface="Montserrat Medium" panose="00000600000000000000"/>
                        </a:rPr>
                        <a:t> input) </a:t>
                      </a:r>
                      <a:r>
                        <a:rPr lang="en-ID" sz="1600" dirty="0" err="1">
                          <a:latin typeface="Montserrat Medium" panose="00000600000000000000"/>
                        </a:rPr>
                        <a:t>ke</a:t>
                      </a:r>
                      <a:r>
                        <a:rPr lang="en-ID" sz="1600" dirty="0">
                          <a:latin typeface="Montserrat Medium" panose="00000600000000000000"/>
                        </a:rPr>
                        <a:t> </a:t>
                      </a:r>
                      <a:r>
                        <a:rPr lang="en-ID" sz="1600" dirty="0" err="1">
                          <a:latin typeface="Montserrat Medium" panose="00000600000000000000"/>
                        </a:rPr>
                        <a:t>himpunan</a:t>
                      </a:r>
                      <a:r>
                        <a:rPr lang="en-ID" sz="1600" dirty="0">
                          <a:latin typeface="Montserrat Medium" panose="00000600000000000000"/>
                        </a:rPr>
                        <a:t> </a:t>
                      </a:r>
                      <a:r>
                        <a:rPr lang="en-ID" sz="1600" dirty="0" err="1">
                          <a:latin typeface="Montserrat Medium" panose="00000600000000000000"/>
                        </a:rPr>
                        <a:t>dari</a:t>
                      </a:r>
                      <a:r>
                        <a:rPr lang="en-ID" sz="1600" dirty="0">
                          <a:latin typeface="Montserrat Medium" panose="00000600000000000000"/>
                        </a:rPr>
                        <a:t> </a:t>
                      </a:r>
                      <a:r>
                        <a:rPr lang="en-ID" sz="1600" dirty="0" err="1">
                          <a:solidFill>
                            <a:srgbClr val="FF0000"/>
                          </a:solidFill>
                          <a:latin typeface="Montserrat Medium" panose="00000600000000000000"/>
                        </a:rPr>
                        <a:t>beberapa</a:t>
                      </a:r>
                      <a:r>
                        <a:rPr lang="en-ID" sz="1600" dirty="0">
                          <a:solidFill>
                            <a:srgbClr val="FF0000"/>
                          </a:solidFill>
                          <a:latin typeface="Montserrat Medium" panose="00000600000000000000"/>
                        </a:rPr>
                        <a:t> </a:t>
                      </a:r>
                      <a:r>
                        <a:rPr lang="en-ID" sz="1600" dirty="0" err="1">
                          <a:solidFill>
                            <a:srgbClr val="FF0000"/>
                          </a:solidFill>
                          <a:latin typeface="Montserrat Medium" panose="00000600000000000000"/>
                        </a:rPr>
                        <a:t>keadaan</a:t>
                      </a:r>
                      <a:r>
                        <a:rPr lang="en-ID" sz="1600" dirty="0">
                          <a:solidFill>
                            <a:srgbClr val="FF0000"/>
                          </a:solidFill>
                          <a:latin typeface="Montserrat Medium" panose="00000600000000000000"/>
                        </a:rPr>
                        <a:t>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403479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875690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696CFF-5B03-46FC-B72D-66963639D5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2800" dirty="0"/>
              <a:t>DFA Vs NFA(Table </a:t>
            </a:r>
            <a:r>
              <a:rPr lang="en-US" sz="2800" dirty="0" err="1"/>
              <a:t>Perbedaan</a:t>
            </a:r>
            <a:r>
              <a:rPr lang="en-US" sz="2800" dirty="0"/>
              <a:t>)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FB2E076D-A511-494A-A258-A8D0CB7AE0A2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143588467"/>
              </p:ext>
            </p:extLst>
          </p:nvPr>
        </p:nvGraphicFramePr>
        <p:xfrm>
          <a:off x="321228" y="987762"/>
          <a:ext cx="8285163" cy="582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1721">
                  <a:extLst>
                    <a:ext uri="{9D8B030D-6E8A-4147-A177-3AD203B41FA5}">
                      <a16:colId xmlns:a16="http://schemas.microsoft.com/office/drawing/2014/main" val="2668516791"/>
                    </a:ext>
                  </a:extLst>
                </a:gridCol>
                <a:gridCol w="2761721">
                  <a:extLst>
                    <a:ext uri="{9D8B030D-6E8A-4147-A177-3AD203B41FA5}">
                      <a16:colId xmlns:a16="http://schemas.microsoft.com/office/drawing/2014/main" val="4081720735"/>
                    </a:ext>
                  </a:extLst>
                </a:gridCol>
                <a:gridCol w="2761721">
                  <a:extLst>
                    <a:ext uri="{9D8B030D-6E8A-4147-A177-3AD203B41FA5}">
                      <a16:colId xmlns:a16="http://schemas.microsoft.com/office/drawing/2014/main" val="19058381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D" sz="1600" b="1" dirty="0" err="1">
                          <a:latin typeface="Montserrat Medium" panose="00000600000000000000"/>
                        </a:rPr>
                        <a:t>Aspek</a:t>
                      </a:r>
                      <a:endParaRPr lang="en-ID" sz="1600" dirty="0">
                        <a:latin typeface="Montserrat Medium" panose="0000060000000000000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D" sz="1600" b="1">
                          <a:latin typeface="Montserrat Medium" panose="00000600000000000000"/>
                        </a:rPr>
                        <a:t>DFA (Deterministic Finite Automata)</a:t>
                      </a:r>
                      <a:endParaRPr lang="en-ID" sz="1600">
                        <a:latin typeface="Montserrat Medium" panose="0000060000000000000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D" sz="1600" b="1" dirty="0">
                          <a:latin typeface="Montserrat Medium" panose="00000600000000000000"/>
                        </a:rPr>
                        <a:t>NFA (Non-Deterministic Finite Automata)</a:t>
                      </a:r>
                      <a:endParaRPr lang="en-ID" sz="1600" dirty="0">
                        <a:latin typeface="Montserrat Medium" panose="0000060000000000000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181774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D" sz="1600" b="1" dirty="0" err="1">
                          <a:latin typeface="Montserrat Medium" panose="00000600000000000000"/>
                        </a:rPr>
                        <a:t>Kecepatan</a:t>
                      </a:r>
                      <a:r>
                        <a:rPr lang="en-ID" sz="1600" b="1" dirty="0">
                          <a:latin typeface="Montserrat Medium" panose="00000600000000000000"/>
                        </a:rPr>
                        <a:t> </a:t>
                      </a:r>
                      <a:r>
                        <a:rPr lang="en-ID" sz="1600" b="1" dirty="0" err="1">
                          <a:latin typeface="Montserrat Medium" panose="00000600000000000000"/>
                        </a:rPr>
                        <a:t>Eksekusi</a:t>
                      </a:r>
                      <a:endParaRPr lang="en-ID" sz="1600" dirty="0">
                        <a:latin typeface="Montserrat Medium" panose="0000060000000000000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D" sz="1600" dirty="0">
                          <a:latin typeface="Montserrat Medium" panose="00000600000000000000"/>
                        </a:rPr>
                        <a:t>DFA </a:t>
                      </a:r>
                      <a:r>
                        <a:rPr lang="en-ID" sz="1600" dirty="0" err="1">
                          <a:latin typeface="Montserrat Medium" panose="00000600000000000000"/>
                        </a:rPr>
                        <a:t>biasanya</a:t>
                      </a:r>
                      <a:r>
                        <a:rPr lang="en-ID" sz="1600" dirty="0">
                          <a:latin typeface="Montserrat Medium" panose="00000600000000000000"/>
                        </a:rPr>
                        <a:t> </a:t>
                      </a:r>
                      <a:r>
                        <a:rPr lang="en-ID" sz="1600" dirty="0" err="1">
                          <a:latin typeface="Montserrat Medium" panose="00000600000000000000"/>
                        </a:rPr>
                        <a:t>lebih</a:t>
                      </a:r>
                      <a:r>
                        <a:rPr lang="en-ID" sz="1600" dirty="0">
                          <a:latin typeface="Montserrat Medium" panose="00000600000000000000"/>
                        </a:rPr>
                        <a:t> </a:t>
                      </a:r>
                      <a:r>
                        <a:rPr lang="en-ID" sz="1600" dirty="0" err="1">
                          <a:latin typeface="Montserrat Medium" panose="00000600000000000000"/>
                        </a:rPr>
                        <a:t>cepat</a:t>
                      </a:r>
                      <a:r>
                        <a:rPr lang="en-ID" sz="1600" dirty="0">
                          <a:latin typeface="Montserrat Medium" panose="00000600000000000000"/>
                        </a:rPr>
                        <a:t> </a:t>
                      </a:r>
                      <a:r>
                        <a:rPr lang="en-ID" sz="1600" dirty="0" err="1">
                          <a:latin typeface="Montserrat Medium" panose="00000600000000000000"/>
                        </a:rPr>
                        <a:t>karena</a:t>
                      </a:r>
                      <a:r>
                        <a:rPr lang="en-ID" sz="1600" dirty="0">
                          <a:latin typeface="Montserrat Medium" panose="00000600000000000000"/>
                        </a:rPr>
                        <a:t> </a:t>
                      </a:r>
                      <a:r>
                        <a:rPr lang="en-ID" sz="1600" dirty="0" err="1">
                          <a:latin typeface="Montserrat Medium" panose="00000600000000000000"/>
                        </a:rPr>
                        <a:t>hanya</a:t>
                      </a:r>
                      <a:r>
                        <a:rPr lang="en-ID" sz="1600" dirty="0">
                          <a:latin typeface="Montserrat Medium" panose="00000600000000000000"/>
                        </a:rPr>
                        <a:t> </a:t>
                      </a:r>
                      <a:r>
                        <a:rPr lang="en-ID" sz="1600" dirty="0" err="1">
                          <a:latin typeface="Montserrat Medium" panose="00000600000000000000"/>
                        </a:rPr>
                        <a:t>satu</a:t>
                      </a:r>
                      <a:r>
                        <a:rPr lang="en-ID" sz="1600" dirty="0">
                          <a:latin typeface="Montserrat Medium" panose="00000600000000000000"/>
                        </a:rPr>
                        <a:t> </a:t>
                      </a:r>
                      <a:r>
                        <a:rPr lang="en-ID" sz="1600" dirty="0" err="1">
                          <a:latin typeface="Montserrat Medium" panose="00000600000000000000"/>
                        </a:rPr>
                        <a:t>transisi</a:t>
                      </a:r>
                      <a:r>
                        <a:rPr lang="en-ID" sz="1600" dirty="0">
                          <a:latin typeface="Montserrat Medium" panose="00000600000000000000"/>
                        </a:rPr>
                        <a:t> yang </a:t>
                      </a:r>
                      <a:r>
                        <a:rPr lang="en-ID" sz="1600" dirty="0" err="1">
                          <a:latin typeface="Montserrat Medium" panose="00000600000000000000"/>
                        </a:rPr>
                        <a:t>harus</a:t>
                      </a:r>
                      <a:r>
                        <a:rPr lang="en-ID" sz="1600" dirty="0">
                          <a:latin typeface="Montserrat Medium" panose="00000600000000000000"/>
                        </a:rPr>
                        <a:t> </a:t>
                      </a:r>
                      <a:r>
                        <a:rPr lang="en-ID" sz="1600" dirty="0" err="1">
                          <a:latin typeface="Montserrat Medium" panose="00000600000000000000"/>
                        </a:rPr>
                        <a:t>diikuti</a:t>
                      </a:r>
                      <a:r>
                        <a:rPr lang="en-ID" sz="1600" dirty="0">
                          <a:latin typeface="Montserrat Medium" panose="00000600000000000000"/>
                        </a:rPr>
                        <a:t> </a:t>
                      </a:r>
                      <a:r>
                        <a:rPr lang="en-ID" sz="1600" dirty="0" err="1">
                          <a:latin typeface="Montserrat Medium" panose="00000600000000000000"/>
                        </a:rPr>
                        <a:t>untuk</a:t>
                      </a:r>
                      <a:r>
                        <a:rPr lang="en-ID" sz="1600" dirty="0">
                          <a:latin typeface="Montserrat Medium" panose="00000600000000000000"/>
                        </a:rPr>
                        <a:t> </a:t>
                      </a:r>
                      <a:r>
                        <a:rPr lang="en-ID" sz="1600" dirty="0" err="1">
                          <a:latin typeface="Montserrat Medium" panose="00000600000000000000"/>
                        </a:rPr>
                        <a:t>setiap</a:t>
                      </a:r>
                      <a:r>
                        <a:rPr lang="en-ID" sz="1600" dirty="0">
                          <a:latin typeface="Montserrat Medium" panose="00000600000000000000"/>
                        </a:rPr>
                        <a:t> input.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D" sz="1600" dirty="0">
                          <a:latin typeface="Montserrat Medium" panose="00000600000000000000"/>
                        </a:rPr>
                        <a:t>NFA </a:t>
                      </a:r>
                      <a:r>
                        <a:rPr lang="en-ID" sz="1600" dirty="0" err="1">
                          <a:latin typeface="Montserrat Medium" panose="00000600000000000000"/>
                        </a:rPr>
                        <a:t>bisa</a:t>
                      </a:r>
                      <a:r>
                        <a:rPr lang="en-ID" sz="1600" dirty="0">
                          <a:latin typeface="Montserrat Medium" panose="00000600000000000000"/>
                        </a:rPr>
                        <a:t> </a:t>
                      </a:r>
                      <a:r>
                        <a:rPr lang="en-ID" sz="1600" dirty="0" err="1">
                          <a:latin typeface="Montserrat Medium" panose="00000600000000000000"/>
                        </a:rPr>
                        <a:t>lebih</a:t>
                      </a:r>
                      <a:r>
                        <a:rPr lang="en-ID" sz="1600" dirty="0">
                          <a:latin typeface="Montserrat Medium" panose="00000600000000000000"/>
                        </a:rPr>
                        <a:t> </a:t>
                      </a:r>
                      <a:r>
                        <a:rPr lang="en-ID" sz="1600" dirty="0" err="1">
                          <a:latin typeface="Montserrat Medium" panose="00000600000000000000"/>
                        </a:rPr>
                        <a:t>lambat</a:t>
                      </a:r>
                      <a:r>
                        <a:rPr lang="en-ID" sz="1600" dirty="0">
                          <a:latin typeface="Montserrat Medium" panose="00000600000000000000"/>
                        </a:rPr>
                        <a:t> </a:t>
                      </a:r>
                      <a:r>
                        <a:rPr lang="en-ID" sz="1600" dirty="0" err="1">
                          <a:latin typeface="Montserrat Medium" panose="00000600000000000000"/>
                        </a:rPr>
                        <a:t>karena</a:t>
                      </a:r>
                      <a:r>
                        <a:rPr lang="en-ID" sz="1600" dirty="0">
                          <a:latin typeface="Montserrat Medium" panose="00000600000000000000"/>
                        </a:rPr>
                        <a:t> </a:t>
                      </a:r>
                      <a:r>
                        <a:rPr lang="en-ID" sz="1600" dirty="0" err="1">
                          <a:latin typeface="Montserrat Medium" panose="00000600000000000000"/>
                        </a:rPr>
                        <a:t>ada</a:t>
                      </a:r>
                      <a:r>
                        <a:rPr lang="en-ID" sz="1600" dirty="0">
                          <a:latin typeface="Montserrat Medium" panose="00000600000000000000"/>
                        </a:rPr>
                        <a:t> </a:t>
                      </a:r>
                      <a:r>
                        <a:rPr lang="en-ID" sz="1600" dirty="0" err="1">
                          <a:latin typeface="Montserrat Medium" panose="00000600000000000000"/>
                        </a:rPr>
                        <a:t>beberapa</a:t>
                      </a:r>
                      <a:r>
                        <a:rPr lang="en-ID" sz="1600" dirty="0">
                          <a:latin typeface="Montserrat Medium" panose="00000600000000000000"/>
                        </a:rPr>
                        <a:t> </a:t>
                      </a:r>
                      <a:r>
                        <a:rPr lang="en-ID" sz="1600" dirty="0" err="1">
                          <a:latin typeface="Montserrat Medium" panose="00000600000000000000"/>
                        </a:rPr>
                        <a:t>jalur</a:t>
                      </a:r>
                      <a:r>
                        <a:rPr lang="en-ID" sz="1600" dirty="0">
                          <a:latin typeface="Montserrat Medium" panose="00000600000000000000"/>
                        </a:rPr>
                        <a:t> yang </a:t>
                      </a:r>
                      <a:r>
                        <a:rPr lang="en-ID" sz="1600" dirty="0" err="1">
                          <a:latin typeface="Montserrat Medium" panose="00000600000000000000"/>
                        </a:rPr>
                        <a:t>harus</a:t>
                      </a:r>
                      <a:r>
                        <a:rPr lang="en-ID" sz="1600" dirty="0">
                          <a:latin typeface="Montserrat Medium" panose="00000600000000000000"/>
                        </a:rPr>
                        <a:t> </a:t>
                      </a:r>
                      <a:r>
                        <a:rPr lang="en-ID" sz="1600" dirty="0" err="1">
                          <a:latin typeface="Montserrat Medium" panose="00000600000000000000"/>
                        </a:rPr>
                        <a:t>dipertimbangkan</a:t>
                      </a:r>
                      <a:r>
                        <a:rPr lang="en-ID" sz="1600" dirty="0">
                          <a:latin typeface="Montserrat Medium" panose="00000600000000000000"/>
                        </a:rPr>
                        <a:t> </a:t>
                      </a:r>
                      <a:r>
                        <a:rPr lang="en-ID" sz="1600" dirty="0" err="1">
                          <a:latin typeface="Montserrat Medium" panose="00000600000000000000"/>
                        </a:rPr>
                        <a:t>secara</a:t>
                      </a:r>
                      <a:r>
                        <a:rPr lang="en-ID" sz="1600" dirty="0">
                          <a:latin typeface="Montserrat Medium" panose="00000600000000000000"/>
                        </a:rPr>
                        <a:t> </a:t>
                      </a:r>
                      <a:r>
                        <a:rPr lang="en-ID" sz="1600" dirty="0" err="1">
                          <a:latin typeface="Montserrat Medium" panose="00000600000000000000"/>
                        </a:rPr>
                        <a:t>paralel</a:t>
                      </a:r>
                      <a:r>
                        <a:rPr lang="en-ID" sz="1600" dirty="0">
                          <a:latin typeface="Montserrat Medium" panose="00000600000000000000"/>
                        </a:rPr>
                        <a:t>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314716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D" sz="1600" b="1" dirty="0" err="1">
                          <a:latin typeface="Montserrat Medium" panose="00000600000000000000"/>
                        </a:rPr>
                        <a:t>Ukuran</a:t>
                      </a:r>
                      <a:r>
                        <a:rPr lang="en-ID" sz="1600" b="1" dirty="0">
                          <a:latin typeface="Montserrat Medium" panose="00000600000000000000"/>
                        </a:rPr>
                        <a:t> Automata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D" sz="1600" dirty="0">
                          <a:latin typeface="Montserrat Medium" panose="00000600000000000000"/>
                        </a:rPr>
                        <a:t>DFA </a:t>
                      </a:r>
                      <a:r>
                        <a:rPr lang="en-ID" sz="1600" dirty="0" err="1">
                          <a:latin typeface="Montserrat Medium" panose="00000600000000000000"/>
                        </a:rPr>
                        <a:t>bisa</a:t>
                      </a:r>
                      <a:r>
                        <a:rPr lang="en-ID" sz="1600" dirty="0">
                          <a:latin typeface="Montserrat Medium" panose="00000600000000000000"/>
                        </a:rPr>
                        <a:t> </a:t>
                      </a:r>
                      <a:r>
                        <a:rPr lang="en-ID" sz="1600" dirty="0" err="1">
                          <a:latin typeface="Montserrat Medium" panose="00000600000000000000"/>
                        </a:rPr>
                        <a:t>membutuhkan</a:t>
                      </a:r>
                      <a:r>
                        <a:rPr lang="en-ID" sz="1600" dirty="0">
                          <a:latin typeface="Montserrat Medium" panose="00000600000000000000"/>
                        </a:rPr>
                        <a:t> </a:t>
                      </a:r>
                      <a:r>
                        <a:rPr lang="en-ID" sz="1600" dirty="0" err="1">
                          <a:latin typeface="Montserrat Medium" panose="00000600000000000000"/>
                        </a:rPr>
                        <a:t>lebih</a:t>
                      </a:r>
                      <a:r>
                        <a:rPr lang="en-ID" sz="1600" dirty="0">
                          <a:latin typeface="Montserrat Medium" panose="00000600000000000000"/>
                        </a:rPr>
                        <a:t> </a:t>
                      </a:r>
                      <a:r>
                        <a:rPr lang="en-ID" sz="1600" dirty="0" err="1">
                          <a:latin typeface="Montserrat Medium" panose="00000600000000000000"/>
                        </a:rPr>
                        <a:t>banyak</a:t>
                      </a:r>
                      <a:r>
                        <a:rPr lang="en-ID" sz="1600" dirty="0">
                          <a:latin typeface="Montserrat Medium" panose="00000600000000000000"/>
                        </a:rPr>
                        <a:t> </a:t>
                      </a:r>
                      <a:r>
                        <a:rPr lang="en-ID" sz="1600" dirty="0" err="1">
                          <a:latin typeface="Montserrat Medium" panose="00000600000000000000"/>
                        </a:rPr>
                        <a:t>keadaan</a:t>
                      </a:r>
                      <a:r>
                        <a:rPr lang="en-ID" sz="1600" dirty="0">
                          <a:latin typeface="Montserrat Medium" panose="00000600000000000000"/>
                        </a:rPr>
                        <a:t> </a:t>
                      </a:r>
                      <a:r>
                        <a:rPr lang="en-ID" sz="1600" dirty="0" err="1">
                          <a:latin typeface="Montserrat Medium" panose="00000600000000000000"/>
                        </a:rPr>
                        <a:t>dibanding</a:t>
                      </a:r>
                      <a:r>
                        <a:rPr lang="en-ID" sz="1600" dirty="0">
                          <a:latin typeface="Montserrat Medium" panose="00000600000000000000"/>
                        </a:rPr>
                        <a:t> NFA yang </a:t>
                      </a:r>
                      <a:r>
                        <a:rPr lang="en-ID" sz="1600" dirty="0" err="1">
                          <a:latin typeface="Montserrat Medium" panose="00000600000000000000"/>
                        </a:rPr>
                        <a:t>ekuivalen</a:t>
                      </a:r>
                      <a:r>
                        <a:rPr lang="en-ID" sz="1600" dirty="0">
                          <a:latin typeface="Montserrat Medium" panose="00000600000000000000"/>
                        </a:rPr>
                        <a:t>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D" sz="1600" dirty="0">
                          <a:latin typeface="Montserrat Medium" panose="00000600000000000000"/>
                        </a:rPr>
                        <a:t>NFA </a:t>
                      </a:r>
                      <a:r>
                        <a:rPr lang="en-ID" sz="1600" dirty="0" err="1">
                          <a:latin typeface="Montserrat Medium" panose="00000600000000000000"/>
                        </a:rPr>
                        <a:t>bisa</a:t>
                      </a:r>
                      <a:r>
                        <a:rPr lang="en-ID" sz="1600" dirty="0">
                          <a:latin typeface="Montserrat Medium" panose="00000600000000000000"/>
                        </a:rPr>
                        <a:t> </a:t>
                      </a:r>
                      <a:r>
                        <a:rPr lang="en-ID" sz="1600" dirty="0" err="1">
                          <a:latin typeface="Montserrat Medium" panose="00000600000000000000"/>
                        </a:rPr>
                        <a:t>lebih</a:t>
                      </a:r>
                      <a:r>
                        <a:rPr lang="en-ID" sz="1600" dirty="0">
                          <a:latin typeface="Montserrat Medium" panose="00000600000000000000"/>
                        </a:rPr>
                        <a:t> </a:t>
                      </a:r>
                      <a:r>
                        <a:rPr lang="en-ID" sz="1600" dirty="0" err="1">
                          <a:latin typeface="Montserrat Medium" panose="00000600000000000000"/>
                        </a:rPr>
                        <a:t>kompak</a:t>
                      </a:r>
                      <a:r>
                        <a:rPr lang="en-ID" sz="1600" dirty="0">
                          <a:latin typeface="Montserrat Medium" panose="00000600000000000000"/>
                        </a:rPr>
                        <a:t> dan </a:t>
                      </a:r>
                      <a:r>
                        <a:rPr lang="en-ID" sz="1600" dirty="0" err="1">
                          <a:latin typeface="Montserrat Medium" panose="00000600000000000000"/>
                        </a:rPr>
                        <a:t>membutuhkan</a:t>
                      </a:r>
                      <a:r>
                        <a:rPr lang="en-ID" sz="1600" dirty="0">
                          <a:latin typeface="Montserrat Medium" panose="00000600000000000000"/>
                        </a:rPr>
                        <a:t> </a:t>
                      </a:r>
                      <a:r>
                        <a:rPr lang="en-ID" sz="1600" dirty="0" err="1">
                          <a:latin typeface="Montserrat Medium" panose="00000600000000000000"/>
                        </a:rPr>
                        <a:t>lebih</a:t>
                      </a:r>
                      <a:r>
                        <a:rPr lang="en-ID" sz="1600" dirty="0">
                          <a:latin typeface="Montserrat Medium" panose="00000600000000000000"/>
                        </a:rPr>
                        <a:t> </a:t>
                      </a:r>
                      <a:r>
                        <a:rPr lang="en-ID" sz="1600" dirty="0" err="1">
                          <a:latin typeface="Montserrat Medium" panose="00000600000000000000"/>
                        </a:rPr>
                        <a:t>sedikit</a:t>
                      </a:r>
                      <a:r>
                        <a:rPr lang="en-ID" sz="1600" dirty="0">
                          <a:latin typeface="Montserrat Medium" panose="00000600000000000000"/>
                        </a:rPr>
                        <a:t> </a:t>
                      </a:r>
                      <a:r>
                        <a:rPr lang="en-ID" sz="1600" dirty="0" err="1">
                          <a:latin typeface="Montserrat Medium" panose="00000600000000000000"/>
                        </a:rPr>
                        <a:t>keadaan</a:t>
                      </a:r>
                      <a:r>
                        <a:rPr lang="en-ID" sz="1600" dirty="0">
                          <a:latin typeface="Montserrat Medium" panose="00000600000000000000"/>
                        </a:rPr>
                        <a:t> </a:t>
                      </a:r>
                      <a:r>
                        <a:rPr lang="en-ID" sz="1600" dirty="0" err="1">
                          <a:latin typeface="Montserrat Medium" panose="00000600000000000000"/>
                        </a:rPr>
                        <a:t>dibanding</a:t>
                      </a:r>
                      <a:r>
                        <a:rPr lang="en-ID" sz="1600" dirty="0">
                          <a:latin typeface="Montserrat Medium" panose="00000600000000000000"/>
                        </a:rPr>
                        <a:t> DFA yang </a:t>
                      </a:r>
                      <a:r>
                        <a:rPr lang="en-ID" sz="1600" dirty="0" err="1">
                          <a:latin typeface="Montserrat Medium" panose="00000600000000000000"/>
                        </a:rPr>
                        <a:t>ekuivalen</a:t>
                      </a:r>
                      <a:r>
                        <a:rPr lang="en-ID" sz="1600" dirty="0">
                          <a:latin typeface="Montserrat Medium" panose="00000600000000000000"/>
                        </a:rPr>
                        <a:t>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36408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D" sz="1600" b="1" dirty="0" err="1">
                          <a:latin typeface="Montserrat Medium" panose="00000600000000000000"/>
                        </a:rPr>
                        <a:t>Penerimaan</a:t>
                      </a:r>
                      <a:r>
                        <a:rPr lang="en-ID" sz="1600" b="1" dirty="0">
                          <a:latin typeface="Montserrat Medium" panose="00000600000000000000"/>
                        </a:rPr>
                        <a:t> String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D" sz="1600" dirty="0">
                          <a:latin typeface="Montserrat Medium" panose="00000600000000000000"/>
                        </a:rPr>
                        <a:t>String </a:t>
                      </a:r>
                      <a:r>
                        <a:rPr lang="en-ID" sz="1600" dirty="0" err="1">
                          <a:latin typeface="Montserrat Medium" panose="00000600000000000000"/>
                        </a:rPr>
                        <a:t>diterima</a:t>
                      </a:r>
                      <a:r>
                        <a:rPr lang="en-ID" sz="1600" dirty="0">
                          <a:latin typeface="Montserrat Medium" panose="00000600000000000000"/>
                        </a:rPr>
                        <a:t> </a:t>
                      </a:r>
                      <a:r>
                        <a:rPr lang="en-ID" sz="1600" dirty="0" err="1">
                          <a:latin typeface="Montserrat Medium" panose="00000600000000000000"/>
                        </a:rPr>
                        <a:t>jika</a:t>
                      </a:r>
                      <a:r>
                        <a:rPr lang="en-ID" sz="1600" dirty="0">
                          <a:latin typeface="Montserrat Medium" panose="00000600000000000000"/>
                        </a:rPr>
                        <a:t> </a:t>
                      </a:r>
                      <a:r>
                        <a:rPr lang="en-ID" sz="1600" dirty="0" err="1">
                          <a:latin typeface="Montserrat Medium" panose="00000600000000000000"/>
                        </a:rPr>
                        <a:t>ada</a:t>
                      </a:r>
                      <a:r>
                        <a:rPr lang="en-ID" sz="1600" dirty="0">
                          <a:latin typeface="Montserrat Medium" panose="00000600000000000000"/>
                        </a:rPr>
                        <a:t> </a:t>
                      </a:r>
                      <a:r>
                        <a:rPr lang="en-ID" sz="1600" dirty="0" err="1">
                          <a:latin typeface="Montserrat Medium" panose="00000600000000000000"/>
                        </a:rPr>
                        <a:t>jalur</a:t>
                      </a:r>
                      <a:r>
                        <a:rPr lang="en-ID" sz="1600" dirty="0">
                          <a:latin typeface="Montserrat Medium" panose="00000600000000000000"/>
                        </a:rPr>
                        <a:t> </a:t>
                      </a:r>
                      <a:r>
                        <a:rPr lang="en-ID" sz="1600" dirty="0" err="1">
                          <a:latin typeface="Montserrat Medium" panose="00000600000000000000"/>
                        </a:rPr>
                        <a:t>unik</a:t>
                      </a:r>
                      <a:r>
                        <a:rPr lang="en-ID" sz="1600" dirty="0">
                          <a:latin typeface="Montserrat Medium" panose="00000600000000000000"/>
                        </a:rPr>
                        <a:t> yang </a:t>
                      </a:r>
                      <a:r>
                        <a:rPr lang="en-ID" sz="1600" dirty="0" err="1">
                          <a:latin typeface="Montserrat Medium" panose="00000600000000000000"/>
                        </a:rPr>
                        <a:t>membawa</a:t>
                      </a:r>
                      <a:r>
                        <a:rPr lang="en-ID" sz="1600" dirty="0">
                          <a:latin typeface="Montserrat Medium" panose="00000600000000000000"/>
                        </a:rPr>
                        <a:t> automata </a:t>
                      </a:r>
                      <a:r>
                        <a:rPr lang="en-ID" sz="1600" dirty="0" err="1">
                          <a:latin typeface="Montserrat Medium" panose="00000600000000000000"/>
                        </a:rPr>
                        <a:t>ke</a:t>
                      </a:r>
                      <a:r>
                        <a:rPr lang="en-ID" sz="1600" dirty="0">
                          <a:latin typeface="Montserrat Medium" panose="00000600000000000000"/>
                        </a:rPr>
                        <a:t> </a:t>
                      </a:r>
                      <a:r>
                        <a:rPr lang="en-ID" sz="1600" dirty="0" err="1">
                          <a:latin typeface="Montserrat Medium" panose="00000600000000000000"/>
                        </a:rPr>
                        <a:t>keadaan</a:t>
                      </a:r>
                      <a:r>
                        <a:rPr lang="en-ID" sz="1600" dirty="0">
                          <a:latin typeface="Montserrat Medium" panose="00000600000000000000"/>
                        </a:rPr>
                        <a:t> </a:t>
                      </a:r>
                      <a:r>
                        <a:rPr lang="en-ID" sz="1600" dirty="0" err="1">
                          <a:latin typeface="Montserrat Medium" panose="00000600000000000000"/>
                        </a:rPr>
                        <a:t>akhir</a:t>
                      </a:r>
                      <a:r>
                        <a:rPr lang="en-ID" sz="1600" dirty="0">
                          <a:latin typeface="Montserrat Medium" panose="00000600000000000000"/>
                        </a:rPr>
                        <a:t>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D" sz="1600" dirty="0">
                          <a:latin typeface="Montserrat Medium" panose="00000600000000000000"/>
                        </a:rPr>
                        <a:t>String </a:t>
                      </a:r>
                      <a:r>
                        <a:rPr lang="en-ID" sz="1600" dirty="0" err="1">
                          <a:latin typeface="Montserrat Medium" panose="00000600000000000000"/>
                        </a:rPr>
                        <a:t>diterima</a:t>
                      </a:r>
                      <a:r>
                        <a:rPr lang="en-ID" sz="1600" dirty="0">
                          <a:latin typeface="Montserrat Medium" panose="00000600000000000000"/>
                        </a:rPr>
                        <a:t> </a:t>
                      </a:r>
                      <a:r>
                        <a:rPr lang="en-ID" sz="1600" dirty="0" err="1">
                          <a:latin typeface="Montserrat Medium" panose="00000600000000000000"/>
                        </a:rPr>
                        <a:t>jika</a:t>
                      </a:r>
                      <a:r>
                        <a:rPr lang="en-ID" sz="1600" dirty="0">
                          <a:latin typeface="Montserrat Medium" panose="00000600000000000000"/>
                        </a:rPr>
                        <a:t> salah </a:t>
                      </a:r>
                      <a:r>
                        <a:rPr lang="en-ID" sz="1600" dirty="0" err="1">
                          <a:latin typeface="Montserrat Medium" panose="00000600000000000000"/>
                        </a:rPr>
                        <a:t>satu</a:t>
                      </a:r>
                      <a:r>
                        <a:rPr lang="en-ID" sz="1600" dirty="0">
                          <a:latin typeface="Montserrat Medium" panose="00000600000000000000"/>
                        </a:rPr>
                        <a:t> </a:t>
                      </a:r>
                      <a:r>
                        <a:rPr lang="en-ID" sz="1600" dirty="0" err="1">
                          <a:latin typeface="Montserrat Medium" panose="00000600000000000000"/>
                        </a:rPr>
                        <a:t>dari</a:t>
                      </a:r>
                      <a:r>
                        <a:rPr lang="en-ID" sz="1600" dirty="0">
                          <a:latin typeface="Montserrat Medium" panose="00000600000000000000"/>
                        </a:rPr>
                        <a:t> </a:t>
                      </a:r>
                      <a:r>
                        <a:rPr lang="en-ID" sz="1600" dirty="0" err="1">
                          <a:latin typeface="Montserrat Medium" panose="00000600000000000000"/>
                        </a:rPr>
                        <a:t>jalur</a:t>
                      </a:r>
                      <a:r>
                        <a:rPr lang="en-ID" sz="1600" dirty="0">
                          <a:latin typeface="Montserrat Medium" panose="00000600000000000000"/>
                        </a:rPr>
                        <a:t> yang </a:t>
                      </a:r>
                      <a:r>
                        <a:rPr lang="en-ID" sz="1600" dirty="0" err="1">
                          <a:latin typeface="Montserrat Medium" panose="00000600000000000000"/>
                        </a:rPr>
                        <a:t>mungkin</a:t>
                      </a:r>
                      <a:r>
                        <a:rPr lang="en-ID" sz="1600" dirty="0">
                          <a:latin typeface="Montserrat Medium" panose="00000600000000000000"/>
                        </a:rPr>
                        <a:t> </a:t>
                      </a:r>
                      <a:r>
                        <a:rPr lang="en-ID" sz="1600" dirty="0" err="1">
                          <a:latin typeface="Montserrat Medium" panose="00000600000000000000"/>
                        </a:rPr>
                        <a:t>membawa</a:t>
                      </a:r>
                      <a:r>
                        <a:rPr lang="en-ID" sz="1600" dirty="0">
                          <a:latin typeface="Montserrat Medium" panose="00000600000000000000"/>
                        </a:rPr>
                        <a:t> automata </a:t>
                      </a:r>
                      <a:r>
                        <a:rPr lang="en-ID" sz="1600" dirty="0" err="1">
                          <a:latin typeface="Montserrat Medium" panose="00000600000000000000"/>
                        </a:rPr>
                        <a:t>ke</a:t>
                      </a:r>
                      <a:r>
                        <a:rPr lang="en-ID" sz="1600" dirty="0">
                          <a:latin typeface="Montserrat Medium" panose="00000600000000000000"/>
                        </a:rPr>
                        <a:t> </a:t>
                      </a:r>
                      <a:r>
                        <a:rPr lang="en-ID" sz="1600" dirty="0" err="1">
                          <a:latin typeface="Montserrat Medium" panose="00000600000000000000"/>
                        </a:rPr>
                        <a:t>keadaan</a:t>
                      </a:r>
                      <a:r>
                        <a:rPr lang="en-ID" sz="1600" dirty="0">
                          <a:latin typeface="Montserrat Medium" panose="00000600000000000000"/>
                        </a:rPr>
                        <a:t> </a:t>
                      </a:r>
                      <a:r>
                        <a:rPr lang="en-ID" sz="1600" dirty="0" err="1">
                          <a:latin typeface="Montserrat Medium" panose="00000600000000000000"/>
                        </a:rPr>
                        <a:t>akhir</a:t>
                      </a:r>
                      <a:r>
                        <a:rPr lang="en-ID" sz="1600" dirty="0">
                          <a:latin typeface="Montserrat Medium" panose="00000600000000000000"/>
                        </a:rPr>
                        <a:t>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331918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D" sz="1600" b="1" dirty="0" err="1">
                          <a:latin typeface="Montserrat Medium" panose="00000600000000000000"/>
                        </a:rPr>
                        <a:t>Konversi</a:t>
                      </a:r>
                      <a:endParaRPr lang="en-ID" sz="1600" b="1" dirty="0">
                        <a:latin typeface="Montserrat Medium" panose="0000060000000000000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sv-SE" sz="1600" dirty="0">
                          <a:latin typeface="Montserrat Medium" panose="00000600000000000000"/>
                        </a:rPr>
                        <a:t>Tidak bisa dikonversi menjadi NFA, karena NFA sudah lebih umum.</a:t>
                      </a:r>
                      <a:endParaRPr lang="en-ID" sz="1600" dirty="0">
                        <a:latin typeface="Montserrat Medium" panose="0000060000000000000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D" sz="1600" dirty="0" err="1">
                          <a:latin typeface="Montserrat Medium" panose="00000600000000000000"/>
                        </a:rPr>
                        <a:t>Dapat</a:t>
                      </a:r>
                      <a:r>
                        <a:rPr lang="en-ID" sz="1600" dirty="0">
                          <a:latin typeface="Montserrat Medium" panose="00000600000000000000"/>
                        </a:rPr>
                        <a:t> </a:t>
                      </a:r>
                      <a:r>
                        <a:rPr lang="en-ID" sz="1600" dirty="0" err="1">
                          <a:latin typeface="Montserrat Medium" panose="00000600000000000000"/>
                        </a:rPr>
                        <a:t>dikonversi</a:t>
                      </a:r>
                      <a:r>
                        <a:rPr lang="en-ID" sz="1600" dirty="0">
                          <a:latin typeface="Montserrat Medium" panose="00000600000000000000"/>
                        </a:rPr>
                        <a:t> </a:t>
                      </a:r>
                      <a:r>
                        <a:rPr lang="en-ID" sz="1600" dirty="0" err="1">
                          <a:latin typeface="Montserrat Medium" panose="00000600000000000000"/>
                        </a:rPr>
                        <a:t>menjadi</a:t>
                      </a:r>
                      <a:r>
                        <a:rPr lang="en-ID" sz="1600" dirty="0">
                          <a:latin typeface="Montserrat Medium" panose="00000600000000000000"/>
                        </a:rPr>
                        <a:t> DFA, </a:t>
                      </a:r>
                      <a:r>
                        <a:rPr lang="en-ID" sz="1600" dirty="0" err="1">
                          <a:latin typeface="Montserrat Medium" panose="00000600000000000000"/>
                        </a:rPr>
                        <a:t>meskipun</a:t>
                      </a:r>
                      <a:r>
                        <a:rPr lang="en-ID" sz="1600" dirty="0">
                          <a:latin typeface="Montserrat Medium" panose="00000600000000000000"/>
                        </a:rPr>
                        <a:t> </a:t>
                      </a:r>
                      <a:r>
                        <a:rPr lang="en-ID" sz="1600" dirty="0" err="1">
                          <a:latin typeface="Montserrat Medium" panose="00000600000000000000"/>
                        </a:rPr>
                        <a:t>hasil</a:t>
                      </a:r>
                      <a:r>
                        <a:rPr lang="en-ID" sz="1600" dirty="0">
                          <a:latin typeface="Montserrat Medium" panose="00000600000000000000"/>
                        </a:rPr>
                        <a:t> </a:t>
                      </a:r>
                      <a:r>
                        <a:rPr lang="en-ID" sz="1600" dirty="0" err="1">
                          <a:latin typeface="Montserrat Medium" panose="00000600000000000000"/>
                        </a:rPr>
                        <a:t>konversi</a:t>
                      </a:r>
                      <a:r>
                        <a:rPr lang="en-ID" sz="1600" dirty="0">
                          <a:latin typeface="Montserrat Medium" panose="00000600000000000000"/>
                        </a:rPr>
                        <a:t> </a:t>
                      </a:r>
                      <a:r>
                        <a:rPr lang="en-ID" sz="1600" dirty="0" err="1">
                          <a:latin typeface="Montserrat Medium" panose="00000600000000000000"/>
                        </a:rPr>
                        <a:t>dapat</a:t>
                      </a:r>
                      <a:r>
                        <a:rPr lang="en-ID" sz="1600" dirty="0">
                          <a:latin typeface="Montserrat Medium" panose="00000600000000000000"/>
                        </a:rPr>
                        <a:t> </a:t>
                      </a:r>
                      <a:r>
                        <a:rPr lang="en-ID" sz="1600" dirty="0" err="1">
                          <a:latin typeface="Montserrat Medium" panose="00000600000000000000"/>
                        </a:rPr>
                        <a:t>meningkatkan</a:t>
                      </a:r>
                      <a:r>
                        <a:rPr lang="en-ID" sz="1600" dirty="0">
                          <a:latin typeface="Montserrat Medium" panose="00000600000000000000"/>
                        </a:rPr>
                        <a:t> </a:t>
                      </a:r>
                      <a:r>
                        <a:rPr lang="en-ID" sz="1600" dirty="0" err="1">
                          <a:latin typeface="Montserrat Medium" panose="00000600000000000000"/>
                        </a:rPr>
                        <a:t>jumlah</a:t>
                      </a:r>
                      <a:r>
                        <a:rPr lang="en-ID" sz="1600" dirty="0">
                          <a:latin typeface="Montserrat Medium" panose="00000600000000000000"/>
                        </a:rPr>
                        <a:t> </a:t>
                      </a:r>
                      <a:r>
                        <a:rPr lang="en-ID" sz="1600" dirty="0" err="1">
                          <a:latin typeface="Montserrat Medium" panose="00000600000000000000"/>
                        </a:rPr>
                        <a:t>keadaan</a:t>
                      </a:r>
                      <a:r>
                        <a:rPr lang="en-ID" sz="1600" dirty="0">
                          <a:latin typeface="Montserrat Medium" panose="00000600000000000000"/>
                        </a:rPr>
                        <a:t>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403479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931869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696CFF-5B03-46FC-B72D-66963639D5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2800" dirty="0"/>
              <a:t>Non-</a:t>
            </a:r>
            <a:r>
              <a:rPr lang="en-US" sz="2800" dirty="0" err="1"/>
              <a:t>Deterministik</a:t>
            </a:r>
            <a:r>
              <a:rPr lang="en-US" sz="2800" dirty="0"/>
              <a:t> Automata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B6BC64-42D2-4474-8C0C-A0CB0FAD0A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4083" y="1245705"/>
            <a:ext cx="8501044" cy="12192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D" sz="2800" dirty="0"/>
              <a:t>NFA yang </a:t>
            </a:r>
            <a:r>
              <a:rPr lang="en-ID" sz="2800" dirty="0" err="1"/>
              <a:t>mengenali</a:t>
            </a:r>
            <a:r>
              <a:rPr lang="en-ID" sz="2800" dirty="0"/>
              <a:t> </a:t>
            </a:r>
            <a:r>
              <a:rPr lang="en-ID" sz="2800" dirty="0" err="1"/>
              <a:t>bahasa</a:t>
            </a:r>
            <a:r>
              <a:rPr lang="en-ID" sz="2800" dirty="0"/>
              <a:t> (a | b) * </a:t>
            </a:r>
            <a:r>
              <a:rPr lang="en-ID" sz="2800" dirty="0" err="1"/>
              <a:t>abb</a:t>
            </a:r>
            <a:r>
              <a:rPr lang="en-ID" sz="2800" dirty="0"/>
              <a:t> </a:t>
            </a:r>
            <a:r>
              <a:rPr lang="en-ID" sz="2800" dirty="0" err="1"/>
              <a:t>ditunjukkan</a:t>
            </a:r>
            <a:r>
              <a:rPr lang="en-ID" sz="2800" dirty="0"/>
              <a:t> di </a:t>
            </a:r>
            <a:r>
              <a:rPr lang="en-ID" sz="2800" dirty="0" err="1"/>
              <a:t>bawah</a:t>
            </a:r>
            <a:r>
              <a:rPr lang="en-ID" sz="2800" dirty="0"/>
              <a:t> </a:t>
            </a:r>
            <a:r>
              <a:rPr lang="en-ID" sz="2800" dirty="0" err="1"/>
              <a:t>ini</a:t>
            </a:r>
            <a:r>
              <a:rPr lang="en-ID" sz="2800" dirty="0"/>
              <a:t>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FA025EA-B071-4F66-A18A-31E6B6BF42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8077" y="2464905"/>
            <a:ext cx="7178723" cy="2203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18253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696CFF-5B03-46FC-B72D-66963639D5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2800" dirty="0"/>
              <a:t>Non-</a:t>
            </a:r>
            <a:r>
              <a:rPr lang="en-US" sz="2800" dirty="0" err="1"/>
              <a:t>Deterministik</a:t>
            </a:r>
            <a:r>
              <a:rPr lang="en-US" sz="2800" dirty="0"/>
              <a:t> Automata(NFA)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B6BC64-42D2-4474-8C0C-A0CB0FAD0A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4083" y="1245705"/>
            <a:ext cx="8501044" cy="2902225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id-ID" sz="2800" dirty="0"/>
              <a:t>Non-deterministic finite automata (NDFA): dari suatu state ada 0, 1 atau lebih state berikutnya untuk setiap simbol ,masukan yang diterima.</a:t>
            </a:r>
          </a:p>
          <a:p>
            <a:pPr marL="0" indent="0">
              <a:buNone/>
            </a:pPr>
            <a:r>
              <a:rPr lang="id-ID" sz="2800" dirty="0"/>
              <a:t>Berikut adalah contoh NFA (Q, </a:t>
            </a:r>
            <a:r>
              <a:rPr lang="id-ID" sz="2800" dirty="0">
                <a:sym typeface="Symbol" panose="05050102010706020507" pitchFamily="18" charset="2"/>
              </a:rPr>
              <a:t></a:t>
            </a:r>
            <a:r>
              <a:rPr lang="id-ID" sz="2800" dirty="0"/>
              <a:t>   , </a:t>
            </a:r>
            <a:r>
              <a:rPr lang="id-ID" sz="2800" dirty="0">
                <a:sym typeface="Symbol" panose="05050102010706020507" pitchFamily="18" charset="2"/>
              </a:rPr>
              <a:t></a:t>
            </a:r>
            <a:r>
              <a:rPr lang="id-ID" sz="2800" dirty="0"/>
              <a:t>  , S, F) dimana:</a:t>
            </a:r>
          </a:p>
          <a:p>
            <a:pPr marL="0" indent="0">
              <a:buNone/>
            </a:pPr>
            <a:r>
              <a:rPr lang="id-ID" sz="2800" dirty="0"/>
              <a:t>Q = { q0, q1, q2, q3, q4}</a:t>
            </a:r>
          </a:p>
          <a:p>
            <a:pPr marL="0" indent="0">
              <a:buNone/>
            </a:pPr>
            <a:r>
              <a:rPr lang="id-ID" sz="2800" dirty="0">
                <a:sym typeface="Symbol" panose="05050102010706020507" pitchFamily="18" charset="2"/>
              </a:rPr>
              <a:t></a:t>
            </a:r>
            <a:r>
              <a:rPr lang="id-ID" sz="2800" dirty="0"/>
              <a:t>  = {a, b, c}</a:t>
            </a:r>
          </a:p>
          <a:p>
            <a:pPr marL="0" indent="0">
              <a:buNone/>
            </a:pPr>
            <a:r>
              <a:rPr lang="id-ID" sz="2800" dirty="0"/>
              <a:t>S = q0</a:t>
            </a:r>
          </a:p>
          <a:p>
            <a:pPr marL="0" indent="0">
              <a:buNone/>
            </a:pPr>
            <a:r>
              <a:rPr lang="id-ID" sz="2800" dirty="0"/>
              <a:t>F = {q4}</a:t>
            </a:r>
          </a:p>
          <a:p>
            <a:pPr marL="0" indent="0">
              <a:buNone/>
            </a:pPr>
            <a:r>
              <a:rPr lang="id-ID" sz="2800" dirty="0">
                <a:sym typeface="Symbol" panose="05050102010706020507" pitchFamily="18" charset="2"/>
              </a:rPr>
              <a:t></a:t>
            </a:r>
            <a:r>
              <a:rPr lang="id-ID" sz="2800" dirty="0"/>
              <a:t>  diberikan dalam tabel berikut:</a:t>
            </a:r>
            <a:r>
              <a:rPr lang="en-US" sz="2800" dirty="0"/>
              <a:t> </a:t>
            </a:r>
            <a:endParaRPr lang="id-ID" sz="2800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F73CC50-D68C-43E9-ABCF-16C3F7D0C7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5294255"/>
              </p:ext>
            </p:extLst>
          </p:nvPr>
        </p:nvGraphicFramePr>
        <p:xfrm>
          <a:off x="1524000" y="4242520"/>
          <a:ext cx="6096000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345698136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355769723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121376661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9879841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d-ID" dirty="0">
                          <a:solidFill>
                            <a:schemeClr val="tx1"/>
                          </a:solidFill>
                          <a:sym typeface="Symbol" panose="05050102010706020507" pitchFamily="18" charset="2"/>
                        </a:rPr>
                        <a:t></a:t>
                      </a:r>
                      <a:endParaRPr lang="id-ID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dirty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dirty="0">
                          <a:solidFill>
                            <a:schemeClr val="tx1"/>
                          </a:solidFill>
                        </a:rP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dirty="0">
                          <a:solidFill>
                            <a:schemeClr val="tx1"/>
                          </a:solidFill>
                        </a:rPr>
                        <a:t>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73413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d-ID" dirty="0"/>
                        <a:t>q0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dirty="0"/>
                        <a:t>{q0, q1}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dirty="0"/>
                        <a:t>{q0, q2}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dirty="0"/>
                        <a:t>{q0, q3}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83127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d-ID" dirty="0"/>
                        <a:t>q1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dirty="0"/>
                        <a:t>{q1, q4}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dirty="0"/>
                        <a:t>{q1}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dirty="0"/>
                        <a:t>{q1}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96734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d-ID" dirty="0"/>
                        <a:t>q2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dirty="0"/>
                        <a:t>{q2}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dirty="0"/>
                        <a:t>{q2, q4}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dirty="0"/>
                        <a:t>{q2}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32225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d-ID" dirty="0"/>
                        <a:t>q3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dirty="0"/>
                        <a:t>{q3}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dirty="0"/>
                        <a:t>{q3}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dirty="0"/>
                        <a:t>{q3, q4}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74919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d-ID" dirty="0"/>
                        <a:t>q4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dirty="0">
                          <a:sym typeface="Symbol" panose="05050102010706020507" pitchFamily="18" charset="2"/>
                        </a:rPr>
                        <a:t></a:t>
                      </a:r>
                      <a:endParaRPr lang="id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d-ID" dirty="0">
                          <a:sym typeface="Symbol" panose="05050102010706020507" pitchFamily="18" charset="2"/>
                        </a:rPr>
                        <a:t></a:t>
                      </a:r>
                      <a:endParaRPr lang="id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d-ID" dirty="0">
                          <a:sym typeface="Symbol" panose="05050102010706020507" pitchFamily="18" charset="2"/>
                        </a:rPr>
                        <a:t></a:t>
                      </a:r>
                      <a:endParaRPr lang="id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91574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906456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696CFF-5B03-46FC-B72D-66963639D5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2800" dirty="0"/>
              <a:t>Non-</a:t>
            </a:r>
            <a:r>
              <a:rPr lang="en-US" sz="2800" dirty="0" err="1"/>
              <a:t>Deterministik</a:t>
            </a:r>
            <a:r>
              <a:rPr lang="en-US" sz="2800" dirty="0"/>
              <a:t> Automata(NFA)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B6BC64-42D2-4474-8C0C-A0CB0FAD0A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4083" y="4440947"/>
            <a:ext cx="8501044" cy="1906846"/>
          </a:xfrm>
        </p:spPr>
        <p:txBody>
          <a:bodyPr>
            <a:normAutofit/>
          </a:bodyPr>
          <a:lstStyle/>
          <a:p>
            <a:pPr marL="285750" indent="-285750"/>
            <a:r>
              <a:rPr lang="id-ID" sz="2800" dirty="0"/>
              <a:t>Kalimat yang diterima NFA diatas : aa, bb, cc, aaa, abb, bcc</a:t>
            </a:r>
          </a:p>
          <a:p>
            <a:pPr marL="285750" indent="-285750"/>
            <a:r>
              <a:rPr lang="id-ID" sz="2800" dirty="0"/>
              <a:t>Kalimat yang tidak diterima NFA diatas : a, b, c, ab, ba, ac, bc</a:t>
            </a:r>
          </a:p>
        </p:txBody>
      </p:sp>
      <p:pic>
        <p:nvPicPr>
          <p:cNvPr id="6" name="Picture 5" descr="A clock on each of it s sides&#10;&#10;Description automatically generated">
            <a:extLst>
              <a:ext uri="{FF2B5EF4-FFF2-40B4-BE49-F238E27FC236}">
                <a16:creationId xmlns:a16="http://schemas.microsoft.com/office/drawing/2014/main" id="{25B6AFD4-43EE-409D-9861-1CC7C12B0A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5953" y="1201582"/>
            <a:ext cx="4288099" cy="2996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66392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696CFF-5B03-46FC-B72D-66963639D5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2800" dirty="0"/>
              <a:t>Non-</a:t>
            </a:r>
            <a:r>
              <a:rPr lang="en-US" sz="2800" dirty="0" err="1"/>
              <a:t>Deterministik</a:t>
            </a:r>
            <a:r>
              <a:rPr lang="en-US" sz="2800" dirty="0"/>
              <a:t> Automata(NFA)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B6BC64-42D2-4474-8C0C-A0CB0FAD0A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4083" y="922493"/>
            <a:ext cx="8501044" cy="5612295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id-ID" sz="2800" dirty="0"/>
              <a:t>Sebuah Kalimat diterima NFA jika:</a:t>
            </a:r>
          </a:p>
          <a:p>
            <a:pPr marL="285750" indent="-285750"/>
            <a:r>
              <a:rPr lang="id-ID" sz="2800" dirty="0">
                <a:solidFill>
                  <a:srgbClr val="FF0000"/>
                </a:solidFill>
              </a:rPr>
              <a:t>Salah satu tracingnya berakhir di state akhir atau</a:t>
            </a:r>
          </a:p>
          <a:p>
            <a:pPr marL="285750" indent="-285750"/>
            <a:r>
              <a:rPr lang="id-ID" sz="2800" dirty="0">
                <a:solidFill>
                  <a:srgbClr val="FF0000"/>
                </a:solidFill>
              </a:rPr>
              <a:t>Himpunan state setelah membaca string tersebut mengandung state akhir</a:t>
            </a:r>
          </a:p>
          <a:p>
            <a:pPr marL="285750" indent="-285750"/>
            <a:r>
              <a:rPr lang="id-ID" sz="2800" dirty="0">
                <a:solidFill>
                  <a:srgbClr val="FF0000"/>
                </a:solidFill>
              </a:rPr>
              <a:t>Perbedaan dengan DFA: fungsi transisi dapat memiliki 0 atau lebih fungsi transisi.</a:t>
            </a:r>
          </a:p>
          <a:p>
            <a:pPr marL="285750" indent="-285750"/>
            <a:r>
              <a:rPr lang="id-ID" sz="2800" dirty="0">
                <a:solidFill>
                  <a:srgbClr val="FF0000"/>
                </a:solidFill>
              </a:rPr>
              <a:t>G = ( {q0,q1, q2, q3, q4}, {0, 1},  </a:t>
            </a:r>
            <a:r>
              <a:rPr lang="id-ID" sz="2800" dirty="0">
                <a:solidFill>
                  <a:srgbClr val="FF0000"/>
                </a:solidFill>
                <a:sym typeface="Symbol" panose="05050102010706020507" pitchFamily="18" charset="2"/>
              </a:rPr>
              <a:t></a:t>
            </a:r>
            <a:r>
              <a:rPr lang="id-ID" sz="2800" dirty="0">
                <a:solidFill>
                  <a:srgbClr val="FF0000"/>
                </a:solidFill>
              </a:rPr>
              <a:t>, q0, {q2, q4})</a:t>
            </a:r>
          </a:p>
          <a:p>
            <a:pPr marL="0" indent="0">
              <a:buNone/>
            </a:pPr>
            <a:endParaRPr lang="id-ID" sz="2800" dirty="0">
              <a:solidFill>
                <a:srgbClr val="FF0000"/>
              </a:solidFill>
            </a:endParaRPr>
          </a:p>
          <a:p>
            <a:pPr marL="285750" indent="-285750"/>
            <a:endParaRPr lang="id-ID" sz="2800" dirty="0">
              <a:solidFill>
                <a:srgbClr val="FF0000"/>
              </a:solidFill>
            </a:endParaRPr>
          </a:p>
          <a:p>
            <a:pPr marL="285750" indent="-285750"/>
            <a:endParaRPr lang="id-ID" sz="2800" dirty="0">
              <a:solidFill>
                <a:srgbClr val="FF0000"/>
              </a:solidFill>
            </a:endParaRPr>
          </a:p>
          <a:p>
            <a:pPr marL="285750" indent="-285750"/>
            <a:endParaRPr lang="id-ID" sz="2800" dirty="0">
              <a:solidFill>
                <a:srgbClr val="FF0000"/>
              </a:solidFill>
            </a:endParaRPr>
          </a:p>
          <a:p>
            <a:pPr marL="285750" indent="-285750"/>
            <a:endParaRPr lang="id-ID" sz="2800" dirty="0">
              <a:solidFill>
                <a:srgbClr val="FF0000"/>
              </a:solidFill>
            </a:endParaRPr>
          </a:p>
          <a:p>
            <a:pPr marL="285750" indent="-285750"/>
            <a:endParaRPr lang="id-ID" sz="2800" dirty="0">
              <a:solidFill>
                <a:srgbClr val="FF0000"/>
              </a:solidFill>
            </a:endParaRPr>
          </a:p>
          <a:p>
            <a:pPr marL="285750" indent="-285750"/>
            <a:endParaRPr lang="id-ID" sz="2800" dirty="0">
              <a:solidFill>
                <a:srgbClr val="FF0000"/>
              </a:solidFill>
            </a:endParaRPr>
          </a:p>
          <a:p>
            <a:pPr marL="285750" indent="-285750"/>
            <a:r>
              <a:rPr lang="id-ID" sz="2800" dirty="0">
                <a:solidFill>
                  <a:srgbClr val="FF0000"/>
                </a:solidFill>
              </a:rPr>
              <a:t>String diterima NFA bila terdapat suatu urutan transisi berdasar</a:t>
            </a:r>
            <a:r>
              <a:rPr lang="en-US" sz="2800" dirty="0" err="1">
                <a:solidFill>
                  <a:srgbClr val="FF0000"/>
                </a:solidFill>
              </a:rPr>
              <a:t>kan</a:t>
            </a:r>
            <a:r>
              <a:rPr lang="id-ID" sz="2800" dirty="0">
                <a:solidFill>
                  <a:srgbClr val="FF0000"/>
                </a:solidFill>
              </a:rPr>
              <a:t> input, dari  state awal ke state akhir.</a:t>
            </a:r>
          </a:p>
          <a:p>
            <a:pPr marL="285750" indent="-285750"/>
            <a:r>
              <a:rPr lang="id-ID" sz="2800" dirty="0">
                <a:solidFill>
                  <a:srgbClr val="FF0000"/>
                </a:solidFill>
              </a:rPr>
              <a:t>Harus mencoba semua kemungkinan</a:t>
            </a:r>
          </a:p>
          <a:p>
            <a:pPr marL="285750" indent="-285750"/>
            <a:endParaRPr lang="id-ID" sz="2800" dirty="0">
              <a:solidFill>
                <a:srgbClr val="FF0000"/>
              </a:solidFill>
            </a:endParaRPr>
          </a:p>
          <a:p>
            <a:pPr marL="285750" indent="-285750"/>
            <a:endParaRPr lang="id-ID" sz="2800" dirty="0">
              <a:solidFill>
                <a:srgbClr val="FF0000"/>
              </a:solidFill>
            </a:endParaRPr>
          </a:p>
          <a:p>
            <a:pPr marL="285750" indent="-285750"/>
            <a:endParaRPr lang="id-ID" sz="2800" dirty="0">
              <a:solidFill>
                <a:srgbClr val="FF0000"/>
              </a:solidFill>
            </a:endParaRPr>
          </a:p>
          <a:p>
            <a:endParaRPr lang="id-ID" sz="2800" dirty="0"/>
          </a:p>
        </p:txBody>
      </p:sp>
      <p:graphicFrame>
        <p:nvGraphicFramePr>
          <p:cNvPr id="6" name="Table 8">
            <a:extLst>
              <a:ext uri="{FF2B5EF4-FFF2-40B4-BE49-F238E27FC236}">
                <a16:creationId xmlns:a16="http://schemas.microsoft.com/office/drawing/2014/main" id="{67353219-BCE6-465C-A342-C91040AA44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1216512"/>
              </p:ext>
            </p:extLst>
          </p:nvPr>
        </p:nvGraphicFramePr>
        <p:xfrm>
          <a:off x="2012481" y="3108662"/>
          <a:ext cx="4115049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83">
                  <a:extLst>
                    <a:ext uri="{9D8B030D-6E8A-4147-A177-3AD203B41FA5}">
                      <a16:colId xmlns:a16="http://schemas.microsoft.com/office/drawing/2014/main" val="989081362"/>
                    </a:ext>
                  </a:extLst>
                </a:gridCol>
                <a:gridCol w="1371683">
                  <a:extLst>
                    <a:ext uri="{9D8B030D-6E8A-4147-A177-3AD203B41FA5}">
                      <a16:colId xmlns:a16="http://schemas.microsoft.com/office/drawing/2014/main" val="106508755"/>
                    </a:ext>
                  </a:extLst>
                </a:gridCol>
                <a:gridCol w="1371683">
                  <a:extLst>
                    <a:ext uri="{9D8B030D-6E8A-4147-A177-3AD203B41FA5}">
                      <a16:colId xmlns:a16="http://schemas.microsoft.com/office/drawing/2014/main" val="411228216"/>
                    </a:ext>
                  </a:extLst>
                </a:gridCol>
              </a:tblGrid>
              <a:tr h="336341">
                <a:tc>
                  <a:txBody>
                    <a:bodyPr/>
                    <a:lstStyle/>
                    <a:p>
                      <a:pPr algn="ctr"/>
                      <a:r>
                        <a:rPr lang="id-ID" dirty="0">
                          <a:sym typeface="Symbol" panose="05050102010706020507" pitchFamily="18" charset="2"/>
                        </a:rPr>
                        <a:t></a:t>
                      </a:r>
                      <a:endParaRPr lang="id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3743045"/>
                  </a:ext>
                </a:extLst>
              </a:tr>
              <a:tr h="341013">
                <a:tc>
                  <a:txBody>
                    <a:bodyPr/>
                    <a:lstStyle/>
                    <a:p>
                      <a:pPr algn="ctr"/>
                      <a:r>
                        <a:rPr lang="id-ID" dirty="0"/>
                        <a:t>q0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dirty="0"/>
                        <a:t>{q0, q3}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dirty="0"/>
                        <a:t>{q0, q1}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4490341"/>
                  </a:ext>
                </a:extLst>
              </a:tr>
              <a:tr h="341013">
                <a:tc>
                  <a:txBody>
                    <a:bodyPr/>
                    <a:lstStyle/>
                    <a:p>
                      <a:pPr algn="ctr"/>
                      <a:r>
                        <a:rPr lang="id-ID" dirty="0"/>
                        <a:t>q1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dirty="0">
                          <a:sym typeface="Symbol" panose="05050102010706020507" pitchFamily="18" charset="2"/>
                        </a:rPr>
                        <a:t></a:t>
                      </a:r>
                      <a:endParaRPr lang="id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dirty="0"/>
                        <a:t>{q2}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5954990"/>
                  </a:ext>
                </a:extLst>
              </a:tr>
              <a:tr h="341013">
                <a:tc>
                  <a:txBody>
                    <a:bodyPr/>
                    <a:lstStyle/>
                    <a:p>
                      <a:pPr algn="ctr"/>
                      <a:r>
                        <a:rPr lang="id-ID" dirty="0"/>
                        <a:t>q2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dirty="0"/>
                        <a:t>{q2}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dirty="0"/>
                        <a:t>{q2}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9746056"/>
                  </a:ext>
                </a:extLst>
              </a:tr>
              <a:tr h="341013">
                <a:tc>
                  <a:txBody>
                    <a:bodyPr/>
                    <a:lstStyle/>
                    <a:p>
                      <a:pPr algn="ctr"/>
                      <a:r>
                        <a:rPr lang="id-ID" dirty="0"/>
                        <a:t>q3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dirty="0"/>
                        <a:t>{q4}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d-ID" dirty="0">
                          <a:sym typeface="Symbol" panose="05050102010706020507" pitchFamily="18" charset="2"/>
                        </a:rPr>
                        <a:t></a:t>
                      </a:r>
                      <a:endParaRPr lang="id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3752428"/>
                  </a:ext>
                </a:extLst>
              </a:tr>
              <a:tr h="341013">
                <a:tc>
                  <a:txBody>
                    <a:bodyPr/>
                    <a:lstStyle/>
                    <a:p>
                      <a:pPr algn="ctr"/>
                      <a:r>
                        <a:rPr lang="id-ID" dirty="0"/>
                        <a:t>q4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dirty="0"/>
                        <a:t>{q4}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dirty="0"/>
                        <a:t>{q4}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47333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334185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696CFF-5B03-46FC-B72D-66963639D5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4083" y="323212"/>
            <a:ext cx="8501044" cy="446952"/>
          </a:xfrm>
        </p:spPr>
        <p:txBody>
          <a:bodyPr>
            <a:normAutofit fontScale="90000"/>
          </a:bodyPr>
          <a:lstStyle/>
          <a:p>
            <a:r>
              <a:rPr lang="en-US" sz="2800" dirty="0"/>
              <a:t>Contoh Non-</a:t>
            </a:r>
            <a:r>
              <a:rPr lang="en-US" sz="2800" dirty="0" err="1"/>
              <a:t>Deterministik</a:t>
            </a:r>
            <a:r>
              <a:rPr lang="en-US" sz="2800" dirty="0"/>
              <a:t> Automata(NDFA)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B6BC64-42D2-4474-8C0C-A0CB0FAD0A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4083" y="922494"/>
            <a:ext cx="8501044" cy="113031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2800" dirty="0"/>
              <a:t>Buat </a:t>
            </a:r>
            <a:r>
              <a:rPr lang="id-ID" sz="2800" dirty="0"/>
              <a:t>NFA untuk bahasa yang terdiri dari semua string lebih dari {0,1} yang mengandung angka 1 di posisi ketiga dari akhir.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608ACBD5-A959-4199-8320-4CD34C85F3CB}"/>
              </a:ext>
            </a:extLst>
          </p:cNvPr>
          <p:cNvSpPr txBox="1">
            <a:spLocks/>
          </p:cNvSpPr>
          <p:nvPr/>
        </p:nvSpPr>
        <p:spPr>
          <a:xfrm>
            <a:off x="454083" y="2405199"/>
            <a:ext cx="8501044" cy="1023801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Montserrat" panose="02000505000000020004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Montserrat" panose="02000505000000020004" pitchFamily="2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Montserrat Light" panose="00000400000000000000" pitchFamily="50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800" dirty="0">
                <a:solidFill>
                  <a:srgbClr val="92D050"/>
                </a:solidFill>
              </a:rPr>
              <a:t>Jawab:</a:t>
            </a:r>
          </a:p>
          <a:p>
            <a:pPr marL="0" indent="0">
              <a:buNone/>
            </a:pPr>
            <a:r>
              <a:rPr lang="id-ID" sz="2800" dirty="0">
                <a:solidFill>
                  <a:srgbClr val="00325A"/>
                </a:solidFill>
              </a:rPr>
              <a:t>q1, q2, q3 adalah </a:t>
            </a:r>
            <a:r>
              <a:rPr lang="en-US" sz="2800" dirty="0">
                <a:solidFill>
                  <a:srgbClr val="00325A"/>
                </a:solidFill>
              </a:rPr>
              <a:t>State</a:t>
            </a:r>
            <a:r>
              <a:rPr lang="id-ID" sz="2800" dirty="0">
                <a:solidFill>
                  <a:srgbClr val="00325A"/>
                </a:solidFill>
              </a:rPr>
              <a:t> awal</a:t>
            </a:r>
            <a:r>
              <a:rPr lang="en-US" sz="2800" dirty="0">
                <a:solidFill>
                  <a:srgbClr val="00325A"/>
                </a:solidFill>
              </a:rPr>
              <a:t>,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00325A"/>
                </a:solidFill>
              </a:rPr>
              <a:t>q4 adalah State akhir</a:t>
            </a:r>
            <a:endParaRPr lang="id-ID" sz="2800" dirty="0">
              <a:solidFill>
                <a:srgbClr val="00325A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CF0BD17-3E56-49F9-B81A-BFBF7E0ADB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5205" y="3781388"/>
            <a:ext cx="7538800" cy="1330377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4C2518F-DC21-48B2-991E-11A2A8677913}"/>
              </a:ext>
            </a:extLst>
          </p:cNvPr>
          <p:cNvSpPr txBox="1">
            <a:spLocks/>
          </p:cNvSpPr>
          <p:nvPr/>
        </p:nvSpPr>
        <p:spPr>
          <a:xfrm>
            <a:off x="454083" y="4798964"/>
            <a:ext cx="8501044" cy="13303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Montserrat" panose="02000505000000020004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Montserrat" panose="02000505000000020004" pitchFamily="2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Montserrat Light" panose="00000400000000000000" pitchFamily="50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800" dirty="0"/>
              <a:t>Harap dicatat bahwa ini adalah NFA </a:t>
            </a:r>
            <a:r>
              <a:rPr lang="en-US" sz="2800" dirty="0" err="1"/>
              <a:t>karena</a:t>
            </a:r>
            <a:r>
              <a:rPr lang="en-US" sz="2800" dirty="0"/>
              <a:t> δ(q2, 0) = q3 dan δ(q2,1) =3 .</a:t>
            </a:r>
            <a:endParaRPr lang="id-ID" sz="2800" dirty="0">
              <a:solidFill>
                <a:srgbClr val="00325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596295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696CFF-5B03-46FC-B72D-66963639D5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2800" dirty="0"/>
              <a:t>Non-</a:t>
            </a:r>
            <a:r>
              <a:rPr lang="en-US" sz="2800" dirty="0" err="1"/>
              <a:t>Deterministik</a:t>
            </a:r>
            <a:r>
              <a:rPr lang="en-US" sz="2800" dirty="0"/>
              <a:t> Automata(NDFA)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B6BC64-42D2-4474-8C0C-A0CB0FAD0A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4083" y="1571850"/>
            <a:ext cx="8501044" cy="1621924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id-ID" sz="2800" dirty="0"/>
              <a:t>Definisi : dua buah FSA disebut ekuivalen apabila kedua FSA tersebut menerima bahasa yang sama</a:t>
            </a:r>
          </a:p>
          <a:p>
            <a:pPr marL="0" indent="0">
              <a:buNone/>
            </a:pPr>
            <a:r>
              <a:rPr lang="id-ID" sz="2800" dirty="0"/>
              <a:t>Contoh: </a:t>
            </a:r>
          </a:p>
          <a:p>
            <a:pPr marL="0" indent="0">
              <a:buNone/>
            </a:pPr>
            <a:r>
              <a:rPr lang="id-ID" sz="2800" dirty="0"/>
              <a:t>FSA yang menerima bahasa {a</a:t>
            </a:r>
            <a:r>
              <a:rPr lang="id-ID" sz="2800" baseline="50000" dirty="0"/>
              <a:t>n</a:t>
            </a:r>
            <a:r>
              <a:rPr lang="id-ID" sz="2800" dirty="0"/>
              <a:t> | n </a:t>
            </a:r>
            <a:r>
              <a:rPr lang="id-ID" sz="2800" dirty="0">
                <a:sym typeface="Symbol" panose="05050102010706020507" pitchFamily="18" charset="2"/>
              </a:rPr>
              <a:t></a:t>
            </a:r>
            <a:r>
              <a:rPr lang="id-ID" sz="2800" dirty="0"/>
              <a:t>  0}</a:t>
            </a:r>
          </a:p>
          <a:p>
            <a:pPr marL="0" indent="0">
              <a:buNone/>
            </a:pPr>
            <a:endParaRPr lang="id-ID" sz="2800" dirty="0"/>
          </a:p>
        </p:txBody>
      </p:sp>
      <p:pic>
        <p:nvPicPr>
          <p:cNvPr id="8" name="Picture 7" descr="A drawing of a person&#10;&#10;Description automatically generated">
            <a:extLst>
              <a:ext uri="{FF2B5EF4-FFF2-40B4-BE49-F238E27FC236}">
                <a16:creationId xmlns:a16="http://schemas.microsoft.com/office/drawing/2014/main" id="{9CF00D67-2F45-456C-A4CF-B56FFF46B9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0924" y="3535432"/>
            <a:ext cx="2741076" cy="1376576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161FE3E-100F-40F5-875D-FA0FE132393A}"/>
              </a:ext>
            </a:extLst>
          </p:cNvPr>
          <p:cNvCxnSpPr/>
          <p:nvPr/>
        </p:nvCxnSpPr>
        <p:spPr>
          <a:xfrm>
            <a:off x="4797083" y="4238250"/>
            <a:ext cx="422031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691E860-286E-4D70-81CB-E3BEF5DA3136}"/>
              </a:ext>
            </a:extLst>
          </p:cNvPr>
          <p:cNvCxnSpPr>
            <a:cxnSpLocks/>
          </p:cNvCxnSpPr>
          <p:nvPr/>
        </p:nvCxnSpPr>
        <p:spPr>
          <a:xfrm>
            <a:off x="4797083" y="4378927"/>
            <a:ext cx="422031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 descr="A drawing of a person&#10;&#10;Description automatically generated">
            <a:extLst>
              <a:ext uri="{FF2B5EF4-FFF2-40B4-BE49-F238E27FC236}">
                <a16:creationId xmlns:a16="http://schemas.microsoft.com/office/drawing/2014/main" id="{2B0C5C0E-67F9-44D3-88BD-68ECEB214EE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42145" y="3535432"/>
            <a:ext cx="1169670" cy="13095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45367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696CFF-5B03-46FC-B72D-66963639D5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2800" dirty="0"/>
              <a:t>Non-</a:t>
            </a:r>
            <a:r>
              <a:rPr lang="en-US" sz="2800" dirty="0" err="1"/>
              <a:t>Deterministik</a:t>
            </a:r>
            <a:r>
              <a:rPr lang="en-US" sz="2800" dirty="0"/>
              <a:t> Automata(NDFA)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B6BC64-42D2-4474-8C0C-A0CB0FAD0A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4083" y="951738"/>
            <a:ext cx="8501044" cy="4126585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id-ID" sz="2800" dirty="0">
                <a:solidFill>
                  <a:srgbClr val="FF0000"/>
                </a:solidFill>
              </a:rPr>
              <a:t>Definisi </a:t>
            </a:r>
            <a:r>
              <a:rPr lang="id-ID" sz="2800" dirty="0"/>
              <a:t>: dua buah state dari FSA disebut indistinguishable ( tidak dapat dibedakan) apabila:</a:t>
            </a:r>
          </a:p>
          <a:p>
            <a:pPr marL="0" indent="0">
              <a:buNone/>
            </a:pPr>
            <a:r>
              <a:rPr lang="id-ID" sz="2800" dirty="0">
                <a:sym typeface="Symbol" panose="05050102010706020507" pitchFamily="18" charset="2"/>
              </a:rPr>
              <a:t></a:t>
            </a:r>
            <a:r>
              <a:rPr lang="id-ID" sz="2800" dirty="0"/>
              <a:t>(q, w) </a:t>
            </a:r>
            <a:r>
              <a:rPr lang="id-ID" sz="2800" dirty="0">
                <a:sym typeface="Symbol" panose="05050102010706020507" pitchFamily="18" charset="2"/>
              </a:rPr>
              <a:t></a:t>
            </a:r>
            <a:r>
              <a:rPr lang="id-ID" sz="2800" dirty="0"/>
              <a:t> F sedangkan </a:t>
            </a:r>
            <a:r>
              <a:rPr lang="id-ID" sz="2800" dirty="0">
                <a:sym typeface="Symbol" panose="05050102010706020507" pitchFamily="18" charset="2"/>
              </a:rPr>
              <a:t></a:t>
            </a:r>
            <a:r>
              <a:rPr lang="id-ID" sz="2800" dirty="0"/>
              <a:t>(p, w)  </a:t>
            </a:r>
            <a:r>
              <a:rPr lang="id-ID" sz="2800" dirty="0">
                <a:sym typeface="Symbol" panose="05050102010706020507" pitchFamily="18" charset="2"/>
              </a:rPr>
              <a:t></a:t>
            </a:r>
            <a:r>
              <a:rPr lang="id-ID" sz="2800" dirty="0"/>
              <a:t> F dan</a:t>
            </a:r>
          </a:p>
          <a:p>
            <a:pPr marL="0" indent="0">
              <a:buNone/>
            </a:pPr>
            <a:r>
              <a:rPr lang="id-ID" sz="2800" dirty="0"/>
              <a:t> </a:t>
            </a:r>
            <a:r>
              <a:rPr lang="id-ID" sz="2800" dirty="0">
                <a:sym typeface="Symbol" panose="05050102010706020507" pitchFamily="18" charset="2"/>
              </a:rPr>
              <a:t></a:t>
            </a:r>
            <a:r>
              <a:rPr lang="id-ID" sz="2800" dirty="0"/>
              <a:t> (q, w) </a:t>
            </a:r>
            <a:r>
              <a:rPr lang="id-ID" sz="2800" dirty="0">
                <a:sym typeface="Symbol" panose="05050102010706020507" pitchFamily="18" charset="2"/>
              </a:rPr>
              <a:t></a:t>
            </a:r>
            <a:r>
              <a:rPr lang="id-ID" sz="2800" dirty="0"/>
              <a:t>    F sedangkan </a:t>
            </a:r>
            <a:r>
              <a:rPr lang="id-ID" sz="2800" dirty="0">
                <a:sym typeface="Symbol" panose="05050102010706020507" pitchFamily="18" charset="2"/>
              </a:rPr>
              <a:t></a:t>
            </a:r>
            <a:r>
              <a:rPr lang="id-ID" sz="2800" dirty="0"/>
              <a:t>(p, w) </a:t>
            </a:r>
            <a:r>
              <a:rPr lang="id-ID" sz="2800" dirty="0">
                <a:sym typeface="Symbol" panose="05050102010706020507" pitchFamily="18" charset="2"/>
              </a:rPr>
              <a:t></a:t>
            </a:r>
            <a:r>
              <a:rPr lang="id-ID" sz="2800" dirty="0"/>
              <a:t> F untuk semua w</a:t>
            </a:r>
            <a:r>
              <a:rPr lang="id-ID" sz="2800" dirty="0">
                <a:sym typeface="Symbol" panose="05050102010706020507" pitchFamily="18" charset="2"/>
              </a:rPr>
              <a:t></a:t>
            </a:r>
            <a:r>
              <a:rPr lang="id-ID" sz="2800" dirty="0"/>
              <a:t> </a:t>
            </a:r>
            <a:r>
              <a:rPr lang="id-ID" sz="2800" dirty="0">
                <a:sym typeface="Symbol" panose="05050102010706020507" pitchFamily="18" charset="2"/>
              </a:rPr>
              <a:t>*</a:t>
            </a:r>
            <a:r>
              <a:rPr lang="id-ID" sz="2800" dirty="0"/>
              <a:t>     </a:t>
            </a:r>
          </a:p>
          <a:p>
            <a:pPr marL="0" indent="0">
              <a:buNone/>
            </a:pPr>
            <a:endParaRPr lang="id-ID" sz="2800" dirty="0"/>
          </a:p>
          <a:p>
            <a:pPr marL="0" indent="0">
              <a:buNone/>
            </a:pPr>
            <a:endParaRPr lang="id-ID" sz="2800" dirty="0"/>
          </a:p>
          <a:p>
            <a:pPr marL="0" indent="0">
              <a:buNone/>
            </a:pPr>
            <a:r>
              <a:rPr lang="id-ID" sz="2800" dirty="0">
                <a:solidFill>
                  <a:srgbClr val="FF0000"/>
                </a:solidFill>
              </a:rPr>
              <a:t>Definisi </a:t>
            </a:r>
            <a:r>
              <a:rPr lang="id-ID" sz="2800" dirty="0"/>
              <a:t>: Dua buah state dari FSA disebut distinguishable (dapat dibedakan) bila terdapat w </a:t>
            </a:r>
            <a:r>
              <a:rPr lang="id-ID" sz="2800" dirty="0">
                <a:sym typeface="Symbol" panose="05050102010706020507" pitchFamily="18" charset="2"/>
              </a:rPr>
              <a:t> *</a:t>
            </a:r>
            <a:r>
              <a:rPr lang="id-ID" sz="2800" dirty="0"/>
              <a:t> sedemikian hingga : </a:t>
            </a:r>
          </a:p>
          <a:p>
            <a:pPr marL="0" indent="0">
              <a:buNone/>
            </a:pPr>
            <a:r>
              <a:rPr lang="id-ID" sz="2800" dirty="0"/>
              <a:t> </a:t>
            </a:r>
            <a:r>
              <a:rPr lang="id-ID" sz="2800" dirty="0">
                <a:sym typeface="Symbol" panose="05050102010706020507" pitchFamily="18" charset="2"/>
              </a:rPr>
              <a:t></a:t>
            </a:r>
            <a:r>
              <a:rPr lang="id-ID" sz="2800" dirty="0"/>
              <a:t>(q, w) </a:t>
            </a:r>
            <a:r>
              <a:rPr lang="id-ID" sz="2800" dirty="0">
                <a:sym typeface="Symbol" panose="05050102010706020507" pitchFamily="18" charset="2"/>
              </a:rPr>
              <a:t></a:t>
            </a:r>
            <a:r>
              <a:rPr lang="id-ID" sz="2800" dirty="0"/>
              <a:t> F   sedangkan </a:t>
            </a:r>
            <a:r>
              <a:rPr lang="id-ID" sz="2800" dirty="0">
                <a:sym typeface="Symbol" panose="05050102010706020507" pitchFamily="18" charset="2"/>
              </a:rPr>
              <a:t></a:t>
            </a:r>
            <a:r>
              <a:rPr lang="id-ID" sz="2800" dirty="0"/>
              <a:t> (p, w) </a:t>
            </a:r>
            <a:r>
              <a:rPr lang="id-ID" sz="2800" dirty="0">
                <a:sym typeface="Symbol" panose="05050102010706020507" pitchFamily="18" charset="2"/>
              </a:rPr>
              <a:t></a:t>
            </a:r>
            <a:r>
              <a:rPr lang="id-ID" sz="2800" dirty="0"/>
              <a:t> F  dan </a:t>
            </a:r>
            <a:r>
              <a:rPr lang="id-ID" sz="2800" dirty="0">
                <a:sym typeface="Symbol" panose="05050102010706020507" pitchFamily="18" charset="2"/>
              </a:rPr>
              <a:t></a:t>
            </a:r>
            <a:r>
              <a:rPr lang="id-ID" sz="2800" dirty="0"/>
              <a:t> (q, w )</a:t>
            </a:r>
            <a:r>
              <a:rPr lang="id-ID" sz="2800" dirty="0">
                <a:sym typeface="Symbol" panose="05050102010706020507" pitchFamily="18" charset="2"/>
              </a:rPr>
              <a:t> </a:t>
            </a:r>
            <a:r>
              <a:rPr lang="id-ID" sz="2800" dirty="0"/>
              <a:t> F   sedangkan </a:t>
            </a:r>
            <a:r>
              <a:rPr lang="id-ID" sz="2800" dirty="0">
                <a:sym typeface="Symbol" panose="05050102010706020507" pitchFamily="18" charset="2"/>
              </a:rPr>
              <a:t></a:t>
            </a:r>
            <a:r>
              <a:rPr lang="id-ID" sz="2800" dirty="0"/>
              <a:t>(p, w) </a:t>
            </a:r>
            <a:r>
              <a:rPr lang="id-ID" sz="2800" dirty="0">
                <a:sym typeface="Symbol" panose="05050102010706020507" pitchFamily="18" charset="2"/>
              </a:rPr>
              <a:t></a:t>
            </a:r>
            <a:r>
              <a:rPr lang="id-ID" sz="2800" dirty="0"/>
              <a:t> F untuk semua w </a:t>
            </a:r>
            <a:r>
              <a:rPr lang="id-ID" sz="2800" dirty="0">
                <a:sym typeface="Symbol" panose="05050102010706020507" pitchFamily="18" charset="2"/>
              </a:rPr>
              <a:t> *</a:t>
            </a:r>
            <a:r>
              <a:rPr lang="id-ID" sz="2800" dirty="0"/>
              <a:t>    </a:t>
            </a:r>
          </a:p>
          <a:p>
            <a:pPr marL="0" indent="0">
              <a:buNone/>
            </a:pPr>
            <a:endParaRPr lang="id-ID" sz="2800" dirty="0"/>
          </a:p>
        </p:txBody>
      </p:sp>
    </p:spTree>
    <p:extLst>
      <p:ext uri="{BB962C8B-B14F-4D97-AF65-F5344CB8AC3E}">
        <p14:creationId xmlns:p14="http://schemas.microsoft.com/office/powerpoint/2010/main" val="2692669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696CFF-5B03-46FC-B72D-66963639D5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2800" dirty="0"/>
              <a:t>Non-</a:t>
            </a:r>
            <a:r>
              <a:rPr lang="en-US" sz="2800" dirty="0" err="1"/>
              <a:t>Deterministik</a:t>
            </a:r>
            <a:r>
              <a:rPr lang="en-US" sz="2800" dirty="0"/>
              <a:t> Automata(NDFA)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B6BC64-42D2-4474-8C0C-A0CB0FAD0A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4083" y="1015258"/>
            <a:ext cx="8501044" cy="2271281"/>
          </a:xfrm>
        </p:spPr>
        <p:txBody>
          <a:bodyPr>
            <a:normAutofit lnSpcReduction="10000"/>
          </a:bodyPr>
          <a:lstStyle/>
          <a:p>
            <a:pPr marL="285750" indent="-285750"/>
            <a:r>
              <a:rPr lang="id-ID" sz="2000" dirty="0"/>
              <a:t>Prosedur menentukan pasangan status indistinguishable</a:t>
            </a:r>
          </a:p>
          <a:p>
            <a:pPr marL="914400" lvl="1" indent="-457200">
              <a:buFont typeface="+mj-lt"/>
              <a:buAutoNum type="arabicPeriod"/>
            </a:pPr>
            <a:r>
              <a:rPr lang="id-ID" sz="2000" dirty="0">
                <a:solidFill>
                  <a:srgbClr val="FF0000"/>
                </a:solidFill>
              </a:rPr>
              <a:t>Hapus semua state tak dapat dicapai dari state awal.</a:t>
            </a:r>
          </a:p>
          <a:p>
            <a:pPr marL="914400" lvl="1" indent="-457200">
              <a:buFont typeface="+mj-lt"/>
              <a:buAutoNum type="arabicPeriod"/>
            </a:pPr>
            <a:r>
              <a:rPr lang="id-ID" sz="2000" dirty="0">
                <a:solidFill>
                  <a:srgbClr val="FF0000"/>
                </a:solidFill>
              </a:rPr>
              <a:t>Catat semua pasangan state (p,q) yang distinguishable, yaitu {(p, q) | p</a:t>
            </a:r>
            <a:r>
              <a:rPr lang="id-ID" sz="2000" dirty="0">
                <a:solidFill>
                  <a:srgbClr val="FF0000"/>
                </a:solidFill>
                <a:sym typeface="Symbol" panose="05050102010706020507" pitchFamily="18" charset="2"/>
              </a:rPr>
              <a:t></a:t>
            </a:r>
            <a:r>
              <a:rPr lang="id-ID" sz="2000" dirty="0">
                <a:solidFill>
                  <a:srgbClr val="FF0000"/>
                </a:solidFill>
              </a:rPr>
              <a:t> F</a:t>
            </a:r>
            <a:r>
              <a:rPr lang="id-ID" sz="2000" dirty="0">
                <a:solidFill>
                  <a:srgbClr val="FF0000"/>
                </a:solidFill>
                <a:sym typeface="Symbol" panose="05050102010706020507" pitchFamily="18" charset="2"/>
              </a:rPr>
              <a:t></a:t>
            </a:r>
            <a:r>
              <a:rPr lang="id-ID" sz="2000" dirty="0">
                <a:solidFill>
                  <a:srgbClr val="FF0000"/>
                </a:solidFill>
              </a:rPr>
              <a:t> q </a:t>
            </a:r>
            <a:r>
              <a:rPr lang="id-ID" sz="2000" dirty="0">
                <a:solidFill>
                  <a:srgbClr val="FF0000"/>
                </a:solidFill>
                <a:sym typeface="Symbol" panose="05050102010706020507" pitchFamily="18" charset="2"/>
              </a:rPr>
              <a:t></a:t>
            </a:r>
            <a:r>
              <a:rPr lang="id-ID" sz="2000" dirty="0">
                <a:solidFill>
                  <a:srgbClr val="FF0000"/>
                </a:solidFill>
              </a:rPr>
              <a:t> F}</a:t>
            </a:r>
          </a:p>
          <a:p>
            <a:pPr marL="914400" lvl="1" indent="-457200">
              <a:buFont typeface="+mj-lt"/>
              <a:buAutoNum type="arabicPeriod"/>
            </a:pPr>
            <a:r>
              <a:rPr lang="id-ID" sz="2000" dirty="0">
                <a:solidFill>
                  <a:srgbClr val="FF0000"/>
                </a:solidFill>
              </a:rPr>
              <a:t>Untuk setiap pasangan (p, q) sisanya, untuk setiap a </a:t>
            </a:r>
            <a:r>
              <a:rPr lang="id-ID" sz="2000" dirty="0">
                <a:solidFill>
                  <a:srgbClr val="FF0000"/>
                </a:solidFill>
                <a:sym typeface="Symbol" panose="05050102010706020507" pitchFamily="18" charset="2"/>
              </a:rPr>
              <a:t></a:t>
            </a:r>
            <a:r>
              <a:rPr lang="id-ID" sz="2000" dirty="0">
                <a:solidFill>
                  <a:srgbClr val="FF0000"/>
                </a:solidFill>
              </a:rPr>
              <a:t> , tentukan </a:t>
            </a:r>
            <a:r>
              <a:rPr lang="id-ID" sz="2000" dirty="0">
                <a:solidFill>
                  <a:srgbClr val="FF0000"/>
                </a:solidFill>
                <a:sym typeface="Symbol" panose="05050102010706020507" pitchFamily="18" charset="2"/>
              </a:rPr>
              <a:t></a:t>
            </a:r>
            <a:r>
              <a:rPr lang="id-ID" sz="2000" dirty="0">
                <a:solidFill>
                  <a:srgbClr val="FF0000"/>
                </a:solidFill>
              </a:rPr>
              <a:t>(p, a) dan </a:t>
            </a:r>
            <a:r>
              <a:rPr lang="id-ID" sz="2000" dirty="0">
                <a:solidFill>
                  <a:srgbClr val="FF0000"/>
                </a:solidFill>
                <a:sym typeface="Symbol" panose="05050102010706020507" pitchFamily="18" charset="2"/>
              </a:rPr>
              <a:t></a:t>
            </a:r>
            <a:r>
              <a:rPr lang="id-ID" sz="2000" dirty="0">
                <a:solidFill>
                  <a:srgbClr val="FF0000"/>
                </a:solidFill>
              </a:rPr>
              <a:t> (q, a)</a:t>
            </a:r>
          </a:p>
          <a:p>
            <a:pPr marL="285750" indent="-285750"/>
            <a:r>
              <a:rPr lang="id-ID" sz="2000" b="1" dirty="0">
                <a:solidFill>
                  <a:srgbClr val="92D050"/>
                </a:solidFill>
              </a:rPr>
              <a:t>Contoh:</a:t>
            </a:r>
          </a:p>
        </p:txBody>
      </p:sp>
      <p:pic>
        <p:nvPicPr>
          <p:cNvPr id="4" name="Picture 3" descr="A close up of a clock&#10;&#10;Description automatically generated">
            <a:extLst>
              <a:ext uri="{FF2B5EF4-FFF2-40B4-BE49-F238E27FC236}">
                <a16:creationId xmlns:a16="http://schemas.microsoft.com/office/drawing/2014/main" id="{6DE1A8DD-08A6-47A8-9774-AD70F1FDC7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9483" y="3172927"/>
            <a:ext cx="4689189" cy="2728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16516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696CFF-5B03-46FC-B72D-66963639D5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2800" dirty="0"/>
              <a:t>Non-</a:t>
            </a:r>
            <a:r>
              <a:rPr lang="en-US" sz="2800" dirty="0" err="1"/>
              <a:t>Deterministik</a:t>
            </a:r>
            <a:r>
              <a:rPr lang="en-US" sz="2800" dirty="0"/>
              <a:t> Automata(NDFA)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B6BC64-42D2-4474-8C0C-A0CB0FAD0A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4083" y="1015259"/>
            <a:ext cx="8501044" cy="130387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id-ID" sz="2000" dirty="0"/>
              <a:t>Hapus state yang tidak tercapai </a:t>
            </a:r>
            <a:r>
              <a:rPr lang="id-ID" sz="2000" dirty="0">
                <a:sym typeface="Wingdings" panose="05000000000000000000" pitchFamily="2" charset="2"/>
              </a:rPr>
              <a:t> tidak ada</a:t>
            </a:r>
          </a:p>
          <a:p>
            <a:pPr marL="0" indent="0">
              <a:buNone/>
            </a:pPr>
            <a:r>
              <a:rPr lang="id-ID" sz="2000" dirty="0">
                <a:sym typeface="Wingdings" panose="05000000000000000000" pitchFamily="2" charset="2"/>
              </a:rPr>
              <a:t>Pasangan distinguishable (q0, q4), (q1, q4), (q2, q4), (q3, q4)</a:t>
            </a:r>
          </a:p>
          <a:p>
            <a:pPr marL="0" indent="0">
              <a:buNone/>
            </a:pPr>
            <a:r>
              <a:rPr lang="id-ID" sz="2000" dirty="0">
                <a:sym typeface="Wingdings" panose="05000000000000000000" pitchFamily="2" charset="2"/>
              </a:rPr>
              <a:t>Pasangan sisanya (q0,q1), (q0, q2), (q0, q3), q1, q2), (q1, q3), (q2, q3)</a:t>
            </a:r>
            <a:endParaRPr lang="id-ID" sz="2000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1E87FCE-5CDA-4B40-BAD4-F41135212B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4614638"/>
              </p:ext>
            </p:extLst>
          </p:nvPr>
        </p:nvGraphicFramePr>
        <p:xfrm>
          <a:off x="1838215" y="2319131"/>
          <a:ext cx="5732780" cy="1745488"/>
        </p:xfrm>
        <a:graphic>
          <a:graphicData uri="http://schemas.openxmlformats.org/drawingml/2006/table">
            <a:tbl>
              <a:tblPr firstRow="1" firstCol="1" bandRow="1"/>
              <a:tblGrid>
                <a:gridCol w="941070">
                  <a:extLst>
                    <a:ext uri="{9D8B030D-6E8A-4147-A177-3AD203B41FA5}">
                      <a16:colId xmlns:a16="http://schemas.microsoft.com/office/drawing/2014/main" val="3002443142"/>
                    </a:ext>
                  </a:extLst>
                </a:gridCol>
                <a:gridCol w="902970">
                  <a:extLst>
                    <a:ext uri="{9D8B030D-6E8A-4147-A177-3AD203B41FA5}">
                      <a16:colId xmlns:a16="http://schemas.microsoft.com/office/drawing/2014/main" val="4171243837"/>
                    </a:ext>
                  </a:extLst>
                </a:gridCol>
                <a:gridCol w="763270">
                  <a:extLst>
                    <a:ext uri="{9D8B030D-6E8A-4147-A177-3AD203B41FA5}">
                      <a16:colId xmlns:a16="http://schemas.microsoft.com/office/drawing/2014/main" val="779121120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280677596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19891969"/>
                    </a:ext>
                  </a:extLst>
                </a:gridCol>
                <a:gridCol w="1677670">
                  <a:extLst>
                    <a:ext uri="{9D8B030D-6E8A-4147-A177-3AD203B41FA5}">
                      <a16:colId xmlns:a16="http://schemas.microsoft.com/office/drawing/2014/main" val="1833753293"/>
                    </a:ext>
                  </a:extLst>
                </a:gridCol>
              </a:tblGrid>
              <a:tr h="0">
                <a:tc row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id-ID" sz="14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Pasangan</a:t>
                      </a:r>
                      <a:endParaRPr lang="id-ID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id-ID" sz="14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State 1</a:t>
                      </a:r>
                      <a:endParaRPr lang="id-ID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id-ID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id-ID" sz="14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State 2</a:t>
                      </a:r>
                      <a:endParaRPr lang="id-ID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id-ID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id-ID" sz="14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Hasil</a:t>
                      </a:r>
                      <a:endParaRPr lang="id-ID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0969156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id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id-ID" sz="14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  <a:endParaRPr lang="id-ID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id-ID" sz="14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  <a:endParaRPr lang="id-ID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id-ID" sz="14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  <a:endParaRPr lang="id-ID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id-ID" sz="14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  <a:endParaRPr lang="id-ID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id-ID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7896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id-ID" sz="1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(q0, q1)</a:t>
                      </a:r>
                      <a:endParaRPr lang="id-ID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id-ID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Q1</a:t>
                      </a:r>
                      <a:endParaRPr lang="id-ID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id-ID" sz="1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Q3</a:t>
                      </a:r>
                      <a:endParaRPr lang="id-ID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id-ID" sz="1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Q2</a:t>
                      </a:r>
                      <a:endParaRPr lang="id-ID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id-ID" sz="1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Q4</a:t>
                      </a:r>
                      <a:endParaRPr lang="id-ID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id-ID" sz="1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Distinguishable </a:t>
                      </a:r>
                      <a:endParaRPr lang="id-ID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5109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id-ID" sz="1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(q0, q2)</a:t>
                      </a:r>
                      <a:endParaRPr lang="id-ID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id-ID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Q1</a:t>
                      </a:r>
                      <a:endParaRPr lang="id-ID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id-ID" sz="1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Q3</a:t>
                      </a:r>
                      <a:endParaRPr lang="id-ID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id-ID" sz="1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Q1</a:t>
                      </a:r>
                      <a:endParaRPr lang="id-ID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id-ID" sz="1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Q4</a:t>
                      </a:r>
                      <a:endParaRPr lang="id-ID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id-ID" sz="1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Distinguishable</a:t>
                      </a:r>
                      <a:endParaRPr lang="id-ID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315912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id-ID" sz="140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(q1, q2)</a:t>
                      </a:r>
                      <a:endParaRPr lang="id-ID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id-ID" sz="140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Q2</a:t>
                      </a:r>
                      <a:endParaRPr lang="id-ID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id-ID" sz="140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Q4</a:t>
                      </a:r>
                      <a:endParaRPr lang="id-ID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id-ID" sz="140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Q1</a:t>
                      </a:r>
                      <a:endParaRPr lang="id-ID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id-ID" sz="140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Q4</a:t>
                      </a:r>
                      <a:endParaRPr lang="id-ID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id-ID" sz="140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InDistinguishable</a:t>
                      </a:r>
                      <a:endParaRPr lang="id-ID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629220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id-ID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(q0, q3)</a:t>
                      </a:r>
                      <a:endParaRPr lang="id-ID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id-ID" sz="1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Q1</a:t>
                      </a:r>
                      <a:endParaRPr lang="id-ID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id-ID" sz="1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Q3</a:t>
                      </a:r>
                      <a:endParaRPr lang="id-ID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id-ID" sz="1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Q2</a:t>
                      </a:r>
                      <a:endParaRPr lang="id-ID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id-ID" sz="1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Q4</a:t>
                      </a:r>
                      <a:endParaRPr lang="id-ID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id-ID" sz="1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Distinguishable</a:t>
                      </a:r>
                      <a:endParaRPr lang="id-ID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731584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id-ID" sz="140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(q1, q3)</a:t>
                      </a:r>
                      <a:endParaRPr lang="id-ID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id-ID" sz="140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Q2</a:t>
                      </a:r>
                      <a:endParaRPr lang="id-ID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id-ID" sz="140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Q4</a:t>
                      </a:r>
                      <a:endParaRPr lang="id-ID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id-ID" sz="140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Q2</a:t>
                      </a:r>
                      <a:endParaRPr lang="id-ID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id-ID" sz="140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Q4</a:t>
                      </a:r>
                      <a:endParaRPr lang="id-ID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id-ID" sz="140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InDistinguishable </a:t>
                      </a:r>
                      <a:endParaRPr lang="id-ID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737251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id-ID" sz="140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(q2, q3)</a:t>
                      </a:r>
                      <a:endParaRPr lang="id-ID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id-ID" sz="140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Q1</a:t>
                      </a:r>
                      <a:endParaRPr lang="id-ID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id-ID" sz="140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Q4</a:t>
                      </a:r>
                      <a:endParaRPr lang="id-ID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id-ID" sz="140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Q2</a:t>
                      </a:r>
                      <a:endParaRPr lang="id-ID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id-ID" sz="140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Q4</a:t>
                      </a:r>
                      <a:endParaRPr lang="id-ID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id-ID" sz="140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InDistinguishable </a:t>
                      </a:r>
                      <a:endParaRPr lang="id-ID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48332105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3809C88D-EFF3-454C-BADA-253997A496F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50079" y="4812007"/>
                <a:ext cx="8501044" cy="1303872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fontScale="92500" lnSpcReduction="200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Montserrat" panose="02000505000000020004" pitchFamily="2" charset="0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Montserrat" panose="02000505000000020004" pitchFamily="2" charset="0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Montserrat Light" panose="00000400000000000000" pitchFamily="50" charset="0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id-ID" sz="2000" dirty="0"/>
                  <a:t>Catatan:</a:t>
                </a:r>
              </a:p>
              <a:p>
                <a:pPr marL="0" indent="0">
                  <a:buNone/>
                </a:pPr>
                <a:r>
                  <a:rPr lang="id-ID" sz="2000" dirty="0"/>
                  <a:t>Jumlah pasangan seluruhnya :</a:t>
                </a:r>
              </a:p>
              <a:p>
                <a:pPr marL="0" indent="0">
                  <a:buNone/>
                </a:pPr>
                <a:r>
                  <a:rPr lang="id-ID" sz="2800" dirty="0"/>
                  <a:t>C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id-ID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id-ID" sz="28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id-ID" sz="2800" i="1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</m:mr>
                          <m:mr>
                            <m:e>
                              <m:r>
                                <a:rPr lang="id-ID" sz="28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id-ID" sz="2800" dirty="0"/>
                  <a:t>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id-ID" sz="28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id-ID" sz="2800" i="1" dirty="0">
                            <a:latin typeface="Cambria Math" panose="02040503050406030204" pitchFamily="18" charset="0"/>
                          </a:rPr>
                          <m:t>5!</m:t>
                        </m:r>
                      </m:num>
                      <m:den>
                        <m:r>
                          <a:rPr lang="id-ID" sz="2800" i="1" dirty="0">
                            <a:latin typeface="Cambria Math" panose="02040503050406030204" pitchFamily="18" charset="0"/>
                          </a:rPr>
                          <m:t>2!3!</m:t>
                        </m:r>
                      </m:den>
                    </m:f>
                  </m:oMath>
                </a14:m>
                <a:r>
                  <a:rPr lang="id-ID" sz="2800" dirty="0"/>
                  <a:t>= 10</a:t>
                </a:r>
              </a:p>
            </p:txBody>
          </p:sp>
        </mc:Choice>
        <mc:Fallback xmlns="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3809C88D-EFF3-454C-BADA-253997A496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0079" y="4812007"/>
                <a:ext cx="8501044" cy="1303872"/>
              </a:xfrm>
              <a:prstGeom prst="rect">
                <a:avLst/>
              </a:prstGeom>
              <a:blipFill>
                <a:blip r:embed="rId2"/>
                <a:stretch>
                  <a:fillRect l="-1291" t="-7944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477494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696CFF-5B03-46FC-B72D-66963639D5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2800" dirty="0"/>
              <a:t>Latihan NFA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B6BC64-42D2-4474-8C0C-A0CB0FAD0A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04417" y="900906"/>
            <a:ext cx="8501044" cy="5633882"/>
          </a:xfrm>
        </p:spPr>
        <p:txBody>
          <a:bodyPr>
            <a:normAutofit/>
          </a:bodyPr>
          <a:lstStyle/>
          <a:p>
            <a:pPr marL="12065" marR="645160" indent="0">
              <a:lnSpc>
                <a:spcPct val="100299"/>
              </a:lnSpc>
              <a:spcBef>
                <a:spcPts val="815"/>
              </a:spcBef>
              <a:buClr>
                <a:srgbClr val="006565"/>
              </a:buClr>
              <a:buSzPct val="70149"/>
              <a:buNone/>
              <a:tabLst>
                <a:tab pos="372745" algn="l"/>
              </a:tabLst>
            </a:pPr>
            <a:r>
              <a:rPr lang="en-US" sz="2800" dirty="0">
                <a:latin typeface="Montserrat Medium"/>
                <a:cs typeface="Calibri"/>
              </a:rPr>
              <a:t>1.Menentukan NFA yang </a:t>
            </a:r>
            <a:r>
              <a:rPr lang="en-US" sz="2800" dirty="0" err="1">
                <a:latin typeface="Montserrat Medium"/>
                <a:cs typeface="Calibri"/>
              </a:rPr>
              <a:t>menerima</a:t>
            </a:r>
            <a:r>
              <a:rPr lang="en-US" sz="2800" dirty="0">
                <a:latin typeface="Montserrat Medium"/>
                <a:cs typeface="Calibri"/>
              </a:rPr>
              <a:t> Bahasa:</a:t>
            </a:r>
          </a:p>
          <a:p>
            <a:pPr marL="469265" marR="645160" indent="-457200">
              <a:lnSpc>
                <a:spcPct val="100299"/>
              </a:lnSpc>
              <a:spcBef>
                <a:spcPts val="815"/>
              </a:spcBef>
              <a:buClr>
                <a:srgbClr val="006565"/>
              </a:buClr>
              <a:buSzPct val="70149"/>
              <a:tabLst>
                <a:tab pos="372745" algn="l"/>
              </a:tabLst>
            </a:pPr>
            <a:r>
              <a:rPr lang="en-US" sz="2800" dirty="0"/>
              <a:t>L</a:t>
            </a:r>
            <a:r>
              <a:rPr lang="en-US" sz="1800" dirty="0"/>
              <a:t>1</a:t>
            </a:r>
            <a:r>
              <a:rPr lang="en-US" sz="2800" dirty="0"/>
              <a:t> = { x |x ∈{a ,b ,c } * </a:t>
            </a:r>
            <a:r>
              <a:rPr lang="de-DE" sz="2800" dirty="0"/>
              <a:t>dan x mengandung pola abac}</a:t>
            </a:r>
          </a:p>
          <a:p>
            <a:pPr marL="469265" marR="645160" indent="-457200">
              <a:lnSpc>
                <a:spcPct val="100299"/>
              </a:lnSpc>
              <a:spcBef>
                <a:spcPts val="815"/>
              </a:spcBef>
              <a:buClr>
                <a:srgbClr val="006565"/>
              </a:buClr>
              <a:buSzPct val="70149"/>
              <a:tabLst>
                <a:tab pos="372745" algn="l"/>
              </a:tabLst>
            </a:pPr>
            <a:r>
              <a:rPr lang="en-ID" sz="2800" dirty="0"/>
              <a:t>L</a:t>
            </a:r>
            <a:r>
              <a:rPr lang="en-ID" sz="2000" dirty="0"/>
              <a:t>2</a:t>
            </a:r>
            <a:r>
              <a:rPr lang="en-ID" sz="2800" dirty="0"/>
              <a:t> = {a* U  b*} </a:t>
            </a:r>
            <a:endParaRPr lang="en-US" sz="2800" dirty="0">
              <a:latin typeface="Montserrat Medium"/>
              <a:cs typeface="Calibri"/>
            </a:endParaRPr>
          </a:p>
          <a:p>
            <a:pPr marL="12065" marR="645160" indent="0">
              <a:lnSpc>
                <a:spcPct val="100299"/>
              </a:lnSpc>
              <a:spcBef>
                <a:spcPts val="815"/>
              </a:spcBef>
              <a:buClr>
                <a:srgbClr val="006565"/>
              </a:buClr>
              <a:buSzPct val="70149"/>
              <a:buNone/>
              <a:tabLst>
                <a:tab pos="372745" algn="l"/>
              </a:tabLst>
            </a:pPr>
            <a:r>
              <a:rPr lang="en-US" sz="2800" dirty="0">
                <a:latin typeface="Montserrat Medium"/>
                <a:cs typeface="Calibri"/>
              </a:rPr>
              <a:t>2. </a:t>
            </a:r>
            <a:r>
              <a:rPr lang="en-US" sz="2800" dirty="0" err="1">
                <a:latin typeface="Montserrat Medium"/>
                <a:cs typeface="Calibri"/>
              </a:rPr>
              <a:t>Tentukan</a:t>
            </a:r>
            <a:r>
              <a:rPr lang="en-US" sz="2800" dirty="0">
                <a:latin typeface="Montserrat Medium"/>
                <a:cs typeface="Calibri"/>
              </a:rPr>
              <a:t> NFA yang </a:t>
            </a:r>
            <a:r>
              <a:rPr lang="en-US" sz="2800" dirty="0" err="1">
                <a:latin typeface="Montserrat Medium"/>
                <a:cs typeface="Calibri"/>
              </a:rPr>
              <a:t>menerima</a:t>
            </a:r>
            <a:r>
              <a:rPr lang="en-US" sz="2800" dirty="0">
                <a:latin typeface="Montserrat Medium"/>
                <a:cs typeface="Calibri"/>
              </a:rPr>
              <a:t> semua string di </a:t>
            </a:r>
            <a:r>
              <a:rPr lang="en-US" sz="2800" dirty="0" err="1">
                <a:latin typeface="Montserrat Medium"/>
                <a:cs typeface="Calibri"/>
              </a:rPr>
              <a:t>atas</a:t>
            </a:r>
            <a:r>
              <a:rPr lang="en-US" sz="2800" dirty="0">
                <a:latin typeface="Montserrat Medium"/>
                <a:cs typeface="Calibri"/>
              </a:rPr>
              <a:t> {0,1} yang </a:t>
            </a:r>
            <a:r>
              <a:rPr lang="en-US" sz="2800" dirty="0" err="1">
                <a:latin typeface="Montserrat Medium"/>
                <a:cs typeface="Calibri"/>
              </a:rPr>
              <a:t>diakhiri</a:t>
            </a:r>
            <a:r>
              <a:rPr lang="en-US" sz="2800" dirty="0">
                <a:latin typeface="Montserrat Medium"/>
                <a:cs typeface="Calibri"/>
              </a:rPr>
              <a:t> dengan 1 tetapi </a:t>
            </a:r>
            <a:r>
              <a:rPr lang="en-US" sz="2800" dirty="0" err="1">
                <a:latin typeface="Montserrat Medium"/>
                <a:cs typeface="Calibri"/>
              </a:rPr>
              <a:t>tidak</a:t>
            </a:r>
            <a:r>
              <a:rPr lang="en-US" sz="2800" dirty="0">
                <a:latin typeface="Montserrat Medium"/>
                <a:cs typeface="Calibri"/>
              </a:rPr>
              <a:t> </a:t>
            </a:r>
            <a:r>
              <a:rPr lang="en-US" sz="2800" dirty="0" err="1">
                <a:latin typeface="Montserrat Medium"/>
                <a:cs typeface="Calibri"/>
              </a:rPr>
              <a:t>mengandung</a:t>
            </a:r>
            <a:r>
              <a:rPr lang="en-US" sz="2800" dirty="0">
                <a:latin typeface="Montserrat Medium"/>
                <a:cs typeface="Calibri"/>
              </a:rPr>
              <a:t> substring 00.</a:t>
            </a:r>
          </a:p>
          <a:p>
            <a:pPr marL="12065" marR="645160" indent="0">
              <a:lnSpc>
                <a:spcPct val="100299"/>
              </a:lnSpc>
              <a:spcBef>
                <a:spcPts val="815"/>
              </a:spcBef>
              <a:buClr>
                <a:srgbClr val="006565"/>
              </a:buClr>
              <a:buSzPct val="70149"/>
              <a:buNone/>
              <a:tabLst>
                <a:tab pos="372745" algn="l"/>
              </a:tabLst>
            </a:pPr>
            <a:r>
              <a:rPr lang="en-US" sz="2800" dirty="0">
                <a:latin typeface="Montserrat Medium"/>
                <a:cs typeface="Calibri"/>
              </a:rPr>
              <a:t>3. </a:t>
            </a:r>
            <a:r>
              <a:rPr lang="en-US" sz="2800" dirty="0" err="1">
                <a:latin typeface="Montserrat Medium"/>
                <a:cs typeface="Calibri"/>
              </a:rPr>
              <a:t>Tentukan</a:t>
            </a:r>
            <a:r>
              <a:rPr lang="en-US" sz="2800" dirty="0">
                <a:latin typeface="Montserrat Medium"/>
                <a:cs typeface="Calibri"/>
              </a:rPr>
              <a:t> </a:t>
            </a:r>
            <a:r>
              <a:rPr lang="en-US" sz="2800" dirty="0"/>
              <a:t> NFA yang harus </a:t>
            </a:r>
            <a:r>
              <a:rPr lang="en-US" sz="2800" dirty="0" err="1"/>
              <a:t>menerima</a:t>
            </a:r>
            <a:r>
              <a:rPr lang="en-US" sz="2800" dirty="0"/>
              <a:t> </a:t>
            </a:r>
            <a:r>
              <a:rPr lang="en-US" sz="2800" dirty="0" err="1"/>
              <a:t>sebuah</a:t>
            </a:r>
            <a:r>
              <a:rPr lang="en-US" sz="2800" dirty="0"/>
              <a:t> </a:t>
            </a:r>
            <a:r>
              <a:rPr lang="en-US" sz="2800" dirty="0" err="1"/>
              <a:t>bahasa</a:t>
            </a:r>
            <a:r>
              <a:rPr lang="en-US" sz="2800" dirty="0"/>
              <a:t> L</a:t>
            </a:r>
            <a:r>
              <a:rPr lang="en-US" sz="2000" dirty="0"/>
              <a:t>A</a:t>
            </a:r>
            <a:r>
              <a:rPr lang="en-US" sz="2800" dirty="0"/>
              <a:t> , yang diberikan oleh L</a:t>
            </a:r>
            <a:r>
              <a:rPr lang="en-US" sz="2000" dirty="0"/>
              <a:t>A</a:t>
            </a:r>
            <a:r>
              <a:rPr lang="en-US" sz="2800" dirty="0"/>
              <a:t> = { x ∈{a ,b }* :|x| ≥ 3 </a:t>
            </a:r>
            <a:r>
              <a:rPr lang="sv-SE" sz="2800" dirty="0"/>
              <a:t>dan simbol ketiga dari x dari kanan adalah </a:t>
            </a:r>
            <a:r>
              <a:rPr lang="en-US" sz="2800" dirty="0"/>
              <a:t>{‘a’}.</a:t>
            </a:r>
            <a:endParaRPr lang="en-US" sz="2800" dirty="0">
              <a:latin typeface="Montserrat Medium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1639740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696CFF-5B03-46FC-B72D-66963639D5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2800" dirty="0"/>
              <a:t>Latihan NFA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B6BC64-42D2-4474-8C0C-A0CB0FAD0A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04417" y="900906"/>
            <a:ext cx="8501044" cy="5633882"/>
          </a:xfrm>
        </p:spPr>
        <p:txBody>
          <a:bodyPr>
            <a:normAutofit/>
          </a:bodyPr>
          <a:lstStyle/>
          <a:p>
            <a:pPr marL="12065" marR="645160" indent="0">
              <a:lnSpc>
                <a:spcPct val="100299"/>
              </a:lnSpc>
              <a:spcBef>
                <a:spcPts val="815"/>
              </a:spcBef>
              <a:buClr>
                <a:srgbClr val="006565"/>
              </a:buClr>
              <a:buSzPct val="70149"/>
              <a:buNone/>
              <a:tabLst>
                <a:tab pos="372745" algn="l"/>
              </a:tabLst>
            </a:pPr>
            <a:r>
              <a:rPr lang="en-US" sz="2800" dirty="0">
                <a:latin typeface="Montserrat Medium"/>
                <a:cs typeface="Calibri"/>
              </a:rPr>
              <a:t>4. </a:t>
            </a:r>
            <a:r>
              <a:rPr lang="en-US" sz="2800" dirty="0" err="1">
                <a:latin typeface="Montserrat Medium"/>
                <a:cs typeface="Calibri"/>
              </a:rPr>
              <a:t>Buatlah</a:t>
            </a:r>
            <a:r>
              <a:rPr lang="en-US" sz="2800" dirty="0">
                <a:latin typeface="Montserrat Medium"/>
                <a:cs typeface="Calibri"/>
              </a:rPr>
              <a:t> diagram NFA untuk:</a:t>
            </a:r>
          </a:p>
          <a:p>
            <a:pPr marL="12065" marR="645160" indent="0">
              <a:lnSpc>
                <a:spcPct val="100299"/>
              </a:lnSpc>
              <a:spcBef>
                <a:spcPts val="815"/>
              </a:spcBef>
              <a:buClr>
                <a:srgbClr val="006565"/>
              </a:buClr>
              <a:buSzPct val="70149"/>
              <a:buNone/>
              <a:tabLst>
                <a:tab pos="372745" algn="l"/>
              </a:tabLst>
            </a:pPr>
            <a:r>
              <a:rPr lang="en-US" sz="2800" dirty="0">
                <a:latin typeface="Montserrat Medium"/>
                <a:cs typeface="Calibri"/>
              </a:rPr>
              <a:t> </a:t>
            </a:r>
            <a:r>
              <a:rPr lang="en-ID" sz="2800" dirty="0"/>
              <a:t>M = ({q</a:t>
            </a:r>
            <a:r>
              <a:rPr lang="en-ID" dirty="0"/>
              <a:t>0</a:t>
            </a:r>
            <a:r>
              <a:rPr lang="en-ID" sz="2800" dirty="0"/>
              <a:t>, </a:t>
            </a:r>
            <a:r>
              <a:rPr lang="en-ID" sz="2800" dirty="0">
                <a:solidFill>
                  <a:srgbClr val="00325A"/>
                </a:solidFill>
              </a:rPr>
              <a:t>q</a:t>
            </a:r>
            <a:r>
              <a:rPr lang="en-ID" dirty="0">
                <a:solidFill>
                  <a:srgbClr val="00325A"/>
                </a:solidFill>
              </a:rPr>
              <a:t>1 </a:t>
            </a:r>
            <a:r>
              <a:rPr lang="en-ID" sz="2800" dirty="0"/>
              <a:t>, q</a:t>
            </a:r>
            <a:r>
              <a:rPr lang="en-ID" dirty="0"/>
              <a:t>2</a:t>
            </a:r>
            <a:r>
              <a:rPr lang="en-ID" sz="2800" dirty="0"/>
              <a:t>, q</a:t>
            </a:r>
            <a:r>
              <a:rPr lang="en-ID" dirty="0"/>
              <a:t>3</a:t>
            </a:r>
            <a:r>
              <a:rPr lang="en-ID" sz="2800" dirty="0"/>
              <a:t>, q</a:t>
            </a:r>
            <a:r>
              <a:rPr lang="en-ID" dirty="0"/>
              <a:t>4</a:t>
            </a:r>
            <a:r>
              <a:rPr lang="en-ID" sz="2800" dirty="0"/>
              <a:t>}, {0,1 }, </a:t>
            </a:r>
            <a:r>
              <a:rPr lang="en-US" sz="2800" dirty="0"/>
              <a:t>δ</a:t>
            </a:r>
            <a:r>
              <a:rPr lang="en-ID" sz="2800" dirty="0"/>
              <a:t> ,q</a:t>
            </a:r>
            <a:r>
              <a:rPr lang="en-ID" sz="1800" dirty="0"/>
              <a:t>0</a:t>
            </a:r>
            <a:r>
              <a:rPr lang="en-ID" sz="2800" dirty="0"/>
              <a:t> ,{q</a:t>
            </a:r>
            <a:r>
              <a:rPr lang="en-ID" sz="1800" dirty="0"/>
              <a:t>3</a:t>
            </a:r>
            <a:r>
              <a:rPr lang="en-ID" sz="2800" dirty="0"/>
              <a:t> }) </a:t>
            </a:r>
          </a:p>
          <a:p>
            <a:pPr marL="12065" marR="645160" indent="0">
              <a:lnSpc>
                <a:spcPct val="100299"/>
              </a:lnSpc>
              <a:spcBef>
                <a:spcPts val="815"/>
              </a:spcBef>
              <a:buClr>
                <a:srgbClr val="006565"/>
              </a:buClr>
              <a:buSzPct val="70149"/>
              <a:buNone/>
              <a:tabLst>
                <a:tab pos="372745" algn="l"/>
              </a:tabLst>
            </a:pPr>
            <a:r>
              <a:rPr lang="en-ID" sz="2800" dirty="0" err="1"/>
              <a:t>dengan</a:t>
            </a:r>
            <a:r>
              <a:rPr lang="en-ID" sz="2800" dirty="0"/>
              <a:t> </a:t>
            </a:r>
            <a:r>
              <a:rPr lang="en-ID" sz="2800" dirty="0" err="1"/>
              <a:t>tabel</a:t>
            </a:r>
            <a:r>
              <a:rPr lang="en-ID" sz="2800" dirty="0"/>
              <a:t> </a:t>
            </a:r>
            <a:r>
              <a:rPr lang="en-ID" sz="2800" dirty="0" err="1"/>
              <a:t>keadaan</a:t>
            </a:r>
            <a:r>
              <a:rPr lang="en-ID" sz="2800" dirty="0"/>
              <a:t> </a:t>
            </a:r>
            <a:r>
              <a:rPr lang="en-ID" sz="2800" dirty="0" err="1"/>
              <a:t>seperti</a:t>
            </a:r>
            <a:r>
              <a:rPr lang="en-ID" sz="2800" dirty="0"/>
              <a:t> yang </a:t>
            </a:r>
            <a:r>
              <a:rPr lang="en-ID" sz="2800" dirty="0" err="1"/>
              <a:t>diberikan</a:t>
            </a:r>
            <a:r>
              <a:rPr lang="en-ID" sz="2800" dirty="0"/>
              <a:t> di </a:t>
            </a:r>
            <a:r>
              <a:rPr lang="en-ID" sz="2800" dirty="0" err="1"/>
              <a:t>bawah</a:t>
            </a:r>
            <a:r>
              <a:rPr lang="en-ID" sz="2800" dirty="0"/>
              <a:t> </a:t>
            </a:r>
            <a:r>
              <a:rPr lang="en-ID" sz="2800" dirty="0" err="1"/>
              <a:t>ini</a:t>
            </a:r>
            <a:r>
              <a:rPr lang="en-ID" sz="2800" dirty="0"/>
              <a:t>.</a:t>
            </a:r>
          </a:p>
          <a:p>
            <a:pPr marL="12065" marR="645160" indent="0">
              <a:lnSpc>
                <a:spcPct val="100299"/>
              </a:lnSpc>
              <a:spcBef>
                <a:spcPts val="815"/>
              </a:spcBef>
              <a:buClr>
                <a:srgbClr val="006565"/>
              </a:buClr>
              <a:buSzPct val="70149"/>
              <a:buNone/>
              <a:tabLst>
                <a:tab pos="372745" algn="l"/>
              </a:tabLst>
            </a:pPr>
            <a:endParaRPr lang="en-ID" sz="2800" dirty="0"/>
          </a:p>
          <a:p>
            <a:pPr marL="12065" marR="645160" indent="0">
              <a:lnSpc>
                <a:spcPct val="100299"/>
              </a:lnSpc>
              <a:spcBef>
                <a:spcPts val="815"/>
              </a:spcBef>
              <a:buClr>
                <a:srgbClr val="006565"/>
              </a:buClr>
              <a:buSzPct val="70149"/>
              <a:buNone/>
              <a:tabLst>
                <a:tab pos="372745" algn="l"/>
              </a:tabLst>
            </a:pPr>
            <a:endParaRPr lang="en-US" sz="2800" dirty="0">
              <a:latin typeface="Montserrat Medium"/>
              <a:cs typeface="Calibri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072113A-0F6E-4651-8886-6F36364E10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2481" y="2872674"/>
            <a:ext cx="4804719" cy="3399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98774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1F9E33A-672E-4499-A7BA-EE4327F4D3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94092" cy="68580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26BC89EC-D40D-42F1-BD48-19B2C7F83B44}"/>
              </a:ext>
            </a:extLst>
          </p:cNvPr>
          <p:cNvSpPr txBox="1"/>
          <p:nvPr/>
        </p:nvSpPr>
        <p:spPr>
          <a:xfrm>
            <a:off x="348343" y="5332903"/>
            <a:ext cx="4049486" cy="757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4800" dirty="0">
                <a:solidFill>
                  <a:srgbClr val="FFE12E"/>
                </a:solidFill>
                <a:latin typeface="Montserrat" panose="02000505000000020004" pitchFamily="2" charset="0"/>
                <a:ea typeface="Roboto" pitchFamily="2" charset="0"/>
                <a:cs typeface="Arial"/>
              </a:rPr>
              <a:t>Thank You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0171AE4-0AA8-41EE-9C53-D4398596FF8A}"/>
              </a:ext>
            </a:extLst>
          </p:cNvPr>
          <p:cNvSpPr txBox="1"/>
          <p:nvPr/>
        </p:nvSpPr>
        <p:spPr>
          <a:xfrm>
            <a:off x="348343" y="5968113"/>
            <a:ext cx="4049486" cy="2795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100" dirty="0">
                <a:solidFill>
                  <a:schemeClr val="bg1"/>
                </a:solidFill>
                <a:latin typeface="Montserrat" panose="02000505000000020004" pitchFamily="2" charset="0"/>
                <a:ea typeface="Roboto" pitchFamily="2" charset="0"/>
                <a:cs typeface="Arial"/>
              </a:rPr>
              <a:t>ukrida.ac.id</a:t>
            </a:r>
          </a:p>
        </p:txBody>
      </p:sp>
    </p:spTree>
    <p:extLst>
      <p:ext uri="{BB962C8B-B14F-4D97-AF65-F5344CB8AC3E}">
        <p14:creationId xmlns:p14="http://schemas.microsoft.com/office/powerpoint/2010/main" val="2848738527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Ukrida Color">
      <a:dk1>
        <a:srgbClr val="00325A"/>
      </a:dk1>
      <a:lt1>
        <a:srgbClr val="FFFFFF"/>
      </a:lt1>
      <a:dk2>
        <a:srgbClr val="00325A"/>
      </a:dk2>
      <a:lt2>
        <a:srgbClr val="FFE12D"/>
      </a:lt2>
      <a:accent1>
        <a:srgbClr val="0080C6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2DA1FF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2589</TotalTime>
  <Words>1398</Words>
  <Application>Microsoft Office PowerPoint</Application>
  <PresentationFormat>On-screen Show (4:3)</PresentationFormat>
  <Paragraphs>204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8" baseType="lpstr">
      <vt:lpstr>MS Gothic</vt:lpstr>
      <vt:lpstr>Arial</vt:lpstr>
      <vt:lpstr>Calibri</vt:lpstr>
      <vt:lpstr>Calibri Light</vt:lpstr>
      <vt:lpstr>Cambria Math</vt:lpstr>
      <vt:lpstr>Montserrat</vt:lpstr>
      <vt:lpstr>Montserrat Light</vt:lpstr>
      <vt:lpstr>Montserrat Medium</vt:lpstr>
      <vt:lpstr>Symbol</vt:lpstr>
      <vt:lpstr>Wingdings</vt:lpstr>
      <vt:lpstr>Custom Design</vt:lpstr>
      <vt:lpstr>PowerPoint Presentation</vt:lpstr>
      <vt:lpstr>Definisi Non-Deterministik Automata</vt:lpstr>
      <vt:lpstr>Non-Deterministik Automata</vt:lpstr>
      <vt:lpstr>DFA Vs NDFA(Table Perbedaan)</vt:lpstr>
      <vt:lpstr>DFA Vs NFA(Table Perbedaan)</vt:lpstr>
      <vt:lpstr>Non-Deterministik Automata</vt:lpstr>
      <vt:lpstr>Non-Deterministik Automata(NFA)</vt:lpstr>
      <vt:lpstr>Non-Deterministik Automata(NFA)</vt:lpstr>
      <vt:lpstr>Non-Deterministik Automata(NFA)</vt:lpstr>
      <vt:lpstr>Contoh Non-Deterministik Automata(NDFA)</vt:lpstr>
      <vt:lpstr>Non-Deterministik Automata(NDFA)</vt:lpstr>
      <vt:lpstr>Non-Deterministik Automata(NDFA)</vt:lpstr>
      <vt:lpstr>Non-Deterministik Automata(NDFA)</vt:lpstr>
      <vt:lpstr>Non-Deterministik Automata(NDFA)</vt:lpstr>
      <vt:lpstr>Latihan NFA</vt:lpstr>
      <vt:lpstr>Latihan NFA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PMP</dc:creator>
  <cp:lastModifiedBy>floren rp</cp:lastModifiedBy>
  <cp:revision>83</cp:revision>
  <dcterms:created xsi:type="dcterms:W3CDTF">2017-09-11T12:08:03Z</dcterms:created>
  <dcterms:modified xsi:type="dcterms:W3CDTF">2024-09-24T07:15:04Z</dcterms:modified>
</cp:coreProperties>
</file>