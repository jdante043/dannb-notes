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43"/>
  </p:handoutMasterIdLst>
  <p:sldIdLst>
    <p:sldId id="263" r:id="rId2"/>
    <p:sldId id="259" r:id="rId3"/>
    <p:sldId id="264" r:id="rId4"/>
    <p:sldId id="265" r:id="rId5"/>
    <p:sldId id="266" r:id="rId6"/>
    <p:sldId id="267" r:id="rId7"/>
    <p:sldId id="268" r:id="rId8"/>
    <p:sldId id="269" r:id="rId9"/>
    <p:sldId id="29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300" r:id="rId25"/>
    <p:sldId id="284" r:id="rId26"/>
    <p:sldId id="285" r:id="rId27"/>
    <p:sldId id="286" r:id="rId28"/>
    <p:sldId id="287" r:id="rId29"/>
    <p:sldId id="301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8" r:id="rId39"/>
    <p:sldId id="296" r:id="rId40"/>
    <p:sldId id="297" r:id="rId41"/>
    <p:sldId id="26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  <a:srgbClr val="00325A"/>
    <a:srgbClr val="FFE12E"/>
    <a:srgbClr val="003258"/>
    <a:srgbClr val="E1F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C9D74-A3DF-4807-B513-ED1C37684F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27127-C60F-48F1-9035-89750229E0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E62F-46C1-49F8-AE8F-0B301CA791E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78E1E-86B5-4357-9195-4516B2D705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2591-2F61-4136-BAB4-4DF68AAB1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D9A7E-B14A-4E32-B8E1-5B58813BD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2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92634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531BF4-3342-4DC8-8EE2-3BD3F7EC2E75}"/>
              </a:ext>
            </a:extLst>
          </p:cNvPr>
          <p:cNvSpPr txBox="1">
            <a:spLocks/>
          </p:cNvSpPr>
          <p:nvPr userDrawn="1"/>
        </p:nvSpPr>
        <p:spPr>
          <a:xfrm>
            <a:off x="404418" y="80759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325A"/>
                </a:solidFill>
                <a:latin typeface="Montserrat" panose="02000505000000020004" pitchFamily="2" charset="0"/>
              </a:rPr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0E760F-81DA-4BAE-AC97-982573EC6D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72831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468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23212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309" y="1068539"/>
            <a:ext cx="8285499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160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03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921CE-1BFB-4C33-9E39-9E365E85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E4CF2-F9B2-4A2F-8879-48B31C82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FEA90-32AA-4707-952A-6016A899B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12DA-7C3F-4F5E-A3EF-25444230DB4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581A-1314-46EF-8E8C-577D4775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EFBB-8EF2-4237-B64F-A4D16560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A2CBB-99DC-4D92-93F8-130B3B4D4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5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306FF1-BEF2-43D4-B7EC-25BB33C881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r="-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60BCB-9860-40F9-A670-EE8D68304150}"/>
              </a:ext>
            </a:extLst>
          </p:cNvPr>
          <p:cNvSpPr txBox="1"/>
          <p:nvPr/>
        </p:nvSpPr>
        <p:spPr>
          <a:xfrm>
            <a:off x="348342" y="4430888"/>
            <a:ext cx="6305676" cy="160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Kuliah </a:t>
            </a:r>
            <a:r>
              <a:rPr lang="en-US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9</a:t>
            </a: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 TBO</a:t>
            </a:r>
          </a:p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Penerapan DFA</a:t>
            </a:r>
          </a:p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Finite Automata dengan Output</a:t>
            </a:r>
            <a:endParaRPr lang="en-US" sz="2800" dirty="0">
              <a:solidFill>
                <a:srgbClr val="003258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6325F-D6C2-4013-B76D-978800568C36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pic>
        <p:nvPicPr>
          <p:cNvPr id="4" name="Picture 3" descr="A picture containing object, machine, sitting, food&#10;&#10;Description automatically generated">
            <a:extLst>
              <a:ext uri="{FF2B5EF4-FFF2-40B4-BE49-F238E27FC236}">
                <a16:creationId xmlns:a16="http://schemas.microsoft.com/office/drawing/2014/main" id="{35F75665-5280-4945-A7D9-11272F885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674" y="0"/>
            <a:ext cx="2616326" cy="2469158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486871A-7685-4086-B1AA-A5F034197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646" y="2469158"/>
            <a:ext cx="3332056" cy="21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DFA yang menerima bahasa L = {w | w mengandung paling sedikit dua alfabet a dan paling banyak 3 alfabet b} kemudian tuliskan fungsi transisinya.</a:t>
            </a:r>
          </a:p>
          <a:p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Solusi:</a:t>
            </a: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en-US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4E64DE-13E7-4513-8B4A-D59ABA003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612" y="2512988"/>
            <a:ext cx="5770471" cy="33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3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Fungsi transisinya: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Tabel 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DFA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6B81F16-9C04-459D-98D4-3760B956B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30392"/>
              </p:ext>
            </p:extLst>
          </p:nvPr>
        </p:nvGraphicFramePr>
        <p:xfrm>
          <a:off x="1524000" y="2323906"/>
          <a:ext cx="548998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995">
                  <a:extLst>
                    <a:ext uri="{9D8B030D-6E8A-4147-A177-3AD203B41FA5}">
                      <a16:colId xmlns:a16="http://schemas.microsoft.com/office/drawing/2014/main" val="2686865562"/>
                    </a:ext>
                  </a:extLst>
                </a:gridCol>
                <a:gridCol w="1829995">
                  <a:extLst>
                    <a:ext uri="{9D8B030D-6E8A-4147-A177-3AD203B41FA5}">
                      <a16:colId xmlns:a16="http://schemas.microsoft.com/office/drawing/2014/main" val="3141518303"/>
                    </a:ext>
                  </a:extLst>
                </a:gridCol>
                <a:gridCol w="1829995">
                  <a:extLst>
                    <a:ext uri="{9D8B030D-6E8A-4147-A177-3AD203B41FA5}">
                      <a16:colId xmlns:a16="http://schemas.microsoft.com/office/drawing/2014/main" val="940674090"/>
                    </a:ext>
                  </a:extLst>
                </a:gridCol>
              </a:tblGrid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917401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064544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058744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168174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7296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278579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900285"/>
                  </a:ext>
                </a:extLst>
              </a:tr>
              <a:tr h="34939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09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04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DFA tersebut dimulai dari q0 dan state akhir di q5.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Terdapat state q6 yang bertransisi ke dirinya dengan input a dan b.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State yang tidak dapat bertransisi ke state lain untuk setiap inputnya disebut 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state trap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Pada DFA, kadang kala terdapat state trap karena untuk masing-masing alfabet input harus memiliki tujuan.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Notasi bahasa yang diterima : </a:t>
            </a: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L = { aa(a*)bbb(a*)}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400" b="1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b="1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b="1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2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DFA yang menerima bahasa L = { w | w diawali dengan alfabet 0 dan diakhiri dengan alfabet 1 dan alfabet 0 berjumlah bilangan ganjil &gt;2} kemudian tuliskan fungsi transisinya dan notasi bahasanya.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b="1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Solusi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1F4ADF-E5CD-4288-83A5-78D70ADAC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682" y="2589852"/>
            <a:ext cx="5150982" cy="356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0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Dari DFA tersebut dapat diuji coba dengan string untuk mengetahui apakah DFA tersebut benar menerima input dengan diawali dengan alfabet 0 dan diakhiri dengan alfabet 1 dan alfabet 0 berjumlah bilangan ganjil &gt;2.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D302D7-179A-48CF-944E-E3DC3729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75" y="2340587"/>
            <a:ext cx="6268988" cy="430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5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255725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Setiap input dengan alfabet 0 berjumlah bilangan ganjil &gt;2 dan diakhiri alfabet 1 diterima, sedangkan input dengan alfabet 0 berjumlah genap di tolak.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Fungsi transisi dari DFA: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											Tabel 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DFA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Notasi bahasa </a:t>
            </a:r>
            <a:r>
              <a:rPr lang="id-ID" sz="2000" b="1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L = {000(00)*11* + 000(00*11*(001)*1* + 000(00)*11*0000(00)*11*}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1411E05-7083-4A25-95AF-032947587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62552"/>
              </p:ext>
            </p:extLst>
          </p:nvPr>
        </p:nvGraphicFramePr>
        <p:xfrm>
          <a:off x="3967089" y="2413390"/>
          <a:ext cx="454415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719">
                  <a:extLst>
                    <a:ext uri="{9D8B030D-6E8A-4147-A177-3AD203B41FA5}">
                      <a16:colId xmlns:a16="http://schemas.microsoft.com/office/drawing/2014/main" val="1550451027"/>
                    </a:ext>
                  </a:extLst>
                </a:gridCol>
                <a:gridCol w="1514719">
                  <a:extLst>
                    <a:ext uri="{9D8B030D-6E8A-4147-A177-3AD203B41FA5}">
                      <a16:colId xmlns:a16="http://schemas.microsoft.com/office/drawing/2014/main" val="4175848132"/>
                    </a:ext>
                  </a:extLst>
                </a:gridCol>
                <a:gridCol w="1514719">
                  <a:extLst>
                    <a:ext uri="{9D8B030D-6E8A-4147-A177-3AD203B41FA5}">
                      <a16:colId xmlns:a16="http://schemas.microsoft.com/office/drawing/2014/main" val="1517944703"/>
                    </a:ext>
                  </a:extLst>
                </a:gridCol>
              </a:tblGrid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467815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04919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8071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406716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40684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337417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962968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122504"/>
                  </a:ext>
                </a:extLst>
              </a:tr>
              <a:tr h="338424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927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03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DFA diterapkan dalam kehidupan sehari-hari untuk merancang proses input pada mesin-mesin komersial seperti mesin penjual makanan, minuman, mesin permainan gacha, dan lain-lain.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4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Penggunaan DFA dibatasi untuk beberapa jenis input nominal uang, karena jika jenis nominal yang diperbolehkan semakin banyak, maka bahas</a:t>
            </a:r>
            <a:r>
              <a:rPr lang="en-US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</a:t>
            </a: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nya akan semakin rumit.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7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Setiap</a:t>
            </a: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urutan nominal sesuai harga yang dimasukkan harus diterima oleh DFA.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id-ID" sz="24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Jika tidak demikia</a:t>
            </a: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n, tentu akan menjadi masalah bagi pembeli dan penjual. Penjual akan dianggap telah mencuri uang pembeli apabila jumlah harga yang ditentukan dipenuhi, namun tidak sesuai urutan inputnya.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68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DFA untuk mesin penjual minuman, dengan input uang 5$ dan 2$. Harga minuman bervariasi mulai dari 5$, 7$, dan 9$. Setiap urutan input harus memungkinkan pembeli untuk mendapatkan minuman.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	Tabel urutan 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E2462B56-736A-4682-8F97-F3B3C8773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253899"/>
              </p:ext>
            </p:extLst>
          </p:nvPr>
        </p:nvGraphicFramePr>
        <p:xfrm>
          <a:off x="2405575" y="2642383"/>
          <a:ext cx="460841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664">
                  <a:extLst>
                    <a:ext uri="{9D8B030D-6E8A-4147-A177-3AD203B41FA5}">
                      <a16:colId xmlns:a16="http://schemas.microsoft.com/office/drawing/2014/main" val="2080773269"/>
                    </a:ext>
                  </a:extLst>
                </a:gridCol>
                <a:gridCol w="2416747">
                  <a:extLst>
                    <a:ext uri="{9D8B030D-6E8A-4147-A177-3AD203B41FA5}">
                      <a16:colId xmlns:a16="http://schemas.microsoft.com/office/drawing/2014/main" val="4272697451"/>
                    </a:ext>
                  </a:extLst>
                </a:gridCol>
              </a:tblGrid>
              <a:tr h="348008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Harga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Urutan input uang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388708"/>
                  </a:ext>
                </a:extLst>
              </a:tr>
              <a:tr h="348008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22934"/>
                  </a:ext>
                </a:extLst>
              </a:tr>
              <a:tr h="348008">
                <a:tc row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7$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052086"/>
                  </a:ext>
                </a:extLst>
              </a:tr>
              <a:tr h="348008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51787"/>
                  </a:ext>
                </a:extLst>
              </a:tr>
              <a:tr h="348008">
                <a:tc rowSpan="3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9$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2-2-5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637421"/>
                  </a:ext>
                </a:extLst>
              </a:tr>
              <a:tr h="348008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2-5-2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500800"/>
                  </a:ext>
                </a:extLst>
              </a:tr>
              <a:tr h="348008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5-2-2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95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83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Solusi: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DFA Mesin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9F4C3C-042C-4D57-8E04-B4156F6F3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57" y="1764338"/>
            <a:ext cx="6732567" cy="41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2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5-tuple dari DFA mesin 1 = {(q0, q1, q2, q3, q4, q5, q6), (2$, 5$),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(q0), (q1, q2, q3)} dengan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 pada tabel dibawah.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DFA mesin 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3700C12A-2FB4-4EE0-9ECD-CD41BADC9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388762"/>
              </p:ext>
            </p:extLst>
          </p:nvPr>
        </p:nvGraphicFramePr>
        <p:xfrm>
          <a:off x="1524000" y="2450506"/>
          <a:ext cx="49471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46">
                  <a:extLst>
                    <a:ext uri="{9D8B030D-6E8A-4147-A177-3AD203B41FA5}">
                      <a16:colId xmlns:a16="http://schemas.microsoft.com/office/drawing/2014/main" val="130667284"/>
                    </a:ext>
                  </a:extLst>
                </a:gridCol>
                <a:gridCol w="1649046">
                  <a:extLst>
                    <a:ext uri="{9D8B030D-6E8A-4147-A177-3AD203B41FA5}">
                      <a16:colId xmlns:a16="http://schemas.microsoft.com/office/drawing/2014/main" val="2369054622"/>
                    </a:ext>
                  </a:extLst>
                </a:gridCol>
                <a:gridCol w="1649046">
                  <a:extLst>
                    <a:ext uri="{9D8B030D-6E8A-4147-A177-3AD203B41FA5}">
                      <a16:colId xmlns:a16="http://schemas.microsoft.com/office/drawing/2014/main" val="4052664854"/>
                    </a:ext>
                  </a:extLst>
                </a:gridCol>
              </a:tblGrid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204169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731434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057934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795528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44279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500457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121668"/>
                  </a:ext>
                </a:extLst>
              </a:tr>
              <a:tr h="330933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106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7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Hasil simulasi setiap input uang ditampilkan dalam tabel dibawah.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Setiap urutan input uang yang menghasilkan nominal 5$, 7$, dan 9$ akan diterima.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A1B1A4-21FD-4FC8-BFF2-9BD85147E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348" y="2404954"/>
            <a:ext cx="6161650" cy="445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0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35825" y="742433"/>
            <a:ext cx="825572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DFA untuk suatu mesin penjual minuman yang menerima input nominal 5$ dan 2$ yang mengeluarkan minuman seharga 5$, 9$, 10$, dan 13$. Setiap urutan input hasur memungkinkan pembeli untuk mendapatkan minuman.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	Urutan input mesin 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FC5591A-13D2-4EC0-A761-BFA679DE3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3229"/>
              </p:ext>
            </p:extLst>
          </p:nvPr>
        </p:nvGraphicFramePr>
        <p:xfrm>
          <a:off x="3638550" y="2601177"/>
          <a:ext cx="246682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3414">
                  <a:extLst>
                    <a:ext uri="{9D8B030D-6E8A-4147-A177-3AD203B41FA5}">
                      <a16:colId xmlns:a16="http://schemas.microsoft.com/office/drawing/2014/main" val="689065961"/>
                    </a:ext>
                  </a:extLst>
                </a:gridCol>
                <a:gridCol w="1233414">
                  <a:extLst>
                    <a:ext uri="{9D8B030D-6E8A-4147-A177-3AD203B41FA5}">
                      <a16:colId xmlns:a16="http://schemas.microsoft.com/office/drawing/2014/main" val="3751147721"/>
                    </a:ext>
                  </a:extLst>
                </a:gridCol>
              </a:tblGrid>
              <a:tr h="3144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Harga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Urutan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294948"/>
                  </a:ext>
                </a:extLst>
              </a:tr>
              <a:tr h="3144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432607"/>
                  </a:ext>
                </a:extLst>
              </a:tr>
              <a:tr h="314440">
                <a:tc rowSpan="3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5-2-2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6224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2-5-2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556893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2-2-5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371718"/>
                  </a:ext>
                </a:extLst>
              </a:tr>
              <a:tr h="314440">
                <a:tc row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962302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2-2-2-2-2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293084"/>
                  </a:ext>
                </a:extLst>
              </a:tr>
              <a:tr h="314440">
                <a:tc rowSpan="5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5-2-2-2-2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8071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2-5-2-2-2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48327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2-2-5-2-2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052591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2-2-2-5-2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68090"/>
                  </a:ext>
                </a:extLst>
              </a:tr>
              <a:tr h="3144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2-2-2-2-5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67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056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36080"/>
            <a:ext cx="82557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Solusi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DFA Mesin 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11" name="Picture 10" descr="Chart, radar chart&#10;&#10;Description automatically generated">
            <a:extLst>
              <a:ext uri="{FF2B5EF4-FFF2-40B4-BE49-F238E27FC236}">
                <a16:creationId xmlns:a16="http://schemas.microsoft.com/office/drawing/2014/main" id="{4D3527B7-8406-494C-8153-4DF1B0512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2" y="1762794"/>
            <a:ext cx="86772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20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78284"/>
            <a:ext cx="82557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5-tuple DFA mesin 2 = { (q0, q1, q2, q3, q4, q5, q6, q7, q8, q9, q10, q11, q12), (2$, 5$), 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 , (q0), (q1, q3, q4, q6)} dengan   pada tabel dibawah.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DFA mesin 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F5EB2754-64E0-4FA4-823C-6BB13DFF4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993337"/>
              </p:ext>
            </p:extLst>
          </p:nvPr>
        </p:nvGraphicFramePr>
        <p:xfrm>
          <a:off x="3023550" y="1712629"/>
          <a:ext cx="274855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186">
                  <a:extLst>
                    <a:ext uri="{9D8B030D-6E8A-4147-A177-3AD203B41FA5}">
                      <a16:colId xmlns:a16="http://schemas.microsoft.com/office/drawing/2014/main" val="2304494756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3102494296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1996226187"/>
                    </a:ext>
                  </a:extLst>
                </a:gridCol>
              </a:tblGrid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004824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633729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08080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857166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47599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630505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755383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*q6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35472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360736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001071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75391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567759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459441"/>
                  </a:ext>
                </a:extLst>
              </a:tr>
              <a:tr h="317219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170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99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4217"/>
            <a:ext cx="82557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Hasil simulasi setiap input uang ditampilkan dalam tabel dibawah. Setiap urutan uang yang menghasilkan nominal 5$, 9$, 10$, dan 13$ akan diterima.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Penerapan DFA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9" name="Picture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EE63374-B724-48CC-AE74-5DAACA396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429" y="1953059"/>
            <a:ext cx="6386732" cy="485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41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Sebuah mesin automata dapat mengeluarkan output yang berupa alfabet.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Finite automata dengan output terbagi menjadi dua jenis yaitu Mesin Mealy dan Mesin Moore.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Pada Finite Automata dengan output tidak terdapat final state.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Output mesin Mealy bergantung dari input saat itu dan statenya, sedangkan mesin moore outputnya hanya bergantung dari state saat itu.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556786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325A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Dengan Output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A">
                  <a:lumMod val="75000"/>
                  <a:lumOff val="25000"/>
                </a:srgbClr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0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adalah mesin finite automata yang nilai outputnya ditentukan dari saat fase saat itu dan input saat itu.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Nama Mealy diambil dari nama seorang perintis mesin finite automata yaitu G.H. Mealy.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didefinisikan dengan 6-tuple M = (Q,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O,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q0) dimana: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Q = himpunan state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 = himpunan i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O  = fungsi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 = fungsi transisi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 = alfabet output (pemetaa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 dari  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x Q ke dalam O)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q0 = start state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325A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A">
                  <a:lumMod val="75000"/>
                  <a:lumOff val="25000"/>
                </a:srgbClr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8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memiliki ciri seperti DFA, yaitu untuk setiap input harus memiliki satu tujuan state. </a:t>
            </a:r>
          </a:p>
          <a:p>
            <a:pPr lvl="0"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bekerja dengan cara :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d-ID" sz="24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Suatu state menerima alfabet input dan berpindah ke state lain atau tetap di state yang sama dan untuk setiap input yang diterima akan menghasilkan output berupa alfabet juga.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d-ID" sz="24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Output yang dihasilkan ditentukan oleh fungsi transisi dan fungsi output mesin Mealy tersebut.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d-ID" sz="2400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d-ID" sz="2400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d-ID" sz="2400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d-ID" sz="2400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d-ID" sz="2400" dirty="0">
              <a:solidFill>
                <a:srgbClr val="7030A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57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sederhana, jika terdapat input string berikut apakah outputnya?</a:t>
            </a:r>
          </a:p>
          <a:p>
            <a:pPr marL="914400" lvl="1" indent="-457200">
              <a:buFont typeface="+mj-lt"/>
              <a:buAutoNum type="alphaLcPeriod"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101001</a:t>
            </a:r>
          </a:p>
          <a:p>
            <a:pPr marL="914400" lvl="1" indent="-457200">
              <a:buFont typeface="+mj-lt"/>
              <a:buAutoNum type="alphaLcPeriod"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00010</a:t>
            </a:r>
          </a:p>
          <a:p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Solusi:</a:t>
            </a:r>
          </a:p>
          <a:p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C84800D-4823-420A-8D1A-3CDFEBE01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2846950"/>
            <a:ext cx="5050556" cy="294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41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Maka output yang dihasilkan dari string tersebut adalah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ECF10AE2-00EF-4C5A-B760-244FC8DC7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28" y="1788649"/>
            <a:ext cx="6466872" cy="48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07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22012"/>
            <a:ext cx="825572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Mirip dengan DFA dan NFA, pembacaan input pada mesin Mealy dapat dirunut sesuai arah panah ( fungsi transisi).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dirunut maka pada input 101001, mesin Mealy akan berhenti di state q1, pada input 00010, mesin Mealy akan berhenti di state q2.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Gambarkanlah mesin Mealy dengan tuple berikut M = ({q0, q1, q2, q3}, {0, 1}, {x, y},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,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, {q0}) dengan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pada tabel dibawah. Kemudian tentukan output dari input string 010110, 00011, 101011, dan tentukan berhenti di state apa?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5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22012"/>
            <a:ext cx="82557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Mesin Mealy 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FBC43523-5724-43F7-8098-8FE9B3C21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453631"/>
              </p:ext>
            </p:extLst>
          </p:nvPr>
        </p:nvGraphicFramePr>
        <p:xfrm>
          <a:off x="1692615" y="923398"/>
          <a:ext cx="475488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74">
                  <a:extLst>
                    <a:ext uri="{9D8B030D-6E8A-4147-A177-3AD203B41FA5}">
                      <a16:colId xmlns:a16="http://schemas.microsoft.com/office/drawing/2014/main" val="1055718465"/>
                    </a:ext>
                  </a:extLst>
                </a:gridCol>
                <a:gridCol w="952852">
                  <a:extLst>
                    <a:ext uri="{9D8B030D-6E8A-4147-A177-3AD203B41FA5}">
                      <a16:colId xmlns:a16="http://schemas.microsoft.com/office/drawing/2014/main" val="2333234091"/>
                    </a:ext>
                  </a:extLst>
                </a:gridCol>
                <a:gridCol w="952852">
                  <a:extLst>
                    <a:ext uri="{9D8B030D-6E8A-4147-A177-3AD203B41FA5}">
                      <a16:colId xmlns:a16="http://schemas.microsoft.com/office/drawing/2014/main" val="3864395696"/>
                    </a:ext>
                  </a:extLst>
                </a:gridCol>
                <a:gridCol w="952852">
                  <a:extLst>
                    <a:ext uri="{9D8B030D-6E8A-4147-A177-3AD203B41FA5}">
                      <a16:colId xmlns:a16="http://schemas.microsoft.com/office/drawing/2014/main" val="1540706891"/>
                    </a:ext>
                  </a:extLst>
                </a:gridCol>
                <a:gridCol w="952852">
                  <a:extLst>
                    <a:ext uri="{9D8B030D-6E8A-4147-A177-3AD203B41FA5}">
                      <a16:colId xmlns:a16="http://schemas.microsoft.com/office/drawing/2014/main" val="1209065752"/>
                    </a:ext>
                  </a:extLst>
                </a:gridCol>
              </a:tblGrid>
              <a:tr h="329640">
                <a:tc rowSpan="3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Symbol" panose="05050102010706020507" pitchFamily="18" charset="2"/>
                        </a:rPr>
                        <a:t></a:t>
                      </a:r>
                      <a:endParaRPr lang="id-ID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Symbol" panose="05050102010706020507" pitchFamily="18" charset="2"/>
                        </a:rPr>
                        <a:t></a:t>
                      </a:r>
                      <a:endParaRPr lang="id-ID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985736"/>
                  </a:ext>
                </a:extLst>
              </a:tr>
              <a:tr h="3296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227614"/>
                  </a:ext>
                </a:extLst>
              </a:tr>
              <a:tr h="3296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812424"/>
                  </a:ext>
                </a:extLst>
              </a:tr>
              <a:tr h="3296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425659"/>
                  </a:ext>
                </a:extLst>
              </a:tr>
              <a:tr h="3296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88675"/>
                  </a:ext>
                </a:extLst>
              </a:tr>
              <a:tr h="3296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883206"/>
                  </a:ext>
                </a:extLst>
              </a:tr>
              <a:tr h="3296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843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053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Solusi: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Untuk input string 010110, mesin berhenti di state q1, input string 00011, mesin berhenti di state q0, dan untuk input string 101011, mesin berhenti distate q2.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648DA3B4-5B28-407A-B968-3AE63C0F8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38" y="798269"/>
            <a:ext cx="5552415" cy="42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17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4215"/>
            <a:ext cx="82557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sebuah mesin Mealy yang menterjemahkan  input string 00101110 menjadi output yang berbunyi “apakabar”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Solusi: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Jumlah state dapat ditentukan sesuai yang diminta, namun sedapat mungkin sedikit.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3</a:t>
            </a: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22F9D803-2690-456E-84EA-B5DA0963C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540" y="2728816"/>
            <a:ext cx="5097494" cy="38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diuji dengan input string 00101110 maka akan menghasilkan “apakabar”dan berhenti di state q4</a:t>
            </a:r>
            <a:endParaRPr lang="en-US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Definisi mesin Mealy 3 diatas  = ({q0, q1, q2, q3, q4}, {0, 1}, {a, b, k, p, r},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{q0}). Dengan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pada tabel dibawah.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Mesin Mealy 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Mealy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DEC2E2-B703-4E2F-B11A-D73F1F5C5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03276"/>
              </p:ext>
            </p:extLst>
          </p:nvPr>
        </p:nvGraphicFramePr>
        <p:xfrm>
          <a:off x="1547446" y="3183597"/>
          <a:ext cx="607255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754">
                  <a:extLst>
                    <a:ext uri="{9D8B030D-6E8A-4147-A177-3AD203B41FA5}">
                      <a16:colId xmlns:a16="http://schemas.microsoft.com/office/drawing/2014/main" val="424465326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7408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57970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9251854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03751761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Tujuan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7701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8887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15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443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551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09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570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856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092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36084"/>
            <a:ext cx="82557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Moore sedikit berbeda dengan mesin Mealy, jika mesin Mealy bergantung pada input dan state, maka pada mesin Moore outputnya hanya bergantung pada state itu saja.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Moore dibuat oleh Edward F. Moore.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Moore didefinisikan dengan 6-tuple M= (Q,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, O,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, q0) dimana:</a:t>
            </a:r>
          </a:p>
          <a:p>
            <a:pPr lvl="0"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Q = himpunan state</a:t>
            </a:r>
          </a:p>
          <a:p>
            <a:pPr lvl="0"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 = himpunan input</a:t>
            </a:r>
          </a:p>
          <a:p>
            <a:pPr lvl="0"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O  = fungsi output</a:t>
            </a:r>
          </a:p>
          <a:p>
            <a:pPr lvl="0"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 = fungsi transisi</a:t>
            </a:r>
          </a:p>
          <a:p>
            <a:pPr lvl="0"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 = alfabet output (pemetaan dari  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x Q ke dalam O)</a:t>
            </a:r>
          </a:p>
          <a:p>
            <a:pPr lvl="0">
              <a:defRPr/>
            </a:pPr>
            <a:r>
              <a:rPr lang="id-ID" sz="20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q0 = start state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325A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A">
                  <a:lumMod val="75000"/>
                  <a:lumOff val="25000"/>
                </a:srgbClr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13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4212"/>
            <a:ext cx="8443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Moore dirancang untuk suatu mesin yang menghasilkan output setelah langkah-langkah tertentu, salah satu pemanfaatan mesin Moore adalah pada penggunaan ATM.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Untuk menggunakan fungsi tertentu pada ATM, maka harus menekan menu berurutan. Jika berhenti pada state tertentu maka fungsi tersebut akan berjalan.</a:t>
            </a: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325A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A">
                  <a:lumMod val="75000"/>
                  <a:lumOff val="25000"/>
                </a:srgbClr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92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Tampilan awal tempat merancang mesin Moore sama dengan tempat merancang DFA/NFA dan mesin Mealy, namun perbedaannya dengan mesin Mealy adalah saat membuat state harus langsung diberi output.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Karena output dari mesin Moore hanya bergantung pada statenya, fungsi transisi hanya mempengaruhi perpindahan antara state.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1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Mesin Moore sederhana untuk menentukan hasil modulus 4 yang menerima input string berupa bilangan biner 0 – 8.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Solusi: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	Mesin Moore Mod 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8C39E23-26F4-4290-ACF5-A61946765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97" y="2144654"/>
            <a:ext cx="5726264" cy="346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88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Definisi mesin Moore mod 4 = ({q0, q1, q2, q3}, {0, 1}, O,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{0, 1, 2, 3}, {q0}) denga fungsi transisi dan fungsi output pada tabel dibawah.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Selanjutnya akan diuji coba dengan memasukkan angka biner untuk dilihat output dari mesin Moore mod 4.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O dan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Moore mod 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E591E852-8794-490A-B073-647188322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749880"/>
              </p:ext>
            </p:extLst>
          </p:nvPr>
        </p:nvGraphicFramePr>
        <p:xfrm>
          <a:off x="1524000" y="3296141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92773385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9889851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271729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81129909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493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2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4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25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86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591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8325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Hasil uji coba input string berupa biner yang akan dioperasikan mod 4 seprti dalam tabel berikut.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Output Mesin Moore mod 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19596C-91B1-41D7-8D35-27FD38CA3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315317"/>
              </p:ext>
            </p:extLst>
          </p:nvPr>
        </p:nvGraphicFramePr>
        <p:xfrm>
          <a:off x="342315" y="2399316"/>
          <a:ext cx="377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87">
                  <a:extLst>
                    <a:ext uri="{9D8B030D-6E8A-4147-A177-3AD203B41FA5}">
                      <a16:colId xmlns:a16="http://schemas.microsoft.com/office/drawing/2014/main" val="376602705"/>
                    </a:ext>
                  </a:extLst>
                </a:gridCol>
                <a:gridCol w="1469293">
                  <a:extLst>
                    <a:ext uri="{9D8B030D-6E8A-4147-A177-3AD203B41FA5}">
                      <a16:colId xmlns:a16="http://schemas.microsoft.com/office/drawing/2014/main" val="2886543723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644187140"/>
                    </a:ext>
                  </a:extLst>
                </a:gridCol>
              </a:tblGrid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Angka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(biner)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07942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50664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168965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97161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590754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3433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650675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174910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998804"/>
                  </a:ext>
                </a:extLst>
              </a:tr>
              <a:tr h="363502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7581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9A6068-A12E-4454-82DC-C945E0EDF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953" y="2354915"/>
            <a:ext cx="475077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12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78285"/>
            <a:ext cx="82557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Moore untuk merancang sebuah ATM yang dapat untuk tarik tunai, transfer, dan cek saldo. Mesin Moore ATM = ({q0, q1, q2, q3, q4, q5}, {0, 1, 2}, O,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 {Input Pin, Menu Utama, Tarik Tunai, Transfer, Cek Saldo, Keluar}, {q0}) dengan  O,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seperti pada tabel dibawah.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O dan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 Moore ATM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35C4CD0E-B6E2-4411-A96C-B8CF2E77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74122"/>
              </p:ext>
            </p:extLst>
          </p:nvPr>
        </p:nvGraphicFramePr>
        <p:xfrm>
          <a:off x="1349829" y="2799754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777688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879208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38837004"/>
                    </a:ext>
                  </a:extLst>
                </a:gridCol>
                <a:gridCol w="957273">
                  <a:extLst>
                    <a:ext uri="{9D8B030D-6E8A-4147-A177-3AD203B41FA5}">
                      <a16:colId xmlns:a16="http://schemas.microsoft.com/office/drawing/2014/main" val="4135254405"/>
                    </a:ext>
                  </a:extLst>
                </a:gridCol>
                <a:gridCol w="1481127">
                  <a:extLst>
                    <a:ext uri="{9D8B030D-6E8A-4147-A177-3AD203B41FA5}">
                      <a16:colId xmlns:a16="http://schemas.microsoft.com/office/drawing/2014/main" val="143988073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  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364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5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37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Tarik Tunai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148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85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Cek Saldo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50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Keluar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43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Menu Utama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05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072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1061168"/>
            <a:ext cx="8255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Mesin Moore ATM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DD1BD8-357B-4CBB-BBEB-A6299FE5A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88" y="1595437"/>
            <a:ext cx="6850599" cy="415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24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92355"/>
            <a:ext cx="825572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Jika seseorang ingin menarik tunai kemudian selesai, maka perlu menginput string 100.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seseorang ingin cek saldo, lalu menarik tunai kemudian selesai, maka inputnya adalah 12100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Jika seseorang batal menggunakan ATM setelah memasukkan pin, maka inputnya 0.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seseorang yang akan mentransfer sejumlah dana menggunakan ATM kemudian selesai maka akan menginput 110.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29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Mesin Moore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8EBCCC-C3A2-4488-B311-7D5B34265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833"/>
            <a:ext cx="9144000" cy="463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98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92355"/>
            <a:ext cx="82557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Finite Automata dengan output terbagi menjadi dua jenis, yaitu mesin Mealy dan mesin Moore.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7030A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Output pada mesin Mealy bergantung dari input string dan state terakhir yang dicapainya, sedangkan output mesin Moore hanya bergantung dari state terakhir yang dicapai oleh suatu input string.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Mesin Mealy dan mesin Moore hanya dapat berjalan apabila untuk satu input hanya menuju kepada satu state tujuan, mirip dengan konsep DFA.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325A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Rangkuman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A">
                  <a:lumMod val="75000"/>
                  <a:lumOff val="25000"/>
                </a:srgbClr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372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92355"/>
            <a:ext cx="82557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mesin Mealy XYZ = ({q0, q1, q2, q3}, {0,1}, (x, y, z}, 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,{q0}). Kemudian tentukan output dari input 10010, 1001, 0010, 1111100010.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Tabel mesin Mealy XYZ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325A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Tugas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A">
                  <a:lumMod val="75000"/>
                  <a:lumOff val="25000"/>
                </a:srgbClr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BE78A24-181F-412A-890B-8556DBE31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697338"/>
              </p:ext>
            </p:extLst>
          </p:nvPr>
        </p:nvGraphicFramePr>
        <p:xfrm>
          <a:off x="1158236" y="2509129"/>
          <a:ext cx="6096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9055738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6364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184247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945302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6679257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Tujuan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8667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Input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9778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37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Wingdings" panose="05000000000000000000" pitchFamily="2" charset="2"/>
                        </a:rPr>
                        <a:t>q0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84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79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77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30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748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92355"/>
            <a:ext cx="82557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mesin Mealy yang menerima input string 110100111 menjadi output “halosemua” kemudian tuliskan 6-tuplenya.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Tuliskan 6-tuple dari mesin Moore PQR dibawah ini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lang="id-ID" sz="2000" dirty="0">
              <a:solidFill>
                <a:srgbClr val="00B05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mesin Moore untuk menentukan modulus 5 bilangan 0 – 10 dengan menerima input berupa bilangan biner. Alfabet input = {0,1}, alfabet output = {0, 1, 2, 3, 4}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00325A">
                    <a:lumMod val="75000"/>
                    <a:lumOff val="25000"/>
                  </a:srgbClr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Tugas</a:t>
            </a:r>
            <a:endParaRPr lang="en-US" sz="2800" dirty="0">
              <a:solidFill>
                <a:srgbClr val="00325A">
                  <a:lumMod val="75000"/>
                  <a:lumOff val="25000"/>
                </a:srgbClr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4B989-C5EC-4348-A435-74CE1E255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546" y="2175304"/>
            <a:ext cx="4531754" cy="320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59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9E33A-672E-4499-A7BA-EE4327F4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4092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5332903"/>
            <a:ext cx="404948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30351-75A3-45A4-B98B-E81FE15104DC}"/>
              </a:ext>
            </a:extLst>
          </p:cNvPr>
          <p:cNvSpPr txBox="1"/>
          <p:nvPr/>
        </p:nvSpPr>
        <p:spPr>
          <a:xfrm>
            <a:off x="475211" y="3024554"/>
            <a:ext cx="82436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Mencoba hal baru sangat menyenangkan</a:t>
            </a:r>
          </a:p>
          <a:p>
            <a:r>
              <a:rPr lang="id-ID" sz="3200" dirty="0">
                <a:solidFill>
                  <a:schemeClr val="bg1"/>
                </a:solidFill>
              </a:rPr>
              <a:t>Tetap jaga kesehatan dan terus semangat</a:t>
            </a:r>
          </a:p>
        </p:txBody>
      </p:sp>
    </p:spTree>
    <p:extLst>
      <p:ext uri="{BB962C8B-B14F-4D97-AF65-F5344CB8AC3E}">
        <p14:creationId xmlns:p14="http://schemas.microsoft.com/office/powerpoint/2010/main" val="28487385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krida Color">
      <a:dk1>
        <a:srgbClr val="00325A"/>
      </a:dk1>
      <a:lt1>
        <a:srgbClr val="FFFFFF"/>
      </a:lt1>
      <a:dk2>
        <a:srgbClr val="00325A"/>
      </a:dk2>
      <a:lt2>
        <a:srgbClr val="FFE12D"/>
      </a:lt2>
      <a:accent1>
        <a:srgbClr val="0080C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DA1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</TotalTime>
  <Words>2468</Words>
  <Application>Microsoft Office PowerPoint</Application>
  <PresentationFormat>On-screen Show (4:3)</PresentationFormat>
  <Paragraphs>862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Calibri Light</vt:lpstr>
      <vt:lpstr>Montserrat</vt:lpstr>
      <vt:lpstr>Montserrat Light</vt:lpstr>
      <vt:lpstr>Montserrat Medium</vt:lpstr>
      <vt:lpstr>Symbol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Admin1152072</dc:creator>
  <cp:lastModifiedBy>floren rp</cp:lastModifiedBy>
  <cp:revision>95</cp:revision>
  <dcterms:created xsi:type="dcterms:W3CDTF">2017-09-11T12:08:03Z</dcterms:created>
  <dcterms:modified xsi:type="dcterms:W3CDTF">2025-10-23T03:42:32Z</dcterms:modified>
</cp:coreProperties>
</file>