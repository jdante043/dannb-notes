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handoutMasterIdLst>
    <p:handoutMasterId r:id="rId25"/>
  </p:handoutMasterIdLst>
  <p:sldIdLst>
    <p:sldId id="264" r:id="rId2"/>
    <p:sldId id="268" r:id="rId3"/>
    <p:sldId id="346" r:id="rId4"/>
    <p:sldId id="347" r:id="rId5"/>
    <p:sldId id="348" r:id="rId6"/>
    <p:sldId id="349" r:id="rId7"/>
    <p:sldId id="350" r:id="rId8"/>
    <p:sldId id="351" r:id="rId9"/>
    <p:sldId id="352" r:id="rId10"/>
    <p:sldId id="353" r:id="rId11"/>
    <p:sldId id="354" r:id="rId12"/>
    <p:sldId id="355" r:id="rId13"/>
    <p:sldId id="364" r:id="rId14"/>
    <p:sldId id="356" r:id="rId15"/>
    <p:sldId id="358" r:id="rId16"/>
    <p:sldId id="357" r:id="rId17"/>
    <p:sldId id="359" r:id="rId18"/>
    <p:sldId id="360" r:id="rId19"/>
    <p:sldId id="361" r:id="rId20"/>
    <p:sldId id="362" r:id="rId21"/>
    <p:sldId id="363" r:id="rId22"/>
    <p:sldId id="365" r:id="rId23"/>
    <p:sldId id="261"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325A"/>
    <a:srgbClr val="FFE12E"/>
    <a:srgbClr val="003258"/>
    <a:srgbClr val="E1FF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91" autoAdjust="0"/>
    <p:restoredTop sz="94660"/>
  </p:normalViewPr>
  <p:slideViewPr>
    <p:cSldViewPr snapToGrid="0">
      <p:cViewPr varScale="1">
        <p:scale>
          <a:sx n="63" d="100"/>
          <a:sy n="63" d="100"/>
        </p:scale>
        <p:origin x="1432" y="56"/>
      </p:cViewPr>
      <p:guideLst/>
    </p:cSldViewPr>
  </p:slideViewPr>
  <p:notesTextViewPr>
    <p:cViewPr>
      <p:scale>
        <a:sx n="1" d="1"/>
        <a:sy n="1" d="1"/>
      </p:scale>
      <p:origin x="0" y="0"/>
    </p:cViewPr>
  </p:notesTextViewPr>
  <p:notesViewPr>
    <p:cSldViewPr snapToGrid="0">
      <p:cViewPr varScale="1">
        <p:scale>
          <a:sx n="59" d="100"/>
          <a:sy n="59" d="100"/>
        </p:scale>
        <p:origin x="2790"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CC9D74-A3DF-4807-B513-ED1C37684F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8727127-C60F-48F1-9035-89750229E02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A34E62F-46C1-49F8-AE8F-0B301CA791E4}" type="datetimeFigureOut">
              <a:rPr lang="en-US" smtClean="0"/>
              <a:t>10/1/2025</a:t>
            </a:fld>
            <a:endParaRPr lang="en-US"/>
          </a:p>
        </p:txBody>
      </p:sp>
      <p:sp>
        <p:nvSpPr>
          <p:cNvPr id="4" name="Footer Placeholder 3">
            <a:extLst>
              <a:ext uri="{FF2B5EF4-FFF2-40B4-BE49-F238E27FC236}">
                <a16:creationId xmlns:a16="http://schemas.microsoft.com/office/drawing/2014/main" id="{F6378E1E-86B5-4357-9195-4516B2D705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D7E2591-2F61-4136-BAB4-4DF68AAB178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82D9A7E-B14A-4E32-B8E1-5B58813BDD93}" type="slidenum">
              <a:rPr lang="en-US" smtClean="0"/>
              <a:t>‹#›</a:t>
            </a:fld>
            <a:endParaRPr lang="en-US"/>
          </a:p>
        </p:txBody>
      </p:sp>
    </p:spTree>
    <p:extLst>
      <p:ext uri="{BB962C8B-B14F-4D97-AF65-F5344CB8AC3E}">
        <p14:creationId xmlns:p14="http://schemas.microsoft.com/office/powerpoint/2010/main" val="52523283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C8604-F9F9-4826-AFA2-26F2A8C8E9EE}"/>
              </a:ext>
            </a:extLst>
          </p:cNvPr>
          <p:cNvSpPr>
            <a:spLocks noGrp="1"/>
          </p:cNvSpPr>
          <p:nvPr>
            <p:ph type="title"/>
          </p:nvPr>
        </p:nvSpPr>
        <p:spPr>
          <a:xfrm>
            <a:off x="454083" y="392634"/>
            <a:ext cx="6353117" cy="446952"/>
          </a:xfrm>
          <a:prstGeom prst="rect">
            <a:avLst/>
          </a:prstGeom>
        </p:spPr>
        <p:txBody>
          <a:bodyPr>
            <a:normAutofit/>
          </a:bodyPr>
          <a:lstStyle>
            <a:lvl1pPr>
              <a:defRPr sz="1400">
                <a:latin typeface="Montserrat Light" panose="00000400000000000000" pitchFamily="50" charset="0"/>
              </a:defRPr>
            </a:lvl1pPr>
          </a:lstStyle>
          <a:p>
            <a:endParaRPr lang="en-US" dirty="0"/>
          </a:p>
        </p:txBody>
      </p:sp>
      <p:cxnSp>
        <p:nvCxnSpPr>
          <p:cNvPr id="6" name="Straight Connector 5">
            <a:extLst>
              <a:ext uri="{FF2B5EF4-FFF2-40B4-BE49-F238E27FC236}">
                <a16:creationId xmlns:a16="http://schemas.microsoft.com/office/drawing/2014/main" id="{C01A2C98-6B1D-4EE6-A033-426F392A5280}"/>
              </a:ext>
            </a:extLst>
          </p:cNvPr>
          <p:cNvCxnSpPr>
            <a:cxnSpLocks/>
          </p:cNvCxnSpPr>
          <p:nvPr userDrawn="1"/>
        </p:nvCxnSpPr>
        <p:spPr>
          <a:xfrm flipH="1">
            <a:off x="552451" y="770164"/>
            <a:ext cx="6254749"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075D6B45-2776-4541-AA7D-3BCE7EF8CE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99514" y="343835"/>
            <a:ext cx="1740068" cy="463756"/>
          </a:xfrm>
          <a:prstGeom prst="rect">
            <a:avLst/>
          </a:prstGeom>
        </p:spPr>
      </p:pic>
      <p:sp>
        <p:nvSpPr>
          <p:cNvPr id="8" name="Title 1">
            <a:extLst>
              <a:ext uri="{FF2B5EF4-FFF2-40B4-BE49-F238E27FC236}">
                <a16:creationId xmlns:a16="http://schemas.microsoft.com/office/drawing/2014/main" id="{CB531BF4-3342-4DC8-8EE2-3BD3F7EC2E75}"/>
              </a:ext>
            </a:extLst>
          </p:cNvPr>
          <p:cNvSpPr txBox="1">
            <a:spLocks/>
          </p:cNvSpPr>
          <p:nvPr userDrawn="1"/>
        </p:nvSpPr>
        <p:spPr>
          <a:xfrm>
            <a:off x="404418" y="807591"/>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00325A"/>
                </a:solidFill>
                <a:latin typeface="Montserrat" panose="02000505000000020004" pitchFamily="2" charset="0"/>
              </a:rPr>
              <a:t>Click to edit Master title style</a:t>
            </a:r>
          </a:p>
        </p:txBody>
      </p:sp>
      <p:sp>
        <p:nvSpPr>
          <p:cNvPr id="9" name="Content Placeholder 3">
            <a:extLst>
              <a:ext uri="{FF2B5EF4-FFF2-40B4-BE49-F238E27FC236}">
                <a16:creationId xmlns:a16="http://schemas.microsoft.com/office/drawing/2014/main" id="{8F738E19-97A3-4227-B257-7F949888D109}"/>
              </a:ext>
            </a:extLst>
          </p:cNvPr>
          <p:cNvSpPr>
            <a:spLocks noGrp="1"/>
          </p:cNvSpPr>
          <p:nvPr>
            <p:ph sz="half" idx="2"/>
          </p:nvPr>
        </p:nvSpPr>
        <p:spPr>
          <a:xfrm>
            <a:off x="454083" y="1956435"/>
            <a:ext cx="3868737" cy="3684588"/>
          </a:xfrm>
        </p:spPr>
        <p:txBody>
          <a:bodyPr/>
          <a:lstStyle>
            <a:lvl1pPr>
              <a:defRPr sz="1600">
                <a:solidFill>
                  <a:schemeClr val="tx1"/>
                </a:solidFill>
                <a:latin typeface="Montserrat" panose="02000505000000020004" pitchFamily="2" charset="0"/>
              </a:defRPr>
            </a:lvl1pPr>
            <a:lvl2pPr>
              <a:defRPr sz="1400">
                <a:solidFill>
                  <a:schemeClr val="tx1"/>
                </a:solidFill>
                <a:latin typeface="Montserrat" panose="02000505000000020004" pitchFamily="2" charset="0"/>
              </a:defRPr>
            </a:lvl2pPr>
            <a:lvl3pPr>
              <a:defRPr sz="1200">
                <a:solidFill>
                  <a:schemeClr val="tx1"/>
                </a:solidFill>
                <a:latin typeface="Montserrat Light" panose="00000400000000000000" pitchFamily="50" charset="0"/>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dirty="0"/>
              <a:t>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1E0E760F-81DA-4BAE-AC97-982573EC6DDE}"/>
              </a:ext>
            </a:extLst>
          </p:cNvPr>
          <p:cNvSpPr>
            <a:spLocks noGrp="1"/>
          </p:cNvSpPr>
          <p:nvPr>
            <p:ph sz="half" idx="10"/>
          </p:nvPr>
        </p:nvSpPr>
        <p:spPr>
          <a:xfrm>
            <a:off x="4872831" y="1956435"/>
            <a:ext cx="3868737" cy="3684588"/>
          </a:xfrm>
        </p:spPr>
        <p:txBody>
          <a:bodyPr/>
          <a:lstStyle>
            <a:lvl1pPr>
              <a:defRPr sz="1600">
                <a:solidFill>
                  <a:schemeClr val="tx1"/>
                </a:solidFill>
                <a:latin typeface="Montserrat" panose="02000505000000020004" pitchFamily="2" charset="0"/>
              </a:defRPr>
            </a:lvl1pPr>
            <a:lvl2pPr>
              <a:defRPr sz="1400">
                <a:solidFill>
                  <a:schemeClr val="tx1"/>
                </a:solidFill>
                <a:latin typeface="Montserrat" panose="02000505000000020004" pitchFamily="2" charset="0"/>
              </a:defRPr>
            </a:lvl2pPr>
            <a:lvl3pPr>
              <a:defRPr sz="1200">
                <a:solidFill>
                  <a:schemeClr val="tx1"/>
                </a:solidFill>
                <a:latin typeface="Montserrat Light" panose="00000400000000000000" pitchFamily="50" charset="0"/>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54687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C8604-F9F9-4826-AFA2-26F2A8C8E9EE}"/>
              </a:ext>
            </a:extLst>
          </p:cNvPr>
          <p:cNvSpPr>
            <a:spLocks noGrp="1"/>
          </p:cNvSpPr>
          <p:nvPr>
            <p:ph type="title"/>
          </p:nvPr>
        </p:nvSpPr>
        <p:spPr>
          <a:xfrm>
            <a:off x="454083" y="323212"/>
            <a:ext cx="6353117" cy="446952"/>
          </a:xfrm>
          <a:prstGeom prst="rect">
            <a:avLst/>
          </a:prstGeom>
        </p:spPr>
        <p:txBody>
          <a:bodyPr>
            <a:normAutofit/>
          </a:bodyPr>
          <a:lstStyle>
            <a:lvl1pPr>
              <a:defRPr sz="2000">
                <a:latin typeface="Montserrat Light" panose="00000400000000000000" pitchFamily="50" charset="0"/>
              </a:defRPr>
            </a:lvl1pPr>
          </a:lstStyle>
          <a:p>
            <a:endParaRPr lang="en-US" dirty="0"/>
          </a:p>
        </p:txBody>
      </p:sp>
      <p:cxnSp>
        <p:nvCxnSpPr>
          <p:cNvPr id="6" name="Straight Connector 5">
            <a:extLst>
              <a:ext uri="{FF2B5EF4-FFF2-40B4-BE49-F238E27FC236}">
                <a16:creationId xmlns:a16="http://schemas.microsoft.com/office/drawing/2014/main" id="{C01A2C98-6B1D-4EE6-A033-426F392A5280}"/>
              </a:ext>
            </a:extLst>
          </p:cNvPr>
          <p:cNvCxnSpPr>
            <a:cxnSpLocks/>
          </p:cNvCxnSpPr>
          <p:nvPr userDrawn="1"/>
        </p:nvCxnSpPr>
        <p:spPr>
          <a:xfrm flipH="1">
            <a:off x="552451" y="770164"/>
            <a:ext cx="6254749"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075D6B45-2776-4541-AA7D-3BCE7EF8CE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99514" y="343835"/>
            <a:ext cx="1740068" cy="463756"/>
          </a:xfrm>
          <a:prstGeom prst="rect">
            <a:avLst/>
          </a:prstGeom>
        </p:spPr>
      </p:pic>
      <p:sp>
        <p:nvSpPr>
          <p:cNvPr id="9" name="Content Placeholder 3">
            <a:extLst>
              <a:ext uri="{FF2B5EF4-FFF2-40B4-BE49-F238E27FC236}">
                <a16:creationId xmlns:a16="http://schemas.microsoft.com/office/drawing/2014/main" id="{8F738E19-97A3-4227-B257-7F949888D109}"/>
              </a:ext>
            </a:extLst>
          </p:cNvPr>
          <p:cNvSpPr>
            <a:spLocks noGrp="1"/>
          </p:cNvSpPr>
          <p:nvPr>
            <p:ph sz="half" idx="2"/>
          </p:nvPr>
        </p:nvSpPr>
        <p:spPr>
          <a:xfrm>
            <a:off x="308309" y="1068539"/>
            <a:ext cx="8285499" cy="3684588"/>
          </a:xfrm>
        </p:spPr>
        <p:txBody>
          <a:bodyPr/>
          <a:lstStyle>
            <a:lvl1pPr>
              <a:defRPr sz="1600">
                <a:solidFill>
                  <a:schemeClr val="tx1"/>
                </a:solidFill>
                <a:latin typeface="Montserrat" panose="02000505000000020004" pitchFamily="2" charset="0"/>
              </a:defRPr>
            </a:lvl1pPr>
            <a:lvl2pPr>
              <a:defRPr sz="1400">
                <a:solidFill>
                  <a:schemeClr val="tx1"/>
                </a:solidFill>
                <a:latin typeface="Montserrat" panose="02000505000000020004" pitchFamily="2" charset="0"/>
              </a:defRPr>
            </a:lvl2pPr>
            <a:lvl3pPr>
              <a:defRPr sz="1200">
                <a:solidFill>
                  <a:schemeClr val="tx1"/>
                </a:solidFill>
                <a:latin typeface="Montserrat Light" panose="00000400000000000000" pitchFamily="50" charset="0"/>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131609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10390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F921CE-1BFB-4C33-9E39-9E365E85FFB4}"/>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8E4CF2-F9B2-4A2F-8879-48B31C82B1B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A3FEA90-32AA-4707-952A-6016A899B155}"/>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5C12DA-7C3F-4F5E-A3EF-25444230DB43}" type="datetimeFigureOut">
              <a:rPr lang="en-US" smtClean="0"/>
              <a:t>10/1/2025</a:t>
            </a:fld>
            <a:endParaRPr lang="en-US"/>
          </a:p>
        </p:txBody>
      </p:sp>
      <p:sp>
        <p:nvSpPr>
          <p:cNvPr id="5" name="Footer Placeholder 4">
            <a:extLst>
              <a:ext uri="{FF2B5EF4-FFF2-40B4-BE49-F238E27FC236}">
                <a16:creationId xmlns:a16="http://schemas.microsoft.com/office/drawing/2014/main" id="{DFA2581A-1314-46EF-8E8C-577D4775892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0B4EFBB-8EF2-4237-B64F-A4D1656066C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9A2CBB-99DC-4D92-93F8-130B3B4D489E}" type="slidenum">
              <a:rPr lang="en-US" smtClean="0"/>
              <a:t>‹#›</a:t>
            </a:fld>
            <a:endParaRPr lang="en-US"/>
          </a:p>
        </p:txBody>
      </p:sp>
    </p:spTree>
    <p:extLst>
      <p:ext uri="{BB962C8B-B14F-4D97-AF65-F5344CB8AC3E}">
        <p14:creationId xmlns:p14="http://schemas.microsoft.com/office/powerpoint/2010/main" val="1748154731"/>
      </p:ext>
    </p:extLst>
  </p:cSld>
  <p:clrMap bg1="lt1" tx1="dk1" bg2="lt2" tx2="dk2" accent1="accent1" accent2="accent2" accent3="accent3" accent4="accent4" accent5="accent5" accent6="accent6" hlink="hlink" folHlink="folHlink"/>
  <p:sldLayoutIdLst>
    <p:sldLayoutId id="2147483668" r:id="rId1"/>
    <p:sldLayoutId id="2147483675" r:id="rId2"/>
    <p:sldLayoutId id="214748367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E306FF1-BEF2-43D4-B7EC-25BB33C881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508" y="0"/>
            <a:ext cx="9197508" cy="6858000"/>
          </a:xfrm>
          <a:prstGeom prst="rect">
            <a:avLst/>
          </a:prstGeom>
        </p:spPr>
      </p:pic>
      <p:sp>
        <p:nvSpPr>
          <p:cNvPr id="16" name="TextBox 15">
            <a:extLst>
              <a:ext uri="{FF2B5EF4-FFF2-40B4-BE49-F238E27FC236}">
                <a16:creationId xmlns:a16="http://schemas.microsoft.com/office/drawing/2014/main" id="{26BC89EC-D40D-42F1-BD48-19B2C7F83B44}"/>
              </a:ext>
            </a:extLst>
          </p:cNvPr>
          <p:cNvSpPr txBox="1"/>
          <p:nvPr/>
        </p:nvSpPr>
        <p:spPr>
          <a:xfrm>
            <a:off x="348343" y="4404184"/>
            <a:ext cx="4049486" cy="1367747"/>
          </a:xfrm>
          <a:prstGeom prst="rect">
            <a:avLst/>
          </a:prstGeom>
          <a:noFill/>
        </p:spPr>
        <p:txBody>
          <a:bodyPr wrap="square" rtlCol="0">
            <a:spAutoFit/>
          </a:bodyPr>
          <a:lstStyle/>
          <a:p>
            <a:pPr>
              <a:lnSpc>
                <a:spcPct val="120000"/>
              </a:lnSpc>
            </a:pPr>
            <a:r>
              <a:rPr lang="en-US" sz="2800" dirty="0" err="1">
                <a:solidFill>
                  <a:srgbClr val="FFFF00"/>
                </a:solidFill>
                <a:latin typeface="Montserrat" panose="02000505000000020004" pitchFamily="2" charset="0"/>
                <a:ea typeface="Roboto" pitchFamily="2" charset="0"/>
                <a:cs typeface="Arial"/>
              </a:rPr>
              <a:t>Kuliah</a:t>
            </a:r>
            <a:r>
              <a:rPr lang="en-US" sz="2800" dirty="0">
                <a:solidFill>
                  <a:srgbClr val="FFFF00"/>
                </a:solidFill>
                <a:latin typeface="Montserrat" panose="02000505000000020004" pitchFamily="2" charset="0"/>
                <a:ea typeface="Roboto" pitchFamily="2" charset="0"/>
                <a:cs typeface="Arial"/>
              </a:rPr>
              <a:t> 6 Teori Bahasa dan </a:t>
            </a:r>
            <a:r>
              <a:rPr lang="en-US" sz="2800" dirty="0" err="1">
                <a:solidFill>
                  <a:srgbClr val="FFFF00"/>
                </a:solidFill>
                <a:latin typeface="Montserrat" panose="02000505000000020004" pitchFamily="2" charset="0"/>
                <a:ea typeface="Roboto" pitchFamily="2" charset="0"/>
                <a:cs typeface="Arial"/>
              </a:rPr>
              <a:t>Otomata</a:t>
            </a:r>
            <a:endParaRPr lang="id-ID" sz="2800" dirty="0">
              <a:solidFill>
                <a:srgbClr val="FFE12E"/>
              </a:solidFill>
              <a:latin typeface="Montserrat" panose="02000505000000020004" pitchFamily="2" charset="0"/>
              <a:ea typeface="Roboto" pitchFamily="2" charset="0"/>
              <a:cs typeface="Arial"/>
            </a:endParaRPr>
          </a:p>
          <a:p>
            <a:pPr>
              <a:lnSpc>
                <a:spcPct val="120000"/>
              </a:lnSpc>
            </a:pPr>
            <a:r>
              <a:rPr lang="id-ID" sz="1400" dirty="0">
                <a:solidFill>
                  <a:srgbClr val="FFE12E"/>
                </a:solidFill>
                <a:latin typeface="Montserrat" panose="02000505000000020004" pitchFamily="2" charset="0"/>
                <a:ea typeface="Roboto" pitchFamily="2" charset="0"/>
                <a:cs typeface="Arial"/>
              </a:rPr>
              <a:t>(</a:t>
            </a:r>
            <a:r>
              <a:rPr lang="en-US" sz="1400" dirty="0" err="1">
                <a:solidFill>
                  <a:srgbClr val="FFE12E"/>
                </a:solidFill>
                <a:latin typeface="Montserrat" panose="02000505000000020004" pitchFamily="2" charset="0"/>
                <a:ea typeface="Roboto" pitchFamily="2" charset="0"/>
                <a:cs typeface="Arial"/>
              </a:rPr>
              <a:t>Minimisasi</a:t>
            </a:r>
            <a:r>
              <a:rPr lang="en-US" sz="1400" dirty="0">
                <a:solidFill>
                  <a:srgbClr val="FFE12E"/>
                </a:solidFill>
                <a:latin typeface="Montserrat" panose="02000505000000020004" pitchFamily="2" charset="0"/>
                <a:ea typeface="Roboto" pitchFamily="2" charset="0"/>
                <a:cs typeface="Arial"/>
              </a:rPr>
              <a:t> Automata</a:t>
            </a:r>
            <a:r>
              <a:rPr lang="id-ID" sz="1400" dirty="0">
                <a:solidFill>
                  <a:srgbClr val="FFE12E"/>
                </a:solidFill>
                <a:latin typeface="Montserrat" panose="02000505000000020004" pitchFamily="2" charset="0"/>
                <a:ea typeface="Roboto" pitchFamily="2" charset="0"/>
                <a:cs typeface="Arial"/>
              </a:rPr>
              <a:t>)</a:t>
            </a:r>
            <a:endParaRPr lang="en-US" sz="2800" dirty="0">
              <a:solidFill>
                <a:srgbClr val="FFE12E"/>
              </a:solidFill>
              <a:latin typeface="Montserrat" panose="02000505000000020004" pitchFamily="2" charset="0"/>
              <a:ea typeface="Roboto" pitchFamily="2" charset="0"/>
              <a:cs typeface="Arial"/>
            </a:endParaRPr>
          </a:p>
        </p:txBody>
      </p:sp>
      <p:sp>
        <p:nvSpPr>
          <p:cNvPr id="17" name="TextBox 16">
            <a:extLst>
              <a:ext uri="{FF2B5EF4-FFF2-40B4-BE49-F238E27FC236}">
                <a16:creationId xmlns:a16="http://schemas.microsoft.com/office/drawing/2014/main" id="{E0171AE4-0AA8-41EE-9C53-D4398596FF8A}"/>
              </a:ext>
            </a:extLst>
          </p:cNvPr>
          <p:cNvSpPr txBox="1"/>
          <p:nvPr/>
        </p:nvSpPr>
        <p:spPr>
          <a:xfrm>
            <a:off x="348343" y="5968113"/>
            <a:ext cx="4049486" cy="279500"/>
          </a:xfrm>
          <a:prstGeom prst="rect">
            <a:avLst/>
          </a:prstGeom>
          <a:noFill/>
        </p:spPr>
        <p:txBody>
          <a:bodyPr wrap="square" rtlCol="0">
            <a:spAutoFit/>
          </a:bodyPr>
          <a:lstStyle/>
          <a:p>
            <a:pPr>
              <a:lnSpc>
                <a:spcPct val="120000"/>
              </a:lnSpc>
            </a:pPr>
            <a:r>
              <a:rPr lang="en-US" sz="1100" dirty="0">
                <a:solidFill>
                  <a:schemeClr val="bg1"/>
                </a:solidFill>
                <a:latin typeface="Montserrat" panose="02000505000000020004" pitchFamily="2" charset="0"/>
                <a:ea typeface="Roboto" pitchFamily="2" charset="0"/>
                <a:cs typeface="Arial"/>
              </a:rPr>
              <a:t>ukrida.ac.id</a:t>
            </a:r>
          </a:p>
        </p:txBody>
      </p:sp>
    </p:spTree>
    <p:extLst>
      <p:ext uri="{BB962C8B-B14F-4D97-AF65-F5344CB8AC3E}">
        <p14:creationId xmlns:p14="http://schemas.microsoft.com/office/powerpoint/2010/main" val="3846087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err="1"/>
              <a:t>Minimisasi</a:t>
            </a:r>
            <a:r>
              <a:rPr lang="en-US" sz="2800" dirty="0"/>
              <a:t> DFA(Hopcroft)</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algn="just"/>
            <a:r>
              <a:rPr lang="id-ID" sz="2800" dirty="0">
                <a:solidFill>
                  <a:srgbClr val="000000"/>
                </a:solidFill>
                <a:latin typeface="Montserrat" panose="02000505000000020004"/>
              </a:rPr>
              <a:t>Konsekuensi penting lainnya dari uji kesetaraan state adalah kita dapat "meminimalkan" DFA. Artinya, untuk setiap DFA kita dapat menemukan DFA yang setara yang memiliki state sesedikit DFA yang menerima bahasa yang sama. </a:t>
            </a:r>
            <a:endParaRPr lang="en-US" sz="2800" dirty="0">
              <a:solidFill>
                <a:srgbClr val="000000"/>
              </a:solidFill>
              <a:latin typeface="Montserrat" panose="02000505000000020004"/>
            </a:endParaRPr>
          </a:p>
          <a:p>
            <a:pPr algn="just"/>
            <a:endParaRPr lang="en-US" sz="2800" dirty="0">
              <a:solidFill>
                <a:srgbClr val="000000"/>
              </a:solidFill>
              <a:latin typeface="Montserrat" panose="02000505000000020004"/>
            </a:endParaRPr>
          </a:p>
          <a:p>
            <a:pPr algn="just"/>
            <a:r>
              <a:rPr lang="id-ID" sz="2800" dirty="0">
                <a:solidFill>
                  <a:srgbClr val="000000"/>
                </a:solidFill>
                <a:latin typeface="Montserrat" panose="02000505000000020004"/>
              </a:rPr>
              <a:t>Selain itu, kecuali kemampuan kita untuk memanggil state dengan nama apa pun yang kita pilih, DFA dengan status minimum ini adalah unik untuk bahasa tersebut. </a:t>
            </a:r>
            <a:endParaRPr lang="en-US" sz="2800" dirty="0">
              <a:solidFill>
                <a:srgbClr val="000000"/>
              </a:solidFill>
              <a:latin typeface="Montserrat" panose="02000505000000020004"/>
            </a:endParaRPr>
          </a:p>
        </p:txBody>
      </p:sp>
    </p:spTree>
    <p:extLst>
      <p:ext uri="{BB962C8B-B14F-4D97-AF65-F5344CB8AC3E}">
        <p14:creationId xmlns:p14="http://schemas.microsoft.com/office/powerpoint/2010/main" val="1561554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Algoritma </a:t>
            </a:r>
            <a:r>
              <a:rPr lang="en-US" sz="2800" dirty="0" err="1"/>
              <a:t>Minimisasi</a:t>
            </a:r>
            <a:r>
              <a:rPr lang="en-US" sz="2800" dirty="0"/>
              <a:t> DFA(Hopcroft)</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algn="just"/>
            <a:r>
              <a:rPr lang="id-ID" sz="2800" dirty="0">
                <a:solidFill>
                  <a:srgbClr val="000000"/>
                </a:solidFill>
                <a:latin typeface="Montserrat" panose="02000505000000020004"/>
              </a:rPr>
              <a:t>Algoritmanya adalah sebagai berikut: </a:t>
            </a:r>
            <a:endParaRPr lang="en-US" sz="2800" dirty="0">
              <a:solidFill>
                <a:srgbClr val="000000"/>
              </a:solidFill>
              <a:latin typeface="Montserrat" panose="02000505000000020004"/>
            </a:endParaRPr>
          </a:p>
          <a:p>
            <a:pPr algn="just"/>
            <a:endParaRPr lang="en-US" sz="2800" dirty="0">
              <a:solidFill>
                <a:srgbClr val="000000"/>
              </a:solidFill>
              <a:latin typeface="Montserrat" panose="02000505000000020004"/>
            </a:endParaRPr>
          </a:p>
          <a:p>
            <a:pPr marL="514350" indent="-514350" algn="just">
              <a:buFont typeface="+mj-lt"/>
              <a:buAutoNum type="arabicPeriod"/>
            </a:pPr>
            <a:r>
              <a:rPr lang="id-ID" sz="2800" dirty="0">
                <a:solidFill>
                  <a:srgbClr val="000000"/>
                </a:solidFill>
                <a:latin typeface="Montserrat" panose="02000505000000020004"/>
              </a:rPr>
              <a:t>Pertama, hilangkan semua state yang tidak dapat dijangkau dari state awal</a:t>
            </a:r>
            <a:endParaRPr lang="en-US" sz="2800" dirty="0">
              <a:solidFill>
                <a:srgbClr val="000000"/>
              </a:solidFill>
              <a:latin typeface="Montserrat" panose="02000505000000020004"/>
            </a:endParaRPr>
          </a:p>
          <a:p>
            <a:pPr marL="514350" indent="-514350" algn="just">
              <a:buFont typeface="+mj-lt"/>
              <a:buAutoNum type="arabicPeriod"/>
            </a:pPr>
            <a:r>
              <a:rPr lang="id-ID" sz="2800" dirty="0">
                <a:solidFill>
                  <a:srgbClr val="000000"/>
                </a:solidFill>
                <a:latin typeface="Montserrat" panose="02000505000000020004"/>
              </a:rPr>
              <a:t>Kemudian, partisi state-state yang tersisa ke dalam blok-blok, sehingga semua state dalam blok yang sama adalah ekuivalen, dan tidak ada pasangan state dari blok yang berbeda yang ekuivalen. Teorema 4.24 di bawah ini menunjukkan bahwa kita selalu dapat membuat partisi seperti itu. </a:t>
            </a:r>
            <a:endParaRPr lang="en-US" sz="2800" dirty="0">
              <a:solidFill>
                <a:srgbClr val="000000"/>
              </a:solidFill>
              <a:latin typeface="Montserrat" panose="02000505000000020004"/>
            </a:endParaRPr>
          </a:p>
        </p:txBody>
      </p:sp>
    </p:spTree>
    <p:extLst>
      <p:ext uri="{BB962C8B-B14F-4D97-AF65-F5344CB8AC3E}">
        <p14:creationId xmlns:p14="http://schemas.microsoft.com/office/powerpoint/2010/main" val="1845940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Algoritma </a:t>
            </a:r>
            <a:r>
              <a:rPr lang="en-US" sz="2800" dirty="0" err="1"/>
              <a:t>Minimisasi</a:t>
            </a:r>
            <a:r>
              <a:rPr lang="en-US" sz="2800" dirty="0"/>
              <a:t> DFA(Hopcroft)</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0" indent="0" algn="just">
              <a:buNone/>
            </a:pPr>
            <a:r>
              <a:rPr lang="id-ID" sz="2600" dirty="0">
                <a:solidFill>
                  <a:srgbClr val="000000"/>
                </a:solidFill>
                <a:latin typeface="Montserrat" panose="02000505000000020004"/>
              </a:rPr>
              <a:t>Contoh </a:t>
            </a:r>
            <a:r>
              <a:rPr lang="en-US" sz="2600" dirty="0">
                <a:solidFill>
                  <a:srgbClr val="000000"/>
                </a:solidFill>
                <a:latin typeface="Montserrat" panose="02000505000000020004"/>
              </a:rPr>
              <a:t>4.22</a:t>
            </a:r>
            <a:r>
              <a:rPr lang="id-ID" sz="2600" dirty="0">
                <a:solidFill>
                  <a:srgbClr val="000000"/>
                </a:solidFill>
                <a:latin typeface="Montserrat" panose="02000505000000020004"/>
              </a:rPr>
              <a:t>: Perhatikan tabel dari </a:t>
            </a:r>
            <a:r>
              <a:rPr lang="en-US" sz="2600" dirty="0">
                <a:solidFill>
                  <a:srgbClr val="000000"/>
                </a:solidFill>
                <a:latin typeface="Montserrat" panose="02000505000000020004"/>
              </a:rPr>
              <a:t>gambar di bawah ini</a:t>
            </a:r>
          </a:p>
          <a:p>
            <a:pPr marL="0" indent="0" algn="just">
              <a:buNone/>
            </a:pPr>
            <a:endParaRPr lang="en-US" sz="2600" dirty="0">
              <a:solidFill>
                <a:srgbClr val="000000"/>
              </a:solidFill>
              <a:latin typeface="Montserrat" panose="02000505000000020004"/>
            </a:endParaRPr>
          </a:p>
          <a:p>
            <a:pPr marL="0" indent="0" algn="just">
              <a:buNone/>
            </a:pPr>
            <a:endParaRPr lang="en-US" sz="2600" dirty="0">
              <a:solidFill>
                <a:srgbClr val="000000"/>
              </a:solidFill>
              <a:latin typeface="Montserrat" panose="02000505000000020004"/>
            </a:endParaRPr>
          </a:p>
          <a:p>
            <a:pPr marL="0" indent="0" algn="just">
              <a:buNone/>
            </a:pPr>
            <a:endParaRPr lang="en-US" sz="2600" dirty="0">
              <a:solidFill>
                <a:srgbClr val="000000"/>
              </a:solidFill>
              <a:latin typeface="Montserrat" panose="02000505000000020004"/>
            </a:endParaRPr>
          </a:p>
          <a:p>
            <a:pPr marL="0" indent="0" algn="just">
              <a:buNone/>
            </a:pPr>
            <a:endParaRPr lang="en-US" sz="2600" dirty="0">
              <a:solidFill>
                <a:srgbClr val="000000"/>
              </a:solidFill>
              <a:latin typeface="Montserrat" panose="02000505000000020004"/>
            </a:endParaRPr>
          </a:p>
          <a:p>
            <a:pPr marL="0" indent="0" algn="just">
              <a:buNone/>
            </a:pPr>
            <a:r>
              <a:rPr lang="id-ID" sz="2400" dirty="0">
                <a:solidFill>
                  <a:srgbClr val="000000"/>
                </a:solidFill>
                <a:latin typeface="Montserrat" panose="02000505000000020004"/>
              </a:rPr>
              <a:t>dimana kita telah menentukan ekuivalensi-ekuivalensi keadaan dan pembedaan-pembedaan untuk keadaan-keadaan dar</a:t>
            </a:r>
            <a:r>
              <a:rPr lang="en-US" sz="2400" dirty="0" err="1">
                <a:solidFill>
                  <a:srgbClr val="000000"/>
                </a:solidFill>
                <a:latin typeface="Montserrat" panose="02000505000000020004"/>
              </a:rPr>
              <a:t>i</a:t>
            </a:r>
            <a:r>
              <a:rPr lang="en-US" sz="2400" dirty="0">
                <a:solidFill>
                  <a:srgbClr val="000000"/>
                </a:solidFill>
                <a:latin typeface="Montserrat" panose="02000505000000020004"/>
              </a:rPr>
              <a:t> gambar di bawah ini.</a:t>
            </a:r>
          </a:p>
          <a:p>
            <a:pPr marL="0" indent="0" algn="just">
              <a:buNone/>
            </a:pPr>
            <a:endParaRPr lang="id-ID" sz="2600" dirty="0">
              <a:solidFill>
                <a:srgbClr val="000000"/>
              </a:solidFill>
              <a:latin typeface="Montserrat" panose="02000505000000020004"/>
            </a:endParaRPr>
          </a:p>
        </p:txBody>
      </p:sp>
      <p:pic>
        <p:nvPicPr>
          <p:cNvPr id="4" name="Picture 3">
            <a:extLst>
              <a:ext uri="{FF2B5EF4-FFF2-40B4-BE49-F238E27FC236}">
                <a16:creationId xmlns:a16="http://schemas.microsoft.com/office/drawing/2014/main" id="{B0EC174F-C540-47B1-BFC5-B8CF9150D06B}"/>
              </a:ext>
            </a:extLst>
          </p:cNvPr>
          <p:cNvPicPr>
            <a:picLocks noChangeAspect="1"/>
          </p:cNvPicPr>
          <p:nvPr/>
        </p:nvPicPr>
        <p:blipFill>
          <a:blip r:embed="rId2"/>
          <a:stretch>
            <a:fillRect/>
          </a:stretch>
        </p:blipFill>
        <p:spPr>
          <a:xfrm>
            <a:off x="3681441" y="1535240"/>
            <a:ext cx="2238470" cy="1755013"/>
          </a:xfrm>
          <a:prstGeom prst="rect">
            <a:avLst/>
          </a:prstGeom>
        </p:spPr>
      </p:pic>
      <p:pic>
        <p:nvPicPr>
          <p:cNvPr id="5" name="Picture 4">
            <a:extLst>
              <a:ext uri="{FF2B5EF4-FFF2-40B4-BE49-F238E27FC236}">
                <a16:creationId xmlns:a16="http://schemas.microsoft.com/office/drawing/2014/main" id="{92487DF5-1B2D-4F4E-9395-FFEF1640A75B}"/>
              </a:ext>
            </a:extLst>
          </p:cNvPr>
          <p:cNvPicPr>
            <a:picLocks noChangeAspect="1"/>
          </p:cNvPicPr>
          <p:nvPr/>
        </p:nvPicPr>
        <p:blipFill>
          <a:blip r:embed="rId3"/>
          <a:stretch>
            <a:fillRect/>
          </a:stretch>
        </p:blipFill>
        <p:spPr>
          <a:xfrm>
            <a:off x="3517897" y="4735212"/>
            <a:ext cx="2923543" cy="1799576"/>
          </a:xfrm>
          <a:prstGeom prst="rect">
            <a:avLst/>
          </a:prstGeom>
        </p:spPr>
      </p:pic>
    </p:spTree>
    <p:extLst>
      <p:ext uri="{BB962C8B-B14F-4D97-AF65-F5344CB8AC3E}">
        <p14:creationId xmlns:p14="http://schemas.microsoft.com/office/powerpoint/2010/main" val="1363300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Algoritma </a:t>
            </a:r>
            <a:r>
              <a:rPr lang="en-US" sz="2800" dirty="0" err="1"/>
              <a:t>Minimisasi</a:t>
            </a:r>
            <a:r>
              <a:rPr lang="en-US" sz="2800" dirty="0"/>
              <a:t> DFA(Hopcroft)</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240723" y="1611735"/>
            <a:ext cx="8501044" cy="3634530"/>
          </a:xfrm>
        </p:spPr>
        <p:txBody>
          <a:bodyPr>
            <a:normAutofit/>
          </a:bodyPr>
          <a:lstStyle/>
          <a:p>
            <a:pPr algn="just"/>
            <a:r>
              <a:rPr lang="id-ID" sz="3200" dirty="0">
                <a:solidFill>
                  <a:srgbClr val="000000"/>
                </a:solidFill>
                <a:latin typeface="Montserrat" panose="02000505000000020004"/>
              </a:rPr>
              <a:t>Partisi</a:t>
            </a:r>
            <a:r>
              <a:rPr lang="en-US" sz="3200" dirty="0">
                <a:solidFill>
                  <a:srgbClr val="000000"/>
                </a:solidFill>
                <a:latin typeface="Montserrat" panose="02000505000000020004"/>
              </a:rPr>
              <a:t> </a:t>
            </a:r>
            <a:r>
              <a:rPr lang="en-US" sz="3200" dirty="0" err="1">
                <a:solidFill>
                  <a:srgbClr val="000000"/>
                </a:solidFill>
                <a:latin typeface="Montserrat" panose="02000505000000020004"/>
              </a:rPr>
              <a:t>blok-blok</a:t>
            </a:r>
            <a:r>
              <a:rPr lang="en-US" sz="3200" dirty="0">
                <a:solidFill>
                  <a:srgbClr val="000000"/>
                </a:solidFill>
                <a:latin typeface="Montserrat" panose="02000505000000020004"/>
              </a:rPr>
              <a:t> tersebut adalah ({A, E} {B, H}, {C}, {D, F}, {G}). </a:t>
            </a:r>
            <a:r>
              <a:rPr lang="en-US" sz="3200" dirty="0" err="1">
                <a:solidFill>
                  <a:srgbClr val="000000"/>
                </a:solidFill>
                <a:latin typeface="Montserrat" panose="02000505000000020004"/>
              </a:rPr>
              <a:t>Perhatikan</a:t>
            </a:r>
            <a:r>
              <a:rPr lang="en-US" sz="3200" dirty="0">
                <a:solidFill>
                  <a:srgbClr val="000000"/>
                </a:solidFill>
                <a:latin typeface="Montserrat" panose="02000505000000020004"/>
              </a:rPr>
              <a:t> bahwa tiga pasang state yang </a:t>
            </a:r>
            <a:r>
              <a:rPr lang="en-US" sz="3200" dirty="0" err="1">
                <a:solidFill>
                  <a:srgbClr val="000000"/>
                </a:solidFill>
                <a:latin typeface="Montserrat" panose="02000505000000020004"/>
              </a:rPr>
              <a:t>ekuivalen</a:t>
            </a:r>
            <a:r>
              <a:rPr lang="en-US" sz="3200" dirty="0">
                <a:solidFill>
                  <a:srgbClr val="000000"/>
                </a:solidFill>
                <a:latin typeface="Montserrat" panose="02000505000000020004"/>
              </a:rPr>
              <a:t> masing-masing </a:t>
            </a:r>
            <a:r>
              <a:rPr lang="en-US" sz="3200" dirty="0" err="1">
                <a:solidFill>
                  <a:srgbClr val="000000"/>
                </a:solidFill>
                <a:latin typeface="Montserrat" panose="02000505000000020004"/>
              </a:rPr>
              <a:t>ditempatkan</a:t>
            </a:r>
            <a:r>
              <a:rPr lang="en-US" sz="3200" dirty="0">
                <a:solidFill>
                  <a:srgbClr val="000000"/>
                </a:solidFill>
                <a:latin typeface="Montserrat" panose="02000505000000020004"/>
              </a:rPr>
              <a:t> </a:t>
            </a:r>
            <a:r>
              <a:rPr lang="en-US" sz="3200" dirty="0" err="1">
                <a:solidFill>
                  <a:srgbClr val="000000"/>
                </a:solidFill>
                <a:latin typeface="Montserrat" panose="02000505000000020004"/>
              </a:rPr>
              <a:t>dalam</a:t>
            </a:r>
            <a:r>
              <a:rPr lang="en-US" sz="3200" dirty="0">
                <a:solidFill>
                  <a:srgbClr val="000000"/>
                </a:solidFill>
                <a:latin typeface="Montserrat" panose="02000505000000020004"/>
              </a:rPr>
              <a:t> </a:t>
            </a:r>
            <a:r>
              <a:rPr lang="en-US" sz="3200" dirty="0" err="1">
                <a:solidFill>
                  <a:srgbClr val="000000"/>
                </a:solidFill>
                <a:latin typeface="Montserrat" panose="02000505000000020004"/>
              </a:rPr>
              <a:t>satu</a:t>
            </a:r>
            <a:r>
              <a:rPr lang="en-US" sz="3200" dirty="0">
                <a:solidFill>
                  <a:srgbClr val="000000"/>
                </a:solidFill>
                <a:latin typeface="Montserrat" panose="02000505000000020004"/>
              </a:rPr>
              <a:t> </a:t>
            </a:r>
            <a:r>
              <a:rPr lang="en-US" sz="3200" dirty="0" err="1">
                <a:solidFill>
                  <a:srgbClr val="000000"/>
                </a:solidFill>
                <a:latin typeface="Montserrat" panose="02000505000000020004"/>
              </a:rPr>
              <a:t>blok</a:t>
            </a:r>
            <a:r>
              <a:rPr lang="en-US" sz="3200" dirty="0">
                <a:solidFill>
                  <a:srgbClr val="000000"/>
                </a:solidFill>
                <a:latin typeface="Montserrat" panose="02000505000000020004"/>
              </a:rPr>
              <a:t> </a:t>
            </a:r>
            <a:r>
              <a:rPr lang="en-US" sz="3200" dirty="0" err="1">
                <a:solidFill>
                  <a:srgbClr val="000000"/>
                </a:solidFill>
                <a:latin typeface="Montserrat" panose="02000505000000020004"/>
              </a:rPr>
              <a:t>bersama</a:t>
            </a:r>
            <a:r>
              <a:rPr lang="en-US" sz="3200" dirty="0">
                <a:solidFill>
                  <a:srgbClr val="000000"/>
                </a:solidFill>
                <a:latin typeface="Montserrat" panose="02000505000000020004"/>
              </a:rPr>
              <a:t>-sama, sementara state yang dapat </a:t>
            </a:r>
            <a:r>
              <a:rPr lang="en-US" sz="3200" dirty="0" err="1">
                <a:solidFill>
                  <a:srgbClr val="000000"/>
                </a:solidFill>
                <a:latin typeface="Montserrat" panose="02000505000000020004"/>
              </a:rPr>
              <a:t>dibedakan</a:t>
            </a:r>
            <a:r>
              <a:rPr lang="en-US" sz="3200" dirty="0">
                <a:solidFill>
                  <a:srgbClr val="000000"/>
                </a:solidFill>
                <a:latin typeface="Montserrat" panose="02000505000000020004"/>
              </a:rPr>
              <a:t> </a:t>
            </a:r>
            <a:r>
              <a:rPr lang="en-US" sz="3200" dirty="0" err="1">
                <a:solidFill>
                  <a:srgbClr val="000000"/>
                </a:solidFill>
                <a:latin typeface="Montserrat" panose="02000505000000020004"/>
              </a:rPr>
              <a:t>dari</a:t>
            </a:r>
            <a:r>
              <a:rPr lang="en-US" sz="3200" dirty="0">
                <a:solidFill>
                  <a:srgbClr val="000000"/>
                </a:solidFill>
                <a:latin typeface="Montserrat" panose="02000505000000020004"/>
              </a:rPr>
              <a:t> semua state yang lain masing-masing </a:t>
            </a:r>
            <a:r>
              <a:rPr lang="en-US" sz="3200" dirty="0" err="1">
                <a:solidFill>
                  <a:srgbClr val="000000"/>
                </a:solidFill>
                <a:latin typeface="Montserrat" panose="02000505000000020004"/>
              </a:rPr>
              <a:t>ditempatkan</a:t>
            </a:r>
            <a:r>
              <a:rPr lang="en-US" sz="3200" dirty="0">
                <a:solidFill>
                  <a:srgbClr val="000000"/>
                </a:solidFill>
                <a:latin typeface="Montserrat" panose="02000505000000020004"/>
              </a:rPr>
              <a:t> </a:t>
            </a:r>
            <a:r>
              <a:rPr lang="en-US" sz="3200" dirty="0" err="1">
                <a:solidFill>
                  <a:srgbClr val="000000"/>
                </a:solidFill>
                <a:latin typeface="Montserrat" panose="02000505000000020004"/>
              </a:rPr>
              <a:t>dalam</a:t>
            </a:r>
            <a:r>
              <a:rPr lang="en-US" sz="3200" dirty="0">
                <a:solidFill>
                  <a:srgbClr val="000000"/>
                </a:solidFill>
                <a:latin typeface="Montserrat" panose="02000505000000020004"/>
              </a:rPr>
              <a:t> </a:t>
            </a:r>
            <a:r>
              <a:rPr lang="en-US" sz="3200" dirty="0" err="1">
                <a:solidFill>
                  <a:srgbClr val="000000"/>
                </a:solidFill>
                <a:latin typeface="Montserrat" panose="02000505000000020004"/>
              </a:rPr>
              <a:t>satu</a:t>
            </a:r>
            <a:r>
              <a:rPr lang="en-US" sz="3200" dirty="0">
                <a:solidFill>
                  <a:srgbClr val="000000"/>
                </a:solidFill>
                <a:latin typeface="Montserrat" panose="02000505000000020004"/>
              </a:rPr>
              <a:t> </a:t>
            </a:r>
            <a:r>
              <a:rPr lang="en-US" sz="3200" dirty="0" err="1">
                <a:solidFill>
                  <a:srgbClr val="000000"/>
                </a:solidFill>
                <a:latin typeface="Montserrat" panose="02000505000000020004"/>
              </a:rPr>
              <a:t>blok</a:t>
            </a:r>
            <a:r>
              <a:rPr lang="en-US" sz="3200" dirty="0">
                <a:solidFill>
                  <a:srgbClr val="000000"/>
                </a:solidFill>
                <a:latin typeface="Montserrat" panose="02000505000000020004"/>
              </a:rPr>
              <a:t> sendiri. </a:t>
            </a:r>
          </a:p>
        </p:txBody>
      </p:sp>
    </p:spTree>
    <p:extLst>
      <p:ext uri="{BB962C8B-B14F-4D97-AF65-F5344CB8AC3E}">
        <p14:creationId xmlns:p14="http://schemas.microsoft.com/office/powerpoint/2010/main" val="4032020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Algoritma </a:t>
            </a:r>
            <a:r>
              <a:rPr lang="en-US" sz="2800" dirty="0" err="1"/>
              <a:t>Minimisasi</a:t>
            </a:r>
            <a:r>
              <a:rPr lang="en-US" sz="2800" dirty="0"/>
              <a:t> DFA(Hopcroft)</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533058" y="955884"/>
            <a:ext cx="4526622" cy="4286676"/>
          </a:xfrm>
        </p:spPr>
        <p:txBody>
          <a:bodyPr>
            <a:normAutofit lnSpcReduction="10000"/>
          </a:bodyPr>
          <a:lstStyle/>
          <a:p>
            <a:pPr algn="just"/>
            <a:r>
              <a:rPr lang="en-ID" sz="2400" dirty="0">
                <a:solidFill>
                  <a:srgbClr val="000000"/>
                </a:solidFill>
              </a:rPr>
              <a:t>Pada </a:t>
            </a:r>
            <a:r>
              <a:rPr lang="en-ID" sz="2400" dirty="0" err="1">
                <a:solidFill>
                  <a:srgbClr val="000000"/>
                </a:solidFill>
              </a:rPr>
              <a:t>contoh</a:t>
            </a:r>
            <a:r>
              <a:rPr lang="en-ID" sz="2400" dirty="0">
                <a:solidFill>
                  <a:srgbClr val="000000"/>
                </a:solidFill>
              </a:rPr>
              <a:t> di </a:t>
            </a:r>
            <a:r>
              <a:rPr lang="en-ID" sz="2400" dirty="0" err="1">
                <a:solidFill>
                  <a:srgbClr val="000000"/>
                </a:solidFill>
              </a:rPr>
              <a:t>samping</a:t>
            </a:r>
            <a:r>
              <a:rPr lang="en-ID" sz="2400" dirty="0">
                <a:solidFill>
                  <a:srgbClr val="000000"/>
                </a:solidFill>
              </a:rPr>
              <a:t>, </a:t>
            </a:r>
            <a:r>
              <a:rPr lang="en-ID" sz="2400" dirty="0" err="1">
                <a:solidFill>
                  <a:srgbClr val="000000"/>
                </a:solidFill>
              </a:rPr>
              <a:t>partisinya</a:t>
            </a:r>
            <a:r>
              <a:rPr lang="en-ID" sz="2400" dirty="0">
                <a:solidFill>
                  <a:srgbClr val="000000"/>
                </a:solidFill>
              </a:rPr>
              <a:t> </a:t>
            </a:r>
            <a:r>
              <a:rPr lang="en-ID" sz="2400" dirty="0" err="1">
                <a:solidFill>
                  <a:srgbClr val="000000"/>
                </a:solidFill>
              </a:rPr>
              <a:t>adalah</a:t>
            </a:r>
            <a:r>
              <a:rPr lang="en-ID" sz="2400" dirty="0">
                <a:solidFill>
                  <a:srgbClr val="000000"/>
                </a:solidFill>
              </a:rPr>
              <a:t> ({A, C, D}, {B, E}), </a:t>
            </a:r>
            <a:r>
              <a:rPr lang="en-ID" sz="2400" dirty="0" err="1">
                <a:solidFill>
                  <a:srgbClr val="000000"/>
                </a:solidFill>
              </a:rPr>
              <a:t>menunjukkan</a:t>
            </a:r>
            <a:r>
              <a:rPr lang="en-ID" sz="2400" dirty="0">
                <a:solidFill>
                  <a:srgbClr val="000000"/>
                </a:solidFill>
              </a:rPr>
              <a:t> </a:t>
            </a:r>
            <a:r>
              <a:rPr lang="en-ID" sz="2400" dirty="0" err="1">
                <a:solidFill>
                  <a:srgbClr val="000000"/>
                </a:solidFill>
              </a:rPr>
              <a:t>bahwa</a:t>
            </a:r>
            <a:r>
              <a:rPr lang="en-ID" sz="2400" dirty="0">
                <a:solidFill>
                  <a:srgbClr val="000000"/>
                </a:solidFill>
              </a:rPr>
              <a:t> </a:t>
            </a:r>
            <a:r>
              <a:rPr lang="en-ID" sz="2400" dirty="0" err="1">
                <a:solidFill>
                  <a:srgbClr val="000000"/>
                </a:solidFill>
              </a:rPr>
              <a:t>lebih</a:t>
            </a:r>
            <a:r>
              <a:rPr lang="en-ID" sz="2400" dirty="0">
                <a:solidFill>
                  <a:srgbClr val="000000"/>
                </a:solidFill>
              </a:rPr>
              <a:t> </a:t>
            </a:r>
            <a:r>
              <a:rPr lang="en-ID" sz="2400" dirty="0" err="1">
                <a:solidFill>
                  <a:srgbClr val="000000"/>
                </a:solidFill>
              </a:rPr>
              <a:t>dari</a:t>
            </a:r>
            <a:r>
              <a:rPr lang="en-ID" sz="2400" dirty="0">
                <a:solidFill>
                  <a:srgbClr val="000000"/>
                </a:solidFill>
              </a:rPr>
              <a:t> </a:t>
            </a:r>
            <a:r>
              <a:rPr lang="en-ID" sz="2400" dirty="0" err="1">
                <a:solidFill>
                  <a:srgbClr val="000000"/>
                </a:solidFill>
              </a:rPr>
              <a:t>dua</a:t>
            </a:r>
            <a:r>
              <a:rPr lang="en-ID" sz="2400" dirty="0">
                <a:solidFill>
                  <a:srgbClr val="000000"/>
                </a:solidFill>
              </a:rPr>
              <a:t> state </a:t>
            </a:r>
            <a:r>
              <a:rPr lang="en-ID" sz="2400" dirty="0" err="1">
                <a:solidFill>
                  <a:srgbClr val="000000"/>
                </a:solidFill>
              </a:rPr>
              <a:t>dapat</a:t>
            </a:r>
            <a:r>
              <a:rPr lang="en-ID" sz="2400" dirty="0">
                <a:solidFill>
                  <a:srgbClr val="000000"/>
                </a:solidFill>
              </a:rPr>
              <a:t> </a:t>
            </a:r>
            <a:r>
              <a:rPr lang="en-ID" sz="2400" dirty="0" err="1">
                <a:solidFill>
                  <a:srgbClr val="000000"/>
                </a:solidFill>
              </a:rPr>
              <a:t>berada</a:t>
            </a:r>
            <a:r>
              <a:rPr lang="en-ID" sz="2400" dirty="0">
                <a:solidFill>
                  <a:srgbClr val="000000"/>
                </a:solidFill>
              </a:rPr>
              <a:t> </a:t>
            </a:r>
            <a:r>
              <a:rPr lang="en-ID" sz="2400" dirty="0" err="1">
                <a:solidFill>
                  <a:srgbClr val="000000"/>
                </a:solidFill>
              </a:rPr>
              <a:t>dalam</a:t>
            </a:r>
            <a:r>
              <a:rPr lang="en-ID" sz="2400" dirty="0">
                <a:solidFill>
                  <a:srgbClr val="000000"/>
                </a:solidFill>
              </a:rPr>
              <a:t> </a:t>
            </a:r>
            <a:r>
              <a:rPr lang="en-ID" sz="2400" dirty="0" err="1">
                <a:solidFill>
                  <a:srgbClr val="000000"/>
                </a:solidFill>
              </a:rPr>
              <a:t>satu</a:t>
            </a:r>
            <a:r>
              <a:rPr lang="en-ID" sz="2400" dirty="0">
                <a:solidFill>
                  <a:srgbClr val="000000"/>
                </a:solidFill>
              </a:rPr>
              <a:t> </a:t>
            </a:r>
            <a:r>
              <a:rPr lang="en-ID" sz="2400" dirty="0" err="1">
                <a:solidFill>
                  <a:srgbClr val="000000"/>
                </a:solidFill>
              </a:rPr>
              <a:t>blok</a:t>
            </a:r>
            <a:r>
              <a:rPr lang="en-ID" sz="2400" dirty="0">
                <a:solidFill>
                  <a:srgbClr val="000000"/>
                </a:solidFill>
              </a:rPr>
              <a:t>. A, C, dan D </a:t>
            </a:r>
            <a:r>
              <a:rPr lang="en-ID" sz="2400" dirty="0" err="1">
                <a:solidFill>
                  <a:srgbClr val="000000"/>
                </a:solidFill>
              </a:rPr>
              <a:t>setara</a:t>
            </a:r>
            <a:r>
              <a:rPr lang="en-ID" sz="2400" dirty="0">
                <a:solidFill>
                  <a:srgbClr val="000000"/>
                </a:solidFill>
              </a:rPr>
              <a:t> </a:t>
            </a:r>
            <a:r>
              <a:rPr lang="en-ID" sz="2400" dirty="0" err="1">
                <a:solidFill>
                  <a:srgbClr val="000000"/>
                </a:solidFill>
              </a:rPr>
              <a:t>satu</a:t>
            </a:r>
            <a:r>
              <a:rPr lang="en-ID" sz="2400" dirty="0">
                <a:solidFill>
                  <a:srgbClr val="000000"/>
                </a:solidFill>
              </a:rPr>
              <a:t> </a:t>
            </a:r>
            <a:r>
              <a:rPr lang="en-ID" sz="2400" dirty="0" err="1">
                <a:solidFill>
                  <a:srgbClr val="000000"/>
                </a:solidFill>
              </a:rPr>
              <a:t>sama</a:t>
            </a:r>
            <a:r>
              <a:rPr lang="en-ID" sz="2400" dirty="0">
                <a:solidFill>
                  <a:srgbClr val="000000"/>
                </a:solidFill>
              </a:rPr>
              <a:t> lain, </a:t>
            </a:r>
            <a:r>
              <a:rPr lang="en-ID" sz="2400" dirty="0" err="1">
                <a:solidFill>
                  <a:srgbClr val="000000"/>
                </a:solidFill>
              </a:rPr>
              <a:t>tetapi</a:t>
            </a:r>
            <a:r>
              <a:rPr lang="en-ID" sz="2400" dirty="0">
                <a:solidFill>
                  <a:srgbClr val="000000"/>
                </a:solidFill>
              </a:rPr>
              <a:t> </a:t>
            </a:r>
            <a:r>
              <a:rPr lang="en-ID" sz="2400" dirty="0" err="1">
                <a:solidFill>
                  <a:srgbClr val="000000"/>
                </a:solidFill>
              </a:rPr>
              <a:t>tidak</a:t>
            </a:r>
            <a:r>
              <a:rPr lang="en-ID" sz="2400" dirty="0">
                <a:solidFill>
                  <a:srgbClr val="000000"/>
                </a:solidFill>
              </a:rPr>
              <a:t> </a:t>
            </a:r>
            <a:r>
              <a:rPr lang="en-ID" sz="2400" dirty="0" err="1">
                <a:solidFill>
                  <a:srgbClr val="000000"/>
                </a:solidFill>
              </a:rPr>
              <a:t>setara</a:t>
            </a:r>
            <a:r>
              <a:rPr lang="en-ID" sz="2400" dirty="0">
                <a:solidFill>
                  <a:srgbClr val="000000"/>
                </a:solidFill>
              </a:rPr>
              <a:t> </a:t>
            </a:r>
            <a:r>
              <a:rPr lang="en-ID" sz="2400" dirty="0" err="1">
                <a:solidFill>
                  <a:srgbClr val="000000"/>
                </a:solidFill>
              </a:rPr>
              <a:t>dengan</a:t>
            </a:r>
            <a:r>
              <a:rPr lang="en-ID" sz="2400" dirty="0">
                <a:solidFill>
                  <a:srgbClr val="000000"/>
                </a:solidFill>
              </a:rPr>
              <a:t> state lain. </a:t>
            </a:r>
            <a:r>
              <a:rPr lang="en-ID" sz="2400" dirty="0" err="1">
                <a:solidFill>
                  <a:srgbClr val="000000"/>
                </a:solidFill>
              </a:rPr>
              <a:t>Namun</a:t>
            </a:r>
            <a:r>
              <a:rPr lang="en-ID" sz="2400" dirty="0">
                <a:solidFill>
                  <a:srgbClr val="000000"/>
                </a:solidFill>
              </a:rPr>
              <a:t>, </a:t>
            </a:r>
            <a:r>
              <a:rPr lang="en-ID" sz="2400" dirty="0" err="1">
                <a:solidFill>
                  <a:srgbClr val="000000"/>
                </a:solidFill>
              </a:rPr>
              <a:t>seperti</a:t>
            </a:r>
            <a:r>
              <a:rPr lang="en-ID" sz="2400" dirty="0">
                <a:solidFill>
                  <a:srgbClr val="000000"/>
                </a:solidFill>
              </a:rPr>
              <a:t> yang </a:t>
            </a:r>
            <a:r>
              <a:rPr lang="en-ID" sz="2400" dirty="0" err="1">
                <a:solidFill>
                  <a:srgbClr val="000000"/>
                </a:solidFill>
              </a:rPr>
              <a:t>akan</a:t>
            </a:r>
            <a:r>
              <a:rPr lang="en-ID" sz="2400" dirty="0">
                <a:solidFill>
                  <a:srgbClr val="000000"/>
                </a:solidFill>
              </a:rPr>
              <a:t> </a:t>
            </a:r>
            <a:r>
              <a:rPr lang="en-ID" sz="2400" dirty="0" err="1">
                <a:solidFill>
                  <a:srgbClr val="000000"/>
                </a:solidFill>
              </a:rPr>
              <a:t>kita</a:t>
            </a:r>
            <a:r>
              <a:rPr lang="en-ID" sz="2400" dirty="0">
                <a:solidFill>
                  <a:srgbClr val="000000"/>
                </a:solidFill>
              </a:rPr>
              <a:t> </a:t>
            </a:r>
            <a:r>
              <a:rPr lang="en-ID" sz="2400" dirty="0" err="1">
                <a:solidFill>
                  <a:srgbClr val="000000"/>
                </a:solidFill>
              </a:rPr>
              <a:t>lihat</a:t>
            </a:r>
            <a:r>
              <a:rPr lang="en-ID" sz="2400" dirty="0">
                <a:solidFill>
                  <a:srgbClr val="000000"/>
                </a:solidFill>
              </a:rPr>
              <a:t> </a:t>
            </a:r>
            <a:r>
              <a:rPr lang="en-ID" sz="2400" dirty="0" err="1">
                <a:solidFill>
                  <a:srgbClr val="000000"/>
                </a:solidFill>
              </a:rPr>
              <a:t>dalam</a:t>
            </a:r>
            <a:r>
              <a:rPr lang="en-ID" sz="2400" dirty="0">
                <a:solidFill>
                  <a:srgbClr val="000000"/>
                </a:solidFill>
              </a:rPr>
              <a:t> </a:t>
            </a:r>
            <a:r>
              <a:rPr lang="en-ID" sz="2400" dirty="0" err="1">
                <a:solidFill>
                  <a:srgbClr val="000000"/>
                </a:solidFill>
              </a:rPr>
              <a:t>teorema</a:t>
            </a:r>
            <a:r>
              <a:rPr lang="en-ID" sz="2400" dirty="0">
                <a:solidFill>
                  <a:srgbClr val="000000"/>
                </a:solidFill>
              </a:rPr>
              <a:t> </a:t>
            </a:r>
            <a:r>
              <a:rPr lang="en-ID" sz="2400" dirty="0" err="1">
                <a:solidFill>
                  <a:srgbClr val="000000"/>
                </a:solidFill>
              </a:rPr>
              <a:t>berikut</a:t>
            </a:r>
            <a:r>
              <a:rPr lang="en-ID" sz="2400" dirty="0">
                <a:solidFill>
                  <a:srgbClr val="000000"/>
                </a:solidFill>
              </a:rPr>
              <a:t>, </a:t>
            </a:r>
            <a:r>
              <a:rPr lang="en-ID" sz="2400" dirty="0" err="1">
                <a:solidFill>
                  <a:srgbClr val="000000"/>
                </a:solidFill>
              </a:rPr>
              <a:t>situasi</a:t>
            </a:r>
            <a:r>
              <a:rPr lang="en-ID" sz="2400" dirty="0">
                <a:solidFill>
                  <a:srgbClr val="000000"/>
                </a:solidFill>
              </a:rPr>
              <a:t> </a:t>
            </a:r>
            <a:r>
              <a:rPr lang="en-ID" sz="2400" dirty="0" err="1">
                <a:solidFill>
                  <a:srgbClr val="000000"/>
                </a:solidFill>
              </a:rPr>
              <a:t>ini</a:t>
            </a:r>
            <a:r>
              <a:rPr lang="en-ID" sz="2400" dirty="0">
                <a:solidFill>
                  <a:srgbClr val="000000"/>
                </a:solidFill>
              </a:rPr>
              <a:t> </a:t>
            </a:r>
            <a:r>
              <a:rPr lang="en-ID" sz="2400" dirty="0" err="1">
                <a:solidFill>
                  <a:srgbClr val="000000"/>
                </a:solidFill>
              </a:rPr>
              <a:t>dijamin</a:t>
            </a:r>
            <a:r>
              <a:rPr lang="en-ID" sz="2400" dirty="0">
                <a:solidFill>
                  <a:srgbClr val="000000"/>
                </a:solidFill>
              </a:rPr>
              <a:t> oleh </a:t>
            </a:r>
            <a:r>
              <a:rPr lang="en-ID" sz="2400" dirty="0" err="1">
                <a:solidFill>
                  <a:srgbClr val="000000"/>
                </a:solidFill>
              </a:rPr>
              <a:t>definisi</a:t>
            </a:r>
            <a:r>
              <a:rPr lang="en-ID" sz="2400" dirty="0">
                <a:solidFill>
                  <a:srgbClr val="000000"/>
                </a:solidFill>
              </a:rPr>
              <a:t> "</a:t>
            </a:r>
            <a:r>
              <a:rPr lang="en-ID" sz="2400" dirty="0" err="1">
                <a:solidFill>
                  <a:srgbClr val="000000"/>
                </a:solidFill>
              </a:rPr>
              <a:t>ekuivalensi</a:t>
            </a:r>
            <a:r>
              <a:rPr lang="en-ID" sz="2400" dirty="0">
                <a:solidFill>
                  <a:srgbClr val="000000"/>
                </a:solidFill>
              </a:rPr>
              <a:t>" state.</a:t>
            </a:r>
            <a:endParaRPr lang="id-ID" sz="2400" dirty="0">
              <a:solidFill>
                <a:srgbClr val="000000"/>
              </a:solidFill>
              <a:latin typeface="Montserrat" panose="02000505000000020004"/>
            </a:endParaRPr>
          </a:p>
        </p:txBody>
      </p:sp>
      <p:pic>
        <p:nvPicPr>
          <p:cNvPr id="4" name="Picture 3">
            <a:extLst>
              <a:ext uri="{FF2B5EF4-FFF2-40B4-BE49-F238E27FC236}">
                <a16:creationId xmlns:a16="http://schemas.microsoft.com/office/drawing/2014/main" id="{81BE2770-11FD-49E2-9AF2-A579A6451C80}"/>
              </a:ext>
            </a:extLst>
          </p:cNvPr>
          <p:cNvPicPr>
            <a:picLocks noChangeAspect="1"/>
          </p:cNvPicPr>
          <p:nvPr/>
        </p:nvPicPr>
        <p:blipFill>
          <a:blip r:embed="rId2"/>
          <a:stretch>
            <a:fillRect/>
          </a:stretch>
        </p:blipFill>
        <p:spPr>
          <a:xfrm>
            <a:off x="5161280" y="1064421"/>
            <a:ext cx="3555999" cy="4076539"/>
          </a:xfrm>
          <a:prstGeom prst="rect">
            <a:avLst/>
          </a:prstGeom>
        </p:spPr>
      </p:pic>
    </p:spTree>
    <p:extLst>
      <p:ext uri="{BB962C8B-B14F-4D97-AF65-F5344CB8AC3E}">
        <p14:creationId xmlns:p14="http://schemas.microsoft.com/office/powerpoint/2010/main" val="2772009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Algoritma </a:t>
            </a:r>
            <a:r>
              <a:rPr lang="en-US" sz="2800" dirty="0" err="1"/>
              <a:t>Minimisasi</a:t>
            </a:r>
            <a:r>
              <a:rPr lang="en-US" sz="2800" dirty="0"/>
              <a:t> DFA(Hopcroft)</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algn="just"/>
            <a:r>
              <a:rPr lang="id-ID" sz="2800" dirty="0">
                <a:solidFill>
                  <a:srgbClr val="FF0000"/>
                </a:solidFill>
                <a:latin typeface="Montserrat" panose="02000505000000020004"/>
              </a:rPr>
              <a:t>Teorema</a:t>
            </a:r>
            <a:r>
              <a:rPr lang="id-ID" sz="2800" dirty="0">
                <a:solidFill>
                  <a:srgbClr val="000000"/>
                </a:solidFill>
                <a:latin typeface="Montserrat" panose="02000505000000020004"/>
              </a:rPr>
              <a:t>: </a:t>
            </a:r>
            <a:r>
              <a:rPr lang="en-ID" sz="3200" dirty="0" err="1">
                <a:solidFill>
                  <a:srgbClr val="000000"/>
                </a:solidFill>
              </a:rPr>
              <a:t>Kesetaraan</a:t>
            </a:r>
            <a:r>
              <a:rPr lang="en-ID" sz="3200" dirty="0">
                <a:solidFill>
                  <a:srgbClr val="000000"/>
                </a:solidFill>
              </a:rPr>
              <a:t> state </a:t>
            </a:r>
            <a:r>
              <a:rPr lang="en-ID" sz="3200" dirty="0" err="1">
                <a:solidFill>
                  <a:srgbClr val="000000"/>
                </a:solidFill>
              </a:rPr>
              <a:t>bersifat</a:t>
            </a:r>
            <a:r>
              <a:rPr lang="en-ID" sz="3200" dirty="0">
                <a:solidFill>
                  <a:srgbClr val="000000"/>
                </a:solidFill>
              </a:rPr>
              <a:t> </a:t>
            </a:r>
            <a:r>
              <a:rPr lang="en-ID" sz="3200" dirty="0" err="1">
                <a:solidFill>
                  <a:srgbClr val="000000"/>
                </a:solidFill>
              </a:rPr>
              <a:t>transitif</a:t>
            </a:r>
            <a:r>
              <a:rPr lang="en-ID" sz="3200" dirty="0">
                <a:solidFill>
                  <a:srgbClr val="000000"/>
                </a:solidFill>
              </a:rPr>
              <a:t>. </a:t>
            </a:r>
            <a:r>
              <a:rPr lang="en-ID" sz="3200" dirty="0" err="1">
                <a:solidFill>
                  <a:srgbClr val="000000"/>
                </a:solidFill>
              </a:rPr>
              <a:t>Artinya</a:t>
            </a:r>
            <a:r>
              <a:rPr lang="en-ID" sz="3200" dirty="0">
                <a:solidFill>
                  <a:srgbClr val="000000"/>
                </a:solidFill>
              </a:rPr>
              <a:t>, </a:t>
            </a:r>
            <a:r>
              <a:rPr lang="en-ID" sz="3200" dirty="0" err="1">
                <a:solidFill>
                  <a:srgbClr val="000000"/>
                </a:solidFill>
              </a:rPr>
              <a:t>jika</a:t>
            </a:r>
            <a:r>
              <a:rPr lang="en-ID" sz="3200" dirty="0">
                <a:solidFill>
                  <a:srgbClr val="000000"/>
                </a:solidFill>
              </a:rPr>
              <a:t> </a:t>
            </a:r>
            <a:r>
              <a:rPr lang="en-ID" sz="3200" dirty="0" err="1">
                <a:solidFill>
                  <a:srgbClr val="000000"/>
                </a:solidFill>
              </a:rPr>
              <a:t>dalam</a:t>
            </a:r>
            <a:r>
              <a:rPr lang="en-US" sz="2800" dirty="0">
                <a:solidFill>
                  <a:srgbClr val="000000"/>
                </a:solidFill>
                <a:latin typeface="Montserrat" panose="02000505000000020004"/>
              </a:rPr>
              <a:t> </a:t>
            </a:r>
            <a:r>
              <a:rPr lang="id-ID" sz="2800" dirty="0">
                <a:solidFill>
                  <a:srgbClr val="000000"/>
                </a:solidFill>
                <a:latin typeface="Montserrat" panose="02000505000000020004"/>
              </a:rPr>
              <a:t>beberapa DFA A = (</a:t>
            </a:r>
            <a:r>
              <a:rPr lang="en-US" sz="2800" dirty="0">
                <a:solidFill>
                  <a:srgbClr val="000000"/>
                </a:solidFill>
                <a:latin typeface="Montserrat" panose="02000505000000020004"/>
              </a:rPr>
              <a:t>Q, </a:t>
            </a:r>
            <a:r>
              <a:rPr lang="el-GR" sz="2800" dirty="0">
                <a:solidFill>
                  <a:srgbClr val="000000"/>
                </a:solidFill>
              </a:rPr>
              <a:t>Σ</a:t>
            </a:r>
            <a:r>
              <a:rPr lang="en-US" sz="2800" dirty="0">
                <a:solidFill>
                  <a:srgbClr val="000000"/>
                </a:solidFill>
              </a:rPr>
              <a:t>, </a:t>
            </a:r>
            <a:r>
              <a:rPr lang="el-GR" sz="2800" dirty="0">
                <a:solidFill>
                  <a:srgbClr val="000000"/>
                </a:solidFill>
              </a:rPr>
              <a:t>δ</a:t>
            </a:r>
            <a:r>
              <a:rPr lang="en-US" sz="2800" dirty="0">
                <a:solidFill>
                  <a:srgbClr val="000000"/>
                </a:solidFill>
              </a:rPr>
              <a:t>, q</a:t>
            </a:r>
            <a:r>
              <a:rPr lang="en-US" dirty="0">
                <a:solidFill>
                  <a:srgbClr val="000000"/>
                </a:solidFill>
              </a:rPr>
              <a:t>0</a:t>
            </a:r>
            <a:r>
              <a:rPr lang="en-US" sz="2800" dirty="0">
                <a:solidFill>
                  <a:srgbClr val="000000"/>
                </a:solidFill>
                <a:latin typeface="Montserrat" panose="02000505000000020004"/>
              </a:rPr>
              <a:t>, </a:t>
            </a:r>
            <a:r>
              <a:rPr lang="en-US" sz="2800" i="1" dirty="0">
                <a:solidFill>
                  <a:srgbClr val="000000"/>
                </a:solidFill>
                <a:latin typeface="Montserrat" panose="02000505000000020004"/>
              </a:rPr>
              <a:t>F). </a:t>
            </a:r>
            <a:r>
              <a:rPr lang="en-US" sz="2800" dirty="0">
                <a:solidFill>
                  <a:srgbClr val="000000"/>
                </a:solidFill>
                <a:latin typeface="Montserrat" panose="02000505000000020004"/>
              </a:rPr>
              <a:t>St</a:t>
            </a:r>
            <a:r>
              <a:rPr lang="es-ES" sz="3200" dirty="0">
                <a:solidFill>
                  <a:srgbClr val="000000"/>
                </a:solidFill>
              </a:rPr>
              <a:t>ate p dan q </a:t>
            </a:r>
            <a:r>
              <a:rPr lang="es-ES" sz="3200" dirty="0" err="1">
                <a:solidFill>
                  <a:srgbClr val="000000"/>
                </a:solidFill>
              </a:rPr>
              <a:t>setara</a:t>
            </a:r>
            <a:r>
              <a:rPr lang="es-ES" sz="3200" dirty="0">
                <a:solidFill>
                  <a:srgbClr val="000000"/>
                </a:solidFill>
              </a:rPr>
              <a:t>, </a:t>
            </a:r>
            <a:r>
              <a:rPr lang="es-ES" sz="3200" dirty="0" err="1">
                <a:solidFill>
                  <a:srgbClr val="000000"/>
                </a:solidFill>
              </a:rPr>
              <a:t>serta</a:t>
            </a:r>
            <a:r>
              <a:rPr lang="es-ES" sz="3200" dirty="0">
                <a:solidFill>
                  <a:srgbClr val="000000"/>
                </a:solidFill>
              </a:rPr>
              <a:t> q dan r </a:t>
            </a:r>
            <a:r>
              <a:rPr lang="es-ES" sz="3200" dirty="0" err="1">
                <a:solidFill>
                  <a:srgbClr val="000000"/>
                </a:solidFill>
              </a:rPr>
              <a:t>setara</a:t>
            </a:r>
            <a:r>
              <a:rPr lang="es-ES" sz="3200" dirty="0">
                <a:solidFill>
                  <a:srgbClr val="000000"/>
                </a:solidFill>
              </a:rPr>
              <a:t>, </a:t>
            </a:r>
            <a:r>
              <a:rPr lang="es-ES" sz="3200" dirty="0" err="1">
                <a:solidFill>
                  <a:srgbClr val="000000"/>
                </a:solidFill>
              </a:rPr>
              <a:t>maka</a:t>
            </a:r>
            <a:r>
              <a:rPr lang="es-ES" sz="3200" dirty="0">
                <a:solidFill>
                  <a:srgbClr val="000000"/>
                </a:solidFill>
              </a:rPr>
              <a:t> p dan r juga </a:t>
            </a:r>
            <a:r>
              <a:rPr lang="es-ES" sz="3200" dirty="0" err="1">
                <a:solidFill>
                  <a:srgbClr val="000000"/>
                </a:solidFill>
              </a:rPr>
              <a:t>setara</a:t>
            </a:r>
            <a:r>
              <a:rPr lang="es-ES" sz="3200" dirty="0">
                <a:solidFill>
                  <a:srgbClr val="000000"/>
                </a:solidFill>
              </a:rPr>
              <a:t>.</a:t>
            </a:r>
            <a:endParaRPr lang="en-US" sz="2800" dirty="0">
              <a:solidFill>
                <a:srgbClr val="000000"/>
              </a:solidFill>
              <a:latin typeface="Montserrat" panose="02000505000000020004"/>
            </a:endParaRPr>
          </a:p>
          <a:p>
            <a:pPr algn="just"/>
            <a:r>
              <a:rPr lang="id-ID" sz="2800" dirty="0">
                <a:solidFill>
                  <a:srgbClr val="FF0000"/>
                </a:solidFill>
                <a:latin typeface="Montserrat" panose="02000505000000020004"/>
              </a:rPr>
              <a:t>BUKTI:</a:t>
            </a:r>
            <a:r>
              <a:rPr lang="id-ID" sz="2800" dirty="0">
                <a:solidFill>
                  <a:srgbClr val="000000"/>
                </a:solidFill>
                <a:latin typeface="Montserrat" panose="02000505000000020004"/>
              </a:rPr>
              <a:t> Transitivitas adalah sifat yang diharapkan dari setiap hubungan "ekuivalensi." Namun, menyebut sesuatu "ekuivalensi" tidak otomatis membuatnya transitif; kita harus membuktikan bahwa hal itu benar.</a:t>
            </a:r>
          </a:p>
        </p:txBody>
      </p:sp>
    </p:spTree>
    <p:extLst>
      <p:ext uri="{BB962C8B-B14F-4D97-AF65-F5344CB8AC3E}">
        <p14:creationId xmlns:p14="http://schemas.microsoft.com/office/powerpoint/2010/main" val="2828658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p:txBody>
          <a:bodyPr>
            <a:normAutofit fontScale="90000"/>
          </a:bodyPr>
          <a:lstStyle/>
          <a:p>
            <a:r>
              <a:rPr lang="en-US" sz="2800" dirty="0"/>
              <a:t>Algoritma </a:t>
            </a:r>
            <a:r>
              <a:rPr lang="en-US" sz="2800" dirty="0" err="1"/>
              <a:t>Minimisasi</a:t>
            </a:r>
            <a:r>
              <a:rPr lang="en-US" sz="2800" dirty="0"/>
              <a:t> DFA(Hopcroft)</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algn="just"/>
            <a:r>
              <a:rPr lang="en-ID" sz="2800" dirty="0" err="1">
                <a:solidFill>
                  <a:srgbClr val="000000"/>
                </a:solidFill>
              </a:rPr>
              <a:t>Misalkan</a:t>
            </a:r>
            <a:r>
              <a:rPr lang="en-ID" sz="2800" dirty="0">
                <a:solidFill>
                  <a:srgbClr val="000000"/>
                </a:solidFill>
              </a:rPr>
              <a:t> {</a:t>
            </a:r>
            <a:r>
              <a:rPr lang="en-ID" sz="2800" dirty="0" err="1">
                <a:solidFill>
                  <a:srgbClr val="000000"/>
                </a:solidFill>
              </a:rPr>
              <a:t>p,q</a:t>
            </a:r>
            <a:r>
              <a:rPr lang="en-ID" sz="2800" dirty="0">
                <a:solidFill>
                  <a:srgbClr val="000000"/>
                </a:solidFill>
              </a:rPr>
              <a:t>} dan {</a:t>
            </a:r>
            <a:r>
              <a:rPr lang="en-ID" sz="2800" dirty="0" err="1">
                <a:solidFill>
                  <a:srgbClr val="000000"/>
                </a:solidFill>
              </a:rPr>
              <a:t>q,r</a:t>
            </a:r>
            <a:r>
              <a:rPr lang="en-ID" sz="2800" dirty="0">
                <a:solidFill>
                  <a:srgbClr val="000000"/>
                </a:solidFill>
              </a:rPr>
              <a:t>} </a:t>
            </a:r>
            <a:r>
              <a:rPr lang="en-ID" sz="2800" dirty="0" err="1">
                <a:solidFill>
                  <a:srgbClr val="000000"/>
                </a:solidFill>
              </a:rPr>
              <a:t>ekuivalen</a:t>
            </a:r>
            <a:r>
              <a:rPr lang="en-ID" sz="2800" dirty="0">
                <a:solidFill>
                  <a:srgbClr val="000000"/>
                </a:solidFill>
              </a:rPr>
              <a:t>, </a:t>
            </a:r>
            <a:r>
              <a:rPr lang="en-ID" sz="2800" dirty="0" err="1">
                <a:solidFill>
                  <a:srgbClr val="000000"/>
                </a:solidFill>
              </a:rPr>
              <a:t>tetapi</a:t>
            </a:r>
            <a:r>
              <a:rPr lang="en-ID" sz="2800" dirty="0">
                <a:solidFill>
                  <a:srgbClr val="000000"/>
                </a:solidFill>
              </a:rPr>
              <a:t> {</a:t>
            </a:r>
            <a:r>
              <a:rPr lang="en-ID" sz="2800" dirty="0" err="1">
                <a:solidFill>
                  <a:srgbClr val="000000"/>
                </a:solidFill>
              </a:rPr>
              <a:t>p,r</a:t>
            </a:r>
            <a:r>
              <a:rPr lang="en-ID" sz="2800" dirty="0">
                <a:solidFill>
                  <a:srgbClr val="000000"/>
                </a:solidFill>
              </a:rPr>
              <a:t>} </a:t>
            </a:r>
            <a:r>
              <a:rPr lang="en-ID" sz="2800" dirty="0" err="1">
                <a:solidFill>
                  <a:srgbClr val="000000"/>
                </a:solidFill>
              </a:rPr>
              <a:t>bisa</a:t>
            </a:r>
            <a:r>
              <a:rPr lang="en-ID" sz="2800" dirty="0">
                <a:solidFill>
                  <a:srgbClr val="000000"/>
                </a:solidFill>
              </a:rPr>
              <a:t> </a:t>
            </a:r>
            <a:r>
              <a:rPr lang="en-ID" sz="2800" dirty="0" err="1">
                <a:solidFill>
                  <a:srgbClr val="000000"/>
                </a:solidFill>
              </a:rPr>
              <a:t>dibedakan</a:t>
            </a:r>
            <a:r>
              <a:rPr lang="en-ID" sz="2800" dirty="0">
                <a:solidFill>
                  <a:srgbClr val="000000"/>
                </a:solidFill>
              </a:rPr>
              <a:t>. </a:t>
            </a:r>
            <a:r>
              <a:rPr lang="en-ID" sz="2800" dirty="0" err="1">
                <a:solidFill>
                  <a:srgbClr val="000000"/>
                </a:solidFill>
              </a:rPr>
              <a:t>Maka</a:t>
            </a:r>
            <a:r>
              <a:rPr lang="en-ID" sz="2800" dirty="0">
                <a:solidFill>
                  <a:srgbClr val="000000"/>
                </a:solidFill>
              </a:rPr>
              <a:t> </a:t>
            </a:r>
            <a:r>
              <a:rPr lang="en-ID" sz="2800" dirty="0" err="1">
                <a:solidFill>
                  <a:srgbClr val="000000"/>
                </a:solidFill>
              </a:rPr>
              <a:t>ada</a:t>
            </a:r>
            <a:r>
              <a:rPr lang="en-ID" sz="2800" dirty="0">
                <a:solidFill>
                  <a:srgbClr val="000000"/>
                </a:solidFill>
              </a:rPr>
              <a:t> string </a:t>
            </a:r>
            <a:r>
              <a:rPr lang="en-ID" sz="2800" dirty="0" err="1">
                <a:solidFill>
                  <a:srgbClr val="000000"/>
                </a:solidFill>
              </a:rPr>
              <a:t>masukan</a:t>
            </a:r>
            <a:r>
              <a:rPr lang="en-ID" sz="2800" dirty="0">
                <a:solidFill>
                  <a:srgbClr val="000000"/>
                </a:solidFill>
              </a:rPr>
              <a:t> w di mana salah </a:t>
            </a:r>
            <a:r>
              <a:rPr lang="en-ID" sz="2800" dirty="0" err="1">
                <a:solidFill>
                  <a:srgbClr val="000000"/>
                </a:solidFill>
              </a:rPr>
              <a:t>satu</a:t>
            </a:r>
            <a:r>
              <a:rPr lang="en-ID" sz="2800" dirty="0">
                <a:solidFill>
                  <a:srgbClr val="000000"/>
                </a:solidFill>
              </a:rPr>
              <a:t> </a:t>
            </a:r>
            <a:r>
              <a:rPr lang="en-ID" sz="2800" dirty="0" err="1">
                <a:solidFill>
                  <a:srgbClr val="000000"/>
                </a:solidFill>
              </a:rPr>
              <a:t>dari</a:t>
            </a:r>
            <a:r>
              <a:rPr lang="en-ID" sz="2800" dirty="0">
                <a:solidFill>
                  <a:srgbClr val="000000"/>
                </a:solidFill>
              </a:rPr>
              <a:t> </a:t>
            </a:r>
            <a:r>
              <a:rPr lang="el-GR" sz="2800" dirty="0">
                <a:solidFill>
                  <a:srgbClr val="000000"/>
                </a:solidFill>
              </a:rPr>
              <a:t>δ(</a:t>
            </a:r>
            <a:r>
              <a:rPr lang="en-ID" sz="2800" dirty="0">
                <a:solidFill>
                  <a:srgbClr val="000000"/>
                </a:solidFill>
              </a:rPr>
              <a:t>p, w) </a:t>
            </a:r>
            <a:r>
              <a:rPr lang="en-ID" sz="2800" dirty="0" err="1">
                <a:solidFill>
                  <a:srgbClr val="000000"/>
                </a:solidFill>
              </a:rPr>
              <a:t>atau</a:t>
            </a:r>
            <a:r>
              <a:rPr lang="en-ID" sz="2800" dirty="0">
                <a:solidFill>
                  <a:srgbClr val="000000"/>
                </a:solidFill>
              </a:rPr>
              <a:t> </a:t>
            </a:r>
            <a:r>
              <a:rPr lang="el-GR" sz="2800" dirty="0">
                <a:solidFill>
                  <a:srgbClr val="000000"/>
                </a:solidFill>
              </a:rPr>
              <a:t>δ(</a:t>
            </a:r>
            <a:r>
              <a:rPr lang="en-ID" sz="2800" dirty="0">
                <a:solidFill>
                  <a:srgbClr val="000000"/>
                </a:solidFill>
              </a:rPr>
              <a:t>r, w) </a:t>
            </a:r>
            <a:r>
              <a:rPr lang="en-ID" sz="2800" dirty="0" err="1">
                <a:solidFill>
                  <a:srgbClr val="000000"/>
                </a:solidFill>
              </a:rPr>
              <a:t>adalah</a:t>
            </a:r>
            <a:r>
              <a:rPr lang="en-ID" sz="2800" dirty="0">
                <a:solidFill>
                  <a:srgbClr val="000000"/>
                </a:solidFill>
              </a:rPr>
              <a:t> state yang </a:t>
            </a:r>
            <a:r>
              <a:rPr lang="en-ID" sz="2800" dirty="0" err="1">
                <a:solidFill>
                  <a:srgbClr val="000000"/>
                </a:solidFill>
              </a:rPr>
              <a:t>menerima</a:t>
            </a:r>
            <a:r>
              <a:rPr lang="en-ID" sz="2800" dirty="0">
                <a:solidFill>
                  <a:srgbClr val="000000"/>
                </a:solidFill>
              </a:rPr>
              <a:t>. </a:t>
            </a:r>
            <a:r>
              <a:rPr lang="en-ID" sz="2800" dirty="0" err="1">
                <a:solidFill>
                  <a:srgbClr val="000000"/>
                </a:solidFill>
              </a:rPr>
              <a:t>Misal</a:t>
            </a:r>
            <a:r>
              <a:rPr lang="en-ID" sz="2800" dirty="0">
                <a:solidFill>
                  <a:srgbClr val="000000"/>
                </a:solidFill>
              </a:rPr>
              <a:t>, </a:t>
            </a:r>
            <a:r>
              <a:rPr lang="el-GR" sz="2800" dirty="0">
                <a:solidFill>
                  <a:srgbClr val="000000"/>
                </a:solidFill>
              </a:rPr>
              <a:t>δ(</a:t>
            </a:r>
            <a:r>
              <a:rPr lang="en-ID" sz="2800" dirty="0">
                <a:solidFill>
                  <a:srgbClr val="000000"/>
                </a:solidFill>
              </a:rPr>
              <a:t>p, w) </a:t>
            </a:r>
            <a:r>
              <a:rPr lang="en-ID" sz="2800" dirty="0" err="1">
                <a:solidFill>
                  <a:srgbClr val="000000"/>
                </a:solidFill>
              </a:rPr>
              <a:t>menerima</a:t>
            </a:r>
            <a:r>
              <a:rPr lang="en-ID" sz="2800" dirty="0">
                <a:solidFill>
                  <a:srgbClr val="000000"/>
                </a:solidFill>
              </a:rPr>
              <a:t>. </a:t>
            </a:r>
          </a:p>
          <a:p>
            <a:pPr algn="just"/>
            <a:r>
              <a:rPr lang="en-ID" sz="2800" dirty="0" err="1">
                <a:solidFill>
                  <a:srgbClr val="000000"/>
                </a:solidFill>
              </a:rPr>
              <a:t>Sekarang</a:t>
            </a:r>
            <a:r>
              <a:rPr lang="en-ID" sz="2800" dirty="0">
                <a:solidFill>
                  <a:srgbClr val="000000"/>
                </a:solidFill>
              </a:rPr>
              <a:t>, </a:t>
            </a:r>
            <a:r>
              <a:rPr lang="en-ID" sz="2800" dirty="0" err="1">
                <a:solidFill>
                  <a:srgbClr val="000000"/>
                </a:solidFill>
              </a:rPr>
              <a:t>lihat</a:t>
            </a:r>
            <a:r>
              <a:rPr lang="en-ID" sz="2800" dirty="0">
                <a:solidFill>
                  <a:srgbClr val="000000"/>
                </a:solidFill>
              </a:rPr>
              <a:t> </a:t>
            </a:r>
            <a:r>
              <a:rPr lang="en-ID" sz="2800" dirty="0" err="1">
                <a:solidFill>
                  <a:srgbClr val="000000"/>
                </a:solidFill>
              </a:rPr>
              <a:t>apakah</a:t>
            </a:r>
            <a:r>
              <a:rPr lang="en-ID" sz="2800" dirty="0">
                <a:solidFill>
                  <a:srgbClr val="000000"/>
                </a:solidFill>
              </a:rPr>
              <a:t> </a:t>
            </a:r>
            <a:r>
              <a:rPr lang="el-GR" sz="2800" dirty="0">
                <a:solidFill>
                  <a:srgbClr val="000000"/>
                </a:solidFill>
              </a:rPr>
              <a:t>δ(</a:t>
            </a:r>
            <a:r>
              <a:rPr lang="en-ID" sz="2800" dirty="0">
                <a:solidFill>
                  <a:srgbClr val="000000"/>
                </a:solidFill>
              </a:rPr>
              <a:t>q, w) </a:t>
            </a:r>
            <a:r>
              <a:rPr lang="en-ID" sz="2800" dirty="0" err="1">
                <a:solidFill>
                  <a:srgbClr val="000000"/>
                </a:solidFill>
              </a:rPr>
              <a:t>menerima</a:t>
            </a:r>
            <a:r>
              <a:rPr lang="en-ID" sz="2800" dirty="0">
                <a:solidFill>
                  <a:srgbClr val="000000"/>
                </a:solidFill>
              </a:rPr>
              <a:t>. </a:t>
            </a:r>
            <a:r>
              <a:rPr lang="en-ID" sz="2800" dirty="0" err="1">
                <a:solidFill>
                  <a:srgbClr val="000000"/>
                </a:solidFill>
              </a:rPr>
              <a:t>Jika</a:t>
            </a:r>
            <a:r>
              <a:rPr lang="en-ID" sz="2800" dirty="0">
                <a:solidFill>
                  <a:srgbClr val="000000"/>
                </a:solidFill>
              </a:rPr>
              <a:t> </a:t>
            </a:r>
            <a:r>
              <a:rPr lang="en-ID" sz="2800" dirty="0" err="1">
                <a:solidFill>
                  <a:srgbClr val="000000"/>
                </a:solidFill>
              </a:rPr>
              <a:t>ya</a:t>
            </a:r>
            <a:r>
              <a:rPr lang="en-ID" sz="2800" dirty="0">
                <a:solidFill>
                  <a:srgbClr val="000000"/>
                </a:solidFill>
              </a:rPr>
              <a:t>, </a:t>
            </a:r>
            <a:r>
              <a:rPr lang="en-ID" sz="2800" dirty="0" err="1">
                <a:solidFill>
                  <a:srgbClr val="000000"/>
                </a:solidFill>
              </a:rPr>
              <a:t>maka</a:t>
            </a:r>
            <a:r>
              <a:rPr lang="en-ID" sz="2800" dirty="0">
                <a:solidFill>
                  <a:srgbClr val="000000"/>
                </a:solidFill>
              </a:rPr>
              <a:t> {q, r} </a:t>
            </a:r>
            <a:r>
              <a:rPr lang="en-ID" sz="2800" dirty="0" err="1">
                <a:solidFill>
                  <a:srgbClr val="000000"/>
                </a:solidFill>
              </a:rPr>
              <a:t>bisa</a:t>
            </a:r>
            <a:r>
              <a:rPr lang="en-ID" sz="2800" dirty="0">
                <a:solidFill>
                  <a:srgbClr val="000000"/>
                </a:solidFill>
              </a:rPr>
              <a:t> </a:t>
            </a:r>
            <a:r>
              <a:rPr lang="en-ID" sz="2800" dirty="0" err="1">
                <a:solidFill>
                  <a:srgbClr val="000000"/>
                </a:solidFill>
              </a:rPr>
              <a:t>dibedakan</a:t>
            </a:r>
            <a:r>
              <a:rPr lang="en-ID" sz="2800" dirty="0">
                <a:solidFill>
                  <a:srgbClr val="000000"/>
                </a:solidFill>
              </a:rPr>
              <a:t> </a:t>
            </a:r>
            <a:r>
              <a:rPr lang="en-ID" sz="2800" dirty="0" err="1">
                <a:solidFill>
                  <a:srgbClr val="000000"/>
                </a:solidFill>
              </a:rPr>
              <a:t>karena</a:t>
            </a:r>
            <a:r>
              <a:rPr lang="en-ID" sz="2800" dirty="0">
                <a:solidFill>
                  <a:srgbClr val="000000"/>
                </a:solidFill>
              </a:rPr>
              <a:t> </a:t>
            </a:r>
            <a:r>
              <a:rPr lang="el-GR" sz="2800" dirty="0">
                <a:solidFill>
                  <a:srgbClr val="000000"/>
                </a:solidFill>
              </a:rPr>
              <a:t>δ(</a:t>
            </a:r>
            <a:r>
              <a:rPr lang="en-ID" sz="2800" dirty="0">
                <a:solidFill>
                  <a:srgbClr val="000000"/>
                </a:solidFill>
              </a:rPr>
              <a:t>q, w) </a:t>
            </a:r>
            <a:r>
              <a:rPr lang="en-ID" sz="2800" dirty="0" err="1">
                <a:solidFill>
                  <a:srgbClr val="000000"/>
                </a:solidFill>
              </a:rPr>
              <a:t>menerima</a:t>
            </a:r>
            <a:r>
              <a:rPr lang="en-ID" sz="2800" dirty="0">
                <a:solidFill>
                  <a:srgbClr val="000000"/>
                </a:solidFill>
              </a:rPr>
              <a:t> dan </a:t>
            </a:r>
            <a:r>
              <a:rPr lang="el-GR" sz="2800" dirty="0">
                <a:solidFill>
                  <a:srgbClr val="000000"/>
                </a:solidFill>
              </a:rPr>
              <a:t>δ(</a:t>
            </a:r>
            <a:r>
              <a:rPr lang="en-ID" sz="2800" dirty="0">
                <a:solidFill>
                  <a:srgbClr val="000000"/>
                </a:solidFill>
              </a:rPr>
              <a:t>r, w) </a:t>
            </a:r>
            <a:r>
              <a:rPr lang="en-ID" sz="2800" dirty="0" err="1">
                <a:solidFill>
                  <a:srgbClr val="000000"/>
                </a:solidFill>
              </a:rPr>
              <a:t>tidak</a:t>
            </a:r>
            <a:r>
              <a:rPr lang="en-ID" sz="2800" dirty="0">
                <a:solidFill>
                  <a:srgbClr val="000000"/>
                </a:solidFill>
              </a:rPr>
              <a:t>. </a:t>
            </a:r>
            <a:r>
              <a:rPr lang="en-ID" sz="2800" dirty="0" err="1">
                <a:solidFill>
                  <a:srgbClr val="000000"/>
                </a:solidFill>
              </a:rPr>
              <a:t>Jika</a:t>
            </a:r>
            <a:r>
              <a:rPr lang="en-ID" sz="2800" dirty="0">
                <a:solidFill>
                  <a:srgbClr val="000000"/>
                </a:solidFill>
              </a:rPr>
              <a:t> </a:t>
            </a:r>
            <a:r>
              <a:rPr lang="en-ID" sz="2800" dirty="0" err="1">
                <a:solidFill>
                  <a:srgbClr val="000000"/>
                </a:solidFill>
              </a:rPr>
              <a:t>tidak</a:t>
            </a:r>
            <a:r>
              <a:rPr lang="en-ID" sz="2800" dirty="0">
                <a:solidFill>
                  <a:srgbClr val="000000"/>
                </a:solidFill>
              </a:rPr>
              <a:t>, </a:t>
            </a:r>
            <a:r>
              <a:rPr lang="en-ID" sz="2800" dirty="0" err="1">
                <a:solidFill>
                  <a:srgbClr val="000000"/>
                </a:solidFill>
              </a:rPr>
              <a:t>maka</a:t>
            </a:r>
            <a:r>
              <a:rPr lang="en-ID" sz="2800" dirty="0">
                <a:solidFill>
                  <a:srgbClr val="000000"/>
                </a:solidFill>
              </a:rPr>
              <a:t> {p, q} </a:t>
            </a:r>
            <a:r>
              <a:rPr lang="en-ID" sz="2800" dirty="0" err="1">
                <a:solidFill>
                  <a:srgbClr val="000000"/>
                </a:solidFill>
              </a:rPr>
              <a:t>bisa</a:t>
            </a:r>
            <a:r>
              <a:rPr lang="en-ID" sz="2800" dirty="0">
                <a:solidFill>
                  <a:srgbClr val="000000"/>
                </a:solidFill>
              </a:rPr>
              <a:t> </a:t>
            </a:r>
            <a:r>
              <a:rPr lang="en-ID" sz="2800" dirty="0" err="1">
                <a:solidFill>
                  <a:srgbClr val="000000"/>
                </a:solidFill>
              </a:rPr>
              <a:t>dibedakan</a:t>
            </a:r>
            <a:r>
              <a:rPr lang="en-ID" sz="2800" dirty="0">
                <a:solidFill>
                  <a:srgbClr val="000000"/>
                </a:solidFill>
              </a:rPr>
              <a:t> </a:t>
            </a:r>
            <a:r>
              <a:rPr lang="en-ID" sz="2800" dirty="0" err="1">
                <a:solidFill>
                  <a:srgbClr val="000000"/>
                </a:solidFill>
              </a:rPr>
              <a:t>dengan</a:t>
            </a:r>
            <a:r>
              <a:rPr lang="en-ID" sz="2800" dirty="0">
                <a:solidFill>
                  <a:srgbClr val="000000"/>
                </a:solidFill>
              </a:rPr>
              <a:t> </a:t>
            </a:r>
            <a:r>
              <a:rPr lang="en-ID" sz="2800" dirty="0" err="1">
                <a:solidFill>
                  <a:srgbClr val="000000"/>
                </a:solidFill>
              </a:rPr>
              <a:t>alasan</a:t>
            </a:r>
            <a:r>
              <a:rPr lang="en-ID" sz="2800" dirty="0">
                <a:solidFill>
                  <a:srgbClr val="000000"/>
                </a:solidFill>
              </a:rPr>
              <a:t> yang </a:t>
            </a:r>
            <a:r>
              <a:rPr lang="en-ID" sz="2800" dirty="0" err="1">
                <a:solidFill>
                  <a:srgbClr val="000000"/>
                </a:solidFill>
              </a:rPr>
              <a:t>sama</a:t>
            </a:r>
            <a:r>
              <a:rPr lang="en-ID" sz="2800" dirty="0">
                <a:solidFill>
                  <a:srgbClr val="000000"/>
                </a:solidFill>
              </a:rPr>
              <a:t>. </a:t>
            </a:r>
            <a:r>
              <a:rPr lang="en-ID" sz="2800" dirty="0" err="1">
                <a:solidFill>
                  <a:srgbClr val="000000"/>
                </a:solidFill>
              </a:rPr>
              <a:t>Ini</a:t>
            </a:r>
            <a:r>
              <a:rPr lang="en-ID" sz="2800" dirty="0">
                <a:solidFill>
                  <a:srgbClr val="000000"/>
                </a:solidFill>
              </a:rPr>
              <a:t> </a:t>
            </a:r>
            <a:r>
              <a:rPr lang="en-ID" sz="2800" dirty="0" err="1">
                <a:solidFill>
                  <a:srgbClr val="000000"/>
                </a:solidFill>
              </a:rPr>
              <a:t>menghasilkan</a:t>
            </a:r>
            <a:r>
              <a:rPr lang="en-ID" sz="2800" dirty="0">
                <a:solidFill>
                  <a:srgbClr val="000000"/>
                </a:solidFill>
              </a:rPr>
              <a:t> </a:t>
            </a:r>
            <a:r>
              <a:rPr lang="en-ID" sz="2800" dirty="0" err="1">
                <a:solidFill>
                  <a:srgbClr val="000000"/>
                </a:solidFill>
              </a:rPr>
              <a:t>kontradiksi</a:t>
            </a:r>
            <a:r>
              <a:rPr lang="en-ID" sz="2800" dirty="0">
                <a:solidFill>
                  <a:srgbClr val="000000"/>
                </a:solidFill>
              </a:rPr>
              <a:t>, </a:t>
            </a:r>
            <a:r>
              <a:rPr lang="en-ID" sz="2800" dirty="0" err="1">
                <a:solidFill>
                  <a:srgbClr val="000000"/>
                </a:solidFill>
              </a:rPr>
              <a:t>sehingga</a:t>
            </a:r>
            <a:r>
              <a:rPr lang="en-ID" sz="2800" dirty="0">
                <a:solidFill>
                  <a:srgbClr val="000000"/>
                </a:solidFill>
              </a:rPr>
              <a:t> {</a:t>
            </a:r>
            <a:r>
              <a:rPr lang="en-ID" sz="2800" dirty="0" err="1">
                <a:solidFill>
                  <a:srgbClr val="000000"/>
                </a:solidFill>
              </a:rPr>
              <a:t>p,r</a:t>
            </a:r>
            <a:r>
              <a:rPr lang="en-ID" sz="2800" dirty="0">
                <a:solidFill>
                  <a:srgbClr val="000000"/>
                </a:solidFill>
              </a:rPr>
              <a:t>} </a:t>
            </a:r>
            <a:r>
              <a:rPr lang="en-ID" sz="2800" dirty="0" err="1">
                <a:solidFill>
                  <a:srgbClr val="000000"/>
                </a:solidFill>
              </a:rPr>
              <a:t>tidak</a:t>
            </a:r>
            <a:r>
              <a:rPr lang="en-ID" sz="2800" dirty="0">
                <a:solidFill>
                  <a:srgbClr val="000000"/>
                </a:solidFill>
              </a:rPr>
              <a:t> </a:t>
            </a:r>
            <a:r>
              <a:rPr lang="en-ID" sz="2800" dirty="0" err="1">
                <a:solidFill>
                  <a:srgbClr val="000000"/>
                </a:solidFill>
              </a:rPr>
              <a:t>dapat</a:t>
            </a:r>
            <a:r>
              <a:rPr lang="en-ID" sz="2800" dirty="0">
                <a:solidFill>
                  <a:srgbClr val="000000"/>
                </a:solidFill>
              </a:rPr>
              <a:t> </a:t>
            </a:r>
            <a:r>
              <a:rPr lang="en-ID" sz="2800" dirty="0" err="1">
                <a:solidFill>
                  <a:srgbClr val="000000"/>
                </a:solidFill>
              </a:rPr>
              <a:t>dibedakan</a:t>
            </a:r>
            <a:r>
              <a:rPr lang="en-ID" sz="2800" dirty="0">
                <a:solidFill>
                  <a:srgbClr val="000000"/>
                </a:solidFill>
              </a:rPr>
              <a:t> dan </a:t>
            </a:r>
            <a:r>
              <a:rPr lang="en-ID" sz="2800" dirty="0" err="1">
                <a:solidFill>
                  <a:srgbClr val="000000"/>
                </a:solidFill>
              </a:rPr>
              <a:t>harus</a:t>
            </a:r>
            <a:r>
              <a:rPr lang="en-ID" sz="2800" dirty="0">
                <a:solidFill>
                  <a:srgbClr val="000000"/>
                </a:solidFill>
              </a:rPr>
              <a:t> </a:t>
            </a:r>
            <a:r>
              <a:rPr lang="en-ID" sz="2800" dirty="0" err="1">
                <a:solidFill>
                  <a:srgbClr val="000000"/>
                </a:solidFill>
              </a:rPr>
              <a:t>ekuivalen</a:t>
            </a:r>
            <a:r>
              <a:rPr lang="en-ID" sz="2800" dirty="0">
                <a:solidFill>
                  <a:srgbClr val="000000"/>
                </a:solidFill>
              </a:rPr>
              <a:t>.</a:t>
            </a:r>
            <a:endParaRPr lang="id-ID" sz="2600" dirty="0">
              <a:solidFill>
                <a:srgbClr val="000000"/>
              </a:solidFill>
              <a:latin typeface="Montserrat" panose="02000505000000020004"/>
            </a:endParaRPr>
          </a:p>
        </p:txBody>
      </p:sp>
    </p:spTree>
    <p:extLst>
      <p:ext uri="{BB962C8B-B14F-4D97-AF65-F5344CB8AC3E}">
        <p14:creationId xmlns:p14="http://schemas.microsoft.com/office/powerpoint/2010/main" val="4010967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323212"/>
            <a:ext cx="8049837" cy="446952"/>
          </a:xfrm>
        </p:spPr>
        <p:txBody>
          <a:bodyPr>
            <a:normAutofit fontScale="90000"/>
          </a:bodyPr>
          <a:lstStyle/>
          <a:p>
            <a:r>
              <a:rPr lang="en-US" sz="2800" dirty="0"/>
              <a:t>Algoritma </a:t>
            </a:r>
            <a:r>
              <a:rPr lang="en-US" sz="2800" dirty="0" err="1"/>
              <a:t>Minimisasi</a:t>
            </a:r>
            <a:r>
              <a:rPr lang="en-US" sz="2800" dirty="0"/>
              <a:t> DFA(</a:t>
            </a:r>
            <a:r>
              <a:rPr lang="en-US" sz="2800" dirty="0" err="1"/>
              <a:t>Teorema</a:t>
            </a:r>
            <a:r>
              <a:rPr lang="en-US" sz="2800" dirty="0"/>
              <a:t> 4.23)</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algn="just"/>
            <a:r>
              <a:rPr lang="id-ID" sz="2400" dirty="0">
                <a:solidFill>
                  <a:srgbClr val="FF0000"/>
                </a:solidFill>
                <a:latin typeface="Montserrat" panose="02000505000000020004"/>
              </a:rPr>
              <a:t>Teorema 4.23</a:t>
            </a:r>
            <a:r>
              <a:rPr lang="id-ID" sz="2400" dirty="0">
                <a:solidFill>
                  <a:srgbClr val="000000"/>
                </a:solidFill>
                <a:latin typeface="Montserrat" panose="02000505000000020004"/>
              </a:rPr>
              <a:t> </a:t>
            </a:r>
            <a:r>
              <a:rPr lang="en-US" sz="2400" dirty="0">
                <a:solidFill>
                  <a:srgbClr val="000000"/>
                </a:solidFill>
                <a:latin typeface="Montserrat" panose="02000505000000020004"/>
              </a:rPr>
              <a:t>dapat </a:t>
            </a:r>
            <a:r>
              <a:rPr lang="en-US" sz="2400" dirty="0" err="1">
                <a:solidFill>
                  <a:srgbClr val="000000"/>
                </a:solidFill>
                <a:latin typeface="Montserrat" panose="02000505000000020004"/>
              </a:rPr>
              <a:t>digunakan</a:t>
            </a:r>
            <a:r>
              <a:rPr lang="en-US" sz="2400" dirty="0">
                <a:solidFill>
                  <a:srgbClr val="000000"/>
                </a:solidFill>
                <a:latin typeface="Montserrat" panose="02000505000000020004"/>
              </a:rPr>
              <a:t> </a:t>
            </a:r>
            <a:r>
              <a:rPr lang="id-ID" sz="2400" dirty="0">
                <a:solidFill>
                  <a:srgbClr val="000000"/>
                </a:solidFill>
                <a:latin typeface="Montserrat" panose="02000505000000020004"/>
              </a:rPr>
              <a:t>untuk mendukung algoritma pemartisian state. Untuk setiap state q, buat blok yang terdiri dari q dan state lain yang ekuivalen dengannya. Blok-blok ini membentuk partisi, artinya tidak ada state yang muncul di dua blok berbeda.Pertama, semua state dalam satu blok saling ekuivalen. Jadi, jika p dan r ada dalam blok yang ekuivalen dengan q, maka p dan r juga setara menurut Teorema 4.23. </a:t>
            </a:r>
            <a:endParaRPr lang="en-US" sz="2400" dirty="0">
              <a:solidFill>
                <a:srgbClr val="000000"/>
              </a:solidFill>
              <a:latin typeface="Montserrat" panose="02000505000000020004"/>
            </a:endParaRPr>
          </a:p>
          <a:p>
            <a:pPr algn="just"/>
            <a:r>
              <a:rPr lang="id-ID" sz="2400" dirty="0">
                <a:solidFill>
                  <a:srgbClr val="000000"/>
                </a:solidFill>
                <a:latin typeface="Montserrat" panose="02000505000000020004"/>
              </a:rPr>
              <a:t>Misalkan ada dua blok yang tumpang tindih tetapi berbeda. Jika blok B mencakup p dan q, sedangkan blok C mencakup p tetapi tidak q, maka karena p dan q setara, q harus ada di C. Jadi, blok C terbentuk dari state s yang ekuivalen, dan q harus ada di C juga, sehingga tidak ada tumpang tindih.</a:t>
            </a:r>
          </a:p>
        </p:txBody>
      </p:sp>
    </p:spTree>
    <p:extLst>
      <p:ext uri="{BB962C8B-B14F-4D97-AF65-F5344CB8AC3E}">
        <p14:creationId xmlns:p14="http://schemas.microsoft.com/office/powerpoint/2010/main" val="2660996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323212"/>
            <a:ext cx="8070157" cy="446952"/>
          </a:xfrm>
        </p:spPr>
        <p:txBody>
          <a:bodyPr>
            <a:normAutofit fontScale="90000"/>
          </a:bodyPr>
          <a:lstStyle/>
          <a:p>
            <a:r>
              <a:rPr lang="en-US" sz="2800" dirty="0"/>
              <a:t>Algoritma </a:t>
            </a:r>
            <a:r>
              <a:rPr lang="en-US" sz="2800" dirty="0" err="1"/>
              <a:t>Minimisasi</a:t>
            </a:r>
            <a:r>
              <a:rPr lang="en-US" sz="2800" dirty="0"/>
              <a:t> DFA(</a:t>
            </a:r>
            <a:r>
              <a:rPr lang="en-US" sz="2800" dirty="0" err="1"/>
              <a:t>Teorema</a:t>
            </a:r>
            <a:r>
              <a:rPr lang="en-US" sz="2800" dirty="0"/>
              <a:t> 4.23)</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algn="just"/>
            <a:r>
              <a:rPr lang="id-ID" sz="2400" dirty="0">
                <a:solidFill>
                  <a:srgbClr val="000000"/>
                </a:solidFill>
                <a:latin typeface="Montserrat" panose="02000505000000020004"/>
              </a:rPr>
              <a:t>Kita tahu bahwa p ekuivalen dengan s, karena p berada di blok C. Kita juga tahu bahwa p ekuivalen dengan q karena keduanya bersama-sama berada di blok B. Dengan transitivitas Teorema 4.23, q ekuivalen dengan s. Tetapi kemudian q berada di blok C, sebuah kontradiksi. </a:t>
            </a:r>
            <a:r>
              <a:rPr lang="en-US" sz="2400" dirty="0">
                <a:solidFill>
                  <a:srgbClr val="000000"/>
                </a:solidFill>
                <a:latin typeface="Montserrat" panose="02000505000000020004"/>
              </a:rPr>
              <a:t>Dapat </a:t>
            </a:r>
            <a:r>
              <a:rPr lang="en-US" sz="2400" dirty="0" err="1">
                <a:solidFill>
                  <a:srgbClr val="000000"/>
                </a:solidFill>
                <a:latin typeface="Montserrat" panose="02000505000000020004"/>
              </a:rPr>
              <a:t>disimpulkan</a:t>
            </a:r>
            <a:r>
              <a:rPr lang="en-US" sz="2400" dirty="0">
                <a:solidFill>
                  <a:srgbClr val="000000"/>
                </a:solidFill>
                <a:latin typeface="Montserrat" panose="02000505000000020004"/>
              </a:rPr>
              <a:t> </a:t>
            </a:r>
            <a:r>
              <a:rPr lang="id-ID" sz="2400" dirty="0">
                <a:solidFill>
                  <a:srgbClr val="000000"/>
                </a:solidFill>
                <a:latin typeface="Montserrat" panose="02000505000000020004"/>
              </a:rPr>
              <a:t>bahwa ekuivalensi keadaan mempartisi keadaan-keadaan; </a:t>
            </a:r>
            <a:endParaRPr lang="en-US" sz="2400" dirty="0">
              <a:solidFill>
                <a:srgbClr val="000000"/>
              </a:solidFill>
              <a:latin typeface="Montserrat" panose="02000505000000020004"/>
            </a:endParaRPr>
          </a:p>
          <a:p>
            <a:pPr algn="just"/>
            <a:r>
              <a:rPr lang="id-ID" sz="2400" dirty="0">
                <a:solidFill>
                  <a:srgbClr val="000000"/>
                </a:solidFill>
                <a:latin typeface="Montserrat" panose="02000505000000020004"/>
              </a:rPr>
              <a:t>yaitu, dua keadaan memiliki himpunan yang sama dari keadaan-keadaan yang ekuivalen (termasuk diri mereka sendiri), atau keadaan-keadaan ekuivalen mereka terpisah. Sebagai kesimpulan dari analisis di atas: </a:t>
            </a:r>
          </a:p>
        </p:txBody>
      </p:sp>
    </p:spTree>
    <p:extLst>
      <p:ext uri="{BB962C8B-B14F-4D97-AF65-F5344CB8AC3E}">
        <p14:creationId xmlns:p14="http://schemas.microsoft.com/office/powerpoint/2010/main" val="3124909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323212"/>
            <a:ext cx="7724717" cy="446952"/>
          </a:xfrm>
        </p:spPr>
        <p:txBody>
          <a:bodyPr>
            <a:normAutofit fontScale="90000"/>
          </a:bodyPr>
          <a:lstStyle/>
          <a:p>
            <a:r>
              <a:rPr lang="en-US" sz="2800" dirty="0"/>
              <a:t>Algoritma </a:t>
            </a:r>
            <a:r>
              <a:rPr lang="en-US" sz="2800" dirty="0" err="1"/>
              <a:t>Minimisasi</a:t>
            </a:r>
            <a:r>
              <a:rPr lang="en-US" sz="2800" dirty="0"/>
              <a:t> DFA(</a:t>
            </a:r>
            <a:r>
              <a:rPr lang="en-US" sz="2800" dirty="0" err="1"/>
              <a:t>Teorema</a:t>
            </a:r>
            <a:r>
              <a:rPr lang="en-US" sz="2800" dirty="0"/>
              <a:t> 4.24)</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Autofit/>
          </a:bodyPr>
          <a:lstStyle/>
          <a:p>
            <a:pPr algn="just"/>
            <a:r>
              <a:rPr lang="en-US" sz="2000" dirty="0" err="1">
                <a:solidFill>
                  <a:srgbClr val="000000"/>
                </a:solidFill>
                <a:latin typeface="Montserrat" panose="02000505000000020004"/>
              </a:rPr>
              <a:t>Teorema</a:t>
            </a:r>
            <a:r>
              <a:rPr lang="en-US" sz="2000" dirty="0">
                <a:solidFill>
                  <a:srgbClr val="000000"/>
                </a:solidFill>
                <a:latin typeface="Montserrat" panose="02000505000000020004"/>
              </a:rPr>
              <a:t> 4.24: </a:t>
            </a:r>
            <a:r>
              <a:rPr lang="en-US" sz="2000" dirty="0" err="1">
                <a:solidFill>
                  <a:srgbClr val="000000"/>
                </a:solidFill>
                <a:latin typeface="Montserrat" panose="02000505000000020004"/>
              </a:rPr>
              <a:t>Jika</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kita</a:t>
            </a:r>
            <a:r>
              <a:rPr lang="en-US" sz="2000" dirty="0">
                <a:solidFill>
                  <a:srgbClr val="000000"/>
                </a:solidFill>
                <a:latin typeface="Montserrat" panose="02000505000000020004"/>
              </a:rPr>
              <a:t> membuat untuk </a:t>
            </a:r>
            <a:r>
              <a:rPr lang="en-US" sz="2000" dirty="0" err="1">
                <a:solidFill>
                  <a:srgbClr val="000000"/>
                </a:solidFill>
                <a:latin typeface="Montserrat" panose="02000505000000020004"/>
              </a:rPr>
              <a:t>setiap</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keadaan</a:t>
            </a:r>
            <a:r>
              <a:rPr lang="en-US" sz="2000" dirty="0">
                <a:solidFill>
                  <a:srgbClr val="000000"/>
                </a:solidFill>
                <a:latin typeface="Montserrat" panose="02000505000000020004"/>
              </a:rPr>
              <a:t> q </a:t>
            </a:r>
            <a:r>
              <a:rPr lang="en-US" sz="2000" dirty="0" err="1">
                <a:solidFill>
                  <a:srgbClr val="000000"/>
                </a:solidFill>
                <a:latin typeface="Montserrat" panose="02000505000000020004"/>
              </a:rPr>
              <a:t>dari</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sebuah</a:t>
            </a:r>
            <a:r>
              <a:rPr lang="en-US" sz="2000" dirty="0">
                <a:solidFill>
                  <a:srgbClr val="000000"/>
                </a:solidFill>
                <a:latin typeface="Montserrat" panose="02000505000000020004"/>
              </a:rPr>
              <a:t> DFA </a:t>
            </a:r>
            <a:r>
              <a:rPr lang="en-US" sz="2000" dirty="0" err="1">
                <a:solidFill>
                  <a:srgbClr val="000000"/>
                </a:solidFill>
                <a:latin typeface="Montserrat" panose="02000505000000020004"/>
              </a:rPr>
              <a:t>sebuah</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blok</a:t>
            </a:r>
            <a:r>
              <a:rPr lang="en-US" sz="2000" dirty="0">
                <a:solidFill>
                  <a:srgbClr val="000000"/>
                </a:solidFill>
                <a:latin typeface="Montserrat" panose="02000505000000020004"/>
              </a:rPr>
              <a:t> yang </a:t>
            </a:r>
            <a:r>
              <a:rPr lang="en-US" sz="2000" dirty="0" err="1">
                <a:solidFill>
                  <a:srgbClr val="000000"/>
                </a:solidFill>
                <a:latin typeface="Montserrat" panose="02000505000000020004"/>
              </a:rPr>
              <a:t>terdiri</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dari</a:t>
            </a:r>
            <a:r>
              <a:rPr lang="en-US" sz="2000" dirty="0">
                <a:solidFill>
                  <a:srgbClr val="000000"/>
                </a:solidFill>
                <a:latin typeface="Montserrat" panose="02000505000000020004"/>
              </a:rPr>
              <a:t> q dan semua </a:t>
            </a:r>
            <a:r>
              <a:rPr lang="en-US" sz="2000" dirty="0" err="1">
                <a:solidFill>
                  <a:srgbClr val="000000"/>
                </a:solidFill>
                <a:latin typeface="Montserrat" panose="02000505000000020004"/>
              </a:rPr>
              <a:t>keadaan</a:t>
            </a:r>
            <a:r>
              <a:rPr lang="en-US" sz="2000" dirty="0">
                <a:solidFill>
                  <a:srgbClr val="000000"/>
                </a:solidFill>
                <a:latin typeface="Montserrat" panose="02000505000000020004"/>
              </a:rPr>
              <a:t> yang </a:t>
            </a:r>
            <a:r>
              <a:rPr lang="en-US" sz="2000" dirty="0" err="1">
                <a:solidFill>
                  <a:srgbClr val="000000"/>
                </a:solidFill>
                <a:latin typeface="Montserrat" panose="02000505000000020004"/>
              </a:rPr>
              <a:t>setara</a:t>
            </a:r>
            <a:r>
              <a:rPr lang="en-US" sz="2000" dirty="0">
                <a:solidFill>
                  <a:srgbClr val="000000"/>
                </a:solidFill>
                <a:latin typeface="Montserrat" panose="02000505000000020004"/>
              </a:rPr>
              <a:t> dengan q, maka </a:t>
            </a:r>
            <a:r>
              <a:rPr lang="en-US" sz="2000" dirty="0" err="1">
                <a:solidFill>
                  <a:srgbClr val="000000"/>
                </a:solidFill>
                <a:latin typeface="Montserrat" panose="02000505000000020004"/>
              </a:rPr>
              <a:t>blok-blok</a:t>
            </a:r>
            <a:r>
              <a:rPr lang="en-US" sz="2000" dirty="0">
                <a:solidFill>
                  <a:srgbClr val="000000"/>
                </a:solidFill>
                <a:latin typeface="Montserrat" panose="02000505000000020004"/>
              </a:rPr>
              <a:t> yang berbeda </a:t>
            </a:r>
            <a:r>
              <a:rPr lang="en-US" sz="2000" dirty="0" err="1">
                <a:solidFill>
                  <a:srgbClr val="000000"/>
                </a:solidFill>
                <a:latin typeface="Montserrat" panose="02000505000000020004"/>
              </a:rPr>
              <a:t>dari</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keadaan-keadaan</a:t>
            </a:r>
            <a:r>
              <a:rPr lang="en-US" sz="2000" dirty="0">
                <a:solidFill>
                  <a:srgbClr val="000000"/>
                </a:solidFill>
                <a:latin typeface="Montserrat" panose="02000505000000020004"/>
              </a:rPr>
              <a:t> tersebut membentuk </a:t>
            </a:r>
            <a:r>
              <a:rPr lang="en-US" sz="2000" dirty="0" err="1">
                <a:solidFill>
                  <a:srgbClr val="000000"/>
                </a:solidFill>
                <a:latin typeface="Montserrat" panose="02000505000000020004"/>
              </a:rPr>
              <a:t>sebuah</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partisi</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dari</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himpunan</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keadaan</a:t>
            </a:r>
            <a:r>
              <a:rPr lang="en-US" sz="2000" dirty="0">
                <a:solidFill>
                  <a:srgbClr val="000000"/>
                </a:solidFill>
                <a:latin typeface="Montserrat" panose="02000505000000020004"/>
              </a:rPr>
              <a:t>. Artinya, </a:t>
            </a:r>
            <a:r>
              <a:rPr lang="en-US" sz="2000" dirty="0" err="1">
                <a:solidFill>
                  <a:srgbClr val="000000"/>
                </a:solidFill>
                <a:latin typeface="Montserrat" panose="02000505000000020004"/>
              </a:rPr>
              <a:t>setiap</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keadaan</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berada</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dalam</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satu</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blok</a:t>
            </a:r>
            <a:r>
              <a:rPr lang="en-US" sz="2000" dirty="0">
                <a:solidFill>
                  <a:srgbClr val="000000"/>
                </a:solidFill>
                <a:latin typeface="Montserrat" panose="02000505000000020004"/>
              </a:rPr>
              <a:t>. Semua anggota </a:t>
            </a:r>
            <a:r>
              <a:rPr lang="en-US" sz="2000" dirty="0" err="1">
                <a:solidFill>
                  <a:srgbClr val="000000"/>
                </a:solidFill>
                <a:latin typeface="Montserrat" panose="02000505000000020004"/>
              </a:rPr>
              <a:t>dari</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sebuah</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blok</a:t>
            </a:r>
            <a:r>
              <a:rPr lang="en-US" sz="2000" dirty="0">
                <a:solidFill>
                  <a:srgbClr val="000000"/>
                </a:solidFill>
                <a:latin typeface="Montserrat" panose="02000505000000020004"/>
              </a:rPr>
              <a:t> adalah </a:t>
            </a:r>
            <a:r>
              <a:rPr lang="en-US" sz="2000" dirty="0" err="1">
                <a:solidFill>
                  <a:srgbClr val="000000"/>
                </a:solidFill>
                <a:latin typeface="Montserrat" panose="02000505000000020004"/>
              </a:rPr>
              <a:t>ekuivalen</a:t>
            </a:r>
            <a:r>
              <a:rPr lang="en-US" sz="2000" dirty="0">
                <a:solidFill>
                  <a:srgbClr val="000000"/>
                </a:solidFill>
                <a:latin typeface="Montserrat" panose="02000505000000020004"/>
              </a:rPr>
              <a:t>, dan </a:t>
            </a:r>
            <a:r>
              <a:rPr lang="en-US" sz="2000" dirty="0" err="1">
                <a:solidFill>
                  <a:srgbClr val="000000"/>
                </a:solidFill>
                <a:latin typeface="Montserrat" panose="02000505000000020004"/>
              </a:rPr>
              <a:t>tidak</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ada</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pasangan</a:t>
            </a:r>
            <a:r>
              <a:rPr lang="en-US" sz="2000" dirty="0">
                <a:solidFill>
                  <a:srgbClr val="000000"/>
                </a:solidFill>
                <a:latin typeface="Montserrat" panose="02000505000000020004"/>
              </a:rPr>
              <a:t> state yang dipilih </a:t>
            </a:r>
            <a:r>
              <a:rPr lang="en-US" sz="2000" dirty="0" err="1">
                <a:solidFill>
                  <a:srgbClr val="000000"/>
                </a:solidFill>
                <a:latin typeface="Montserrat" panose="02000505000000020004"/>
              </a:rPr>
              <a:t>dari</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blok</a:t>
            </a:r>
            <a:r>
              <a:rPr lang="en-US" sz="2000" dirty="0">
                <a:solidFill>
                  <a:srgbClr val="000000"/>
                </a:solidFill>
                <a:latin typeface="Montserrat" panose="02000505000000020004"/>
              </a:rPr>
              <a:t> yang berbeda yang </a:t>
            </a:r>
            <a:r>
              <a:rPr lang="en-US" sz="2000" dirty="0" err="1">
                <a:solidFill>
                  <a:srgbClr val="000000"/>
                </a:solidFill>
                <a:latin typeface="Montserrat" panose="02000505000000020004"/>
              </a:rPr>
              <a:t>ekuivalen</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Sekarang</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kita</a:t>
            </a:r>
            <a:r>
              <a:rPr lang="en-US" sz="2000" dirty="0">
                <a:solidFill>
                  <a:srgbClr val="000000"/>
                </a:solidFill>
                <a:latin typeface="Montserrat" panose="02000505000000020004"/>
              </a:rPr>
              <a:t> bisa </a:t>
            </a:r>
            <a:r>
              <a:rPr lang="en-US" sz="2000" dirty="0" err="1">
                <a:solidFill>
                  <a:srgbClr val="000000"/>
                </a:solidFill>
                <a:latin typeface="Montserrat" panose="02000505000000020004"/>
              </a:rPr>
              <a:t>menyatakan</a:t>
            </a:r>
            <a:r>
              <a:rPr lang="en-US" sz="2000" dirty="0">
                <a:solidFill>
                  <a:srgbClr val="000000"/>
                </a:solidFill>
                <a:latin typeface="Montserrat" panose="02000505000000020004"/>
              </a:rPr>
              <a:t> secara </a:t>
            </a:r>
            <a:r>
              <a:rPr lang="en-US" sz="2000" dirty="0" err="1">
                <a:solidFill>
                  <a:srgbClr val="000000"/>
                </a:solidFill>
                <a:latin typeface="Montserrat" panose="02000505000000020004"/>
              </a:rPr>
              <a:t>ringkas</a:t>
            </a:r>
            <a:r>
              <a:rPr lang="en-US" sz="2000" dirty="0">
                <a:solidFill>
                  <a:srgbClr val="000000"/>
                </a:solidFill>
                <a:latin typeface="Montserrat" panose="02000505000000020004"/>
              </a:rPr>
              <a:t> algoritma untuk </a:t>
            </a:r>
            <a:r>
              <a:rPr lang="en-US" sz="2000" dirty="0" err="1">
                <a:solidFill>
                  <a:srgbClr val="000000"/>
                </a:solidFill>
                <a:latin typeface="Montserrat" panose="02000505000000020004"/>
              </a:rPr>
              <a:t>meminimalkan</a:t>
            </a:r>
            <a:r>
              <a:rPr lang="en-US" sz="2000" dirty="0">
                <a:solidFill>
                  <a:srgbClr val="000000"/>
                </a:solidFill>
                <a:latin typeface="Montserrat" panose="02000505000000020004"/>
              </a:rPr>
              <a:t> DFA A = (Q, </a:t>
            </a:r>
            <a:r>
              <a:rPr lang="el-GR" sz="2000" dirty="0">
                <a:solidFill>
                  <a:srgbClr val="000000"/>
                </a:solidFill>
                <a:latin typeface="Montserrat" panose="02000505000000020004"/>
              </a:rPr>
              <a:t>Σ, δ, </a:t>
            </a:r>
            <a:r>
              <a:rPr lang="en-US" sz="2000" dirty="0">
                <a:solidFill>
                  <a:srgbClr val="000000"/>
                </a:solidFill>
                <a:latin typeface="Montserrat" panose="02000505000000020004"/>
              </a:rPr>
              <a:t>q0, F) </a:t>
            </a:r>
          </a:p>
          <a:p>
            <a:pPr marL="514350" indent="-514350" algn="just">
              <a:buFont typeface="+mj-lt"/>
              <a:buAutoNum type="arabicPeriod"/>
            </a:pPr>
            <a:r>
              <a:rPr lang="en-US" sz="2000" dirty="0" err="1">
                <a:solidFill>
                  <a:srgbClr val="000000"/>
                </a:solidFill>
                <a:latin typeface="Montserrat" panose="02000505000000020004"/>
              </a:rPr>
              <a:t>Gunakan</a:t>
            </a:r>
            <a:r>
              <a:rPr lang="en-US" sz="2000" dirty="0">
                <a:solidFill>
                  <a:srgbClr val="000000"/>
                </a:solidFill>
                <a:latin typeface="Montserrat" panose="02000505000000020004"/>
              </a:rPr>
              <a:t> algoritma </a:t>
            </a:r>
            <a:r>
              <a:rPr lang="en-US" sz="2000" dirty="0" err="1">
                <a:solidFill>
                  <a:srgbClr val="000000"/>
                </a:solidFill>
                <a:latin typeface="Montserrat" panose="02000505000000020004"/>
              </a:rPr>
              <a:t>pengisian</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tabel</a:t>
            </a:r>
            <a:r>
              <a:rPr lang="en-US" sz="2000" dirty="0">
                <a:solidFill>
                  <a:srgbClr val="000000"/>
                </a:solidFill>
                <a:latin typeface="Montserrat" panose="02000505000000020004"/>
              </a:rPr>
              <a:t> untuk menemukan semua </a:t>
            </a:r>
            <a:r>
              <a:rPr lang="en-US" sz="2000" dirty="0" err="1">
                <a:solidFill>
                  <a:srgbClr val="000000"/>
                </a:solidFill>
                <a:latin typeface="Montserrat" panose="02000505000000020004"/>
              </a:rPr>
              <a:t>pasangan</a:t>
            </a:r>
            <a:r>
              <a:rPr lang="en-US" sz="2000" dirty="0">
                <a:solidFill>
                  <a:srgbClr val="000000"/>
                </a:solidFill>
                <a:latin typeface="Montserrat" panose="02000505000000020004"/>
              </a:rPr>
              <a:t> state yang </a:t>
            </a:r>
            <a:r>
              <a:rPr lang="en-US" sz="2000" dirty="0" err="1">
                <a:solidFill>
                  <a:srgbClr val="000000"/>
                </a:solidFill>
                <a:latin typeface="Montserrat" panose="02000505000000020004"/>
              </a:rPr>
              <a:t>setara</a:t>
            </a:r>
            <a:r>
              <a:rPr lang="en-US" sz="2000" dirty="0">
                <a:solidFill>
                  <a:srgbClr val="000000"/>
                </a:solidFill>
                <a:latin typeface="Montserrat" panose="02000505000000020004"/>
              </a:rPr>
              <a:t>. </a:t>
            </a:r>
          </a:p>
          <a:p>
            <a:pPr marL="514350" indent="-514350" algn="just">
              <a:buFont typeface="+mj-lt"/>
              <a:buAutoNum type="arabicPeriod"/>
            </a:pPr>
            <a:r>
              <a:rPr lang="en-US" sz="2000" dirty="0" err="1">
                <a:solidFill>
                  <a:srgbClr val="000000"/>
                </a:solidFill>
                <a:latin typeface="Montserrat" panose="02000505000000020004"/>
              </a:rPr>
              <a:t>Pisahkan</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himpunan</a:t>
            </a:r>
            <a:r>
              <a:rPr lang="en-US" sz="2000" dirty="0">
                <a:solidFill>
                  <a:srgbClr val="000000"/>
                </a:solidFill>
                <a:latin typeface="Montserrat" panose="02000505000000020004"/>
              </a:rPr>
              <a:t> state Q menjadi </a:t>
            </a:r>
            <a:r>
              <a:rPr lang="en-US" sz="2000" dirty="0" err="1">
                <a:solidFill>
                  <a:srgbClr val="000000"/>
                </a:solidFill>
                <a:latin typeface="Montserrat" panose="02000505000000020004"/>
              </a:rPr>
              <a:t>blok-blok</a:t>
            </a:r>
            <a:r>
              <a:rPr lang="en-US" sz="2000" dirty="0">
                <a:solidFill>
                  <a:srgbClr val="000000"/>
                </a:solidFill>
                <a:latin typeface="Montserrat" panose="02000505000000020004"/>
              </a:rPr>
              <a:t> yang saling </a:t>
            </a:r>
            <a:r>
              <a:rPr lang="en-US" sz="2000" dirty="0" err="1">
                <a:solidFill>
                  <a:srgbClr val="000000"/>
                </a:solidFill>
                <a:latin typeface="Montserrat" panose="02000505000000020004"/>
              </a:rPr>
              <a:t>ekuivalen</a:t>
            </a:r>
            <a:r>
              <a:rPr lang="en-US" sz="2000" dirty="0">
                <a:solidFill>
                  <a:srgbClr val="000000"/>
                </a:solidFill>
                <a:latin typeface="Montserrat" panose="02000505000000020004"/>
              </a:rPr>
              <a:t>. state dengan metode yang </a:t>
            </a:r>
            <a:r>
              <a:rPr lang="en-US" sz="2000" dirty="0" err="1">
                <a:solidFill>
                  <a:srgbClr val="000000"/>
                </a:solidFill>
                <a:latin typeface="Montserrat" panose="02000505000000020004"/>
              </a:rPr>
              <a:t>dijelaskan</a:t>
            </a:r>
            <a:r>
              <a:rPr lang="en-US" sz="2000" dirty="0">
                <a:solidFill>
                  <a:srgbClr val="000000"/>
                </a:solidFill>
                <a:latin typeface="Montserrat" panose="02000505000000020004"/>
              </a:rPr>
              <a:t> di </a:t>
            </a:r>
            <a:r>
              <a:rPr lang="en-US" sz="2000" dirty="0" err="1">
                <a:solidFill>
                  <a:srgbClr val="000000"/>
                </a:solidFill>
                <a:latin typeface="Montserrat" panose="02000505000000020004"/>
              </a:rPr>
              <a:t>atas.Translated</a:t>
            </a:r>
            <a:r>
              <a:rPr lang="en-US" sz="2000" dirty="0">
                <a:solidFill>
                  <a:srgbClr val="000000"/>
                </a:solidFill>
                <a:latin typeface="Montserrat" panose="02000505000000020004"/>
              </a:rPr>
              <a:t> with DeepL.com (free version)</a:t>
            </a:r>
            <a:endParaRPr lang="id-ID" sz="2000" dirty="0">
              <a:solidFill>
                <a:srgbClr val="000000"/>
              </a:solidFill>
              <a:latin typeface="Montserrat" panose="02000505000000020004"/>
            </a:endParaRPr>
          </a:p>
        </p:txBody>
      </p:sp>
    </p:spTree>
    <p:extLst>
      <p:ext uri="{BB962C8B-B14F-4D97-AF65-F5344CB8AC3E}">
        <p14:creationId xmlns:p14="http://schemas.microsoft.com/office/powerpoint/2010/main" val="2843559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323212"/>
            <a:ext cx="6983037" cy="446952"/>
          </a:xfrm>
        </p:spPr>
        <p:txBody>
          <a:bodyPr>
            <a:normAutofit fontScale="90000"/>
          </a:bodyPr>
          <a:lstStyle/>
          <a:p>
            <a:r>
              <a:rPr lang="en-US" sz="2800" dirty="0"/>
              <a:t>Algoritma </a:t>
            </a:r>
            <a:r>
              <a:rPr lang="en-US" sz="2800" dirty="0" err="1"/>
              <a:t>Minimisasi</a:t>
            </a:r>
            <a:r>
              <a:rPr lang="en-US" sz="2800" dirty="0"/>
              <a:t> DFA(</a:t>
            </a:r>
            <a:r>
              <a:rPr lang="en-US" sz="2800" dirty="0" err="1"/>
              <a:t>Teorema</a:t>
            </a:r>
            <a:r>
              <a:rPr lang="en-US" sz="2800" dirty="0"/>
              <a:t> 4.24)</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5623822"/>
          </a:xfrm>
        </p:spPr>
        <p:txBody>
          <a:bodyPr>
            <a:normAutofit/>
          </a:bodyPr>
          <a:lstStyle/>
          <a:p>
            <a:pPr marL="457200" indent="-457200" algn="just">
              <a:buFont typeface="+mj-lt"/>
              <a:buAutoNum type="arabicPeriod" startAt="3"/>
            </a:pPr>
            <a:r>
              <a:rPr lang="en-US" sz="2400" dirty="0" err="1">
                <a:solidFill>
                  <a:srgbClr val="000000"/>
                </a:solidFill>
                <a:latin typeface="Montserrat" panose="02000505000000020004"/>
                <a:cs typeface="Times New Roman" panose="02020603050405020304" pitchFamily="18" charset="0"/>
              </a:rPr>
              <a:t>Untuk</a:t>
            </a:r>
            <a:r>
              <a:rPr lang="en-US" sz="2400" dirty="0">
                <a:solidFill>
                  <a:srgbClr val="000000"/>
                </a:solidFill>
                <a:latin typeface="Montserrat" panose="02000505000000020004"/>
                <a:cs typeface="Times New Roman" panose="02020603050405020304" pitchFamily="18" charset="0"/>
              </a:rPr>
              <a:t> membuat DFA minimum B yang </a:t>
            </a:r>
            <a:r>
              <a:rPr lang="en-US" sz="2400" dirty="0" err="1">
                <a:solidFill>
                  <a:srgbClr val="000000"/>
                </a:solidFill>
                <a:latin typeface="Montserrat" panose="02000505000000020004"/>
                <a:cs typeface="Times New Roman" panose="02020603050405020304" pitchFamily="18" charset="0"/>
              </a:rPr>
              <a:t>ekuivalen</a:t>
            </a:r>
            <a:r>
              <a:rPr lang="en-US" sz="2400" dirty="0">
                <a:solidFill>
                  <a:srgbClr val="000000"/>
                </a:solidFill>
                <a:latin typeface="Montserrat" panose="02000505000000020004"/>
                <a:cs typeface="Times New Roman" panose="02020603050405020304" pitchFamily="18" charset="0"/>
              </a:rPr>
              <a:t>, </a:t>
            </a:r>
            <a:r>
              <a:rPr lang="en-US" sz="2400" dirty="0" err="1">
                <a:solidFill>
                  <a:srgbClr val="000000"/>
                </a:solidFill>
                <a:latin typeface="Montserrat" panose="02000505000000020004"/>
                <a:cs typeface="Times New Roman" panose="02020603050405020304" pitchFamily="18" charset="0"/>
              </a:rPr>
              <a:t>gunakan</a:t>
            </a:r>
            <a:r>
              <a:rPr lang="en-US" sz="2400" dirty="0">
                <a:solidFill>
                  <a:srgbClr val="000000"/>
                </a:solidFill>
                <a:latin typeface="Montserrat" panose="02000505000000020004"/>
                <a:cs typeface="Times New Roman" panose="02020603050405020304" pitchFamily="18" charset="0"/>
              </a:rPr>
              <a:t> </a:t>
            </a:r>
            <a:r>
              <a:rPr lang="en-US" sz="2400" dirty="0" err="1">
                <a:solidFill>
                  <a:srgbClr val="000000"/>
                </a:solidFill>
                <a:latin typeface="Montserrat" panose="02000505000000020004"/>
                <a:cs typeface="Times New Roman" panose="02020603050405020304" pitchFamily="18" charset="0"/>
              </a:rPr>
              <a:t>blok-blok</a:t>
            </a:r>
            <a:r>
              <a:rPr lang="en-US" sz="2400" dirty="0">
                <a:solidFill>
                  <a:srgbClr val="000000"/>
                </a:solidFill>
                <a:latin typeface="Montserrat" panose="02000505000000020004"/>
                <a:cs typeface="Times New Roman" panose="02020603050405020304" pitchFamily="18" charset="0"/>
              </a:rPr>
              <a:t> </a:t>
            </a:r>
            <a:r>
              <a:rPr lang="en-US" sz="2400" dirty="0" err="1">
                <a:solidFill>
                  <a:srgbClr val="000000"/>
                </a:solidFill>
                <a:latin typeface="Montserrat" panose="02000505000000020004"/>
                <a:cs typeface="Times New Roman" panose="02020603050405020304" pitchFamily="18" charset="0"/>
              </a:rPr>
              <a:t>sebagai</a:t>
            </a:r>
            <a:r>
              <a:rPr lang="en-US" sz="2400" dirty="0">
                <a:solidFill>
                  <a:srgbClr val="000000"/>
                </a:solidFill>
                <a:latin typeface="Montserrat" panose="02000505000000020004"/>
                <a:cs typeface="Times New Roman" panose="02020603050405020304" pitchFamily="18" charset="0"/>
              </a:rPr>
              <a:t> state-</a:t>
            </a:r>
            <a:r>
              <a:rPr lang="en-US" sz="2400" dirty="0" err="1">
                <a:solidFill>
                  <a:srgbClr val="000000"/>
                </a:solidFill>
                <a:latin typeface="Montserrat" panose="02000505000000020004"/>
                <a:cs typeface="Times New Roman" panose="02020603050405020304" pitchFamily="18" charset="0"/>
              </a:rPr>
              <a:t>nya</a:t>
            </a:r>
            <a:r>
              <a:rPr lang="en-US" sz="2400" dirty="0">
                <a:solidFill>
                  <a:srgbClr val="000000"/>
                </a:solidFill>
                <a:latin typeface="Montserrat" panose="02000505000000020004"/>
                <a:cs typeface="Times New Roman" panose="02020603050405020304" pitchFamily="18" charset="0"/>
              </a:rPr>
              <a:t>. </a:t>
            </a:r>
            <a:r>
              <a:rPr lang="en-US" sz="2400" dirty="0" err="1">
                <a:solidFill>
                  <a:srgbClr val="000000"/>
                </a:solidFill>
                <a:latin typeface="Montserrat" panose="02000505000000020004"/>
                <a:cs typeface="Times New Roman" panose="02020603050405020304" pitchFamily="18" charset="0"/>
              </a:rPr>
              <a:t>Misalkan</a:t>
            </a:r>
            <a:r>
              <a:rPr lang="en-US" sz="2400" dirty="0">
                <a:solidFill>
                  <a:srgbClr val="000000"/>
                </a:solidFill>
                <a:latin typeface="Montserrat" panose="02000505000000020004"/>
                <a:cs typeface="Times New Roman" panose="02020603050405020304" pitchFamily="18" charset="0"/>
              </a:rPr>
              <a:t> </a:t>
            </a:r>
            <a:r>
              <a:rPr lang="el-GR" sz="2400" dirty="0">
                <a:solidFill>
                  <a:srgbClr val="000000"/>
                </a:solidFill>
                <a:latin typeface="Montserrat" panose="02000505000000020004"/>
                <a:cs typeface="Times New Roman" panose="02020603050405020304" pitchFamily="18" charset="0"/>
              </a:rPr>
              <a:t>γ </a:t>
            </a:r>
            <a:r>
              <a:rPr lang="en-US" sz="2400" dirty="0">
                <a:solidFill>
                  <a:srgbClr val="000000"/>
                </a:solidFill>
                <a:latin typeface="Montserrat" panose="02000505000000020004"/>
                <a:cs typeface="Times New Roman" panose="02020603050405020304" pitchFamily="18" charset="0"/>
              </a:rPr>
              <a:t>adalah </a:t>
            </a:r>
            <a:r>
              <a:rPr lang="en-US" sz="2400" dirty="0" err="1">
                <a:solidFill>
                  <a:srgbClr val="000000"/>
                </a:solidFill>
                <a:latin typeface="Montserrat" panose="02000505000000020004"/>
                <a:cs typeface="Times New Roman" panose="02020603050405020304" pitchFamily="18" charset="0"/>
              </a:rPr>
              <a:t>fungsi</a:t>
            </a:r>
            <a:r>
              <a:rPr lang="en-US" sz="2400" dirty="0">
                <a:solidFill>
                  <a:srgbClr val="000000"/>
                </a:solidFill>
                <a:latin typeface="Montserrat" panose="02000505000000020004"/>
                <a:cs typeface="Times New Roman" panose="02020603050405020304" pitchFamily="18" charset="0"/>
              </a:rPr>
              <a:t> </a:t>
            </a:r>
            <a:r>
              <a:rPr lang="en-US" sz="2400" dirty="0" err="1">
                <a:solidFill>
                  <a:srgbClr val="000000"/>
                </a:solidFill>
                <a:latin typeface="Montserrat" panose="02000505000000020004"/>
                <a:cs typeface="Times New Roman" panose="02020603050405020304" pitchFamily="18" charset="0"/>
              </a:rPr>
              <a:t>transisi</a:t>
            </a:r>
            <a:r>
              <a:rPr lang="en-US" sz="2400" dirty="0">
                <a:solidFill>
                  <a:srgbClr val="000000"/>
                </a:solidFill>
                <a:latin typeface="Montserrat" panose="02000505000000020004"/>
                <a:cs typeface="Times New Roman" panose="02020603050405020304" pitchFamily="18" charset="0"/>
              </a:rPr>
              <a:t> </a:t>
            </a:r>
            <a:r>
              <a:rPr lang="en-US" sz="2400" dirty="0" err="1">
                <a:solidFill>
                  <a:srgbClr val="000000"/>
                </a:solidFill>
                <a:latin typeface="Montserrat" panose="02000505000000020004"/>
                <a:cs typeface="Times New Roman" panose="02020603050405020304" pitchFamily="18" charset="0"/>
              </a:rPr>
              <a:t>dari</a:t>
            </a:r>
            <a:r>
              <a:rPr lang="en-US" sz="2400" dirty="0">
                <a:solidFill>
                  <a:srgbClr val="000000"/>
                </a:solidFill>
                <a:latin typeface="Montserrat" panose="02000505000000020004"/>
                <a:cs typeface="Times New Roman" panose="02020603050405020304" pitchFamily="18" charset="0"/>
              </a:rPr>
              <a:t> B. </a:t>
            </a:r>
            <a:r>
              <a:rPr lang="en-US" sz="2400" dirty="0" err="1">
                <a:solidFill>
                  <a:srgbClr val="000000"/>
                </a:solidFill>
                <a:latin typeface="Montserrat" panose="02000505000000020004"/>
                <a:cs typeface="Times New Roman" panose="02020603050405020304" pitchFamily="18" charset="0"/>
              </a:rPr>
              <a:t>Jika</a:t>
            </a:r>
            <a:r>
              <a:rPr lang="en-US" sz="2400" dirty="0">
                <a:solidFill>
                  <a:srgbClr val="000000"/>
                </a:solidFill>
                <a:latin typeface="Montserrat" panose="02000505000000020004"/>
                <a:cs typeface="Times New Roman" panose="02020603050405020304" pitchFamily="18" charset="0"/>
              </a:rPr>
              <a:t> S adalah </a:t>
            </a:r>
            <a:r>
              <a:rPr lang="en-US" sz="2400" dirty="0" err="1">
                <a:solidFill>
                  <a:srgbClr val="000000"/>
                </a:solidFill>
                <a:latin typeface="Montserrat" panose="02000505000000020004"/>
                <a:cs typeface="Times New Roman" panose="02020603050405020304" pitchFamily="18" charset="0"/>
              </a:rPr>
              <a:t>himpunan</a:t>
            </a:r>
            <a:r>
              <a:rPr lang="en-US" sz="2400" dirty="0">
                <a:solidFill>
                  <a:srgbClr val="000000"/>
                </a:solidFill>
                <a:latin typeface="Montserrat" panose="02000505000000020004"/>
                <a:cs typeface="Times New Roman" panose="02020603050405020304" pitchFamily="18" charset="0"/>
              </a:rPr>
              <a:t> state yang </a:t>
            </a:r>
            <a:r>
              <a:rPr lang="en-US" sz="2400" dirty="0" err="1">
                <a:solidFill>
                  <a:srgbClr val="000000"/>
                </a:solidFill>
                <a:latin typeface="Montserrat" panose="02000505000000020004"/>
                <a:cs typeface="Times New Roman" panose="02020603050405020304" pitchFamily="18" charset="0"/>
              </a:rPr>
              <a:t>ekuivalen</a:t>
            </a:r>
            <a:r>
              <a:rPr lang="en-US" sz="2400" dirty="0">
                <a:solidFill>
                  <a:srgbClr val="000000"/>
                </a:solidFill>
                <a:latin typeface="Montserrat" panose="02000505000000020004"/>
                <a:cs typeface="Times New Roman" panose="02020603050405020304" pitchFamily="18" charset="0"/>
              </a:rPr>
              <a:t> </a:t>
            </a:r>
            <a:r>
              <a:rPr lang="en-US" sz="2400" dirty="0" err="1">
                <a:solidFill>
                  <a:srgbClr val="000000"/>
                </a:solidFill>
                <a:latin typeface="Montserrat" panose="02000505000000020004"/>
                <a:cs typeface="Times New Roman" panose="02020603050405020304" pitchFamily="18" charset="0"/>
              </a:rPr>
              <a:t>dari</a:t>
            </a:r>
            <a:r>
              <a:rPr lang="en-US" sz="2400" dirty="0">
                <a:solidFill>
                  <a:srgbClr val="000000"/>
                </a:solidFill>
                <a:latin typeface="Montserrat" panose="02000505000000020004"/>
                <a:cs typeface="Times New Roman" panose="02020603050405020304" pitchFamily="18" charset="0"/>
              </a:rPr>
              <a:t> A dan á adalah </a:t>
            </a:r>
            <a:r>
              <a:rPr lang="en-US" sz="2400" dirty="0" err="1">
                <a:solidFill>
                  <a:srgbClr val="000000"/>
                </a:solidFill>
                <a:latin typeface="Montserrat" panose="02000505000000020004"/>
                <a:cs typeface="Times New Roman" panose="02020603050405020304" pitchFamily="18" charset="0"/>
              </a:rPr>
              <a:t>simbol</a:t>
            </a:r>
            <a:r>
              <a:rPr lang="en-US" sz="2400" dirty="0">
                <a:solidFill>
                  <a:srgbClr val="000000"/>
                </a:solidFill>
                <a:latin typeface="Montserrat" panose="02000505000000020004"/>
                <a:cs typeface="Times New Roman" panose="02020603050405020304" pitchFamily="18" charset="0"/>
              </a:rPr>
              <a:t> input, maka </a:t>
            </a:r>
            <a:r>
              <a:rPr lang="en-US" sz="2400" dirty="0" err="1">
                <a:solidFill>
                  <a:srgbClr val="000000"/>
                </a:solidFill>
                <a:latin typeface="Montserrat" panose="02000505000000020004"/>
                <a:cs typeface="Times New Roman" panose="02020603050405020304" pitchFamily="18" charset="0"/>
              </a:rPr>
              <a:t>ada</a:t>
            </a:r>
            <a:r>
              <a:rPr lang="en-US" sz="2400" dirty="0">
                <a:solidFill>
                  <a:srgbClr val="000000"/>
                </a:solidFill>
                <a:latin typeface="Montserrat" panose="02000505000000020004"/>
                <a:cs typeface="Times New Roman" panose="02020603050405020304" pitchFamily="18" charset="0"/>
              </a:rPr>
              <a:t> </a:t>
            </a:r>
            <a:r>
              <a:rPr lang="en-US" sz="2400" dirty="0" err="1">
                <a:solidFill>
                  <a:srgbClr val="000000"/>
                </a:solidFill>
                <a:latin typeface="Montserrat" panose="02000505000000020004"/>
                <a:cs typeface="Times New Roman" panose="02020603050405020304" pitchFamily="18" charset="0"/>
              </a:rPr>
              <a:t>blok</a:t>
            </a:r>
            <a:r>
              <a:rPr lang="en-US" sz="2400" dirty="0">
                <a:solidFill>
                  <a:srgbClr val="000000"/>
                </a:solidFill>
                <a:latin typeface="Montserrat" panose="02000505000000020004"/>
                <a:cs typeface="Times New Roman" panose="02020603050405020304" pitchFamily="18" charset="0"/>
              </a:rPr>
              <a:t> T sehingga untuk semua state q di S, </a:t>
            </a:r>
            <a:r>
              <a:rPr lang="en-US" sz="2400" dirty="0" err="1">
                <a:solidFill>
                  <a:srgbClr val="000000"/>
                </a:solidFill>
                <a:latin typeface="Montserrat" panose="02000505000000020004"/>
                <a:cs typeface="Times New Roman" panose="02020603050405020304" pitchFamily="18" charset="0"/>
              </a:rPr>
              <a:t>transisi</a:t>
            </a:r>
            <a:r>
              <a:rPr lang="en-US" sz="2400" dirty="0">
                <a:solidFill>
                  <a:srgbClr val="000000"/>
                </a:solidFill>
                <a:latin typeface="Montserrat" panose="02000505000000020004"/>
                <a:cs typeface="Times New Roman" panose="02020603050405020304" pitchFamily="18" charset="0"/>
              </a:rPr>
              <a:t> </a:t>
            </a:r>
            <a:r>
              <a:rPr lang="el-GR" sz="2400" dirty="0">
                <a:solidFill>
                  <a:srgbClr val="000000"/>
                </a:solidFill>
                <a:latin typeface="Montserrat" panose="02000505000000020004"/>
              </a:rPr>
              <a:t>δ</a:t>
            </a:r>
            <a:r>
              <a:rPr lang="en-US" sz="2400" dirty="0">
                <a:solidFill>
                  <a:srgbClr val="000000"/>
                </a:solidFill>
                <a:latin typeface="Montserrat" panose="02000505000000020004"/>
              </a:rPr>
              <a:t> </a:t>
            </a:r>
            <a:r>
              <a:rPr lang="en-US" sz="2400" dirty="0">
                <a:solidFill>
                  <a:srgbClr val="000000"/>
                </a:solidFill>
                <a:latin typeface="Montserrat" panose="02000505000000020004"/>
                <a:cs typeface="Times New Roman" panose="02020603050405020304" pitchFamily="18" charset="0"/>
              </a:rPr>
              <a:t>(q, a) </a:t>
            </a:r>
            <a:r>
              <a:rPr lang="en-US" sz="2400" dirty="0" err="1">
                <a:solidFill>
                  <a:srgbClr val="000000"/>
                </a:solidFill>
                <a:latin typeface="Montserrat" panose="02000505000000020004"/>
                <a:cs typeface="Times New Roman" panose="02020603050405020304" pitchFamily="18" charset="0"/>
              </a:rPr>
              <a:t>menuju</a:t>
            </a:r>
            <a:r>
              <a:rPr lang="en-US" sz="2400" dirty="0">
                <a:solidFill>
                  <a:srgbClr val="000000"/>
                </a:solidFill>
                <a:latin typeface="Montserrat" panose="02000505000000020004"/>
                <a:cs typeface="Times New Roman" panose="02020603050405020304" pitchFamily="18" charset="0"/>
              </a:rPr>
              <a:t> state </a:t>
            </a:r>
            <a:r>
              <a:rPr lang="en-US" sz="2400" dirty="0" err="1">
                <a:solidFill>
                  <a:srgbClr val="000000"/>
                </a:solidFill>
                <a:latin typeface="Montserrat" panose="02000505000000020004"/>
                <a:cs typeface="Times New Roman" panose="02020603050405020304" pitchFamily="18" charset="0"/>
              </a:rPr>
              <a:t>dalam</a:t>
            </a:r>
            <a:r>
              <a:rPr lang="en-US" sz="2400" dirty="0">
                <a:solidFill>
                  <a:srgbClr val="000000"/>
                </a:solidFill>
                <a:latin typeface="Montserrat" panose="02000505000000020004"/>
                <a:cs typeface="Times New Roman" panose="02020603050405020304" pitchFamily="18" charset="0"/>
              </a:rPr>
              <a:t> </a:t>
            </a:r>
            <a:r>
              <a:rPr lang="en-US" sz="2400" dirty="0" err="1">
                <a:solidFill>
                  <a:srgbClr val="000000"/>
                </a:solidFill>
                <a:latin typeface="Montserrat" panose="02000505000000020004"/>
                <a:cs typeface="Times New Roman" panose="02020603050405020304" pitchFamily="18" charset="0"/>
              </a:rPr>
              <a:t>blok</a:t>
            </a:r>
            <a:r>
              <a:rPr lang="en-US" sz="2400" dirty="0">
                <a:solidFill>
                  <a:srgbClr val="000000"/>
                </a:solidFill>
                <a:latin typeface="Montserrat" panose="02000505000000020004"/>
                <a:cs typeface="Times New Roman" panose="02020603050405020304" pitchFamily="18" charset="0"/>
              </a:rPr>
              <a:t> T. </a:t>
            </a:r>
            <a:r>
              <a:rPr lang="en-US" sz="2400" dirty="0" err="1">
                <a:solidFill>
                  <a:srgbClr val="000000"/>
                </a:solidFill>
                <a:latin typeface="Montserrat" panose="02000505000000020004"/>
                <a:cs typeface="Times New Roman" panose="02020603050405020304" pitchFamily="18" charset="0"/>
              </a:rPr>
              <a:t>Jika</a:t>
            </a:r>
            <a:r>
              <a:rPr lang="en-US" sz="2400" dirty="0">
                <a:solidFill>
                  <a:srgbClr val="000000"/>
                </a:solidFill>
                <a:latin typeface="Montserrat" panose="02000505000000020004"/>
                <a:cs typeface="Times New Roman" panose="02020603050405020304" pitchFamily="18" charset="0"/>
              </a:rPr>
              <a:t> </a:t>
            </a:r>
            <a:r>
              <a:rPr lang="en-US" sz="2400" dirty="0" err="1">
                <a:solidFill>
                  <a:srgbClr val="000000"/>
                </a:solidFill>
                <a:latin typeface="Montserrat" panose="02000505000000020004"/>
                <a:cs typeface="Times New Roman" panose="02020603050405020304" pitchFamily="18" charset="0"/>
              </a:rPr>
              <a:t>tidak</a:t>
            </a:r>
            <a:r>
              <a:rPr lang="en-US" sz="2400" dirty="0">
                <a:solidFill>
                  <a:srgbClr val="000000"/>
                </a:solidFill>
                <a:latin typeface="Montserrat" panose="02000505000000020004"/>
                <a:cs typeface="Times New Roman" panose="02020603050405020304" pitchFamily="18" charset="0"/>
              </a:rPr>
              <a:t>, </a:t>
            </a:r>
            <a:r>
              <a:rPr lang="en-US" sz="2400" dirty="0" err="1">
                <a:solidFill>
                  <a:srgbClr val="000000"/>
                </a:solidFill>
                <a:latin typeface="Montserrat" panose="02000505000000020004"/>
                <a:cs typeface="Times New Roman" panose="02020603050405020304" pitchFamily="18" charset="0"/>
              </a:rPr>
              <a:t>simbol</a:t>
            </a:r>
            <a:r>
              <a:rPr lang="en-US" sz="2400" dirty="0">
                <a:solidFill>
                  <a:srgbClr val="000000"/>
                </a:solidFill>
                <a:latin typeface="Montserrat" panose="02000505000000020004"/>
                <a:cs typeface="Times New Roman" panose="02020603050405020304" pitchFamily="18" charset="0"/>
              </a:rPr>
              <a:t> a </a:t>
            </a:r>
            <a:r>
              <a:rPr lang="en-US" sz="2400" dirty="0" err="1">
                <a:solidFill>
                  <a:srgbClr val="000000"/>
                </a:solidFill>
                <a:latin typeface="Montserrat" panose="02000505000000020004"/>
                <a:cs typeface="Times New Roman" panose="02020603050405020304" pitchFamily="18" charset="0"/>
              </a:rPr>
              <a:t>akan</a:t>
            </a:r>
            <a:r>
              <a:rPr lang="en-US" sz="2400" dirty="0">
                <a:solidFill>
                  <a:srgbClr val="000000"/>
                </a:solidFill>
                <a:latin typeface="Montserrat" panose="02000505000000020004"/>
                <a:cs typeface="Times New Roman" panose="02020603050405020304" pitchFamily="18" charset="0"/>
              </a:rPr>
              <a:t> </a:t>
            </a:r>
            <a:r>
              <a:rPr lang="en-US" sz="2400" dirty="0" err="1">
                <a:solidFill>
                  <a:srgbClr val="000000"/>
                </a:solidFill>
                <a:latin typeface="Montserrat" panose="02000505000000020004"/>
                <a:cs typeface="Times New Roman" panose="02020603050405020304" pitchFamily="18" charset="0"/>
              </a:rPr>
              <a:t>memisahkan</a:t>
            </a:r>
            <a:r>
              <a:rPr lang="en-US" sz="2400" dirty="0">
                <a:solidFill>
                  <a:srgbClr val="000000"/>
                </a:solidFill>
                <a:latin typeface="Montserrat" panose="02000505000000020004"/>
                <a:cs typeface="Times New Roman" panose="02020603050405020304" pitchFamily="18" charset="0"/>
              </a:rPr>
              <a:t> dua state p dan q </a:t>
            </a:r>
            <a:r>
              <a:rPr lang="en-US" sz="2400" dirty="0" err="1">
                <a:solidFill>
                  <a:srgbClr val="000000"/>
                </a:solidFill>
                <a:latin typeface="Montserrat" panose="02000505000000020004"/>
                <a:cs typeface="Times New Roman" panose="02020603050405020304" pitchFamily="18" charset="0"/>
              </a:rPr>
              <a:t>dari</a:t>
            </a:r>
            <a:r>
              <a:rPr lang="en-US" sz="2400" dirty="0">
                <a:solidFill>
                  <a:srgbClr val="000000"/>
                </a:solidFill>
                <a:latin typeface="Montserrat" panose="02000505000000020004"/>
                <a:cs typeface="Times New Roman" panose="02020603050405020304" pitchFamily="18" charset="0"/>
              </a:rPr>
              <a:t> S ke </a:t>
            </a:r>
            <a:r>
              <a:rPr lang="en-US" sz="2400" dirty="0" err="1">
                <a:solidFill>
                  <a:srgbClr val="000000"/>
                </a:solidFill>
                <a:latin typeface="Montserrat" panose="02000505000000020004"/>
                <a:cs typeface="Times New Roman" panose="02020603050405020304" pitchFamily="18" charset="0"/>
              </a:rPr>
              <a:t>blok</a:t>
            </a:r>
            <a:r>
              <a:rPr lang="en-US" sz="2400" dirty="0">
                <a:solidFill>
                  <a:srgbClr val="000000"/>
                </a:solidFill>
                <a:latin typeface="Montserrat" panose="02000505000000020004"/>
                <a:cs typeface="Times New Roman" panose="02020603050405020304" pitchFamily="18" charset="0"/>
              </a:rPr>
              <a:t> yang berbeda, yang berarti </a:t>
            </a:r>
            <a:r>
              <a:rPr lang="en-US" sz="2400" dirty="0" err="1">
                <a:solidFill>
                  <a:srgbClr val="000000"/>
                </a:solidFill>
                <a:latin typeface="Montserrat" panose="02000505000000020004"/>
                <a:cs typeface="Times New Roman" panose="02020603050405020304" pitchFamily="18" charset="0"/>
              </a:rPr>
              <a:t>keduanya</a:t>
            </a:r>
            <a:r>
              <a:rPr lang="en-US" sz="2400" dirty="0">
                <a:solidFill>
                  <a:srgbClr val="000000"/>
                </a:solidFill>
                <a:latin typeface="Montserrat" panose="02000505000000020004"/>
                <a:cs typeface="Times New Roman" panose="02020603050405020304" pitchFamily="18" charset="0"/>
              </a:rPr>
              <a:t> dapat </a:t>
            </a:r>
            <a:r>
              <a:rPr lang="en-US" sz="2400" dirty="0" err="1">
                <a:solidFill>
                  <a:srgbClr val="000000"/>
                </a:solidFill>
                <a:latin typeface="Montserrat" panose="02000505000000020004"/>
                <a:cs typeface="Times New Roman" panose="02020603050405020304" pitchFamily="18" charset="0"/>
              </a:rPr>
              <a:t>dibedakan</a:t>
            </a:r>
            <a:r>
              <a:rPr lang="en-US" sz="2400" dirty="0">
                <a:solidFill>
                  <a:srgbClr val="000000"/>
                </a:solidFill>
                <a:latin typeface="Montserrat" panose="02000505000000020004"/>
                <a:cs typeface="Times New Roman" panose="02020603050405020304" pitchFamily="18" charset="0"/>
              </a:rPr>
              <a:t> menurut </a:t>
            </a:r>
            <a:r>
              <a:rPr lang="en-US" sz="2400" dirty="0" err="1">
                <a:solidFill>
                  <a:srgbClr val="000000"/>
                </a:solidFill>
                <a:latin typeface="Montserrat" panose="02000505000000020004"/>
                <a:cs typeface="Times New Roman" panose="02020603050405020304" pitchFamily="18" charset="0"/>
              </a:rPr>
              <a:t>Teorema</a:t>
            </a:r>
            <a:r>
              <a:rPr lang="en-US" sz="2400" dirty="0">
                <a:solidFill>
                  <a:srgbClr val="000000"/>
                </a:solidFill>
                <a:latin typeface="Montserrat" panose="02000505000000020004"/>
                <a:cs typeface="Times New Roman" panose="02020603050405020304" pitchFamily="18" charset="0"/>
              </a:rPr>
              <a:t> 4.24, dan </a:t>
            </a:r>
            <a:r>
              <a:rPr lang="en-US" sz="2400" dirty="0" err="1">
                <a:solidFill>
                  <a:srgbClr val="000000"/>
                </a:solidFill>
                <a:latin typeface="Montserrat" panose="02000505000000020004"/>
                <a:cs typeface="Times New Roman" panose="02020603050405020304" pitchFamily="18" charset="0"/>
              </a:rPr>
              <a:t>tidak</a:t>
            </a:r>
            <a:r>
              <a:rPr lang="en-US" sz="2400" dirty="0">
                <a:solidFill>
                  <a:srgbClr val="000000"/>
                </a:solidFill>
                <a:latin typeface="Montserrat" panose="02000505000000020004"/>
                <a:cs typeface="Times New Roman" panose="02020603050405020304" pitchFamily="18" charset="0"/>
              </a:rPr>
              <a:t> termasuk </a:t>
            </a:r>
            <a:r>
              <a:rPr lang="en-US" sz="2400" dirty="0" err="1">
                <a:solidFill>
                  <a:srgbClr val="000000"/>
                </a:solidFill>
                <a:latin typeface="Montserrat" panose="02000505000000020004"/>
                <a:cs typeface="Times New Roman" panose="02020603050405020304" pitchFamily="18" charset="0"/>
              </a:rPr>
              <a:t>dalam</a:t>
            </a:r>
            <a:r>
              <a:rPr lang="en-US" sz="2400" dirty="0">
                <a:solidFill>
                  <a:srgbClr val="000000"/>
                </a:solidFill>
                <a:latin typeface="Montserrat" panose="02000505000000020004"/>
                <a:cs typeface="Times New Roman" panose="02020603050405020304" pitchFamily="18" charset="0"/>
              </a:rPr>
              <a:t> S. Maka, </a:t>
            </a:r>
            <a:r>
              <a:rPr lang="en-US" sz="2400" dirty="0" err="1">
                <a:solidFill>
                  <a:srgbClr val="000000"/>
                </a:solidFill>
                <a:latin typeface="Montserrat" panose="02000505000000020004"/>
                <a:cs typeface="Times New Roman" panose="02020603050405020304" pitchFamily="18" charset="0"/>
              </a:rPr>
              <a:t>kita</a:t>
            </a:r>
            <a:r>
              <a:rPr lang="en-US" sz="2400" dirty="0">
                <a:solidFill>
                  <a:srgbClr val="000000"/>
                </a:solidFill>
                <a:latin typeface="Montserrat" panose="02000505000000020004"/>
                <a:cs typeface="Times New Roman" panose="02020603050405020304" pitchFamily="18" charset="0"/>
              </a:rPr>
              <a:t> </a:t>
            </a:r>
            <a:r>
              <a:rPr lang="en-US" sz="2400" dirty="0" err="1">
                <a:solidFill>
                  <a:srgbClr val="000000"/>
                </a:solidFill>
                <a:latin typeface="Montserrat" panose="02000505000000020004"/>
                <a:cs typeface="Times New Roman" panose="02020603050405020304" pitchFamily="18" charset="0"/>
              </a:rPr>
              <a:t>tetapkan</a:t>
            </a:r>
            <a:r>
              <a:rPr lang="en-US" sz="2400" dirty="0">
                <a:solidFill>
                  <a:srgbClr val="000000"/>
                </a:solidFill>
                <a:latin typeface="Montserrat" panose="02000505000000020004"/>
                <a:cs typeface="Times New Roman" panose="02020603050405020304" pitchFamily="18" charset="0"/>
              </a:rPr>
              <a:t> </a:t>
            </a:r>
            <a:r>
              <a:rPr lang="el-GR" sz="2400" dirty="0">
                <a:solidFill>
                  <a:srgbClr val="000000"/>
                </a:solidFill>
                <a:latin typeface="Montserrat" panose="02000505000000020004"/>
                <a:cs typeface="Times New Roman" panose="02020603050405020304" pitchFamily="18" charset="0"/>
              </a:rPr>
              <a:t>γ(</a:t>
            </a:r>
            <a:r>
              <a:rPr lang="en-US" sz="2400" dirty="0">
                <a:solidFill>
                  <a:srgbClr val="000000"/>
                </a:solidFill>
                <a:latin typeface="Montserrat" panose="02000505000000020004"/>
                <a:cs typeface="Times New Roman" panose="02020603050405020304" pitchFamily="18" charset="0"/>
              </a:rPr>
              <a:t>S, a) = T.</a:t>
            </a:r>
          </a:p>
        </p:txBody>
      </p:sp>
    </p:spTree>
    <p:extLst>
      <p:ext uri="{BB962C8B-B14F-4D97-AF65-F5344CB8AC3E}">
        <p14:creationId xmlns:p14="http://schemas.microsoft.com/office/powerpoint/2010/main" val="256122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323212"/>
            <a:ext cx="7521517" cy="446952"/>
          </a:xfrm>
        </p:spPr>
        <p:txBody>
          <a:bodyPr>
            <a:normAutofit fontScale="90000"/>
          </a:bodyPr>
          <a:lstStyle/>
          <a:p>
            <a:r>
              <a:rPr lang="en-US" sz="2800" dirty="0"/>
              <a:t>Algoritma </a:t>
            </a:r>
            <a:r>
              <a:rPr lang="en-US" sz="2800" dirty="0" err="1"/>
              <a:t>Minimisasi</a:t>
            </a:r>
            <a:r>
              <a:rPr lang="en-US" sz="2800" dirty="0"/>
              <a:t> DFA(</a:t>
            </a:r>
            <a:r>
              <a:rPr lang="en-US" sz="2800" dirty="0" err="1"/>
              <a:t>Teorema</a:t>
            </a:r>
            <a:r>
              <a:rPr lang="en-US" sz="2800" dirty="0"/>
              <a:t> 4.24)</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454083" y="910966"/>
            <a:ext cx="8501044" cy="3104443"/>
          </a:xfrm>
        </p:spPr>
        <p:txBody>
          <a:bodyPr>
            <a:normAutofit fontScale="92500" lnSpcReduction="10000"/>
          </a:bodyPr>
          <a:lstStyle/>
          <a:p>
            <a:pPr marL="0" indent="0" algn="just">
              <a:buNone/>
            </a:pPr>
            <a:r>
              <a:rPr lang="en-ID" sz="2800" dirty="0" err="1">
                <a:solidFill>
                  <a:srgbClr val="FF0000"/>
                </a:solidFill>
              </a:rPr>
              <a:t>Tambahan</a:t>
            </a:r>
            <a:r>
              <a:rPr lang="en-ID" sz="2800" dirty="0">
                <a:solidFill>
                  <a:srgbClr val="FF0000"/>
                </a:solidFill>
              </a:rPr>
              <a:t>: </a:t>
            </a:r>
          </a:p>
          <a:p>
            <a:pPr marL="514350" indent="-514350" algn="just">
              <a:buAutoNum type="alphaLcParenBoth"/>
            </a:pPr>
            <a:r>
              <a:rPr lang="en-ID" sz="2400" dirty="0" err="1">
                <a:solidFill>
                  <a:srgbClr val="000000"/>
                </a:solidFill>
              </a:rPr>
              <a:t>Keadaan</a:t>
            </a:r>
            <a:r>
              <a:rPr lang="en-ID" sz="2400" dirty="0">
                <a:solidFill>
                  <a:srgbClr val="000000"/>
                </a:solidFill>
              </a:rPr>
              <a:t> </a:t>
            </a:r>
            <a:r>
              <a:rPr lang="en-ID" sz="2400" dirty="0" err="1">
                <a:solidFill>
                  <a:srgbClr val="000000"/>
                </a:solidFill>
              </a:rPr>
              <a:t>awal</a:t>
            </a:r>
            <a:r>
              <a:rPr lang="en-ID" sz="2400" dirty="0">
                <a:solidFill>
                  <a:srgbClr val="000000"/>
                </a:solidFill>
              </a:rPr>
              <a:t> B </a:t>
            </a:r>
            <a:r>
              <a:rPr lang="en-ID" sz="2400" dirty="0" err="1">
                <a:solidFill>
                  <a:srgbClr val="000000"/>
                </a:solidFill>
              </a:rPr>
              <a:t>adalah</a:t>
            </a:r>
            <a:r>
              <a:rPr lang="en-ID" sz="2400" dirty="0">
                <a:solidFill>
                  <a:srgbClr val="000000"/>
                </a:solidFill>
              </a:rPr>
              <a:t> </a:t>
            </a:r>
            <a:r>
              <a:rPr lang="en-ID" sz="2400" dirty="0" err="1">
                <a:solidFill>
                  <a:srgbClr val="000000"/>
                </a:solidFill>
              </a:rPr>
              <a:t>blok</a:t>
            </a:r>
            <a:r>
              <a:rPr lang="en-ID" sz="2400" dirty="0">
                <a:solidFill>
                  <a:srgbClr val="000000"/>
                </a:solidFill>
              </a:rPr>
              <a:t> yang </a:t>
            </a:r>
            <a:r>
              <a:rPr lang="en-ID" sz="2400" dirty="0" err="1">
                <a:solidFill>
                  <a:srgbClr val="000000"/>
                </a:solidFill>
              </a:rPr>
              <a:t>berisi</a:t>
            </a:r>
            <a:r>
              <a:rPr lang="en-ID" sz="2400" dirty="0">
                <a:solidFill>
                  <a:srgbClr val="000000"/>
                </a:solidFill>
              </a:rPr>
              <a:t> </a:t>
            </a:r>
            <a:r>
              <a:rPr lang="en-ID" sz="2400" dirty="0" err="1">
                <a:solidFill>
                  <a:srgbClr val="000000"/>
                </a:solidFill>
              </a:rPr>
              <a:t>keadaan</a:t>
            </a:r>
            <a:r>
              <a:rPr lang="en-ID" sz="2400" dirty="0">
                <a:solidFill>
                  <a:srgbClr val="000000"/>
                </a:solidFill>
              </a:rPr>
              <a:t> </a:t>
            </a:r>
            <a:r>
              <a:rPr lang="en-ID" sz="2400" dirty="0" err="1">
                <a:solidFill>
                  <a:srgbClr val="000000"/>
                </a:solidFill>
              </a:rPr>
              <a:t>awal</a:t>
            </a:r>
            <a:r>
              <a:rPr lang="en-ID" sz="2400" dirty="0">
                <a:solidFill>
                  <a:srgbClr val="000000"/>
                </a:solidFill>
              </a:rPr>
              <a:t> A. </a:t>
            </a:r>
          </a:p>
          <a:p>
            <a:pPr marL="514350" indent="-514350" algn="just">
              <a:buAutoNum type="alphaLcParenBoth"/>
            </a:pPr>
            <a:r>
              <a:rPr lang="en-ID" sz="2400" dirty="0" err="1">
                <a:solidFill>
                  <a:srgbClr val="000000"/>
                </a:solidFill>
              </a:rPr>
              <a:t>Himpunan</a:t>
            </a:r>
            <a:r>
              <a:rPr lang="en-ID" sz="2400" dirty="0">
                <a:solidFill>
                  <a:srgbClr val="000000"/>
                </a:solidFill>
              </a:rPr>
              <a:t> state </a:t>
            </a:r>
            <a:r>
              <a:rPr lang="en-ID" sz="2400" dirty="0" err="1">
                <a:solidFill>
                  <a:srgbClr val="000000"/>
                </a:solidFill>
              </a:rPr>
              <a:t>menerima</a:t>
            </a:r>
            <a:r>
              <a:rPr lang="en-ID" sz="2400" dirty="0">
                <a:solidFill>
                  <a:srgbClr val="000000"/>
                </a:solidFill>
              </a:rPr>
              <a:t> di B </a:t>
            </a:r>
            <a:r>
              <a:rPr lang="en-ID" sz="2400" dirty="0" err="1">
                <a:solidFill>
                  <a:srgbClr val="000000"/>
                </a:solidFill>
              </a:rPr>
              <a:t>adalah</a:t>
            </a:r>
            <a:r>
              <a:rPr lang="en-ID" sz="2400" dirty="0">
                <a:solidFill>
                  <a:srgbClr val="000000"/>
                </a:solidFill>
              </a:rPr>
              <a:t> </a:t>
            </a:r>
            <a:r>
              <a:rPr lang="en-ID" sz="2400" dirty="0" err="1">
                <a:solidFill>
                  <a:srgbClr val="000000"/>
                </a:solidFill>
              </a:rPr>
              <a:t>blok-blok</a:t>
            </a:r>
            <a:r>
              <a:rPr lang="en-ID" sz="2400" dirty="0">
                <a:solidFill>
                  <a:srgbClr val="000000"/>
                </a:solidFill>
              </a:rPr>
              <a:t> yang </a:t>
            </a:r>
            <a:r>
              <a:rPr lang="en-ID" sz="2400" dirty="0" err="1">
                <a:solidFill>
                  <a:srgbClr val="000000"/>
                </a:solidFill>
              </a:rPr>
              <a:t>mengandung</a:t>
            </a:r>
            <a:r>
              <a:rPr lang="en-ID" sz="2400" dirty="0">
                <a:solidFill>
                  <a:srgbClr val="000000"/>
                </a:solidFill>
              </a:rPr>
              <a:t> state </a:t>
            </a:r>
            <a:r>
              <a:rPr lang="en-ID" sz="2400" dirty="0" err="1">
                <a:solidFill>
                  <a:srgbClr val="000000"/>
                </a:solidFill>
              </a:rPr>
              <a:t>menerima</a:t>
            </a:r>
            <a:r>
              <a:rPr lang="en-ID" sz="2400" dirty="0">
                <a:solidFill>
                  <a:srgbClr val="000000"/>
                </a:solidFill>
              </a:rPr>
              <a:t> </a:t>
            </a:r>
            <a:r>
              <a:rPr lang="en-ID" sz="2400" dirty="0" err="1">
                <a:solidFill>
                  <a:srgbClr val="000000"/>
                </a:solidFill>
              </a:rPr>
              <a:t>dari</a:t>
            </a:r>
            <a:r>
              <a:rPr lang="en-ID" sz="2400" dirty="0">
                <a:solidFill>
                  <a:srgbClr val="000000"/>
                </a:solidFill>
              </a:rPr>
              <a:t> A. </a:t>
            </a:r>
            <a:r>
              <a:rPr lang="en-ID" sz="2400" dirty="0" err="1">
                <a:solidFill>
                  <a:srgbClr val="000000"/>
                </a:solidFill>
              </a:rPr>
              <a:t>Jika</a:t>
            </a:r>
            <a:r>
              <a:rPr lang="en-ID" sz="2400" dirty="0">
                <a:solidFill>
                  <a:srgbClr val="000000"/>
                </a:solidFill>
              </a:rPr>
              <a:t> </a:t>
            </a:r>
            <a:r>
              <a:rPr lang="en-ID" sz="2400" dirty="0" err="1">
                <a:solidFill>
                  <a:srgbClr val="000000"/>
                </a:solidFill>
              </a:rPr>
              <a:t>satu</a:t>
            </a:r>
            <a:r>
              <a:rPr lang="en-ID" sz="2400" dirty="0">
                <a:solidFill>
                  <a:srgbClr val="000000"/>
                </a:solidFill>
              </a:rPr>
              <a:t> state </a:t>
            </a:r>
            <a:r>
              <a:rPr lang="en-ID" sz="2400" dirty="0" err="1">
                <a:solidFill>
                  <a:srgbClr val="000000"/>
                </a:solidFill>
              </a:rPr>
              <a:t>dalam</a:t>
            </a:r>
            <a:r>
              <a:rPr lang="en-ID" sz="2400" dirty="0">
                <a:solidFill>
                  <a:srgbClr val="000000"/>
                </a:solidFill>
              </a:rPr>
              <a:t> </a:t>
            </a:r>
            <a:r>
              <a:rPr lang="en-ID" sz="2400" dirty="0" err="1">
                <a:solidFill>
                  <a:srgbClr val="000000"/>
                </a:solidFill>
              </a:rPr>
              <a:t>blok</a:t>
            </a:r>
            <a:r>
              <a:rPr lang="en-ID" sz="2400" dirty="0">
                <a:solidFill>
                  <a:srgbClr val="000000"/>
                </a:solidFill>
              </a:rPr>
              <a:t> </a:t>
            </a:r>
            <a:r>
              <a:rPr lang="en-ID" sz="2400" dirty="0" err="1">
                <a:solidFill>
                  <a:srgbClr val="000000"/>
                </a:solidFill>
              </a:rPr>
              <a:t>menerima</a:t>
            </a:r>
            <a:r>
              <a:rPr lang="en-ID" sz="2400" dirty="0">
                <a:solidFill>
                  <a:srgbClr val="000000"/>
                </a:solidFill>
              </a:rPr>
              <a:t>, </a:t>
            </a:r>
            <a:r>
              <a:rPr lang="en-ID" sz="2400" dirty="0" err="1">
                <a:solidFill>
                  <a:srgbClr val="000000"/>
                </a:solidFill>
              </a:rPr>
              <a:t>semua</a:t>
            </a:r>
            <a:r>
              <a:rPr lang="en-ID" sz="2400" dirty="0">
                <a:solidFill>
                  <a:srgbClr val="000000"/>
                </a:solidFill>
              </a:rPr>
              <a:t> state </a:t>
            </a:r>
            <a:r>
              <a:rPr lang="en-ID" sz="2400" dirty="0" err="1">
                <a:solidFill>
                  <a:srgbClr val="000000"/>
                </a:solidFill>
              </a:rPr>
              <a:t>dalam</a:t>
            </a:r>
            <a:r>
              <a:rPr lang="en-ID" sz="2400" dirty="0">
                <a:solidFill>
                  <a:srgbClr val="000000"/>
                </a:solidFill>
              </a:rPr>
              <a:t> </a:t>
            </a:r>
            <a:r>
              <a:rPr lang="en-ID" sz="2400" dirty="0" err="1">
                <a:solidFill>
                  <a:srgbClr val="000000"/>
                </a:solidFill>
              </a:rPr>
              <a:t>blok</a:t>
            </a:r>
            <a:r>
              <a:rPr lang="en-ID" sz="2400" dirty="0">
                <a:solidFill>
                  <a:srgbClr val="000000"/>
                </a:solidFill>
              </a:rPr>
              <a:t> </a:t>
            </a:r>
            <a:r>
              <a:rPr lang="en-ID" sz="2400" dirty="0" err="1">
                <a:solidFill>
                  <a:srgbClr val="000000"/>
                </a:solidFill>
              </a:rPr>
              <a:t>tersebut</a:t>
            </a:r>
            <a:r>
              <a:rPr lang="en-ID" sz="2400" dirty="0">
                <a:solidFill>
                  <a:srgbClr val="000000"/>
                </a:solidFill>
              </a:rPr>
              <a:t> juga </a:t>
            </a:r>
            <a:r>
              <a:rPr lang="en-ID" sz="2400" dirty="0" err="1">
                <a:solidFill>
                  <a:srgbClr val="000000"/>
                </a:solidFill>
              </a:rPr>
              <a:t>menerima</a:t>
            </a:r>
            <a:r>
              <a:rPr lang="en-ID" sz="2400" dirty="0">
                <a:solidFill>
                  <a:srgbClr val="000000"/>
                </a:solidFill>
              </a:rPr>
              <a:t>, </a:t>
            </a:r>
            <a:r>
              <a:rPr lang="en-ID" sz="2400" dirty="0" err="1">
                <a:solidFill>
                  <a:srgbClr val="000000"/>
                </a:solidFill>
              </a:rPr>
              <a:t>karena</a:t>
            </a:r>
            <a:r>
              <a:rPr lang="en-ID" sz="2400" dirty="0">
                <a:solidFill>
                  <a:srgbClr val="000000"/>
                </a:solidFill>
              </a:rPr>
              <a:t> state </a:t>
            </a:r>
            <a:r>
              <a:rPr lang="en-ID" sz="2400" dirty="0" err="1">
                <a:solidFill>
                  <a:srgbClr val="000000"/>
                </a:solidFill>
              </a:rPr>
              <a:t>menerima</a:t>
            </a:r>
            <a:r>
              <a:rPr lang="en-ID" sz="2400" dirty="0">
                <a:solidFill>
                  <a:srgbClr val="000000"/>
                </a:solidFill>
              </a:rPr>
              <a:t> dan </a:t>
            </a:r>
            <a:r>
              <a:rPr lang="en-ID" sz="2400" dirty="0" err="1">
                <a:solidFill>
                  <a:srgbClr val="000000"/>
                </a:solidFill>
              </a:rPr>
              <a:t>tidak</a:t>
            </a:r>
            <a:r>
              <a:rPr lang="en-ID" sz="2400" dirty="0">
                <a:solidFill>
                  <a:srgbClr val="000000"/>
                </a:solidFill>
              </a:rPr>
              <a:t> </a:t>
            </a:r>
            <a:r>
              <a:rPr lang="en-ID" sz="2400" dirty="0" err="1">
                <a:solidFill>
                  <a:srgbClr val="000000"/>
                </a:solidFill>
              </a:rPr>
              <a:t>menerima</a:t>
            </a:r>
            <a:r>
              <a:rPr lang="en-ID" sz="2400" dirty="0">
                <a:solidFill>
                  <a:srgbClr val="000000"/>
                </a:solidFill>
              </a:rPr>
              <a:t> </a:t>
            </a:r>
            <a:r>
              <a:rPr lang="en-ID" sz="2400" dirty="0" err="1">
                <a:solidFill>
                  <a:srgbClr val="000000"/>
                </a:solidFill>
              </a:rPr>
              <a:t>tidak</a:t>
            </a:r>
            <a:r>
              <a:rPr lang="en-ID" sz="2400" dirty="0">
                <a:solidFill>
                  <a:srgbClr val="000000"/>
                </a:solidFill>
              </a:rPr>
              <a:t> </a:t>
            </a:r>
            <a:r>
              <a:rPr lang="en-ID" sz="2400" dirty="0" err="1">
                <a:solidFill>
                  <a:srgbClr val="000000"/>
                </a:solidFill>
              </a:rPr>
              <a:t>dapat</a:t>
            </a:r>
            <a:r>
              <a:rPr lang="en-ID" sz="2400" dirty="0">
                <a:solidFill>
                  <a:srgbClr val="000000"/>
                </a:solidFill>
              </a:rPr>
              <a:t> </a:t>
            </a:r>
            <a:r>
              <a:rPr lang="en-ID" sz="2400" dirty="0" err="1">
                <a:solidFill>
                  <a:srgbClr val="000000"/>
                </a:solidFill>
              </a:rPr>
              <a:t>berada</a:t>
            </a:r>
            <a:r>
              <a:rPr lang="en-ID" sz="2400" dirty="0">
                <a:solidFill>
                  <a:srgbClr val="000000"/>
                </a:solidFill>
              </a:rPr>
              <a:t> </a:t>
            </a:r>
            <a:r>
              <a:rPr lang="en-ID" sz="2400" dirty="0" err="1">
                <a:solidFill>
                  <a:srgbClr val="000000"/>
                </a:solidFill>
              </a:rPr>
              <a:t>dalam</a:t>
            </a:r>
            <a:r>
              <a:rPr lang="en-ID" sz="2400" dirty="0">
                <a:solidFill>
                  <a:srgbClr val="000000"/>
                </a:solidFill>
              </a:rPr>
              <a:t> </a:t>
            </a:r>
            <a:r>
              <a:rPr lang="en-ID" sz="2400" dirty="0" err="1">
                <a:solidFill>
                  <a:srgbClr val="000000"/>
                </a:solidFill>
              </a:rPr>
              <a:t>blok</a:t>
            </a:r>
            <a:r>
              <a:rPr lang="en-ID" sz="2400" dirty="0">
                <a:solidFill>
                  <a:srgbClr val="000000"/>
                </a:solidFill>
              </a:rPr>
              <a:t> yang </a:t>
            </a:r>
            <a:r>
              <a:rPr lang="en-ID" sz="2400" dirty="0" err="1">
                <a:solidFill>
                  <a:srgbClr val="000000"/>
                </a:solidFill>
              </a:rPr>
              <a:t>sama</a:t>
            </a:r>
            <a:r>
              <a:rPr lang="en-ID" sz="2400" dirty="0">
                <a:solidFill>
                  <a:srgbClr val="000000"/>
                </a:solidFill>
              </a:rPr>
              <a:t>.</a:t>
            </a:r>
            <a:endParaRPr lang="en-US" sz="2400" dirty="0">
              <a:solidFill>
                <a:srgbClr val="000000"/>
              </a:solidFill>
              <a:latin typeface="Montserrat" panose="02000505000000020004"/>
              <a:cs typeface="Times New Roman" panose="02020603050405020304" pitchFamily="18" charset="0"/>
            </a:endParaRPr>
          </a:p>
        </p:txBody>
      </p:sp>
    </p:spTree>
    <p:extLst>
      <p:ext uri="{BB962C8B-B14F-4D97-AF65-F5344CB8AC3E}">
        <p14:creationId xmlns:p14="http://schemas.microsoft.com/office/powerpoint/2010/main" val="3449612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323212"/>
            <a:ext cx="7176077" cy="446952"/>
          </a:xfrm>
        </p:spPr>
        <p:txBody>
          <a:bodyPr>
            <a:normAutofit fontScale="90000"/>
          </a:bodyPr>
          <a:lstStyle/>
          <a:p>
            <a:r>
              <a:rPr lang="en-US" sz="2800" dirty="0"/>
              <a:t>Algoritma </a:t>
            </a:r>
            <a:r>
              <a:rPr lang="en-US" sz="2800" dirty="0" err="1"/>
              <a:t>Minimisasi</a:t>
            </a:r>
            <a:r>
              <a:rPr lang="en-US" sz="2800" dirty="0"/>
              <a:t> DFA(</a:t>
            </a:r>
            <a:r>
              <a:rPr lang="en-US" sz="2800" dirty="0" err="1"/>
              <a:t>Teorema</a:t>
            </a:r>
            <a:r>
              <a:rPr lang="en-US" sz="2800" dirty="0"/>
              <a:t> 4.24)</a:t>
            </a:r>
            <a:endParaRPr lang="id-ID" sz="2800" dirty="0"/>
          </a:p>
        </p:txBody>
      </p:sp>
      <p:sp>
        <p:nvSpPr>
          <p:cNvPr id="3" name="Content Placeholder 2">
            <a:extLst>
              <a:ext uri="{FF2B5EF4-FFF2-40B4-BE49-F238E27FC236}">
                <a16:creationId xmlns:a16="http://schemas.microsoft.com/office/drawing/2014/main" id="{03B6BC64-42D2-4474-8C0C-A0CB0FAD0A0F}"/>
              </a:ext>
            </a:extLst>
          </p:cNvPr>
          <p:cNvSpPr>
            <a:spLocks noGrp="1"/>
          </p:cNvSpPr>
          <p:nvPr>
            <p:ph sz="half" idx="2"/>
          </p:nvPr>
        </p:nvSpPr>
        <p:spPr>
          <a:xfrm>
            <a:off x="586520" y="4585833"/>
            <a:ext cx="7970957" cy="1403266"/>
          </a:xfrm>
        </p:spPr>
        <p:txBody>
          <a:bodyPr>
            <a:normAutofit/>
          </a:bodyPr>
          <a:lstStyle/>
          <a:p>
            <a:pPr marL="0" indent="0" algn="just">
              <a:buNone/>
            </a:pPr>
            <a:r>
              <a:rPr lang="en-US" sz="2600" dirty="0">
                <a:solidFill>
                  <a:srgbClr val="000000"/>
                </a:solidFill>
                <a:latin typeface="Montserrat" panose="02000505000000020004"/>
                <a:cs typeface="Times New Roman" panose="02020603050405020304" pitchFamily="18" charset="0"/>
              </a:rPr>
              <a:t>Contoh 4.25: Mari </a:t>
            </a:r>
            <a:r>
              <a:rPr lang="en-US" sz="2600" dirty="0" err="1">
                <a:solidFill>
                  <a:srgbClr val="000000"/>
                </a:solidFill>
                <a:latin typeface="Montserrat" panose="02000505000000020004"/>
                <a:cs typeface="Times New Roman" panose="02020603050405020304" pitchFamily="18" charset="0"/>
              </a:rPr>
              <a:t>kita</a:t>
            </a:r>
            <a:r>
              <a:rPr lang="en-US" sz="2600" dirty="0">
                <a:solidFill>
                  <a:srgbClr val="000000"/>
                </a:solidFill>
                <a:latin typeface="Montserrat" panose="02000505000000020004"/>
                <a:cs typeface="Times New Roman" panose="02020603050405020304" pitchFamily="18" charset="0"/>
              </a:rPr>
              <a:t> </a:t>
            </a:r>
            <a:r>
              <a:rPr lang="en-US" sz="2600" dirty="0" err="1">
                <a:solidFill>
                  <a:srgbClr val="000000"/>
                </a:solidFill>
                <a:latin typeface="Montserrat" panose="02000505000000020004"/>
                <a:cs typeface="Times New Roman" panose="02020603050405020304" pitchFamily="18" charset="0"/>
              </a:rPr>
              <a:t>meminimalkan</a:t>
            </a:r>
            <a:r>
              <a:rPr lang="en-US" sz="2600" dirty="0">
                <a:solidFill>
                  <a:srgbClr val="000000"/>
                </a:solidFill>
                <a:latin typeface="Montserrat" panose="02000505000000020004"/>
                <a:cs typeface="Times New Roman" panose="02020603050405020304" pitchFamily="18" charset="0"/>
              </a:rPr>
              <a:t> DFA </a:t>
            </a:r>
            <a:r>
              <a:rPr lang="en-US" sz="2600" dirty="0" err="1">
                <a:solidFill>
                  <a:srgbClr val="000000"/>
                </a:solidFill>
                <a:latin typeface="Montserrat" panose="02000505000000020004"/>
                <a:cs typeface="Times New Roman" panose="02020603050405020304" pitchFamily="18" charset="0"/>
              </a:rPr>
              <a:t>dari</a:t>
            </a:r>
            <a:r>
              <a:rPr lang="en-US" sz="2600" dirty="0">
                <a:solidFill>
                  <a:srgbClr val="000000"/>
                </a:solidFill>
                <a:latin typeface="Montserrat" panose="02000505000000020004"/>
                <a:cs typeface="Times New Roman" panose="02020603050405020304" pitchFamily="18" charset="0"/>
              </a:rPr>
              <a:t> gambar DFA diatas. Kita telah membuat </a:t>
            </a:r>
            <a:r>
              <a:rPr lang="en-US" sz="2600" dirty="0" err="1">
                <a:solidFill>
                  <a:srgbClr val="000000"/>
                </a:solidFill>
                <a:latin typeface="Montserrat" panose="02000505000000020004"/>
                <a:cs typeface="Times New Roman" panose="02020603050405020304" pitchFamily="18" charset="0"/>
              </a:rPr>
              <a:t>blok-blok</a:t>
            </a:r>
            <a:r>
              <a:rPr lang="en-US" sz="2600" dirty="0">
                <a:solidFill>
                  <a:srgbClr val="000000"/>
                </a:solidFill>
                <a:latin typeface="Montserrat" panose="02000505000000020004"/>
                <a:cs typeface="Times New Roman" panose="02020603050405020304" pitchFamily="18" charset="0"/>
              </a:rPr>
              <a:t> </a:t>
            </a:r>
            <a:r>
              <a:rPr lang="en-US" sz="2600" dirty="0" err="1">
                <a:solidFill>
                  <a:srgbClr val="000000"/>
                </a:solidFill>
                <a:latin typeface="Montserrat" panose="02000505000000020004"/>
                <a:cs typeface="Times New Roman" panose="02020603050405020304" pitchFamily="18" charset="0"/>
              </a:rPr>
              <a:t>dari</a:t>
            </a:r>
            <a:r>
              <a:rPr lang="en-US" sz="2600" dirty="0">
                <a:solidFill>
                  <a:srgbClr val="000000"/>
                </a:solidFill>
                <a:latin typeface="Montserrat" panose="02000505000000020004"/>
                <a:cs typeface="Times New Roman" panose="02020603050405020304" pitchFamily="18" charset="0"/>
              </a:rPr>
              <a:t> </a:t>
            </a:r>
            <a:r>
              <a:rPr lang="en-US" sz="2600" dirty="0" err="1">
                <a:solidFill>
                  <a:srgbClr val="000000"/>
                </a:solidFill>
                <a:latin typeface="Montserrat" panose="02000505000000020004"/>
                <a:cs typeface="Times New Roman" panose="02020603050405020304" pitchFamily="18" charset="0"/>
              </a:rPr>
              <a:t>partisi</a:t>
            </a:r>
            <a:r>
              <a:rPr lang="en-US" sz="2600" dirty="0">
                <a:solidFill>
                  <a:srgbClr val="000000"/>
                </a:solidFill>
                <a:latin typeface="Montserrat" panose="02000505000000020004"/>
                <a:cs typeface="Times New Roman" panose="02020603050405020304" pitchFamily="18" charset="0"/>
              </a:rPr>
              <a:t> </a:t>
            </a:r>
            <a:r>
              <a:rPr lang="en-US" sz="2600" dirty="0" err="1">
                <a:solidFill>
                  <a:srgbClr val="000000"/>
                </a:solidFill>
                <a:latin typeface="Montserrat" panose="02000505000000020004"/>
                <a:cs typeface="Times New Roman" panose="02020603050405020304" pitchFamily="18" charset="0"/>
              </a:rPr>
              <a:t>keadaan</a:t>
            </a:r>
            <a:r>
              <a:rPr lang="en-US" sz="2600" dirty="0">
                <a:solidFill>
                  <a:srgbClr val="000000"/>
                </a:solidFill>
                <a:latin typeface="Montserrat" panose="02000505000000020004"/>
                <a:cs typeface="Times New Roman" panose="02020603050405020304" pitchFamily="18" charset="0"/>
              </a:rPr>
              <a:t> pada Contoh 4.22.</a:t>
            </a:r>
            <a:endParaRPr lang="id-ID" sz="2600" dirty="0">
              <a:solidFill>
                <a:srgbClr val="000000"/>
              </a:solidFill>
              <a:latin typeface="Montserrat" panose="02000505000000020004"/>
            </a:endParaRPr>
          </a:p>
        </p:txBody>
      </p:sp>
      <p:pic>
        <p:nvPicPr>
          <p:cNvPr id="4" name="Picture 3">
            <a:extLst>
              <a:ext uri="{FF2B5EF4-FFF2-40B4-BE49-F238E27FC236}">
                <a16:creationId xmlns:a16="http://schemas.microsoft.com/office/drawing/2014/main" id="{4774E057-A5F6-484A-BC2E-95AE55635DB0}"/>
              </a:ext>
            </a:extLst>
          </p:cNvPr>
          <p:cNvPicPr>
            <a:picLocks noChangeAspect="1"/>
          </p:cNvPicPr>
          <p:nvPr/>
        </p:nvPicPr>
        <p:blipFill>
          <a:blip r:embed="rId2"/>
          <a:stretch>
            <a:fillRect/>
          </a:stretch>
        </p:blipFill>
        <p:spPr>
          <a:xfrm>
            <a:off x="2247106" y="976437"/>
            <a:ext cx="5098574" cy="3420893"/>
          </a:xfrm>
          <a:prstGeom prst="rect">
            <a:avLst/>
          </a:prstGeom>
        </p:spPr>
      </p:pic>
    </p:spTree>
    <p:extLst>
      <p:ext uri="{BB962C8B-B14F-4D97-AF65-F5344CB8AC3E}">
        <p14:creationId xmlns:p14="http://schemas.microsoft.com/office/powerpoint/2010/main" val="3237545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323212"/>
            <a:ext cx="6353117" cy="446952"/>
          </a:xfrm>
        </p:spPr>
        <p:txBody>
          <a:bodyPr>
            <a:noAutofit/>
          </a:bodyPr>
          <a:lstStyle/>
          <a:p>
            <a:r>
              <a:rPr lang="en-US" sz="1800" dirty="0"/>
              <a:t>Algoritma </a:t>
            </a:r>
            <a:r>
              <a:rPr lang="en-US" sz="1800" dirty="0" err="1"/>
              <a:t>Minimisasi</a:t>
            </a:r>
            <a:r>
              <a:rPr lang="en-US" sz="1800" dirty="0"/>
              <a:t> DFA(</a:t>
            </a:r>
            <a:r>
              <a:rPr lang="en-US" sz="1800" dirty="0" err="1"/>
              <a:t>Teorema</a:t>
            </a:r>
            <a:r>
              <a:rPr lang="en-US" sz="1800" dirty="0"/>
              <a:t> 4.24)</a:t>
            </a:r>
            <a:endParaRPr lang="id-ID" sz="1800" dirty="0"/>
          </a:p>
        </p:txBody>
      </p:sp>
      <p:pic>
        <p:nvPicPr>
          <p:cNvPr id="5" name="Picture 4">
            <a:extLst>
              <a:ext uri="{FF2B5EF4-FFF2-40B4-BE49-F238E27FC236}">
                <a16:creationId xmlns:a16="http://schemas.microsoft.com/office/drawing/2014/main" id="{EE168D90-6310-4C96-B42C-641009327CEC}"/>
              </a:ext>
            </a:extLst>
          </p:cNvPr>
          <p:cNvPicPr>
            <a:picLocks noChangeAspect="1"/>
          </p:cNvPicPr>
          <p:nvPr/>
        </p:nvPicPr>
        <p:blipFill>
          <a:blip r:embed="rId2"/>
          <a:stretch>
            <a:fillRect/>
          </a:stretch>
        </p:blipFill>
        <p:spPr>
          <a:xfrm>
            <a:off x="5489592" y="975581"/>
            <a:ext cx="3077938" cy="3061255"/>
          </a:xfrm>
          <a:prstGeom prst="rect">
            <a:avLst/>
          </a:prstGeom>
        </p:spPr>
      </p:pic>
      <p:sp>
        <p:nvSpPr>
          <p:cNvPr id="6" name="TextBox 5">
            <a:extLst>
              <a:ext uri="{FF2B5EF4-FFF2-40B4-BE49-F238E27FC236}">
                <a16:creationId xmlns:a16="http://schemas.microsoft.com/office/drawing/2014/main" id="{B89AB76E-588F-4380-B586-5F14C088CA2A}"/>
              </a:ext>
            </a:extLst>
          </p:cNvPr>
          <p:cNvSpPr txBox="1"/>
          <p:nvPr/>
        </p:nvSpPr>
        <p:spPr>
          <a:xfrm>
            <a:off x="306039" y="868434"/>
            <a:ext cx="4902065" cy="5355312"/>
          </a:xfrm>
          <a:prstGeom prst="rect">
            <a:avLst/>
          </a:prstGeom>
          <a:noFill/>
        </p:spPr>
        <p:txBody>
          <a:bodyPr wrap="square" rtlCol="0">
            <a:spAutoFit/>
          </a:bodyPr>
          <a:lstStyle/>
          <a:p>
            <a:pPr algn="just"/>
            <a:r>
              <a:rPr lang="en-ID" dirty="0">
                <a:solidFill>
                  <a:srgbClr val="000000"/>
                </a:solidFill>
                <a:latin typeface="Montserrat" panose="02000505000000020004"/>
              </a:rPr>
              <a:t>Gambar 4.12 </a:t>
            </a:r>
            <a:r>
              <a:rPr lang="en-ID" dirty="0" err="1">
                <a:solidFill>
                  <a:srgbClr val="000000"/>
                </a:solidFill>
                <a:latin typeface="Montserrat" panose="02000505000000020004"/>
              </a:rPr>
              <a:t>menunjukkan</a:t>
            </a:r>
            <a:r>
              <a:rPr lang="en-ID" dirty="0">
                <a:solidFill>
                  <a:srgbClr val="000000"/>
                </a:solidFill>
                <a:latin typeface="Montserrat" panose="02000505000000020004"/>
              </a:rPr>
              <a:t> </a:t>
            </a:r>
            <a:r>
              <a:rPr lang="en-ID" dirty="0" err="1">
                <a:solidFill>
                  <a:srgbClr val="000000"/>
                </a:solidFill>
                <a:latin typeface="Montserrat" panose="02000505000000020004"/>
              </a:rPr>
              <a:t>otomat</a:t>
            </a:r>
            <a:r>
              <a:rPr lang="en-ID" dirty="0">
                <a:solidFill>
                  <a:srgbClr val="000000"/>
                </a:solidFill>
                <a:latin typeface="Montserrat" panose="02000505000000020004"/>
              </a:rPr>
              <a:t> </a:t>
            </a:r>
            <a:r>
              <a:rPr lang="en-ID" dirty="0" err="1">
                <a:solidFill>
                  <a:srgbClr val="000000"/>
                </a:solidFill>
                <a:latin typeface="Montserrat" panose="02000505000000020004"/>
              </a:rPr>
              <a:t>keadaan-maksimum</a:t>
            </a:r>
            <a:r>
              <a:rPr lang="en-ID" dirty="0">
                <a:solidFill>
                  <a:srgbClr val="000000"/>
                </a:solidFill>
                <a:latin typeface="Montserrat" panose="02000505000000020004"/>
              </a:rPr>
              <a:t>, </a:t>
            </a:r>
            <a:r>
              <a:rPr lang="en-ID" dirty="0" err="1">
                <a:solidFill>
                  <a:srgbClr val="000000"/>
                </a:solidFill>
                <a:latin typeface="Montserrat" panose="02000505000000020004"/>
              </a:rPr>
              <a:t>dengan</a:t>
            </a:r>
            <a:r>
              <a:rPr lang="en-ID" dirty="0">
                <a:solidFill>
                  <a:srgbClr val="000000"/>
                </a:solidFill>
                <a:latin typeface="Montserrat" panose="02000505000000020004"/>
              </a:rPr>
              <a:t> lima state yang </a:t>
            </a:r>
            <a:r>
              <a:rPr lang="en-ID" dirty="0" err="1">
                <a:solidFill>
                  <a:srgbClr val="000000"/>
                </a:solidFill>
                <a:latin typeface="Montserrat" panose="02000505000000020004"/>
              </a:rPr>
              <a:t>sesuai</a:t>
            </a:r>
            <a:r>
              <a:rPr lang="en-ID" dirty="0">
                <a:solidFill>
                  <a:srgbClr val="000000"/>
                </a:solidFill>
                <a:latin typeface="Montserrat" panose="02000505000000020004"/>
              </a:rPr>
              <a:t> </a:t>
            </a:r>
            <a:r>
              <a:rPr lang="en-ID" dirty="0" err="1">
                <a:solidFill>
                  <a:srgbClr val="000000"/>
                </a:solidFill>
                <a:latin typeface="Montserrat" panose="02000505000000020004"/>
              </a:rPr>
              <a:t>dengan</a:t>
            </a:r>
            <a:r>
              <a:rPr lang="en-ID" dirty="0">
                <a:solidFill>
                  <a:srgbClr val="000000"/>
                </a:solidFill>
                <a:latin typeface="Montserrat" panose="02000505000000020004"/>
              </a:rPr>
              <a:t> lima </a:t>
            </a:r>
            <a:r>
              <a:rPr lang="en-ID" dirty="0" err="1">
                <a:solidFill>
                  <a:srgbClr val="000000"/>
                </a:solidFill>
                <a:latin typeface="Montserrat" panose="02000505000000020004"/>
              </a:rPr>
              <a:t>blok</a:t>
            </a:r>
            <a:r>
              <a:rPr lang="en-ID" dirty="0">
                <a:solidFill>
                  <a:srgbClr val="000000"/>
                </a:solidFill>
                <a:latin typeface="Montserrat" panose="02000505000000020004"/>
              </a:rPr>
              <a:t> state </a:t>
            </a:r>
            <a:r>
              <a:rPr lang="en-ID" dirty="0" err="1">
                <a:solidFill>
                  <a:srgbClr val="000000"/>
                </a:solidFill>
                <a:latin typeface="Montserrat" panose="02000505000000020004"/>
              </a:rPr>
              <a:t>ekuivalen</a:t>
            </a:r>
            <a:r>
              <a:rPr lang="en-ID" dirty="0">
                <a:solidFill>
                  <a:srgbClr val="000000"/>
                </a:solidFill>
                <a:latin typeface="Montserrat" panose="02000505000000020004"/>
              </a:rPr>
              <a:t> </a:t>
            </a:r>
            <a:r>
              <a:rPr lang="en-ID" dirty="0" err="1">
                <a:solidFill>
                  <a:srgbClr val="000000"/>
                </a:solidFill>
                <a:latin typeface="Montserrat" panose="02000505000000020004"/>
              </a:rPr>
              <a:t>dari</a:t>
            </a:r>
            <a:r>
              <a:rPr lang="en-ID" dirty="0">
                <a:solidFill>
                  <a:srgbClr val="000000"/>
                </a:solidFill>
                <a:latin typeface="Montserrat" panose="02000505000000020004"/>
              </a:rPr>
              <a:t> Gambar 4.8. State </a:t>
            </a:r>
            <a:r>
              <a:rPr lang="en-ID" dirty="0" err="1">
                <a:solidFill>
                  <a:srgbClr val="000000"/>
                </a:solidFill>
                <a:latin typeface="Montserrat" panose="02000505000000020004"/>
              </a:rPr>
              <a:t>awal</a:t>
            </a:r>
            <a:r>
              <a:rPr lang="en-ID" dirty="0">
                <a:solidFill>
                  <a:srgbClr val="000000"/>
                </a:solidFill>
                <a:latin typeface="Montserrat" panose="02000505000000020004"/>
              </a:rPr>
              <a:t> </a:t>
            </a:r>
            <a:r>
              <a:rPr lang="en-ID" dirty="0" err="1">
                <a:solidFill>
                  <a:srgbClr val="000000"/>
                </a:solidFill>
                <a:latin typeface="Montserrat" panose="02000505000000020004"/>
              </a:rPr>
              <a:t>adalah</a:t>
            </a:r>
            <a:r>
              <a:rPr lang="en-ID" dirty="0">
                <a:solidFill>
                  <a:srgbClr val="000000"/>
                </a:solidFill>
                <a:latin typeface="Montserrat" panose="02000505000000020004"/>
              </a:rPr>
              <a:t> {A, E}, </a:t>
            </a:r>
            <a:r>
              <a:rPr lang="en-ID" dirty="0" err="1">
                <a:solidFill>
                  <a:srgbClr val="000000"/>
                </a:solidFill>
                <a:latin typeface="Montserrat" panose="02000505000000020004"/>
              </a:rPr>
              <a:t>karena</a:t>
            </a:r>
            <a:r>
              <a:rPr lang="en-ID" dirty="0">
                <a:solidFill>
                  <a:srgbClr val="000000"/>
                </a:solidFill>
                <a:latin typeface="Montserrat" panose="02000505000000020004"/>
              </a:rPr>
              <a:t> A </a:t>
            </a:r>
            <a:r>
              <a:rPr lang="en-ID" dirty="0" err="1">
                <a:solidFill>
                  <a:srgbClr val="000000"/>
                </a:solidFill>
                <a:latin typeface="Montserrat" panose="02000505000000020004"/>
              </a:rPr>
              <a:t>adalah</a:t>
            </a:r>
            <a:r>
              <a:rPr lang="en-ID" dirty="0">
                <a:solidFill>
                  <a:srgbClr val="000000"/>
                </a:solidFill>
                <a:latin typeface="Montserrat" panose="02000505000000020004"/>
              </a:rPr>
              <a:t> state </a:t>
            </a:r>
            <a:r>
              <a:rPr lang="en-ID" dirty="0" err="1">
                <a:solidFill>
                  <a:srgbClr val="000000"/>
                </a:solidFill>
                <a:latin typeface="Montserrat" panose="02000505000000020004"/>
              </a:rPr>
              <a:t>awal</a:t>
            </a:r>
            <a:r>
              <a:rPr lang="en-ID" dirty="0">
                <a:solidFill>
                  <a:srgbClr val="000000"/>
                </a:solidFill>
                <a:latin typeface="Montserrat" panose="02000505000000020004"/>
              </a:rPr>
              <a:t> pada Gambar 4.8, dan </a:t>
            </a:r>
            <a:r>
              <a:rPr lang="en-ID" dirty="0" err="1">
                <a:solidFill>
                  <a:srgbClr val="000000"/>
                </a:solidFill>
                <a:latin typeface="Montserrat" panose="02000505000000020004"/>
              </a:rPr>
              <a:t>satu-satunya</a:t>
            </a:r>
            <a:r>
              <a:rPr lang="en-ID" dirty="0">
                <a:solidFill>
                  <a:srgbClr val="000000"/>
                </a:solidFill>
                <a:latin typeface="Montserrat" panose="02000505000000020004"/>
              </a:rPr>
              <a:t> state yang </a:t>
            </a:r>
            <a:r>
              <a:rPr lang="en-ID" dirty="0" err="1">
                <a:solidFill>
                  <a:srgbClr val="000000"/>
                </a:solidFill>
                <a:latin typeface="Montserrat" panose="02000505000000020004"/>
              </a:rPr>
              <a:t>diterima</a:t>
            </a:r>
            <a:r>
              <a:rPr lang="en-ID" dirty="0">
                <a:solidFill>
                  <a:srgbClr val="000000"/>
                </a:solidFill>
                <a:latin typeface="Montserrat" panose="02000505000000020004"/>
              </a:rPr>
              <a:t> </a:t>
            </a:r>
            <a:r>
              <a:rPr lang="en-ID" dirty="0" err="1">
                <a:solidFill>
                  <a:srgbClr val="000000"/>
                </a:solidFill>
                <a:latin typeface="Montserrat" panose="02000505000000020004"/>
              </a:rPr>
              <a:t>adalah</a:t>
            </a:r>
            <a:r>
              <a:rPr lang="en-ID" dirty="0">
                <a:solidFill>
                  <a:srgbClr val="000000"/>
                </a:solidFill>
                <a:latin typeface="Montserrat" panose="02000505000000020004"/>
              </a:rPr>
              <a:t> {C}, </a:t>
            </a:r>
            <a:r>
              <a:rPr lang="en-ID" dirty="0" err="1">
                <a:solidFill>
                  <a:srgbClr val="000000"/>
                </a:solidFill>
                <a:latin typeface="Montserrat" panose="02000505000000020004"/>
              </a:rPr>
              <a:t>karena</a:t>
            </a:r>
            <a:r>
              <a:rPr lang="en-ID" dirty="0">
                <a:solidFill>
                  <a:srgbClr val="000000"/>
                </a:solidFill>
                <a:latin typeface="Montserrat" panose="02000505000000020004"/>
              </a:rPr>
              <a:t> C </a:t>
            </a:r>
            <a:r>
              <a:rPr lang="en-ID" dirty="0" err="1">
                <a:solidFill>
                  <a:srgbClr val="000000"/>
                </a:solidFill>
                <a:latin typeface="Montserrat" panose="02000505000000020004"/>
              </a:rPr>
              <a:t>adalah</a:t>
            </a:r>
            <a:r>
              <a:rPr lang="en-ID" dirty="0">
                <a:solidFill>
                  <a:srgbClr val="000000"/>
                </a:solidFill>
                <a:latin typeface="Montserrat" panose="02000505000000020004"/>
              </a:rPr>
              <a:t> state </a:t>
            </a:r>
            <a:r>
              <a:rPr lang="en-ID" dirty="0" err="1">
                <a:solidFill>
                  <a:srgbClr val="000000"/>
                </a:solidFill>
                <a:latin typeface="Montserrat" panose="02000505000000020004"/>
              </a:rPr>
              <a:t>diterima</a:t>
            </a:r>
            <a:r>
              <a:rPr lang="en-ID" dirty="0">
                <a:solidFill>
                  <a:srgbClr val="000000"/>
                </a:solidFill>
                <a:latin typeface="Montserrat" panose="02000505000000020004"/>
              </a:rPr>
              <a:t> pada Gambar 4.8. </a:t>
            </a:r>
          </a:p>
          <a:p>
            <a:pPr algn="just"/>
            <a:endParaRPr lang="en-ID" dirty="0">
              <a:solidFill>
                <a:srgbClr val="000000"/>
              </a:solidFill>
              <a:latin typeface="Montserrat" panose="02000505000000020004"/>
            </a:endParaRPr>
          </a:p>
          <a:p>
            <a:pPr algn="just"/>
            <a:r>
              <a:rPr lang="en-ID" dirty="0" err="1">
                <a:solidFill>
                  <a:srgbClr val="000000"/>
                </a:solidFill>
                <a:latin typeface="Montserrat" panose="02000505000000020004"/>
              </a:rPr>
              <a:t>Transisi-transisi</a:t>
            </a:r>
            <a:r>
              <a:rPr lang="en-ID" dirty="0">
                <a:solidFill>
                  <a:srgbClr val="000000"/>
                </a:solidFill>
                <a:latin typeface="Montserrat" panose="02000505000000020004"/>
              </a:rPr>
              <a:t> di Gambar 4.12 </a:t>
            </a:r>
            <a:r>
              <a:rPr lang="en-ID" dirty="0" err="1">
                <a:solidFill>
                  <a:srgbClr val="000000"/>
                </a:solidFill>
                <a:latin typeface="Montserrat" panose="02000505000000020004"/>
              </a:rPr>
              <a:t>mencerminkan</a:t>
            </a:r>
            <a:r>
              <a:rPr lang="en-ID" dirty="0">
                <a:solidFill>
                  <a:srgbClr val="000000"/>
                </a:solidFill>
                <a:latin typeface="Montserrat" panose="02000505000000020004"/>
              </a:rPr>
              <a:t> </a:t>
            </a:r>
            <a:r>
              <a:rPr lang="en-ID" dirty="0" err="1">
                <a:solidFill>
                  <a:srgbClr val="000000"/>
                </a:solidFill>
                <a:latin typeface="Montserrat" panose="02000505000000020004"/>
              </a:rPr>
              <a:t>transisi</a:t>
            </a:r>
            <a:r>
              <a:rPr lang="en-ID" dirty="0">
                <a:solidFill>
                  <a:srgbClr val="000000"/>
                </a:solidFill>
                <a:latin typeface="Montserrat" panose="02000505000000020004"/>
              </a:rPr>
              <a:t> </a:t>
            </a:r>
            <a:r>
              <a:rPr lang="en-ID" dirty="0" err="1">
                <a:solidFill>
                  <a:srgbClr val="000000"/>
                </a:solidFill>
                <a:latin typeface="Montserrat" panose="02000505000000020004"/>
              </a:rPr>
              <a:t>dari</a:t>
            </a:r>
            <a:r>
              <a:rPr lang="en-ID" dirty="0">
                <a:solidFill>
                  <a:srgbClr val="000000"/>
                </a:solidFill>
                <a:latin typeface="Montserrat" panose="02000505000000020004"/>
              </a:rPr>
              <a:t> Gambar 4.8. </a:t>
            </a:r>
            <a:r>
              <a:rPr lang="en-ID" dirty="0" err="1">
                <a:solidFill>
                  <a:srgbClr val="000000"/>
                </a:solidFill>
                <a:latin typeface="Montserrat" panose="02000505000000020004"/>
              </a:rPr>
              <a:t>Misalnya</a:t>
            </a:r>
            <a:r>
              <a:rPr lang="en-ID" dirty="0">
                <a:solidFill>
                  <a:srgbClr val="000000"/>
                </a:solidFill>
                <a:latin typeface="Montserrat" panose="02000505000000020004"/>
              </a:rPr>
              <a:t>, pada input 0, {A, E} </a:t>
            </a:r>
            <a:r>
              <a:rPr lang="en-ID" dirty="0" err="1">
                <a:solidFill>
                  <a:srgbClr val="000000"/>
                </a:solidFill>
                <a:latin typeface="Montserrat" panose="02000505000000020004"/>
              </a:rPr>
              <a:t>menuju</a:t>
            </a:r>
            <a:r>
              <a:rPr lang="en-ID" dirty="0">
                <a:solidFill>
                  <a:srgbClr val="000000"/>
                </a:solidFill>
                <a:latin typeface="Montserrat" panose="02000505000000020004"/>
              </a:rPr>
              <a:t> {B, H}, </a:t>
            </a:r>
            <a:r>
              <a:rPr lang="en-ID" dirty="0" err="1">
                <a:solidFill>
                  <a:srgbClr val="000000"/>
                </a:solidFill>
                <a:latin typeface="Montserrat" panose="02000505000000020004"/>
              </a:rPr>
              <a:t>sesuai</a:t>
            </a:r>
            <a:r>
              <a:rPr lang="en-ID" dirty="0">
                <a:solidFill>
                  <a:srgbClr val="000000"/>
                </a:solidFill>
                <a:latin typeface="Montserrat" panose="02000505000000020004"/>
              </a:rPr>
              <a:t> </a:t>
            </a:r>
            <a:r>
              <a:rPr lang="en-ID" dirty="0" err="1">
                <a:solidFill>
                  <a:srgbClr val="000000"/>
                </a:solidFill>
                <a:latin typeface="Montserrat" panose="02000505000000020004"/>
              </a:rPr>
              <a:t>dengan</a:t>
            </a:r>
            <a:r>
              <a:rPr lang="en-ID" dirty="0">
                <a:solidFill>
                  <a:srgbClr val="000000"/>
                </a:solidFill>
                <a:latin typeface="Montserrat" panose="02000505000000020004"/>
              </a:rPr>
              <a:t> A </a:t>
            </a:r>
            <a:r>
              <a:rPr lang="en-ID" dirty="0" err="1">
                <a:solidFill>
                  <a:srgbClr val="000000"/>
                </a:solidFill>
                <a:latin typeface="Montserrat" panose="02000505000000020004"/>
              </a:rPr>
              <a:t>menuju</a:t>
            </a:r>
            <a:r>
              <a:rPr lang="en-ID" dirty="0">
                <a:solidFill>
                  <a:srgbClr val="000000"/>
                </a:solidFill>
                <a:latin typeface="Montserrat" panose="02000505000000020004"/>
              </a:rPr>
              <a:t> B dan E </a:t>
            </a:r>
            <a:r>
              <a:rPr lang="en-ID" dirty="0" err="1">
                <a:solidFill>
                  <a:srgbClr val="000000"/>
                </a:solidFill>
                <a:latin typeface="Montserrat" panose="02000505000000020004"/>
              </a:rPr>
              <a:t>menuju</a:t>
            </a:r>
            <a:r>
              <a:rPr lang="en-ID" dirty="0">
                <a:solidFill>
                  <a:srgbClr val="000000"/>
                </a:solidFill>
                <a:latin typeface="Montserrat" panose="02000505000000020004"/>
              </a:rPr>
              <a:t> H pada Gambar 4.8. </a:t>
            </a:r>
          </a:p>
          <a:p>
            <a:pPr algn="just"/>
            <a:endParaRPr lang="en-ID" dirty="0">
              <a:solidFill>
                <a:srgbClr val="000000"/>
              </a:solidFill>
              <a:latin typeface="Montserrat" panose="02000505000000020004"/>
            </a:endParaRPr>
          </a:p>
          <a:p>
            <a:pPr algn="just"/>
            <a:r>
              <a:rPr lang="en-ID" dirty="0">
                <a:solidFill>
                  <a:srgbClr val="000000"/>
                </a:solidFill>
                <a:latin typeface="Montserrat" panose="02000505000000020004"/>
              </a:rPr>
              <a:t>Pada input 1, {A, E} </a:t>
            </a:r>
            <a:r>
              <a:rPr lang="en-ID" dirty="0" err="1">
                <a:solidFill>
                  <a:srgbClr val="000000"/>
                </a:solidFill>
                <a:latin typeface="Montserrat" panose="02000505000000020004"/>
              </a:rPr>
              <a:t>menuju</a:t>
            </a:r>
            <a:r>
              <a:rPr lang="en-ID" dirty="0">
                <a:solidFill>
                  <a:srgbClr val="000000"/>
                </a:solidFill>
                <a:latin typeface="Montserrat" panose="02000505000000020004"/>
              </a:rPr>
              <a:t> {D, F}, yang juga </a:t>
            </a:r>
            <a:r>
              <a:rPr lang="en-ID" dirty="0" err="1">
                <a:solidFill>
                  <a:srgbClr val="000000"/>
                </a:solidFill>
                <a:latin typeface="Montserrat" panose="02000505000000020004"/>
              </a:rPr>
              <a:t>sesuai</a:t>
            </a:r>
            <a:r>
              <a:rPr lang="en-ID" dirty="0">
                <a:solidFill>
                  <a:srgbClr val="000000"/>
                </a:solidFill>
                <a:latin typeface="Montserrat" panose="02000505000000020004"/>
              </a:rPr>
              <a:t> </a:t>
            </a:r>
            <a:r>
              <a:rPr lang="en-ID" dirty="0" err="1">
                <a:solidFill>
                  <a:srgbClr val="000000"/>
                </a:solidFill>
                <a:latin typeface="Montserrat" panose="02000505000000020004"/>
              </a:rPr>
              <a:t>dengan</a:t>
            </a:r>
            <a:r>
              <a:rPr lang="en-ID" dirty="0">
                <a:solidFill>
                  <a:srgbClr val="000000"/>
                </a:solidFill>
                <a:latin typeface="Montserrat" panose="02000505000000020004"/>
              </a:rPr>
              <a:t> A dan E </a:t>
            </a:r>
            <a:r>
              <a:rPr lang="en-ID" dirty="0" err="1">
                <a:solidFill>
                  <a:srgbClr val="000000"/>
                </a:solidFill>
                <a:latin typeface="Montserrat" panose="02000505000000020004"/>
              </a:rPr>
              <a:t>menuju</a:t>
            </a:r>
            <a:r>
              <a:rPr lang="en-ID" dirty="0">
                <a:solidFill>
                  <a:srgbClr val="000000"/>
                </a:solidFill>
                <a:latin typeface="Montserrat" panose="02000505000000020004"/>
              </a:rPr>
              <a:t> F pada Gambar 4.8. </a:t>
            </a:r>
            <a:r>
              <a:rPr lang="en-ID" dirty="0" err="1">
                <a:solidFill>
                  <a:srgbClr val="000000"/>
                </a:solidFill>
                <a:latin typeface="Montserrat" panose="02000505000000020004"/>
              </a:rPr>
              <a:t>Semua</a:t>
            </a:r>
            <a:r>
              <a:rPr lang="en-ID" dirty="0">
                <a:solidFill>
                  <a:srgbClr val="000000"/>
                </a:solidFill>
                <a:latin typeface="Montserrat" panose="02000505000000020004"/>
              </a:rPr>
              <a:t> </a:t>
            </a:r>
            <a:r>
              <a:rPr lang="en-ID" dirty="0" err="1">
                <a:solidFill>
                  <a:srgbClr val="000000"/>
                </a:solidFill>
                <a:latin typeface="Montserrat" panose="02000505000000020004"/>
              </a:rPr>
              <a:t>transisi</a:t>
            </a:r>
            <a:r>
              <a:rPr lang="en-ID" dirty="0">
                <a:solidFill>
                  <a:srgbClr val="000000"/>
                </a:solidFill>
                <a:latin typeface="Montserrat" panose="02000505000000020004"/>
              </a:rPr>
              <a:t> lain juga </a:t>
            </a:r>
            <a:r>
              <a:rPr lang="en-ID" dirty="0" err="1">
                <a:solidFill>
                  <a:srgbClr val="000000"/>
                </a:solidFill>
                <a:latin typeface="Montserrat" panose="02000505000000020004"/>
              </a:rPr>
              <a:t>benar</a:t>
            </a:r>
            <a:r>
              <a:rPr lang="en-ID" dirty="0">
                <a:solidFill>
                  <a:srgbClr val="000000"/>
                </a:solidFill>
                <a:latin typeface="Montserrat" panose="02000505000000020004"/>
              </a:rPr>
              <a:t>.</a:t>
            </a:r>
          </a:p>
        </p:txBody>
      </p:sp>
      <p:pic>
        <p:nvPicPr>
          <p:cNvPr id="7" name="Picture 6">
            <a:extLst>
              <a:ext uri="{FF2B5EF4-FFF2-40B4-BE49-F238E27FC236}">
                <a16:creationId xmlns:a16="http://schemas.microsoft.com/office/drawing/2014/main" id="{76149069-3B23-4C6D-8B97-DB182EC25F97}"/>
              </a:ext>
            </a:extLst>
          </p:cNvPr>
          <p:cNvPicPr>
            <a:picLocks noChangeAspect="1"/>
          </p:cNvPicPr>
          <p:nvPr/>
        </p:nvPicPr>
        <p:blipFill>
          <a:blip r:embed="rId3"/>
          <a:stretch>
            <a:fillRect/>
          </a:stretch>
        </p:blipFill>
        <p:spPr>
          <a:xfrm>
            <a:off x="5539860" y="4091609"/>
            <a:ext cx="3298101" cy="2212864"/>
          </a:xfrm>
          <a:prstGeom prst="rect">
            <a:avLst/>
          </a:prstGeom>
        </p:spPr>
      </p:pic>
    </p:spTree>
    <p:extLst>
      <p:ext uri="{BB962C8B-B14F-4D97-AF65-F5344CB8AC3E}">
        <p14:creationId xmlns:p14="http://schemas.microsoft.com/office/powerpoint/2010/main" val="1048930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101600"/>
            <a:ext cx="6353117" cy="668564"/>
          </a:xfrm>
        </p:spPr>
        <p:txBody>
          <a:bodyPr>
            <a:noAutofit/>
          </a:bodyPr>
          <a:lstStyle/>
          <a:p>
            <a:r>
              <a:rPr lang="en-US" sz="1900" dirty="0" err="1"/>
              <a:t>Mengapa</a:t>
            </a:r>
            <a:r>
              <a:rPr lang="en-US" sz="1900" dirty="0"/>
              <a:t> DFA yang telah </a:t>
            </a:r>
            <a:r>
              <a:rPr lang="en-US" sz="1900" dirty="0" err="1"/>
              <a:t>Diminimalkan</a:t>
            </a:r>
            <a:r>
              <a:rPr lang="en-US" sz="1900" dirty="0"/>
              <a:t> Tidak Dapat </a:t>
            </a:r>
            <a:r>
              <a:rPr lang="en-US" sz="1900" dirty="0" err="1"/>
              <a:t>Dikalahkan</a:t>
            </a:r>
            <a:r>
              <a:rPr lang="en-US" sz="1900" dirty="0"/>
              <a:t>?</a:t>
            </a:r>
            <a:endParaRPr lang="id-ID" sz="1900" dirty="0"/>
          </a:p>
        </p:txBody>
      </p:sp>
      <p:sp>
        <p:nvSpPr>
          <p:cNvPr id="6" name="TextBox 5">
            <a:extLst>
              <a:ext uri="{FF2B5EF4-FFF2-40B4-BE49-F238E27FC236}">
                <a16:creationId xmlns:a16="http://schemas.microsoft.com/office/drawing/2014/main" id="{B89AB76E-588F-4380-B586-5F14C088CA2A}"/>
              </a:ext>
            </a:extLst>
          </p:cNvPr>
          <p:cNvSpPr txBox="1"/>
          <p:nvPr/>
        </p:nvSpPr>
        <p:spPr>
          <a:xfrm>
            <a:off x="454083" y="888625"/>
            <a:ext cx="8254488" cy="5355312"/>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a:solidFill>
                  <a:srgbClr val="000000"/>
                </a:solidFill>
                <a:latin typeface="Montserrat" panose="02000505000000020004"/>
                <a:cs typeface="Times New Roman" panose="02020603050405020304" pitchFamily="18" charset="0"/>
              </a:rPr>
              <a:t>Misalkan</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kita</a:t>
            </a:r>
            <a:r>
              <a:rPr lang="en-US" dirty="0">
                <a:solidFill>
                  <a:srgbClr val="000000"/>
                </a:solidFill>
                <a:latin typeface="Montserrat" panose="02000505000000020004"/>
                <a:cs typeface="Times New Roman" panose="02020603050405020304" pitchFamily="18" charset="0"/>
              </a:rPr>
              <a:t> memiliki DFA A yang </a:t>
            </a:r>
            <a:r>
              <a:rPr lang="en-US" dirty="0" err="1">
                <a:solidFill>
                  <a:srgbClr val="000000"/>
                </a:solidFill>
                <a:latin typeface="Montserrat" panose="02000505000000020004"/>
                <a:cs typeface="Times New Roman" panose="02020603050405020304" pitchFamily="18" charset="0"/>
              </a:rPr>
              <a:t>diminimalkan</a:t>
            </a:r>
            <a:r>
              <a:rPr lang="en-US" dirty="0">
                <a:solidFill>
                  <a:srgbClr val="000000"/>
                </a:solidFill>
                <a:latin typeface="Montserrat" panose="02000505000000020004"/>
                <a:cs typeface="Times New Roman" panose="02020603050405020304" pitchFamily="18" charset="0"/>
              </a:rPr>
              <a:t> menjadi DFA M menggunakan metode </a:t>
            </a:r>
            <a:r>
              <a:rPr lang="en-US" dirty="0" err="1">
                <a:solidFill>
                  <a:srgbClr val="000000"/>
                </a:solidFill>
                <a:latin typeface="Montserrat" panose="02000505000000020004"/>
                <a:cs typeface="Times New Roman" panose="02020603050405020304" pitchFamily="18" charset="0"/>
              </a:rPr>
              <a:t>partisi</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dari</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Teorema</a:t>
            </a:r>
            <a:r>
              <a:rPr lang="en-US" dirty="0">
                <a:solidFill>
                  <a:srgbClr val="000000"/>
                </a:solidFill>
                <a:latin typeface="Montserrat" panose="02000505000000020004"/>
                <a:cs typeface="Times New Roman" panose="02020603050405020304" pitchFamily="18" charset="0"/>
              </a:rPr>
              <a:t> 4.24. </a:t>
            </a:r>
            <a:r>
              <a:rPr lang="en-US" dirty="0" err="1">
                <a:solidFill>
                  <a:srgbClr val="000000"/>
                </a:solidFill>
                <a:latin typeface="Montserrat" panose="02000505000000020004"/>
                <a:cs typeface="Times New Roman" panose="02020603050405020304" pitchFamily="18" charset="0"/>
              </a:rPr>
              <a:t>Teorema</a:t>
            </a:r>
            <a:r>
              <a:rPr lang="en-US" dirty="0">
                <a:solidFill>
                  <a:srgbClr val="000000"/>
                </a:solidFill>
                <a:latin typeface="Montserrat" panose="02000505000000020004"/>
                <a:cs typeface="Times New Roman" panose="02020603050405020304" pitchFamily="18" charset="0"/>
              </a:rPr>
              <a:t> tersebut </a:t>
            </a:r>
            <a:r>
              <a:rPr lang="en-US" dirty="0" err="1">
                <a:solidFill>
                  <a:srgbClr val="000000"/>
                </a:solidFill>
                <a:latin typeface="Montserrat" panose="02000505000000020004"/>
                <a:cs typeface="Times New Roman" panose="02020603050405020304" pitchFamily="18" charset="0"/>
              </a:rPr>
              <a:t>menyatakan</a:t>
            </a:r>
            <a:r>
              <a:rPr lang="en-US" dirty="0">
                <a:solidFill>
                  <a:srgbClr val="000000"/>
                </a:solidFill>
                <a:latin typeface="Montserrat" panose="02000505000000020004"/>
                <a:cs typeface="Times New Roman" panose="02020603050405020304" pitchFamily="18" charset="0"/>
              </a:rPr>
              <a:t> bahwa </a:t>
            </a:r>
            <a:r>
              <a:rPr lang="en-US" dirty="0" err="1">
                <a:solidFill>
                  <a:srgbClr val="000000"/>
                </a:solidFill>
                <a:latin typeface="Montserrat" panose="02000505000000020004"/>
                <a:cs typeface="Times New Roman" panose="02020603050405020304" pitchFamily="18" charset="0"/>
              </a:rPr>
              <a:t>tidak</a:t>
            </a:r>
            <a:r>
              <a:rPr lang="en-US" dirty="0">
                <a:solidFill>
                  <a:srgbClr val="000000"/>
                </a:solidFill>
                <a:latin typeface="Montserrat" panose="02000505000000020004"/>
                <a:cs typeface="Times New Roman" panose="02020603050405020304" pitchFamily="18" charset="0"/>
              </a:rPr>
              <a:t> mungkin </a:t>
            </a:r>
            <a:r>
              <a:rPr lang="en-US" dirty="0" err="1">
                <a:solidFill>
                  <a:srgbClr val="000000"/>
                </a:solidFill>
                <a:latin typeface="Montserrat" panose="02000505000000020004"/>
                <a:cs typeface="Times New Roman" panose="02020603050405020304" pitchFamily="18" charset="0"/>
              </a:rPr>
              <a:t>mempartisi</a:t>
            </a:r>
            <a:r>
              <a:rPr lang="en-US" dirty="0">
                <a:solidFill>
                  <a:srgbClr val="000000"/>
                </a:solidFill>
                <a:latin typeface="Montserrat" panose="02000505000000020004"/>
                <a:cs typeface="Times New Roman" panose="02020603050405020304" pitchFamily="18" charset="0"/>
              </a:rPr>
              <a:t> state A menjadi lebih sedikit dan </a:t>
            </a:r>
            <a:r>
              <a:rPr lang="en-US" dirty="0" err="1">
                <a:solidFill>
                  <a:srgbClr val="000000"/>
                </a:solidFill>
                <a:latin typeface="Montserrat" panose="02000505000000020004"/>
                <a:cs typeface="Times New Roman" panose="02020603050405020304" pitchFamily="18" charset="0"/>
              </a:rPr>
              <a:t>tetap</a:t>
            </a:r>
            <a:r>
              <a:rPr lang="en-US" dirty="0">
                <a:solidFill>
                  <a:srgbClr val="000000"/>
                </a:solidFill>
                <a:latin typeface="Montserrat" panose="02000505000000020004"/>
                <a:cs typeface="Times New Roman" panose="02020603050405020304" pitchFamily="18" charset="0"/>
              </a:rPr>
              <a:t> memiliki DFA yang </a:t>
            </a:r>
            <a:r>
              <a:rPr lang="en-US" dirty="0" err="1">
                <a:solidFill>
                  <a:srgbClr val="000000"/>
                </a:solidFill>
                <a:latin typeface="Montserrat" panose="02000505000000020004"/>
                <a:cs typeface="Times New Roman" panose="02020603050405020304" pitchFamily="18" charset="0"/>
              </a:rPr>
              <a:t>setara</a:t>
            </a:r>
            <a:r>
              <a:rPr lang="en-US" dirty="0">
                <a:solidFill>
                  <a:srgbClr val="000000"/>
                </a:solidFill>
                <a:latin typeface="Montserrat" panose="02000505000000020004"/>
                <a:cs typeface="Times New Roman" panose="02020603050405020304" pitchFamily="18" charset="0"/>
              </a:rPr>
              <a:t>. Namun, </a:t>
            </a:r>
            <a:r>
              <a:rPr lang="en-US" dirty="0" err="1">
                <a:solidFill>
                  <a:srgbClr val="000000"/>
                </a:solidFill>
                <a:latin typeface="Montserrat" panose="02000505000000020004"/>
                <a:cs typeface="Times New Roman" panose="02020603050405020304" pitchFamily="18" charset="0"/>
              </a:rPr>
              <a:t>mungkinkah</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ada</a:t>
            </a:r>
            <a:r>
              <a:rPr lang="en-US" dirty="0">
                <a:solidFill>
                  <a:srgbClr val="000000"/>
                </a:solidFill>
                <a:latin typeface="Montserrat" panose="02000505000000020004"/>
                <a:cs typeface="Times New Roman" panose="02020603050405020304" pitchFamily="18" charset="0"/>
              </a:rPr>
              <a:t> DFA lain, N, yang </a:t>
            </a:r>
            <a:r>
              <a:rPr lang="en-US" dirty="0" err="1">
                <a:solidFill>
                  <a:srgbClr val="000000"/>
                </a:solidFill>
                <a:latin typeface="Montserrat" panose="02000505000000020004"/>
                <a:cs typeface="Times New Roman" panose="02020603050405020304" pitchFamily="18" charset="0"/>
              </a:rPr>
              <a:t>tidak</a:t>
            </a:r>
            <a:r>
              <a:rPr lang="en-US" dirty="0">
                <a:solidFill>
                  <a:srgbClr val="000000"/>
                </a:solidFill>
                <a:latin typeface="Montserrat" panose="02000505000000020004"/>
                <a:cs typeface="Times New Roman" panose="02020603050405020304" pitchFamily="18" charset="0"/>
              </a:rPr>
              <a:t> berhubungan dengan A, </a:t>
            </a:r>
            <a:r>
              <a:rPr lang="en-US" dirty="0" err="1">
                <a:solidFill>
                  <a:srgbClr val="000000"/>
                </a:solidFill>
                <a:latin typeface="Montserrat" panose="02000505000000020004"/>
                <a:cs typeface="Times New Roman" panose="02020603050405020304" pitchFamily="18" charset="0"/>
              </a:rPr>
              <a:t>menerima</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bahasa</a:t>
            </a:r>
            <a:r>
              <a:rPr lang="en-US" dirty="0">
                <a:solidFill>
                  <a:srgbClr val="000000"/>
                </a:solidFill>
                <a:latin typeface="Montserrat" panose="02000505000000020004"/>
                <a:cs typeface="Times New Roman" panose="02020603050405020304" pitchFamily="18" charset="0"/>
              </a:rPr>
              <a:t> yang sama, tetapi memiliki lebih sedikit state daripada M? Kita dapat </a:t>
            </a:r>
            <a:r>
              <a:rPr lang="en-US" dirty="0" err="1">
                <a:solidFill>
                  <a:srgbClr val="000000"/>
                </a:solidFill>
                <a:latin typeface="Montserrat" panose="02000505000000020004"/>
                <a:cs typeface="Times New Roman" panose="02020603050405020304" pitchFamily="18" charset="0"/>
              </a:rPr>
              <a:t>membuktikan</a:t>
            </a:r>
            <a:r>
              <a:rPr lang="en-US" dirty="0">
                <a:solidFill>
                  <a:srgbClr val="000000"/>
                </a:solidFill>
                <a:latin typeface="Montserrat" panose="02000505000000020004"/>
                <a:cs typeface="Times New Roman" panose="02020603050405020304" pitchFamily="18" charset="0"/>
              </a:rPr>
              <a:t> dengan </a:t>
            </a:r>
            <a:r>
              <a:rPr lang="en-US" dirty="0" err="1">
                <a:solidFill>
                  <a:srgbClr val="000000"/>
                </a:solidFill>
                <a:latin typeface="Montserrat" panose="02000505000000020004"/>
                <a:cs typeface="Times New Roman" panose="02020603050405020304" pitchFamily="18" charset="0"/>
              </a:rPr>
              <a:t>kontradiksi</a:t>
            </a:r>
            <a:r>
              <a:rPr lang="en-US" dirty="0">
                <a:solidFill>
                  <a:srgbClr val="000000"/>
                </a:solidFill>
                <a:latin typeface="Montserrat" panose="02000505000000020004"/>
                <a:cs typeface="Times New Roman" panose="02020603050405020304" pitchFamily="18" charset="0"/>
              </a:rPr>
              <a:t> bahwa N </a:t>
            </a:r>
            <a:r>
              <a:rPr lang="en-US" dirty="0" err="1">
                <a:solidFill>
                  <a:srgbClr val="000000"/>
                </a:solidFill>
                <a:latin typeface="Montserrat" panose="02000505000000020004"/>
                <a:cs typeface="Times New Roman" panose="02020603050405020304" pitchFamily="18" charset="0"/>
              </a:rPr>
              <a:t>tidak</a:t>
            </a:r>
            <a:r>
              <a:rPr lang="en-US" dirty="0">
                <a:solidFill>
                  <a:srgbClr val="000000"/>
                </a:solidFill>
                <a:latin typeface="Montserrat" panose="02000505000000020004"/>
                <a:cs typeface="Times New Roman" panose="02020603050405020304" pitchFamily="18" charset="0"/>
              </a:rPr>
              <a:t> mungkin </a:t>
            </a:r>
            <a:r>
              <a:rPr lang="en-US" dirty="0" err="1">
                <a:solidFill>
                  <a:srgbClr val="000000"/>
                </a:solidFill>
                <a:latin typeface="Montserrat" panose="02000505000000020004"/>
                <a:cs typeface="Times New Roman" panose="02020603050405020304" pitchFamily="18" charset="0"/>
              </a:rPr>
              <a:t>ada</a:t>
            </a:r>
            <a:r>
              <a:rPr lang="en-US" dirty="0">
                <a:solidFill>
                  <a:srgbClr val="000000"/>
                </a:solidFill>
                <a:latin typeface="Montserrat" panose="02000505000000020004"/>
                <a:cs typeface="Times New Roman" panose="02020603050405020304" pitchFamily="18" charset="0"/>
              </a:rPr>
              <a:t>.</a:t>
            </a:r>
          </a:p>
          <a:p>
            <a:pPr marL="285750" indent="-285750" algn="just">
              <a:buFont typeface="Arial" panose="020B0604020202020204" pitchFamily="34" charset="0"/>
              <a:buChar char="•"/>
            </a:pPr>
            <a:endParaRPr lang="en-US" dirty="0">
              <a:solidFill>
                <a:srgbClr val="000000"/>
              </a:solidFill>
              <a:latin typeface="Montserrat" panose="02000505000000020004"/>
              <a:cs typeface="Times New Roman" panose="02020603050405020304" pitchFamily="18" charset="0"/>
            </a:endParaRPr>
          </a:p>
          <a:p>
            <a:pPr marL="285750" indent="-285750" algn="just">
              <a:buFont typeface="Arial" panose="020B0604020202020204" pitchFamily="34" charset="0"/>
              <a:buChar char="•"/>
            </a:pPr>
            <a:r>
              <a:rPr lang="en-US" dirty="0">
                <a:solidFill>
                  <a:srgbClr val="000000"/>
                </a:solidFill>
                <a:latin typeface="Montserrat" panose="02000505000000020004"/>
                <a:cs typeface="Times New Roman" panose="02020603050405020304" pitchFamily="18" charset="0"/>
              </a:rPr>
              <a:t>Pertama, </a:t>
            </a:r>
            <a:r>
              <a:rPr lang="en-US" dirty="0" err="1">
                <a:solidFill>
                  <a:srgbClr val="000000"/>
                </a:solidFill>
                <a:latin typeface="Montserrat" panose="02000505000000020004"/>
                <a:cs typeface="Times New Roman" panose="02020603050405020304" pitchFamily="18" charset="0"/>
              </a:rPr>
              <a:t>jalankan</a:t>
            </a:r>
            <a:r>
              <a:rPr lang="en-US" dirty="0">
                <a:solidFill>
                  <a:srgbClr val="000000"/>
                </a:solidFill>
                <a:latin typeface="Montserrat" panose="02000505000000020004"/>
                <a:cs typeface="Times New Roman" panose="02020603050405020304" pitchFamily="18" charset="0"/>
              </a:rPr>
              <a:t> proses </a:t>
            </a:r>
            <a:r>
              <a:rPr lang="en-US" dirty="0" err="1">
                <a:solidFill>
                  <a:srgbClr val="000000"/>
                </a:solidFill>
                <a:latin typeface="Montserrat" panose="02000505000000020004"/>
                <a:cs typeface="Times New Roman" panose="02020603050405020304" pitchFamily="18" charset="0"/>
              </a:rPr>
              <a:t>pembedaan</a:t>
            </a:r>
            <a:r>
              <a:rPr lang="en-US" dirty="0">
                <a:solidFill>
                  <a:srgbClr val="000000"/>
                </a:solidFill>
                <a:latin typeface="Montserrat" panose="02000505000000020004"/>
                <a:cs typeface="Times New Roman" panose="02020603050405020304" pitchFamily="18" charset="0"/>
              </a:rPr>
              <a:t> state </a:t>
            </a:r>
            <a:r>
              <a:rPr lang="en-US" dirty="0" err="1">
                <a:solidFill>
                  <a:srgbClr val="000000"/>
                </a:solidFill>
                <a:latin typeface="Montserrat" panose="02000505000000020004"/>
                <a:cs typeface="Times New Roman" panose="02020603050405020304" pitchFamily="18" charset="0"/>
              </a:rPr>
              <a:t>dari</a:t>
            </a:r>
            <a:r>
              <a:rPr lang="en-US" dirty="0">
                <a:solidFill>
                  <a:srgbClr val="000000"/>
                </a:solidFill>
                <a:latin typeface="Montserrat" panose="02000505000000020004"/>
                <a:cs typeface="Times New Roman" panose="02020603050405020304" pitchFamily="18" charset="0"/>
              </a:rPr>
              <a:t> Bagian 4.4.1 pada state-state M dan N </a:t>
            </a:r>
            <a:r>
              <a:rPr lang="en-US" dirty="0" err="1">
                <a:solidFill>
                  <a:srgbClr val="000000"/>
                </a:solidFill>
                <a:latin typeface="Montserrat" panose="02000505000000020004"/>
                <a:cs typeface="Times New Roman" panose="02020603050405020304" pitchFamily="18" charset="0"/>
              </a:rPr>
              <a:t>bersamaan</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seolah-olah</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keduanya</a:t>
            </a:r>
            <a:r>
              <a:rPr lang="en-US" dirty="0">
                <a:solidFill>
                  <a:srgbClr val="000000"/>
                </a:solidFill>
                <a:latin typeface="Montserrat" panose="02000505000000020004"/>
                <a:cs typeface="Times New Roman" panose="02020603050405020304" pitchFamily="18" charset="0"/>
              </a:rPr>
              <a:t> adalah </a:t>
            </a:r>
            <a:r>
              <a:rPr lang="en-US" dirty="0" err="1">
                <a:solidFill>
                  <a:srgbClr val="000000"/>
                </a:solidFill>
                <a:latin typeface="Montserrat" panose="02000505000000020004"/>
                <a:cs typeface="Times New Roman" panose="02020603050405020304" pitchFamily="18" charset="0"/>
              </a:rPr>
              <a:t>satu</a:t>
            </a:r>
            <a:r>
              <a:rPr lang="en-US" dirty="0">
                <a:solidFill>
                  <a:srgbClr val="000000"/>
                </a:solidFill>
                <a:latin typeface="Montserrat" panose="02000505000000020004"/>
                <a:cs typeface="Times New Roman" panose="02020603050405020304" pitchFamily="18" charset="0"/>
              </a:rPr>
              <a:t> DFA. Kita </a:t>
            </a:r>
            <a:r>
              <a:rPr lang="en-US" dirty="0" err="1">
                <a:solidFill>
                  <a:srgbClr val="000000"/>
                </a:solidFill>
                <a:latin typeface="Montserrat" panose="02000505000000020004"/>
                <a:cs typeface="Times New Roman" panose="02020603050405020304" pitchFamily="18" charset="0"/>
              </a:rPr>
              <a:t>anggap</a:t>
            </a:r>
            <a:r>
              <a:rPr lang="en-US" dirty="0">
                <a:solidFill>
                  <a:srgbClr val="000000"/>
                </a:solidFill>
                <a:latin typeface="Montserrat" panose="02000505000000020004"/>
                <a:cs typeface="Times New Roman" panose="02020603050405020304" pitchFamily="18" charset="0"/>
              </a:rPr>
              <a:t> state-state M dan N memiliki </a:t>
            </a:r>
            <a:r>
              <a:rPr lang="en-US" dirty="0" err="1">
                <a:solidFill>
                  <a:srgbClr val="000000"/>
                </a:solidFill>
                <a:latin typeface="Montserrat" panose="02000505000000020004"/>
                <a:cs typeface="Times New Roman" panose="02020603050405020304" pitchFamily="18" charset="0"/>
              </a:rPr>
              <a:t>nama</a:t>
            </a:r>
            <a:r>
              <a:rPr lang="en-US" dirty="0">
                <a:solidFill>
                  <a:srgbClr val="000000"/>
                </a:solidFill>
                <a:latin typeface="Montserrat" panose="02000505000000020004"/>
                <a:cs typeface="Times New Roman" panose="02020603050405020304" pitchFamily="18" charset="0"/>
              </a:rPr>
              <a:t> berbeda, sehingga </a:t>
            </a:r>
            <a:r>
              <a:rPr lang="en-US" dirty="0" err="1">
                <a:solidFill>
                  <a:srgbClr val="000000"/>
                </a:solidFill>
                <a:latin typeface="Montserrat" panose="02000505000000020004"/>
                <a:cs typeface="Times New Roman" panose="02020603050405020304" pitchFamily="18" charset="0"/>
              </a:rPr>
              <a:t>transisi</a:t>
            </a:r>
            <a:r>
              <a:rPr lang="en-US" dirty="0">
                <a:solidFill>
                  <a:srgbClr val="000000"/>
                </a:solidFill>
                <a:latin typeface="Montserrat" panose="02000505000000020004"/>
                <a:cs typeface="Times New Roman" panose="02020603050405020304" pitchFamily="18" charset="0"/>
              </a:rPr>
              <a:t> mereka </a:t>
            </a:r>
            <a:r>
              <a:rPr lang="en-US" dirty="0" err="1">
                <a:solidFill>
                  <a:srgbClr val="000000"/>
                </a:solidFill>
                <a:latin typeface="Montserrat" panose="02000505000000020004"/>
                <a:cs typeface="Times New Roman" panose="02020603050405020304" pitchFamily="18" charset="0"/>
              </a:rPr>
              <a:t>tidak</a:t>
            </a:r>
            <a:r>
              <a:rPr lang="en-US" dirty="0">
                <a:solidFill>
                  <a:srgbClr val="000000"/>
                </a:solidFill>
                <a:latin typeface="Montserrat" panose="02000505000000020004"/>
                <a:cs typeface="Times New Roman" panose="02020603050405020304" pitchFamily="18" charset="0"/>
              </a:rPr>
              <a:t> berinteraksi. State diterima </a:t>
            </a:r>
            <a:r>
              <a:rPr lang="en-US" dirty="0" err="1">
                <a:solidFill>
                  <a:srgbClr val="000000"/>
                </a:solidFill>
                <a:latin typeface="Montserrat" panose="02000505000000020004"/>
                <a:cs typeface="Times New Roman" panose="02020603050405020304" pitchFamily="18" charset="0"/>
              </a:rPr>
              <a:t>jika</a:t>
            </a:r>
            <a:r>
              <a:rPr lang="en-US" dirty="0">
                <a:solidFill>
                  <a:srgbClr val="000000"/>
                </a:solidFill>
                <a:latin typeface="Montserrat" panose="02000505000000020004"/>
                <a:cs typeface="Times New Roman" panose="02020603050405020304" pitchFamily="18" charset="0"/>
              </a:rPr>
              <a:t> dan hanya </a:t>
            </a:r>
            <a:r>
              <a:rPr lang="en-US" dirty="0" err="1">
                <a:solidFill>
                  <a:srgbClr val="000000"/>
                </a:solidFill>
                <a:latin typeface="Montserrat" panose="02000505000000020004"/>
                <a:cs typeface="Times New Roman" panose="02020603050405020304" pitchFamily="18" charset="0"/>
              </a:rPr>
              <a:t>jika</a:t>
            </a:r>
            <a:r>
              <a:rPr lang="en-US" dirty="0">
                <a:solidFill>
                  <a:srgbClr val="000000"/>
                </a:solidFill>
                <a:latin typeface="Montserrat" panose="02000505000000020004"/>
                <a:cs typeface="Times New Roman" panose="02020603050405020304" pitchFamily="18" charset="0"/>
              </a:rPr>
              <a:t> berasal </a:t>
            </a:r>
            <a:r>
              <a:rPr lang="en-US" dirty="0" err="1">
                <a:solidFill>
                  <a:srgbClr val="000000"/>
                </a:solidFill>
                <a:latin typeface="Montserrat" panose="02000505000000020004"/>
                <a:cs typeface="Times New Roman" panose="02020603050405020304" pitchFamily="18" charset="0"/>
              </a:rPr>
              <a:t>dari</a:t>
            </a:r>
            <a:r>
              <a:rPr lang="en-US" dirty="0">
                <a:solidFill>
                  <a:srgbClr val="000000"/>
                </a:solidFill>
                <a:latin typeface="Montserrat" panose="02000505000000020004"/>
                <a:cs typeface="Times New Roman" panose="02020603050405020304" pitchFamily="18" charset="0"/>
              </a:rPr>
              <a:t> DFA </a:t>
            </a:r>
            <a:r>
              <a:rPr lang="en-US" dirty="0" err="1">
                <a:solidFill>
                  <a:srgbClr val="000000"/>
                </a:solidFill>
                <a:latin typeface="Montserrat" panose="02000505000000020004"/>
                <a:cs typeface="Times New Roman" panose="02020603050405020304" pitchFamily="18" charset="0"/>
              </a:rPr>
              <a:t>aslinya</a:t>
            </a:r>
            <a:r>
              <a:rPr lang="en-US" dirty="0">
                <a:solidFill>
                  <a:srgbClr val="000000"/>
                </a:solidFill>
                <a:latin typeface="Montserrat" panose="02000505000000020004"/>
                <a:cs typeface="Times New Roman" panose="02020603050405020304" pitchFamily="18" charset="0"/>
              </a:rPr>
              <a:t>.</a:t>
            </a:r>
          </a:p>
          <a:p>
            <a:pPr marL="285750" indent="-285750" algn="just">
              <a:buFont typeface="Arial" panose="020B0604020202020204" pitchFamily="34" charset="0"/>
              <a:buChar char="•"/>
            </a:pPr>
            <a:endParaRPr lang="en-US" dirty="0">
              <a:solidFill>
                <a:srgbClr val="000000"/>
              </a:solidFill>
              <a:latin typeface="Montserrat" panose="02000505000000020004"/>
              <a:cs typeface="Times New Roman" panose="02020603050405020304" pitchFamily="18" charset="0"/>
            </a:endParaRPr>
          </a:p>
          <a:p>
            <a:pPr marL="285750" indent="-285750" algn="just">
              <a:buFont typeface="Arial" panose="020B0604020202020204" pitchFamily="34" charset="0"/>
              <a:buChar char="•"/>
            </a:pPr>
            <a:r>
              <a:rPr lang="en-US" dirty="0" err="1">
                <a:solidFill>
                  <a:srgbClr val="000000"/>
                </a:solidFill>
                <a:latin typeface="Montserrat" panose="02000505000000020004"/>
                <a:cs typeface="Times New Roman" panose="02020603050405020304" pitchFamily="18" charset="0"/>
              </a:rPr>
              <a:t>Keadaan</a:t>
            </a:r>
            <a:r>
              <a:rPr lang="en-US" dirty="0">
                <a:solidFill>
                  <a:srgbClr val="000000"/>
                </a:solidFill>
                <a:latin typeface="Montserrat" panose="02000505000000020004"/>
                <a:cs typeface="Times New Roman" panose="02020603050405020304" pitchFamily="18" charset="0"/>
              </a:rPr>
              <a:t> awal M dan N </a:t>
            </a:r>
            <a:r>
              <a:rPr lang="en-US" dirty="0" err="1">
                <a:solidFill>
                  <a:srgbClr val="000000"/>
                </a:solidFill>
                <a:latin typeface="Montserrat" panose="02000505000000020004"/>
                <a:cs typeface="Times New Roman" panose="02020603050405020304" pitchFamily="18" charset="0"/>
              </a:rPr>
              <a:t>tidak</a:t>
            </a:r>
            <a:r>
              <a:rPr lang="en-US" dirty="0">
                <a:solidFill>
                  <a:srgbClr val="000000"/>
                </a:solidFill>
                <a:latin typeface="Montserrat" panose="02000505000000020004"/>
                <a:cs typeface="Times New Roman" panose="02020603050405020304" pitchFamily="18" charset="0"/>
              </a:rPr>
              <a:t> dapat </a:t>
            </a:r>
            <a:r>
              <a:rPr lang="en-US" dirty="0" err="1">
                <a:solidFill>
                  <a:srgbClr val="000000"/>
                </a:solidFill>
                <a:latin typeface="Montserrat" panose="02000505000000020004"/>
                <a:cs typeface="Times New Roman" panose="02020603050405020304" pitchFamily="18" charset="0"/>
              </a:rPr>
              <a:t>dibedakan</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karena</a:t>
            </a:r>
            <a:r>
              <a:rPr lang="en-US" dirty="0">
                <a:solidFill>
                  <a:srgbClr val="000000"/>
                </a:solidFill>
                <a:latin typeface="Montserrat" panose="02000505000000020004"/>
                <a:cs typeface="Times New Roman" panose="02020603050405020304" pitchFamily="18" charset="0"/>
              </a:rPr>
              <a:t> L(M) = L(N). Lebih lanjut, </a:t>
            </a:r>
            <a:r>
              <a:rPr lang="en-US" dirty="0" err="1">
                <a:solidFill>
                  <a:srgbClr val="000000"/>
                </a:solidFill>
                <a:latin typeface="Montserrat" panose="02000505000000020004"/>
                <a:cs typeface="Times New Roman" panose="02020603050405020304" pitchFamily="18" charset="0"/>
              </a:rPr>
              <a:t>jika</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p,q</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tidak</a:t>
            </a:r>
            <a:r>
              <a:rPr lang="en-US" dirty="0">
                <a:solidFill>
                  <a:srgbClr val="000000"/>
                </a:solidFill>
                <a:latin typeface="Montserrat" panose="02000505000000020004"/>
                <a:cs typeface="Times New Roman" panose="02020603050405020304" pitchFamily="18" charset="0"/>
              </a:rPr>
              <a:t> dapat </a:t>
            </a:r>
            <a:r>
              <a:rPr lang="en-US" dirty="0" err="1">
                <a:solidFill>
                  <a:srgbClr val="000000"/>
                </a:solidFill>
                <a:latin typeface="Montserrat" panose="02000505000000020004"/>
                <a:cs typeface="Times New Roman" panose="02020603050405020304" pitchFamily="18" charset="0"/>
              </a:rPr>
              <a:t>dibedakan</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penerusnya</a:t>
            </a:r>
            <a:r>
              <a:rPr lang="en-US" dirty="0">
                <a:solidFill>
                  <a:srgbClr val="000000"/>
                </a:solidFill>
                <a:latin typeface="Montserrat" panose="02000505000000020004"/>
                <a:cs typeface="Times New Roman" panose="02020603050405020304" pitchFamily="18" charset="0"/>
              </a:rPr>
              <a:t> pada </a:t>
            </a:r>
            <a:r>
              <a:rPr lang="en-US" dirty="0" err="1">
                <a:solidFill>
                  <a:srgbClr val="000000"/>
                </a:solidFill>
                <a:latin typeface="Montserrat" panose="02000505000000020004"/>
                <a:cs typeface="Times New Roman" panose="02020603050405020304" pitchFamily="18" charset="0"/>
              </a:rPr>
              <a:t>simbol</a:t>
            </a:r>
            <a:r>
              <a:rPr lang="en-US" dirty="0">
                <a:solidFill>
                  <a:srgbClr val="000000"/>
                </a:solidFill>
                <a:latin typeface="Montserrat" panose="02000505000000020004"/>
                <a:cs typeface="Times New Roman" panose="02020603050405020304" pitchFamily="18" charset="0"/>
              </a:rPr>
              <a:t> input juga </a:t>
            </a:r>
            <a:r>
              <a:rPr lang="en-US" dirty="0" err="1">
                <a:solidFill>
                  <a:srgbClr val="000000"/>
                </a:solidFill>
                <a:latin typeface="Montserrat" panose="02000505000000020004"/>
                <a:cs typeface="Times New Roman" panose="02020603050405020304" pitchFamily="18" charset="0"/>
              </a:rPr>
              <a:t>tidak</a:t>
            </a:r>
            <a:r>
              <a:rPr lang="en-US" dirty="0">
                <a:solidFill>
                  <a:srgbClr val="000000"/>
                </a:solidFill>
                <a:latin typeface="Montserrat" panose="02000505000000020004"/>
                <a:cs typeface="Times New Roman" panose="02020603050405020304" pitchFamily="18" charset="0"/>
              </a:rPr>
              <a:t> dapat </a:t>
            </a:r>
            <a:r>
              <a:rPr lang="en-US" dirty="0" err="1">
                <a:solidFill>
                  <a:srgbClr val="000000"/>
                </a:solidFill>
                <a:latin typeface="Montserrat" panose="02000505000000020004"/>
                <a:cs typeface="Times New Roman" panose="02020603050405020304" pitchFamily="18" charset="0"/>
              </a:rPr>
              <a:t>dibedakan</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karena</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jika</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penerusnya</a:t>
            </a:r>
            <a:r>
              <a:rPr lang="en-US" dirty="0">
                <a:solidFill>
                  <a:srgbClr val="000000"/>
                </a:solidFill>
                <a:latin typeface="Montserrat" panose="02000505000000020004"/>
                <a:cs typeface="Times New Roman" panose="02020603050405020304" pitchFamily="18" charset="0"/>
              </a:rPr>
              <a:t> bisa </a:t>
            </a:r>
            <a:r>
              <a:rPr lang="en-US" dirty="0" err="1">
                <a:solidFill>
                  <a:srgbClr val="000000"/>
                </a:solidFill>
                <a:latin typeface="Montserrat" panose="02000505000000020004"/>
                <a:cs typeface="Times New Roman" panose="02020603050405020304" pitchFamily="18" charset="0"/>
              </a:rPr>
              <a:t>dibedakan</a:t>
            </a:r>
            <a:r>
              <a:rPr lang="en-US" dirty="0">
                <a:solidFill>
                  <a:srgbClr val="000000"/>
                </a:solidFill>
                <a:latin typeface="Montserrat" panose="02000505000000020004"/>
                <a:cs typeface="Times New Roman" panose="02020603050405020304" pitchFamily="18" charset="0"/>
              </a:rPr>
              <a:t>, maka p dan q juga bisa </a:t>
            </a:r>
            <a:r>
              <a:rPr lang="en-US" dirty="0" err="1">
                <a:solidFill>
                  <a:srgbClr val="000000"/>
                </a:solidFill>
                <a:latin typeface="Montserrat" panose="02000505000000020004"/>
                <a:cs typeface="Times New Roman" panose="02020603050405020304" pitchFamily="18" charset="0"/>
              </a:rPr>
              <a:t>dibedakan</a:t>
            </a:r>
            <a:r>
              <a:rPr lang="en-US" dirty="0">
                <a:solidFill>
                  <a:srgbClr val="000000"/>
                </a:solidFill>
                <a:latin typeface="Montserrat" panose="02000505000000020004"/>
                <a:cs typeface="Times New Roman" panose="02020603050405020304" pitchFamily="18" charset="0"/>
              </a:rPr>
              <a:t>.</a:t>
            </a:r>
            <a:endParaRPr lang="en-ID" dirty="0">
              <a:solidFill>
                <a:srgbClr val="000000"/>
              </a:solidFill>
              <a:latin typeface="Montserrat" panose="02000505000000020004"/>
            </a:endParaRPr>
          </a:p>
        </p:txBody>
      </p:sp>
    </p:spTree>
    <p:extLst>
      <p:ext uri="{BB962C8B-B14F-4D97-AF65-F5344CB8AC3E}">
        <p14:creationId xmlns:p14="http://schemas.microsoft.com/office/powerpoint/2010/main" val="916769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101600"/>
            <a:ext cx="6353117" cy="668564"/>
          </a:xfrm>
        </p:spPr>
        <p:txBody>
          <a:bodyPr>
            <a:noAutofit/>
          </a:bodyPr>
          <a:lstStyle/>
          <a:p>
            <a:r>
              <a:rPr lang="en-US" sz="1900" dirty="0" err="1"/>
              <a:t>Mengapa</a:t>
            </a:r>
            <a:r>
              <a:rPr lang="en-US" sz="1900" dirty="0"/>
              <a:t> DFA yang telah </a:t>
            </a:r>
            <a:r>
              <a:rPr lang="en-US" sz="1900" dirty="0" err="1"/>
              <a:t>Diminimalkan</a:t>
            </a:r>
            <a:r>
              <a:rPr lang="en-US" sz="1900" dirty="0"/>
              <a:t> Tidak Dapat </a:t>
            </a:r>
            <a:r>
              <a:rPr lang="en-US" sz="1900" dirty="0" err="1"/>
              <a:t>Dikalahkan</a:t>
            </a:r>
            <a:r>
              <a:rPr lang="en-US" sz="1900" dirty="0"/>
              <a:t>?</a:t>
            </a:r>
            <a:endParaRPr lang="id-ID" sz="1900" dirty="0"/>
          </a:p>
        </p:txBody>
      </p:sp>
      <p:sp>
        <p:nvSpPr>
          <p:cNvPr id="6" name="TextBox 5">
            <a:extLst>
              <a:ext uri="{FF2B5EF4-FFF2-40B4-BE49-F238E27FC236}">
                <a16:creationId xmlns:a16="http://schemas.microsoft.com/office/drawing/2014/main" id="{B89AB76E-588F-4380-B586-5F14C088CA2A}"/>
              </a:ext>
            </a:extLst>
          </p:cNvPr>
          <p:cNvSpPr txBox="1"/>
          <p:nvPr/>
        </p:nvSpPr>
        <p:spPr>
          <a:xfrm>
            <a:off x="454083" y="888625"/>
            <a:ext cx="8443174" cy="3139321"/>
          </a:xfrm>
          <a:prstGeom prst="rect">
            <a:avLst/>
          </a:prstGeom>
          <a:noFill/>
        </p:spPr>
        <p:txBody>
          <a:bodyPr wrap="square" rtlCol="0">
            <a:spAutoFit/>
          </a:bodyPr>
          <a:lstStyle/>
          <a:p>
            <a:pPr marL="285750" indent="-285750" algn="just">
              <a:buFont typeface="Arial" panose="020B0604020202020204" pitchFamily="34" charset="0"/>
              <a:buChar char="•"/>
            </a:pPr>
            <a:r>
              <a:rPr lang="en-US" dirty="0">
                <a:solidFill>
                  <a:srgbClr val="000000"/>
                </a:solidFill>
                <a:latin typeface="Montserrat" panose="02000505000000020004"/>
                <a:cs typeface="Times New Roman" panose="02020603050405020304" pitchFamily="18" charset="0"/>
              </a:rPr>
              <a:t>Baik M maupun N </a:t>
            </a:r>
            <a:r>
              <a:rPr lang="en-US" dirty="0" err="1">
                <a:solidFill>
                  <a:srgbClr val="000000"/>
                </a:solidFill>
                <a:latin typeface="Montserrat" panose="02000505000000020004"/>
                <a:cs typeface="Times New Roman" panose="02020603050405020304" pitchFamily="18" charset="0"/>
              </a:rPr>
              <a:t>tidak</a:t>
            </a:r>
            <a:r>
              <a:rPr lang="en-US" dirty="0">
                <a:solidFill>
                  <a:srgbClr val="000000"/>
                </a:solidFill>
                <a:latin typeface="Montserrat" panose="02000505000000020004"/>
                <a:cs typeface="Times New Roman" panose="02020603050405020304" pitchFamily="18" charset="0"/>
              </a:rPr>
              <a:t> mungkin memiliki state yang </a:t>
            </a:r>
            <a:r>
              <a:rPr lang="en-US" dirty="0" err="1">
                <a:solidFill>
                  <a:srgbClr val="000000"/>
                </a:solidFill>
                <a:latin typeface="Montserrat" panose="02000505000000020004"/>
                <a:cs typeface="Times New Roman" panose="02020603050405020304" pitchFamily="18" charset="0"/>
              </a:rPr>
              <a:t>tidak</a:t>
            </a:r>
            <a:r>
              <a:rPr lang="en-US" dirty="0">
                <a:solidFill>
                  <a:srgbClr val="000000"/>
                </a:solidFill>
                <a:latin typeface="Montserrat" panose="02000505000000020004"/>
                <a:cs typeface="Times New Roman" panose="02020603050405020304" pitchFamily="18" charset="0"/>
              </a:rPr>
              <a:t> dapat </a:t>
            </a:r>
            <a:r>
              <a:rPr lang="en-US" dirty="0" err="1">
                <a:solidFill>
                  <a:srgbClr val="000000"/>
                </a:solidFill>
                <a:latin typeface="Montserrat" panose="02000505000000020004"/>
                <a:cs typeface="Times New Roman" panose="02020603050405020304" pitchFamily="18" charset="0"/>
              </a:rPr>
              <a:t>diakses</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karena</a:t>
            </a:r>
            <a:r>
              <a:rPr lang="en-US" dirty="0">
                <a:solidFill>
                  <a:srgbClr val="000000"/>
                </a:solidFill>
                <a:latin typeface="Montserrat" panose="02000505000000020004"/>
                <a:cs typeface="Times New Roman" panose="02020603050405020304" pitchFamily="18" charset="0"/>
              </a:rPr>
              <a:t> state tersebut bisa dihapus, </a:t>
            </a:r>
            <a:r>
              <a:rPr lang="en-US" dirty="0" err="1">
                <a:solidFill>
                  <a:srgbClr val="000000"/>
                </a:solidFill>
                <a:latin typeface="Montserrat" panose="02000505000000020004"/>
                <a:cs typeface="Times New Roman" panose="02020603050405020304" pitchFamily="18" charset="0"/>
              </a:rPr>
              <a:t>menghasilkan</a:t>
            </a:r>
            <a:r>
              <a:rPr lang="en-US" dirty="0">
                <a:solidFill>
                  <a:srgbClr val="000000"/>
                </a:solidFill>
                <a:latin typeface="Montserrat" panose="02000505000000020004"/>
                <a:cs typeface="Times New Roman" panose="02020603050405020304" pitchFamily="18" charset="0"/>
              </a:rPr>
              <a:t> DFA yang lebih </a:t>
            </a:r>
            <a:r>
              <a:rPr lang="en-US" dirty="0" err="1">
                <a:solidFill>
                  <a:srgbClr val="000000"/>
                </a:solidFill>
                <a:latin typeface="Montserrat" panose="02000505000000020004"/>
                <a:cs typeface="Times New Roman" panose="02020603050405020304" pitchFamily="18" charset="0"/>
              </a:rPr>
              <a:t>kecil</a:t>
            </a:r>
            <a:r>
              <a:rPr lang="en-US" dirty="0">
                <a:solidFill>
                  <a:srgbClr val="000000"/>
                </a:solidFill>
                <a:latin typeface="Montserrat" panose="02000505000000020004"/>
                <a:cs typeface="Times New Roman" panose="02020603050405020304" pitchFamily="18" charset="0"/>
              </a:rPr>
              <a:t> untuk </a:t>
            </a:r>
            <a:r>
              <a:rPr lang="en-US" dirty="0" err="1">
                <a:solidFill>
                  <a:srgbClr val="000000"/>
                </a:solidFill>
                <a:latin typeface="Montserrat" panose="02000505000000020004"/>
                <a:cs typeface="Times New Roman" panose="02020603050405020304" pitchFamily="18" charset="0"/>
              </a:rPr>
              <a:t>bahasa</a:t>
            </a:r>
            <a:r>
              <a:rPr lang="en-US" dirty="0">
                <a:solidFill>
                  <a:srgbClr val="000000"/>
                </a:solidFill>
                <a:latin typeface="Montserrat" panose="02000505000000020004"/>
                <a:cs typeface="Times New Roman" panose="02020603050405020304" pitchFamily="18" charset="0"/>
              </a:rPr>
              <a:t> yang sama. Oleh </a:t>
            </a:r>
            <a:r>
              <a:rPr lang="en-US" dirty="0" err="1">
                <a:solidFill>
                  <a:srgbClr val="000000"/>
                </a:solidFill>
                <a:latin typeface="Montserrat" panose="02000505000000020004"/>
                <a:cs typeface="Times New Roman" panose="02020603050405020304" pitchFamily="18" charset="0"/>
              </a:rPr>
              <a:t>karena</a:t>
            </a:r>
            <a:r>
              <a:rPr lang="en-US" dirty="0">
                <a:solidFill>
                  <a:srgbClr val="000000"/>
                </a:solidFill>
                <a:latin typeface="Montserrat" panose="02000505000000020004"/>
                <a:cs typeface="Times New Roman" panose="02020603050405020304" pitchFamily="18" charset="0"/>
              </a:rPr>
              <a:t> itu, </a:t>
            </a:r>
            <a:r>
              <a:rPr lang="en-US" dirty="0" err="1">
                <a:solidFill>
                  <a:srgbClr val="000000"/>
                </a:solidFill>
                <a:latin typeface="Montserrat" panose="02000505000000020004"/>
                <a:cs typeface="Times New Roman" panose="02020603050405020304" pitchFamily="18" charset="0"/>
              </a:rPr>
              <a:t>setiap</a:t>
            </a:r>
            <a:r>
              <a:rPr lang="en-US" dirty="0">
                <a:solidFill>
                  <a:srgbClr val="000000"/>
                </a:solidFill>
                <a:latin typeface="Montserrat" panose="02000505000000020004"/>
                <a:cs typeface="Times New Roman" panose="02020603050405020304" pitchFamily="18" charset="0"/>
              </a:rPr>
              <a:t> state di M harus </a:t>
            </a:r>
            <a:r>
              <a:rPr lang="en-US" dirty="0" err="1">
                <a:solidFill>
                  <a:srgbClr val="000000"/>
                </a:solidFill>
                <a:latin typeface="Montserrat" panose="02000505000000020004"/>
                <a:cs typeface="Times New Roman" panose="02020603050405020304" pitchFamily="18" charset="0"/>
              </a:rPr>
              <a:t>setara</a:t>
            </a:r>
            <a:r>
              <a:rPr lang="en-US" dirty="0">
                <a:solidFill>
                  <a:srgbClr val="000000"/>
                </a:solidFill>
                <a:latin typeface="Montserrat" panose="02000505000000020004"/>
                <a:cs typeface="Times New Roman" panose="02020603050405020304" pitchFamily="18" charset="0"/>
              </a:rPr>
              <a:t> dengan </a:t>
            </a:r>
            <a:r>
              <a:rPr lang="en-US" dirty="0" err="1">
                <a:solidFill>
                  <a:srgbClr val="000000"/>
                </a:solidFill>
                <a:latin typeface="Montserrat" panose="02000505000000020004"/>
                <a:cs typeface="Times New Roman" panose="02020603050405020304" pitchFamily="18" charset="0"/>
              </a:rPr>
              <a:t>setidaknya</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satu</a:t>
            </a:r>
            <a:r>
              <a:rPr lang="en-US" dirty="0">
                <a:solidFill>
                  <a:srgbClr val="000000"/>
                </a:solidFill>
                <a:latin typeface="Montserrat" panose="02000505000000020004"/>
                <a:cs typeface="Times New Roman" panose="02020603050405020304" pitchFamily="18" charset="0"/>
              </a:rPr>
              <a:t> state di N.</a:t>
            </a:r>
          </a:p>
          <a:p>
            <a:pPr marL="285750" indent="-285750" algn="just">
              <a:buFont typeface="Arial" panose="020B0604020202020204" pitchFamily="34" charset="0"/>
              <a:buChar char="•"/>
            </a:pPr>
            <a:endParaRPr lang="en-US" dirty="0">
              <a:solidFill>
                <a:srgbClr val="000000"/>
              </a:solidFill>
              <a:latin typeface="Montserrat" panose="02000505000000020004"/>
              <a:cs typeface="Times New Roman" panose="02020603050405020304" pitchFamily="18" charset="0"/>
            </a:endParaRPr>
          </a:p>
          <a:p>
            <a:pPr marL="285750" indent="-285750" algn="just">
              <a:buFont typeface="Arial" panose="020B0604020202020204" pitchFamily="34" charset="0"/>
              <a:buChar char="•"/>
            </a:pPr>
            <a:r>
              <a:rPr lang="en-US" dirty="0" err="1">
                <a:solidFill>
                  <a:srgbClr val="000000"/>
                </a:solidFill>
                <a:latin typeface="Montserrat" panose="02000505000000020004"/>
                <a:cs typeface="Times New Roman" panose="02020603050405020304" pitchFamily="18" charset="0"/>
              </a:rPr>
              <a:t>Misalkan</a:t>
            </a:r>
            <a:r>
              <a:rPr lang="en-US" dirty="0">
                <a:solidFill>
                  <a:srgbClr val="000000"/>
                </a:solidFill>
                <a:latin typeface="Montserrat" panose="02000505000000020004"/>
                <a:cs typeface="Times New Roman" panose="02020603050405020304" pitchFamily="18" charset="0"/>
              </a:rPr>
              <a:t> p adalah state di M. Ada string a1a2...</a:t>
            </a:r>
            <a:r>
              <a:rPr lang="en-US" dirty="0" err="1">
                <a:solidFill>
                  <a:srgbClr val="000000"/>
                </a:solidFill>
                <a:latin typeface="Montserrat" panose="02000505000000020004"/>
                <a:cs typeface="Times New Roman" panose="02020603050405020304" pitchFamily="18" charset="0"/>
              </a:rPr>
              <a:t>ak</a:t>
            </a:r>
            <a:r>
              <a:rPr lang="en-US" dirty="0">
                <a:solidFill>
                  <a:srgbClr val="000000"/>
                </a:solidFill>
                <a:latin typeface="Montserrat" panose="02000505000000020004"/>
                <a:cs typeface="Times New Roman" panose="02020603050405020304" pitchFamily="18" charset="0"/>
              </a:rPr>
              <a:t> yang membawa state awal M ke p, dan string ini juga membawa state awal N ke state q. Karena state awal M dan N </a:t>
            </a:r>
            <a:r>
              <a:rPr lang="en-US" dirty="0" err="1">
                <a:solidFill>
                  <a:srgbClr val="000000"/>
                </a:solidFill>
                <a:latin typeface="Montserrat" panose="02000505000000020004"/>
                <a:cs typeface="Times New Roman" panose="02020603050405020304" pitchFamily="18" charset="0"/>
              </a:rPr>
              <a:t>tidak</a:t>
            </a:r>
            <a:r>
              <a:rPr lang="en-US" dirty="0">
                <a:solidFill>
                  <a:srgbClr val="000000"/>
                </a:solidFill>
                <a:latin typeface="Montserrat" panose="02000505000000020004"/>
                <a:cs typeface="Times New Roman" panose="02020603050405020304" pitchFamily="18" charset="0"/>
              </a:rPr>
              <a:t> dapat </a:t>
            </a:r>
            <a:r>
              <a:rPr lang="en-US" dirty="0" err="1">
                <a:solidFill>
                  <a:srgbClr val="000000"/>
                </a:solidFill>
                <a:latin typeface="Montserrat" panose="02000505000000020004"/>
                <a:cs typeface="Times New Roman" panose="02020603050405020304" pitchFamily="18" charset="0"/>
              </a:rPr>
              <a:t>dibedakan</a:t>
            </a:r>
            <a:r>
              <a:rPr lang="en-US" dirty="0">
                <a:solidFill>
                  <a:srgbClr val="000000"/>
                </a:solidFill>
                <a:latin typeface="Montserrat" panose="02000505000000020004"/>
                <a:cs typeface="Times New Roman" panose="02020603050405020304" pitchFamily="18" charset="0"/>
              </a:rPr>
              <a:t>, </a:t>
            </a:r>
            <a:r>
              <a:rPr lang="en-US" dirty="0" err="1">
                <a:solidFill>
                  <a:srgbClr val="000000"/>
                </a:solidFill>
                <a:latin typeface="Montserrat" panose="02000505000000020004"/>
                <a:cs typeface="Times New Roman" panose="02020603050405020304" pitchFamily="18" charset="0"/>
              </a:rPr>
              <a:t>penerusnya</a:t>
            </a:r>
            <a:r>
              <a:rPr lang="en-US" dirty="0">
                <a:solidFill>
                  <a:srgbClr val="000000"/>
                </a:solidFill>
                <a:latin typeface="Montserrat" panose="02000505000000020004"/>
                <a:cs typeface="Times New Roman" panose="02020603050405020304" pitchFamily="18" charset="0"/>
              </a:rPr>
              <a:t> di bawah </a:t>
            </a:r>
            <a:r>
              <a:rPr lang="en-US" dirty="0" err="1">
                <a:solidFill>
                  <a:srgbClr val="000000"/>
                </a:solidFill>
                <a:latin typeface="Montserrat" panose="02000505000000020004"/>
                <a:cs typeface="Times New Roman" panose="02020603050405020304" pitchFamily="18" charset="0"/>
              </a:rPr>
              <a:t>simbol</a:t>
            </a:r>
            <a:r>
              <a:rPr lang="en-US" dirty="0">
                <a:solidFill>
                  <a:srgbClr val="000000"/>
                </a:solidFill>
                <a:latin typeface="Montserrat" panose="02000505000000020004"/>
                <a:cs typeface="Times New Roman" panose="02020603050405020304" pitchFamily="18" charset="0"/>
              </a:rPr>
              <a:t> input a1 juga </a:t>
            </a:r>
            <a:r>
              <a:rPr lang="en-US" dirty="0" err="1">
                <a:solidFill>
                  <a:srgbClr val="000000"/>
                </a:solidFill>
                <a:latin typeface="Montserrat" panose="02000505000000020004"/>
                <a:cs typeface="Times New Roman" panose="02020603050405020304" pitchFamily="18" charset="0"/>
              </a:rPr>
              <a:t>tidak</a:t>
            </a:r>
            <a:r>
              <a:rPr lang="en-US" dirty="0">
                <a:solidFill>
                  <a:srgbClr val="000000"/>
                </a:solidFill>
                <a:latin typeface="Montserrat" panose="02000505000000020004"/>
                <a:cs typeface="Times New Roman" panose="02020603050405020304" pitchFamily="18" charset="0"/>
              </a:rPr>
              <a:t> bisa </a:t>
            </a:r>
            <a:r>
              <a:rPr lang="en-US" dirty="0" err="1">
                <a:solidFill>
                  <a:srgbClr val="000000"/>
                </a:solidFill>
                <a:latin typeface="Montserrat" panose="02000505000000020004"/>
                <a:cs typeface="Times New Roman" panose="02020603050405020304" pitchFamily="18" charset="0"/>
              </a:rPr>
              <a:t>dibedakan</a:t>
            </a:r>
            <a:r>
              <a:rPr lang="en-US" dirty="0">
                <a:solidFill>
                  <a:srgbClr val="000000"/>
                </a:solidFill>
                <a:latin typeface="Montserrat" panose="02000505000000020004"/>
                <a:cs typeface="Times New Roman" panose="02020603050405020304" pitchFamily="18" charset="0"/>
              </a:rPr>
              <a:t>. Hal yang sama </a:t>
            </a:r>
            <a:r>
              <a:rPr lang="en-US" dirty="0" err="1">
                <a:solidFill>
                  <a:srgbClr val="000000"/>
                </a:solidFill>
                <a:latin typeface="Montserrat" panose="02000505000000020004"/>
                <a:cs typeface="Times New Roman" panose="02020603050405020304" pitchFamily="18" charset="0"/>
              </a:rPr>
              <a:t>berlaku</a:t>
            </a:r>
            <a:r>
              <a:rPr lang="en-US" dirty="0">
                <a:solidFill>
                  <a:srgbClr val="000000"/>
                </a:solidFill>
                <a:latin typeface="Montserrat" panose="02000505000000020004"/>
                <a:cs typeface="Times New Roman" panose="02020603050405020304" pitchFamily="18" charset="0"/>
              </a:rPr>
              <a:t> untuk </a:t>
            </a:r>
            <a:r>
              <a:rPr lang="en-US" dirty="0" err="1">
                <a:solidFill>
                  <a:srgbClr val="000000"/>
                </a:solidFill>
                <a:latin typeface="Montserrat" panose="02000505000000020004"/>
                <a:cs typeface="Times New Roman" panose="02020603050405020304" pitchFamily="18" charset="0"/>
              </a:rPr>
              <a:t>simbol</a:t>
            </a:r>
            <a:r>
              <a:rPr lang="en-US" dirty="0">
                <a:solidFill>
                  <a:srgbClr val="000000"/>
                </a:solidFill>
                <a:latin typeface="Montserrat" panose="02000505000000020004"/>
                <a:cs typeface="Times New Roman" panose="02020603050405020304" pitchFamily="18" charset="0"/>
              </a:rPr>
              <a:t> input berikutnya, hingga p dan q </a:t>
            </a:r>
            <a:r>
              <a:rPr lang="en-US" dirty="0" err="1">
                <a:solidFill>
                  <a:srgbClr val="000000"/>
                </a:solidFill>
                <a:latin typeface="Montserrat" panose="02000505000000020004"/>
                <a:cs typeface="Times New Roman" panose="02020603050405020304" pitchFamily="18" charset="0"/>
              </a:rPr>
              <a:t>tidak</a:t>
            </a:r>
            <a:r>
              <a:rPr lang="en-US" dirty="0">
                <a:solidFill>
                  <a:srgbClr val="000000"/>
                </a:solidFill>
                <a:latin typeface="Montserrat" panose="02000505000000020004"/>
                <a:cs typeface="Times New Roman" panose="02020603050405020304" pitchFamily="18" charset="0"/>
              </a:rPr>
              <a:t> dapat </a:t>
            </a:r>
            <a:r>
              <a:rPr lang="en-US" dirty="0" err="1">
                <a:solidFill>
                  <a:srgbClr val="000000"/>
                </a:solidFill>
                <a:latin typeface="Montserrat" panose="02000505000000020004"/>
                <a:cs typeface="Times New Roman" panose="02020603050405020304" pitchFamily="18" charset="0"/>
              </a:rPr>
              <a:t>dibedakan</a:t>
            </a:r>
            <a:r>
              <a:rPr lang="en-US" dirty="0">
                <a:solidFill>
                  <a:srgbClr val="000000"/>
                </a:solidFill>
                <a:latin typeface="Montserrat" panose="02000505000000020004"/>
                <a:cs typeface="Times New Roman" panose="02020603050405020304" pitchFamily="18" charset="0"/>
              </a:rPr>
              <a:t>.</a:t>
            </a:r>
            <a:endParaRPr lang="en-ID" dirty="0">
              <a:solidFill>
                <a:srgbClr val="000000"/>
              </a:solidFill>
              <a:latin typeface="Montserrat" panose="02000505000000020004"/>
            </a:endParaRPr>
          </a:p>
        </p:txBody>
      </p:sp>
      <p:pic>
        <p:nvPicPr>
          <p:cNvPr id="3" name="Picture 2">
            <a:extLst>
              <a:ext uri="{FF2B5EF4-FFF2-40B4-BE49-F238E27FC236}">
                <a16:creationId xmlns:a16="http://schemas.microsoft.com/office/drawing/2014/main" id="{14A21F84-2C75-4E88-8EFE-09CFBAE5EC64}"/>
              </a:ext>
            </a:extLst>
          </p:cNvPr>
          <p:cNvPicPr>
            <a:picLocks noChangeAspect="1"/>
          </p:cNvPicPr>
          <p:nvPr/>
        </p:nvPicPr>
        <p:blipFill>
          <a:blip r:embed="rId2"/>
          <a:stretch>
            <a:fillRect/>
          </a:stretch>
        </p:blipFill>
        <p:spPr>
          <a:xfrm>
            <a:off x="1660800" y="4027946"/>
            <a:ext cx="6531353" cy="2342374"/>
          </a:xfrm>
          <a:prstGeom prst="rect">
            <a:avLst/>
          </a:prstGeom>
        </p:spPr>
      </p:pic>
    </p:spTree>
    <p:extLst>
      <p:ext uri="{BB962C8B-B14F-4D97-AF65-F5344CB8AC3E}">
        <p14:creationId xmlns:p14="http://schemas.microsoft.com/office/powerpoint/2010/main" val="2392700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101600"/>
            <a:ext cx="6353117" cy="668564"/>
          </a:xfrm>
        </p:spPr>
        <p:txBody>
          <a:bodyPr>
            <a:noAutofit/>
          </a:bodyPr>
          <a:lstStyle/>
          <a:p>
            <a:r>
              <a:rPr lang="en-US" sz="2100" dirty="0" err="1"/>
              <a:t>Mengapa</a:t>
            </a:r>
            <a:r>
              <a:rPr lang="en-US" sz="2100" dirty="0"/>
              <a:t> DFA yang telah </a:t>
            </a:r>
            <a:r>
              <a:rPr lang="en-US" sz="2100" dirty="0" err="1"/>
              <a:t>Diminimalkan</a:t>
            </a:r>
            <a:r>
              <a:rPr lang="en-US" sz="2100" dirty="0"/>
              <a:t> Tidak Dapat </a:t>
            </a:r>
            <a:r>
              <a:rPr lang="en-US" sz="2100" dirty="0" err="1"/>
              <a:t>Dikalahkan</a:t>
            </a:r>
            <a:r>
              <a:rPr lang="en-US" sz="2100" dirty="0"/>
              <a:t>?</a:t>
            </a:r>
            <a:endParaRPr lang="id-ID" sz="2100" dirty="0"/>
          </a:p>
        </p:txBody>
      </p:sp>
      <p:sp>
        <p:nvSpPr>
          <p:cNvPr id="6" name="TextBox 5">
            <a:extLst>
              <a:ext uri="{FF2B5EF4-FFF2-40B4-BE49-F238E27FC236}">
                <a16:creationId xmlns:a16="http://schemas.microsoft.com/office/drawing/2014/main" id="{B89AB76E-588F-4380-B586-5F14C088CA2A}"/>
              </a:ext>
            </a:extLst>
          </p:cNvPr>
          <p:cNvSpPr txBox="1"/>
          <p:nvPr/>
        </p:nvSpPr>
        <p:spPr>
          <a:xfrm>
            <a:off x="454083" y="888625"/>
            <a:ext cx="8443174" cy="3785652"/>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solidFill>
                  <a:srgbClr val="000000"/>
                </a:solidFill>
                <a:latin typeface="Montserrat" panose="02000505000000020004"/>
                <a:cs typeface="Times New Roman" panose="02020603050405020304" pitchFamily="18" charset="0"/>
              </a:rPr>
              <a:t>Karena N memiliki lebih sedikit state daripada M, </a:t>
            </a:r>
            <a:r>
              <a:rPr lang="en-US" sz="2000" dirty="0" err="1">
                <a:solidFill>
                  <a:srgbClr val="000000"/>
                </a:solidFill>
                <a:latin typeface="Montserrat" panose="02000505000000020004"/>
                <a:cs typeface="Times New Roman" panose="02020603050405020304" pitchFamily="18" charset="0"/>
              </a:rPr>
              <a:t>ada</a:t>
            </a:r>
            <a:r>
              <a:rPr lang="en-US" sz="2000" dirty="0">
                <a:solidFill>
                  <a:srgbClr val="000000"/>
                </a:solidFill>
                <a:latin typeface="Montserrat" panose="02000505000000020004"/>
                <a:cs typeface="Times New Roman" panose="02020603050405020304" pitchFamily="18" charset="0"/>
              </a:rPr>
              <a:t> dua state M yang dapat </a:t>
            </a:r>
            <a:r>
              <a:rPr lang="en-US" sz="2000" dirty="0" err="1">
                <a:solidFill>
                  <a:srgbClr val="000000"/>
                </a:solidFill>
                <a:latin typeface="Montserrat" panose="02000505000000020004"/>
                <a:cs typeface="Times New Roman" panose="02020603050405020304" pitchFamily="18" charset="0"/>
              </a:rPr>
              <a:t>dibedakan</a:t>
            </a:r>
            <a:r>
              <a:rPr lang="en-US" sz="2000" dirty="0">
                <a:solidFill>
                  <a:srgbClr val="000000"/>
                </a:solidFill>
                <a:latin typeface="Montserrat" panose="02000505000000020004"/>
                <a:cs typeface="Times New Roman" panose="02020603050405020304" pitchFamily="18" charset="0"/>
              </a:rPr>
              <a:t> tetapi terhubung ke state N yang sama, sehingga </a:t>
            </a:r>
            <a:r>
              <a:rPr lang="en-US" sz="2000" dirty="0" err="1">
                <a:solidFill>
                  <a:srgbClr val="000000"/>
                </a:solidFill>
                <a:latin typeface="Montserrat" panose="02000505000000020004"/>
                <a:cs typeface="Times New Roman" panose="02020603050405020304" pitchFamily="18" charset="0"/>
              </a:rPr>
              <a:t>tidak</a:t>
            </a:r>
            <a:r>
              <a:rPr lang="en-US" sz="2000" dirty="0">
                <a:solidFill>
                  <a:srgbClr val="000000"/>
                </a:solidFill>
                <a:latin typeface="Montserrat" panose="02000505000000020004"/>
                <a:cs typeface="Times New Roman" panose="02020603050405020304" pitchFamily="18" charset="0"/>
              </a:rPr>
              <a:t> dapat </a:t>
            </a:r>
            <a:r>
              <a:rPr lang="en-US" sz="2000" dirty="0" err="1">
                <a:solidFill>
                  <a:srgbClr val="000000"/>
                </a:solidFill>
                <a:latin typeface="Montserrat" panose="02000505000000020004"/>
                <a:cs typeface="Times New Roman" panose="02020603050405020304" pitchFamily="18" charset="0"/>
              </a:rPr>
              <a:t>dibedakan</a:t>
            </a:r>
            <a:r>
              <a:rPr lang="en-US" sz="2000" dirty="0">
                <a:solidFill>
                  <a:srgbClr val="000000"/>
                </a:solidFill>
                <a:latin typeface="Montserrat" panose="02000505000000020004"/>
                <a:cs typeface="Times New Roman" panose="02020603050405020304" pitchFamily="18" charset="0"/>
              </a:rPr>
              <a:t> </a:t>
            </a:r>
            <a:r>
              <a:rPr lang="en-US" sz="2000" dirty="0" err="1">
                <a:solidFill>
                  <a:srgbClr val="000000"/>
                </a:solidFill>
                <a:latin typeface="Montserrat" panose="02000505000000020004"/>
                <a:cs typeface="Times New Roman" panose="02020603050405020304" pitchFamily="18" charset="0"/>
              </a:rPr>
              <a:t>satu</a:t>
            </a:r>
            <a:r>
              <a:rPr lang="en-US" sz="2000" dirty="0">
                <a:solidFill>
                  <a:srgbClr val="000000"/>
                </a:solidFill>
                <a:latin typeface="Montserrat" panose="02000505000000020004"/>
                <a:cs typeface="Times New Roman" panose="02020603050405020304" pitchFamily="18" charset="0"/>
              </a:rPr>
              <a:t> sama lain. Namun, M </a:t>
            </a:r>
            <a:r>
              <a:rPr lang="en-US" sz="2000" dirty="0" err="1">
                <a:solidFill>
                  <a:srgbClr val="000000"/>
                </a:solidFill>
                <a:latin typeface="Montserrat" panose="02000505000000020004"/>
                <a:cs typeface="Times New Roman" panose="02020603050405020304" pitchFamily="18" charset="0"/>
              </a:rPr>
              <a:t>didesain</a:t>
            </a:r>
            <a:r>
              <a:rPr lang="en-US" sz="2000" dirty="0">
                <a:solidFill>
                  <a:srgbClr val="000000"/>
                </a:solidFill>
                <a:latin typeface="Montserrat" panose="02000505000000020004"/>
                <a:cs typeface="Times New Roman" panose="02020603050405020304" pitchFamily="18" charset="0"/>
              </a:rPr>
              <a:t> agar semua state-</a:t>
            </a:r>
            <a:r>
              <a:rPr lang="en-US" sz="2000" dirty="0" err="1">
                <a:solidFill>
                  <a:srgbClr val="000000"/>
                </a:solidFill>
                <a:latin typeface="Montserrat" panose="02000505000000020004"/>
                <a:cs typeface="Times New Roman" panose="02020603050405020304" pitchFamily="18" charset="0"/>
              </a:rPr>
              <a:t>nya</a:t>
            </a:r>
            <a:r>
              <a:rPr lang="en-US" sz="2000" dirty="0">
                <a:solidFill>
                  <a:srgbClr val="000000"/>
                </a:solidFill>
                <a:latin typeface="Montserrat" panose="02000505000000020004"/>
                <a:cs typeface="Times New Roman" panose="02020603050405020304" pitchFamily="18" charset="0"/>
              </a:rPr>
              <a:t> bisa </a:t>
            </a:r>
            <a:r>
              <a:rPr lang="en-US" sz="2000" dirty="0" err="1">
                <a:solidFill>
                  <a:srgbClr val="000000"/>
                </a:solidFill>
                <a:latin typeface="Montserrat" panose="02000505000000020004"/>
                <a:cs typeface="Times New Roman" panose="02020603050405020304" pitchFamily="18" charset="0"/>
              </a:rPr>
              <a:t>dibedakan</a:t>
            </a:r>
            <a:r>
              <a:rPr lang="en-US" sz="2000" dirty="0">
                <a:solidFill>
                  <a:srgbClr val="000000"/>
                </a:solidFill>
                <a:latin typeface="Montserrat" panose="02000505000000020004"/>
                <a:cs typeface="Times New Roman" panose="02020603050405020304" pitchFamily="18" charset="0"/>
              </a:rPr>
              <a:t>, sehingga ini menciptakan </a:t>
            </a:r>
            <a:r>
              <a:rPr lang="en-US" sz="2000" dirty="0" err="1">
                <a:solidFill>
                  <a:srgbClr val="000000"/>
                </a:solidFill>
                <a:latin typeface="Montserrat" panose="02000505000000020004"/>
                <a:cs typeface="Times New Roman" panose="02020603050405020304" pitchFamily="18" charset="0"/>
              </a:rPr>
              <a:t>kontradiksi</a:t>
            </a:r>
            <a:r>
              <a:rPr lang="en-US" sz="2000" dirty="0">
                <a:solidFill>
                  <a:srgbClr val="000000"/>
                </a:solidFill>
                <a:latin typeface="Montserrat" panose="02000505000000020004"/>
                <a:cs typeface="Times New Roman" panose="02020603050405020304" pitchFamily="18" charset="0"/>
              </a:rPr>
              <a:t>. Jadi, </a:t>
            </a:r>
            <a:r>
              <a:rPr lang="en-US" sz="2000" dirty="0" err="1">
                <a:solidFill>
                  <a:srgbClr val="000000"/>
                </a:solidFill>
                <a:latin typeface="Montserrat" panose="02000505000000020004"/>
                <a:cs typeface="Times New Roman" panose="02020603050405020304" pitchFamily="18" charset="0"/>
              </a:rPr>
              <a:t>asumsi</a:t>
            </a:r>
            <a:r>
              <a:rPr lang="en-US" sz="2000" dirty="0">
                <a:solidFill>
                  <a:srgbClr val="000000"/>
                </a:solidFill>
                <a:latin typeface="Montserrat" panose="02000505000000020004"/>
                <a:cs typeface="Times New Roman" panose="02020603050405020304" pitchFamily="18" charset="0"/>
              </a:rPr>
              <a:t> bahwa N </a:t>
            </a:r>
            <a:r>
              <a:rPr lang="en-US" sz="2000" dirty="0" err="1">
                <a:solidFill>
                  <a:srgbClr val="000000"/>
                </a:solidFill>
                <a:latin typeface="Montserrat" panose="02000505000000020004"/>
                <a:cs typeface="Times New Roman" panose="02020603050405020304" pitchFamily="18" charset="0"/>
              </a:rPr>
              <a:t>ada</a:t>
            </a:r>
            <a:r>
              <a:rPr lang="en-US" sz="2000" dirty="0">
                <a:solidFill>
                  <a:srgbClr val="000000"/>
                </a:solidFill>
                <a:latin typeface="Montserrat" panose="02000505000000020004"/>
                <a:cs typeface="Times New Roman" panose="02020603050405020304" pitchFamily="18" charset="0"/>
              </a:rPr>
              <a:t> adalah salah, dan M memiliki jumlah state yang sama dengan DFA </a:t>
            </a:r>
            <a:r>
              <a:rPr lang="en-US" sz="2000" dirty="0" err="1">
                <a:solidFill>
                  <a:srgbClr val="000000"/>
                </a:solidFill>
                <a:latin typeface="Montserrat" panose="02000505000000020004"/>
                <a:cs typeface="Times New Roman" panose="02020603050405020304" pitchFamily="18" charset="0"/>
              </a:rPr>
              <a:t>ekuivalen</a:t>
            </a:r>
            <a:r>
              <a:rPr lang="en-US" sz="2000" dirty="0">
                <a:solidFill>
                  <a:srgbClr val="000000"/>
                </a:solidFill>
                <a:latin typeface="Montserrat" panose="02000505000000020004"/>
                <a:cs typeface="Times New Roman" panose="02020603050405020304" pitchFamily="18" charset="0"/>
              </a:rPr>
              <a:t> untuk A.</a:t>
            </a:r>
          </a:p>
          <a:p>
            <a:pPr algn="just"/>
            <a:endParaRPr lang="en-US" sz="2000" dirty="0">
              <a:solidFill>
                <a:srgbClr val="000000"/>
              </a:solidFill>
              <a:latin typeface="Montserrat" panose="02000505000000020004"/>
              <a:cs typeface="Times New Roman" panose="02020603050405020304" pitchFamily="18" charset="0"/>
            </a:endParaRPr>
          </a:p>
          <a:p>
            <a:pPr marL="285750" indent="-285750" algn="just">
              <a:buFont typeface="Arial" panose="020B0604020202020204" pitchFamily="34" charset="0"/>
              <a:buChar char="•"/>
            </a:pPr>
            <a:r>
              <a:rPr lang="en-US" sz="2000" dirty="0" err="1">
                <a:solidFill>
                  <a:srgbClr val="000000"/>
                </a:solidFill>
                <a:latin typeface="Montserrat" panose="02000505000000020004"/>
                <a:cs typeface="Times New Roman" panose="02020603050405020304" pitchFamily="18" charset="0"/>
              </a:rPr>
              <a:t>Teorema</a:t>
            </a:r>
            <a:r>
              <a:rPr lang="en-US" sz="2000" dirty="0">
                <a:solidFill>
                  <a:srgbClr val="000000"/>
                </a:solidFill>
                <a:latin typeface="Montserrat" panose="02000505000000020004"/>
                <a:cs typeface="Times New Roman" panose="02020603050405020304" pitchFamily="18" charset="0"/>
              </a:rPr>
              <a:t> 4.26: </a:t>
            </a:r>
            <a:r>
              <a:rPr lang="en-US" sz="2000" dirty="0" err="1">
                <a:solidFill>
                  <a:srgbClr val="000000"/>
                </a:solidFill>
                <a:latin typeface="Montserrat" panose="02000505000000020004"/>
                <a:cs typeface="Times New Roman" panose="02020603050405020304" pitchFamily="18" charset="0"/>
              </a:rPr>
              <a:t>Jika</a:t>
            </a:r>
            <a:r>
              <a:rPr lang="en-US" sz="2000" dirty="0">
                <a:solidFill>
                  <a:srgbClr val="000000"/>
                </a:solidFill>
                <a:latin typeface="Montserrat" panose="02000505000000020004"/>
                <a:cs typeface="Times New Roman" panose="02020603050405020304" pitchFamily="18" charset="0"/>
              </a:rPr>
              <a:t> A adalah DFA, dan M </a:t>
            </a:r>
            <a:r>
              <a:rPr lang="en-US" sz="2000" dirty="0" err="1">
                <a:solidFill>
                  <a:srgbClr val="000000"/>
                </a:solidFill>
                <a:latin typeface="Montserrat" panose="02000505000000020004"/>
                <a:cs typeface="Times New Roman" panose="02020603050405020304" pitchFamily="18" charset="0"/>
              </a:rPr>
              <a:t>dibangun</a:t>
            </a:r>
            <a:r>
              <a:rPr lang="en-US" sz="2000" dirty="0">
                <a:solidFill>
                  <a:srgbClr val="000000"/>
                </a:solidFill>
                <a:latin typeface="Montserrat" panose="02000505000000020004"/>
                <a:cs typeface="Times New Roman" panose="02020603050405020304" pitchFamily="18" charset="0"/>
              </a:rPr>
              <a:t> </a:t>
            </a:r>
            <a:r>
              <a:rPr lang="en-US" sz="2000" dirty="0" err="1">
                <a:solidFill>
                  <a:srgbClr val="000000"/>
                </a:solidFill>
                <a:latin typeface="Montserrat" panose="02000505000000020004"/>
                <a:cs typeface="Times New Roman" panose="02020603050405020304" pitchFamily="18" charset="0"/>
              </a:rPr>
              <a:t>dari</a:t>
            </a:r>
            <a:r>
              <a:rPr lang="en-US" sz="2000" dirty="0">
                <a:solidFill>
                  <a:srgbClr val="000000"/>
                </a:solidFill>
                <a:latin typeface="Montserrat" panose="02000505000000020004"/>
                <a:cs typeface="Times New Roman" panose="02020603050405020304" pitchFamily="18" charset="0"/>
              </a:rPr>
              <a:t> A dengan algoritma </a:t>
            </a:r>
            <a:r>
              <a:rPr lang="en-US" sz="2000" dirty="0" err="1">
                <a:solidFill>
                  <a:srgbClr val="000000"/>
                </a:solidFill>
                <a:latin typeface="Montserrat" panose="02000505000000020004"/>
                <a:cs typeface="Times New Roman" panose="02020603050405020304" pitchFamily="18" charset="0"/>
              </a:rPr>
              <a:t>Teorema</a:t>
            </a:r>
            <a:r>
              <a:rPr lang="en-US" sz="2000" dirty="0">
                <a:solidFill>
                  <a:srgbClr val="000000"/>
                </a:solidFill>
                <a:latin typeface="Montserrat" panose="02000505000000020004"/>
                <a:cs typeface="Times New Roman" panose="02020603050405020304" pitchFamily="18" charset="0"/>
              </a:rPr>
              <a:t> 4.24, maka M memiliki jumlah state </a:t>
            </a:r>
            <a:r>
              <a:rPr lang="en-US" sz="2000" dirty="0" err="1">
                <a:solidFill>
                  <a:srgbClr val="000000"/>
                </a:solidFill>
                <a:latin typeface="Montserrat" panose="02000505000000020004"/>
                <a:cs typeface="Times New Roman" panose="02020603050405020304" pitchFamily="18" charset="0"/>
              </a:rPr>
              <a:t>sesedikit</a:t>
            </a:r>
            <a:r>
              <a:rPr lang="en-US" sz="2000" dirty="0">
                <a:solidFill>
                  <a:srgbClr val="000000"/>
                </a:solidFill>
                <a:latin typeface="Montserrat" panose="02000505000000020004"/>
                <a:cs typeface="Times New Roman" panose="02020603050405020304" pitchFamily="18" charset="0"/>
              </a:rPr>
              <a:t> mungkin di </a:t>
            </a:r>
            <a:r>
              <a:rPr lang="en-US" sz="2000" dirty="0" err="1">
                <a:solidFill>
                  <a:srgbClr val="000000"/>
                </a:solidFill>
                <a:latin typeface="Montserrat" panose="02000505000000020004"/>
                <a:cs typeface="Times New Roman" panose="02020603050405020304" pitchFamily="18" charset="0"/>
              </a:rPr>
              <a:t>antara</a:t>
            </a:r>
            <a:r>
              <a:rPr lang="en-US" sz="2000" dirty="0">
                <a:solidFill>
                  <a:srgbClr val="000000"/>
                </a:solidFill>
                <a:latin typeface="Montserrat" panose="02000505000000020004"/>
                <a:cs typeface="Times New Roman" panose="02020603050405020304" pitchFamily="18" charset="0"/>
              </a:rPr>
              <a:t> semua DFA yang </a:t>
            </a:r>
            <a:r>
              <a:rPr lang="en-US" sz="2000" dirty="0" err="1">
                <a:solidFill>
                  <a:srgbClr val="000000"/>
                </a:solidFill>
                <a:latin typeface="Montserrat" panose="02000505000000020004"/>
                <a:cs typeface="Times New Roman" panose="02020603050405020304" pitchFamily="18" charset="0"/>
              </a:rPr>
              <a:t>ekuivalen</a:t>
            </a:r>
            <a:r>
              <a:rPr lang="en-US" sz="2000" dirty="0">
                <a:solidFill>
                  <a:srgbClr val="000000"/>
                </a:solidFill>
                <a:latin typeface="Montserrat" panose="02000505000000020004"/>
                <a:cs typeface="Times New Roman" panose="02020603050405020304" pitchFamily="18" charset="0"/>
              </a:rPr>
              <a:t> dengan A.</a:t>
            </a:r>
            <a:endParaRPr lang="en-ID" sz="2000" dirty="0">
              <a:solidFill>
                <a:srgbClr val="000000"/>
              </a:solidFill>
              <a:latin typeface="Montserrat" panose="02000505000000020004"/>
            </a:endParaRPr>
          </a:p>
        </p:txBody>
      </p:sp>
    </p:spTree>
    <p:extLst>
      <p:ext uri="{BB962C8B-B14F-4D97-AF65-F5344CB8AC3E}">
        <p14:creationId xmlns:p14="http://schemas.microsoft.com/office/powerpoint/2010/main" val="2569537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101600"/>
            <a:ext cx="6353117" cy="668564"/>
          </a:xfrm>
        </p:spPr>
        <p:txBody>
          <a:bodyPr>
            <a:noAutofit/>
          </a:bodyPr>
          <a:lstStyle/>
          <a:p>
            <a:r>
              <a:rPr lang="en-US" sz="1900" dirty="0" err="1"/>
              <a:t>Mengapa</a:t>
            </a:r>
            <a:r>
              <a:rPr lang="en-US" sz="1900" dirty="0"/>
              <a:t> DFA yang telah </a:t>
            </a:r>
            <a:r>
              <a:rPr lang="en-US" sz="1900" dirty="0" err="1"/>
              <a:t>Diminimalkan</a:t>
            </a:r>
            <a:r>
              <a:rPr lang="en-US" sz="1900" dirty="0"/>
              <a:t> Tidak Dapat </a:t>
            </a:r>
            <a:r>
              <a:rPr lang="en-US" sz="1900" dirty="0" err="1"/>
              <a:t>Dikalahkan</a:t>
            </a:r>
            <a:r>
              <a:rPr lang="en-US" sz="1900" dirty="0"/>
              <a:t>?</a:t>
            </a:r>
            <a:endParaRPr lang="id-ID" sz="1900" dirty="0"/>
          </a:p>
        </p:txBody>
      </p:sp>
      <p:sp>
        <p:nvSpPr>
          <p:cNvPr id="6" name="TextBox 5">
            <a:extLst>
              <a:ext uri="{FF2B5EF4-FFF2-40B4-BE49-F238E27FC236}">
                <a16:creationId xmlns:a16="http://schemas.microsoft.com/office/drawing/2014/main" id="{B89AB76E-588F-4380-B586-5F14C088CA2A}"/>
              </a:ext>
            </a:extLst>
          </p:cNvPr>
          <p:cNvSpPr txBox="1"/>
          <p:nvPr/>
        </p:nvSpPr>
        <p:spPr>
          <a:xfrm>
            <a:off x="372803" y="1150372"/>
            <a:ext cx="4829706" cy="4401205"/>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solidFill>
                  <a:srgbClr val="000000"/>
                </a:solidFill>
                <a:latin typeface="Montserrat" panose="02000505000000020004"/>
                <a:cs typeface="Times New Roman" panose="02020603050405020304" pitchFamily="18" charset="0"/>
              </a:rPr>
              <a:t>Kita dapat </a:t>
            </a:r>
            <a:r>
              <a:rPr lang="en-US" sz="2000" dirty="0" err="1">
                <a:solidFill>
                  <a:srgbClr val="000000"/>
                </a:solidFill>
                <a:latin typeface="Montserrat" panose="02000505000000020004"/>
                <a:cs typeface="Times New Roman" panose="02020603050405020304" pitchFamily="18" charset="0"/>
              </a:rPr>
              <a:t>menyatakan</a:t>
            </a:r>
            <a:r>
              <a:rPr lang="en-US" sz="2000" dirty="0">
                <a:solidFill>
                  <a:srgbClr val="000000"/>
                </a:solidFill>
                <a:latin typeface="Montserrat" panose="02000505000000020004"/>
                <a:cs typeface="Times New Roman" panose="02020603050405020304" pitchFamily="18" charset="0"/>
              </a:rPr>
              <a:t> lebih </a:t>
            </a:r>
            <a:r>
              <a:rPr lang="en-US" sz="2000" dirty="0" err="1">
                <a:solidFill>
                  <a:srgbClr val="000000"/>
                </a:solidFill>
                <a:latin typeface="Montserrat" panose="02000505000000020004"/>
                <a:cs typeface="Times New Roman" panose="02020603050405020304" pitchFamily="18" charset="0"/>
              </a:rPr>
              <a:t>dari</a:t>
            </a:r>
            <a:r>
              <a:rPr lang="en-US" sz="2000" dirty="0">
                <a:solidFill>
                  <a:srgbClr val="000000"/>
                </a:solidFill>
                <a:latin typeface="Montserrat" panose="02000505000000020004"/>
                <a:cs typeface="Times New Roman" panose="02020603050405020304" pitchFamily="18" charset="0"/>
              </a:rPr>
              <a:t> </a:t>
            </a:r>
            <a:r>
              <a:rPr lang="en-US" sz="2000" dirty="0" err="1">
                <a:solidFill>
                  <a:srgbClr val="000000"/>
                </a:solidFill>
                <a:latin typeface="Montserrat" panose="02000505000000020004"/>
                <a:cs typeface="Times New Roman" panose="02020603050405020304" pitchFamily="18" charset="0"/>
              </a:rPr>
              <a:t>Teorema</a:t>
            </a:r>
            <a:r>
              <a:rPr lang="en-US" sz="2000" dirty="0">
                <a:solidFill>
                  <a:srgbClr val="000000"/>
                </a:solidFill>
                <a:latin typeface="Montserrat" panose="02000505000000020004"/>
                <a:cs typeface="Times New Roman" panose="02020603050405020304" pitchFamily="18" charset="0"/>
              </a:rPr>
              <a:t> 4.26: harus </a:t>
            </a:r>
            <a:r>
              <a:rPr lang="en-US" sz="2000" dirty="0" err="1">
                <a:solidFill>
                  <a:srgbClr val="000000"/>
                </a:solidFill>
                <a:latin typeface="Montserrat" panose="02000505000000020004"/>
                <a:cs typeface="Times New Roman" panose="02020603050405020304" pitchFamily="18" charset="0"/>
              </a:rPr>
              <a:t>ada</a:t>
            </a:r>
            <a:r>
              <a:rPr lang="en-US" sz="2000" dirty="0">
                <a:solidFill>
                  <a:srgbClr val="000000"/>
                </a:solidFill>
                <a:latin typeface="Montserrat" panose="02000505000000020004"/>
                <a:cs typeface="Times New Roman" panose="02020603050405020304" pitchFamily="18" charset="0"/>
              </a:rPr>
              <a:t> </a:t>
            </a:r>
            <a:r>
              <a:rPr lang="en-US" sz="2000" dirty="0" err="1">
                <a:solidFill>
                  <a:srgbClr val="000000"/>
                </a:solidFill>
                <a:latin typeface="Montserrat" panose="02000505000000020004"/>
                <a:cs typeface="Times New Roman" panose="02020603050405020304" pitchFamily="18" charset="0"/>
              </a:rPr>
              <a:t>korespondensi</a:t>
            </a:r>
            <a:r>
              <a:rPr lang="en-US" sz="2000" dirty="0">
                <a:solidFill>
                  <a:srgbClr val="000000"/>
                </a:solidFill>
                <a:latin typeface="Montserrat" panose="02000505000000020004"/>
                <a:cs typeface="Times New Roman" panose="02020603050405020304" pitchFamily="18" charset="0"/>
              </a:rPr>
              <a:t> </a:t>
            </a:r>
            <a:r>
              <a:rPr lang="en-US" sz="2000" dirty="0" err="1">
                <a:solidFill>
                  <a:srgbClr val="000000"/>
                </a:solidFill>
                <a:latin typeface="Montserrat" panose="02000505000000020004"/>
                <a:cs typeface="Times New Roman" panose="02020603050405020304" pitchFamily="18" charset="0"/>
              </a:rPr>
              <a:t>satu</a:t>
            </a:r>
            <a:r>
              <a:rPr lang="en-US" sz="2000" dirty="0">
                <a:solidFill>
                  <a:srgbClr val="000000"/>
                </a:solidFill>
                <a:latin typeface="Montserrat" panose="02000505000000020004"/>
                <a:cs typeface="Times New Roman" panose="02020603050405020304" pitchFamily="18" charset="0"/>
              </a:rPr>
              <a:t>-ke-</a:t>
            </a:r>
            <a:r>
              <a:rPr lang="en-US" sz="2000" dirty="0" err="1">
                <a:solidFill>
                  <a:srgbClr val="000000"/>
                </a:solidFill>
                <a:latin typeface="Montserrat" panose="02000505000000020004"/>
                <a:cs typeface="Times New Roman" panose="02020603050405020304" pitchFamily="18" charset="0"/>
              </a:rPr>
              <a:t>satu</a:t>
            </a:r>
            <a:r>
              <a:rPr lang="en-US" sz="2000" dirty="0">
                <a:solidFill>
                  <a:srgbClr val="000000"/>
                </a:solidFill>
                <a:latin typeface="Montserrat" panose="02000505000000020004"/>
                <a:cs typeface="Times New Roman" panose="02020603050405020304" pitchFamily="18" charset="0"/>
              </a:rPr>
              <a:t> </a:t>
            </a:r>
            <a:r>
              <a:rPr lang="en-US" sz="2000" dirty="0" err="1">
                <a:solidFill>
                  <a:srgbClr val="000000"/>
                </a:solidFill>
                <a:latin typeface="Montserrat" panose="02000505000000020004"/>
                <a:cs typeface="Times New Roman" panose="02020603050405020304" pitchFamily="18" charset="0"/>
              </a:rPr>
              <a:t>antara</a:t>
            </a:r>
            <a:r>
              <a:rPr lang="en-US" sz="2000" dirty="0">
                <a:solidFill>
                  <a:srgbClr val="000000"/>
                </a:solidFill>
                <a:latin typeface="Montserrat" panose="02000505000000020004"/>
                <a:cs typeface="Times New Roman" panose="02020603050405020304" pitchFamily="18" charset="0"/>
              </a:rPr>
              <a:t> state-state </a:t>
            </a:r>
            <a:r>
              <a:rPr lang="en-US" sz="2000" dirty="0" err="1">
                <a:solidFill>
                  <a:srgbClr val="000000"/>
                </a:solidFill>
                <a:latin typeface="Montserrat" panose="02000505000000020004"/>
                <a:cs typeface="Times New Roman" panose="02020603050405020304" pitchFamily="18" charset="0"/>
              </a:rPr>
              <a:t>dari</a:t>
            </a:r>
            <a:r>
              <a:rPr lang="en-US" sz="2000" dirty="0">
                <a:solidFill>
                  <a:srgbClr val="000000"/>
                </a:solidFill>
                <a:latin typeface="Montserrat" panose="02000505000000020004"/>
                <a:cs typeface="Times New Roman" panose="02020603050405020304" pitchFamily="18" charset="0"/>
              </a:rPr>
              <a:t> DFA minimum N dan M. </a:t>
            </a:r>
            <a:r>
              <a:rPr lang="en-US" sz="2000" dirty="0" err="1">
                <a:solidFill>
                  <a:srgbClr val="000000"/>
                </a:solidFill>
                <a:latin typeface="Montserrat" panose="02000505000000020004"/>
                <a:cs typeface="Times New Roman" panose="02020603050405020304" pitchFamily="18" charset="0"/>
              </a:rPr>
              <a:t>Setiap</a:t>
            </a:r>
            <a:r>
              <a:rPr lang="en-US" sz="2000" dirty="0">
                <a:solidFill>
                  <a:srgbClr val="000000"/>
                </a:solidFill>
                <a:latin typeface="Montserrat" panose="02000505000000020004"/>
                <a:cs typeface="Times New Roman" panose="02020603050405020304" pitchFamily="18" charset="0"/>
              </a:rPr>
              <a:t> state di M harus </a:t>
            </a:r>
            <a:r>
              <a:rPr lang="en-US" sz="2000" dirty="0" err="1">
                <a:solidFill>
                  <a:srgbClr val="000000"/>
                </a:solidFill>
                <a:latin typeface="Montserrat" panose="02000505000000020004"/>
                <a:cs typeface="Times New Roman" panose="02020603050405020304" pitchFamily="18" charset="0"/>
              </a:rPr>
              <a:t>setara</a:t>
            </a:r>
            <a:r>
              <a:rPr lang="en-US" sz="2000" dirty="0">
                <a:solidFill>
                  <a:srgbClr val="000000"/>
                </a:solidFill>
                <a:latin typeface="Montserrat" panose="02000505000000020004"/>
                <a:cs typeface="Times New Roman" panose="02020603050405020304" pitchFamily="18" charset="0"/>
              </a:rPr>
              <a:t> dengan </a:t>
            </a:r>
            <a:r>
              <a:rPr lang="en-US" sz="2000" dirty="0" err="1">
                <a:solidFill>
                  <a:srgbClr val="000000"/>
                </a:solidFill>
                <a:latin typeface="Montserrat" panose="02000505000000020004"/>
                <a:cs typeface="Times New Roman" panose="02020603050405020304" pitchFamily="18" charset="0"/>
              </a:rPr>
              <a:t>satu</a:t>
            </a:r>
            <a:r>
              <a:rPr lang="en-US" sz="2000" dirty="0">
                <a:solidFill>
                  <a:srgbClr val="000000"/>
                </a:solidFill>
                <a:latin typeface="Montserrat" panose="02000505000000020004"/>
                <a:cs typeface="Times New Roman" panose="02020603050405020304" pitchFamily="18" charset="0"/>
              </a:rPr>
              <a:t> state di N, dan </a:t>
            </a:r>
            <a:r>
              <a:rPr lang="en-US" sz="2000" dirty="0" err="1">
                <a:solidFill>
                  <a:srgbClr val="000000"/>
                </a:solidFill>
                <a:latin typeface="Montserrat" panose="02000505000000020004"/>
                <a:cs typeface="Times New Roman" panose="02020603050405020304" pitchFamily="18" charset="0"/>
              </a:rPr>
              <a:t>tidak</a:t>
            </a:r>
            <a:r>
              <a:rPr lang="en-US" sz="2000" dirty="0">
                <a:solidFill>
                  <a:srgbClr val="000000"/>
                </a:solidFill>
                <a:latin typeface="Montserrat" panose="02000505000000020004"/>
                <a:cs typeface="Times New Roman" panose="02020603050405020304" pitchFamily="18" charset="0"/>
              </a:rPr>
              <a:t> mungkin </a:t>
            </a:r>
            <a:r>
              <a:rPr lang="en-US" sz="2000" dirty="0" err="1">
                <a:solidFill>
                  <a:srgbClr val="000000"/>
                </a:solidFill>
                <a:latin typeface="Montserrat" panose="02000505000000020004"/>
                <a:cs typeface="Times New Roman" panose="02020603050405020304" pitchFamily="18" charset="0"/>
              </a:rPr>
              <a:t>ada</a:t>
            </a:r>
            <a:r>
              <a:rPr lang="en-US" sz="2000" dirty="0">
                <a:solidFill>
                  <a:srgbClr val="000000"/>
                </a:solidFill>
                <a:latin typeface="Montserrat" panose="02000505000000020004"/>
                <a:cs typeface="Times New Roman" panose="02020603050405020304" pitchFamily="18" charset="0"/>
              </a:rPr>
              <a:t> state di M yang </a:t>
            </a:r>
            <a:r>
              <a:rPr lang="en-US" sz="2000" dirty="0" err="1">
                <a:solidFill>
                  <a:srgbClr val="000000"/>
                </a:solidFill>
                <a:latin typeface="Montserrat" panose="02000505000000020004"/>
                <a:cs typeface="Times New Roman" panose="02020603050405020304" pitchFamily="18" charset="0"/>
              </a:rPr>
              <a:t>setara</a:t>
            </a:r>
            <a:r>
              <a:rPr lang="en-US" sz="2000" dirty="0">
                <a:solidFill>
                  <a:srgbClr val="000000"/>
                </a:solidFill>
                <a:latin typeface="Montserrat" panose="02000505000000020004"/>
                <a:cs typeface="Times New Roman" panose="02020603050405020304" pitchFamily="18" charset="0"/>
              </a:rPr>
              <a:t> dengan dua state di N, atau </a:t>
            </a:r>
            <a:r>
              <a:rPr lang="en-US" sz="2000" dirty="0" err="1">
                <a:solidFill>
                  <a:srgbClr val="000000"/>
                </a:solidFill>
                <a:latin typeface="Montserrat" panose="02000505000000020004"/>
                <a:cs typeface="Times New Roman" panose="02020603050405020304" pitchFamily="18" charset="0"/>
              </a:rPr>
              <a:t>sebaliknya</a:t>
            </a:r>
            <a:r>
              <a:rPr lang="en-US" sz="2000" dirty="0">
                <a:solidFill>
                  <a:srgbClr val="000000"/>
                </a:solidFill>
                <a:latin typeface="Montserrat" panose="02000505000000020004"/>
                <a:cs typeface="Times New Roman" panose="02020603050405020304" pitchFamily="18" charset="0"/>
              </a:rPr>
              <a:t>. </a:t>
            </a:r>
          </a:p>
          <a:p>
            <a:pPr marL="285750" indent="-285750" algn="just">
              <a:buFont typeface="Arial" panose="020B0604020202020204" pitchFamily="34" charset="0"/>
              <a:buChar char="•"/>
            </a:pPr>
            <a:endParaRPr lang="en-US" sz="2000" dirty="0">
              <a:solidFill>
                <a:srgbClr val="000000"/>
              </a:solidFill>
              <a:latin typeface="Montserrat" panose="02000505000000020004"/>
              <a:cs typeface="Times New Roman" panose="02020603050405020304" pitchFamily="18" charset="0"/>
            </a:endParaRPr>
          </a:p>
          <a:p>
            <a:pPr marL="285750" indent="-285750" algn="just">
              <a:buFont typeface="Arial" panose="020B0604020202020204" pitchFamily="34" charset="0"/>
              <a:buChar char="•"/>
            </a:pPr>
            <a:r>
              <a:rPr lang="en-US" sz="2000" dirty="0">
                <a:solidFill>
                  <a:srgbClr val="000000"/>
                </a:solidFill>
                <a:latin typeface="Montserrat" panose="02000505000000020004"/>
                <a:cs typeface="Times New Roman" panose="02020603050405020304" pitchFamily="18" charset="0"/>
              </a:rPr>
              <a:t>Oleh </a:t>
            </a:r>
            <a:r>
              <a:rPr lang="en-US" sz="2000" dirty="0" err="1">
                <a:solidFill>
                  <a:srgbClr val="000000"/>
                </a:solidFill>
                <a:latin typeface="Montserrat" panose="02000505000000020004"/>
                <a:cs typeface="Times New Roman" panose="02020603050405020304" pitchFamily="18" charset="0"/>
              </a:rPr>
              <a:t>karena</a:t>
            </a:r>
            <a:r>
              <a:rPr lang="en-US" sz="2000" dirty="0">
                <a:solidFill>
                  <a:srgbClr val="000000"/>
                </a:solidFill>
                <a:latin typeface="Montserrat" panose="02000505000000020004"/>
                <a:cs typeface="Times New Roman" panose="02020603050405020304" pitchFamily="18" charset="0"/>
              </a:rPr>
              <a:t> itu, DFA minimum yang </a:t>
            </a:r>
            <a:r>
              <a:rPr lang="en-US" sz="2000" dirty="0" err="1">
                <a:solidFill>
                  <a:srgbClr val="000000"/>
                </a:solidFill>
                <a:latin typeface="Montserrat" panose="02000505000000020004"/>
                <a:cs typeface="Times New Roman" panose="02020603050405020304" pitchFamily="18" charset="0"/>
              </a:rPr>
              <a:t>ekuivalen</a:t>
            </a:r>
            <a:r>
              <a:rPr lang="en-US" sz="2000" dirty="0">
                <a:solidFill>
                  <a:srgbClr val="000000"/>
                </a:solidFill>
                <a:latin typeface="Montserrat" panose="02000505000000020004"/>
                <a:cs typeface="Times New Roman" panose="02020603050405020304" pitchFamily="18" charset="0"/>
              </a:rPr>
              <a:t> adalah unik, kecuali untuk kemungkinan </a:t>
            </a:r>
            <a:r>
              <a:rPr lang="en-US" sz="2000" dirty="0" err="1">
                <a:solidFill>
                  <a:srgbClr val="000000"/>
                </a:solidFill>
                <a:latin typeface="Montserrat" panose="02000505000000020004"/>
                <a:cs typeface="Times New Roman" panose="02020603050405020304" pitchFamily="18" charset="0"/>
              </a:rPr>
              <a:t>penggantian</a:t>
            </a:r>
            <a:r>
              <a:rPr lang="en-US" sz="2000" dirty="0">
                <a:solidFill>
                  <a:srgbClr val="000000"/>
                </a:solidFill>
                <a:latin typeface="Montserrat" panose="02000505000000020004"/>
                <a:cs typeface="Times New Roman" panose="02020603050405020304" pitchFamily="18" charset="0"/>
              </a:rPr>
              <a:t> </a:t>
            </a:r>
            <a:r>
              <a:rPr lang="en-US" sz="2000" dirty="0" err="1">
                <a:solidFill>
                  <a:srgbClr val="000000"/>
                </a:solidFill>
                <a:latin typeface="Montserrat" panose="02000505000000020004"/>
                <a:cs typeface="Times New Roman" panose="02020603050405020304" pitchFamily="18" charset="0"/>
              </a:rPr>
              <a:t>nama</a:t>
            </a:r>
            <a:r>
              <a:rPr lang="en-US" sz="2000" dirty="0">
                <a:solidFill>
                  <a:srgbClr val="000000"/>
                </a:solidFill>
                <a:latin typeface="Montserrat" panose="02000505000000020004"/>
                <a:cs typeface="Times New Roman" panose="02020603050405020304" pitchFamily="18" charset="0"/>
              </a:rPr>
              <a:t> state-state.</a:t>
            </a:r>
            <a:endParaRPr lang="en-ID" sz="2000" dirty="0">
              <a:solidFill>
                <a:srgbClr val="000000"/>
              </a:solidFill>
              <a:latin typeface="Montserrat" panose="02000505000000020004"/>
            </a:endParaRPr>
          </a:p>
        </p:txBody>
      </p:sp>
      <p:pic>
        <p:nvPicPr>
          <p:cNvPr id="3" name="Picture 2">
            <a:extLst>
              <a:ext uri="{FF2B5EF4-FFF2-40B4-BE49-F238E27FC236}">
                <a16:creationId xmlns:a16="http://schemas.microsoft.com/office/drawing/2014/main" id="{60A87D6F-440F-44F8-927C-8F7F3FF1A04C}"/>
              </a:ext>
            </a:extLst>
          </p:cNvPr>
          <p:cNvPicPr>
            <a:picLocks noChangeAspect="1"/>
          </p:cNvPicPr>
          <p:nvPr/>
        </p:nvPicPr>
        <p:blipFill>
          <a:blip r:embed="rId2"/>
          <a:stretch>
            <a:fillRect/>
          </a:stretch>
        </p:blipFill>
        <p:spPr>
          <a:xfrm>
            <a:off x="5603167" y="1359593"/>
            <a:ext cx="3046821" cy="3170099"/>
          </a:xfrm>
          <a:prstGeom prst="rect">
            <a:avLst/>
          </a:prstGeom>
        </p:spPr>
      </p:pic>
    </p:spTree>
    <p:extLst>
      <p:ext uri="{BB962C8B-B14F-4D97-AF65-F5344CB8AC3E}">
        <p14:creationId xmlns:p14="http://schemas.microsoft.com/office/powerpoint/2010/main" val="594900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101600"/>
            <a:ext cx="6353117" cy="668564"/>
          </a:xfrm>
        </p:spPr>
        <p:txBody>
          <a:bodyPr>
            <a:noAutofit/>
          </a:bodyPr>
          <a:lstStyle/>
          <a:p>
            <a:r>
              <a:rPr lang="en-US" sz="3600" dirty="0"/>
              <a:t>Tugas</a:t>
            </a:r>
            <a:endParaRPr lang="id-ID" sz="3600" dirty="0"/>
          </a:p>
        </p:txBody>
      </p:sp>
      <p:sp>
        <p:nvSpPr>
          <p:cNvPr id="6" name="TextBox 5">
            <a:extLst>
              <a:ext uri="{FF2B5EF4-FFF2-40B4-BE49-F238E27FC236}">
                <a16:creationId xmlns:a16="http://schemas.microsoft.com/office/drawing/2014/main" id="{B89AB76E-588F-4380-B586-5F14C088CA2A}"/>
              </a:ext>
            </a:extLst>
          </p:cNvPr>
          <p:cNvSpPr txBox="1"/>
          <p:nvPr/>
        </p:nvSpPr>
        <p:spPr>
          <a:xfrm>
            <a:off x="454083" y="888625"/>
            <a:ext cx="8443174" cy="707886"/>
          </a:xfrm>
          <a:prstGeom prst="rect">
            <a:avLst/>
          </a:prstGeom>
          <a:noFill/>
        </p:spPr>
        <p:txBody>
          <a:bodyPr wrap="square" rtlCol="0">
            <a:spAutoFit/>
          </a:bodyPr>
          <a:lstStyle/>
          <a:p>
            <a:pPr algn="just"/>
            <a:r>
              <a:rPr lang="en-US" sz="2000" dirty="0">
                <a:solidFill>
                  <a:srgbClr val="000000"/>
                </a:solidFill>
                <a:latin typeface="Montserrat" panose="02000505000000020004"/>
              </a:rPr>
              <a:t>1. </a:t>
            </a:r>
            <a:r>
              <a:rPr lang="en-US" sz="2000" dirty="0" err="1">
                <a:solidFill>
                  <a:srgbClr val="000000"/>
                </a:solidFill>
                <a:latin typeface="Montserrat" panose="02000505000000020004"/>
              </a:rPr>
              <a:t>Buatlah</a:t>
            </a:r>
            <a:r>
              <a:rPr lang="en-US" sz="2000" dirty="0">
                <a:solidFill>
                  <a:srgbClr val="000000"/>
                </a:solidFill>
                <a:latin typeface="Montserrat" panose="02000505000000020004"/>
              </a:rPr>
              <a:t> table indistinguishable </a:t>
            </a:r>
            <a:r>
              <a:rPr lang="en-US" sz="2000" dirty="0" err="1">
                <a:solidFill>
                  <a:srgbClr val="000000"/>
                </a:solidFill>
                <a:latin typeface="Montserrat" panose="02000505000000020004"/>
              </a:rPr>
              <a:t>dari</a:t>
            </a:r>
            <a:r>
              <a:rPr lang="en-US" sz="2000" dirty="0">
                <a:solidFill>
                  <a:srgbClr val="000000"/>
                </a:solidFill>
                <a:latin typeface="Montserrat" panose="02000505000000020004"/>
              </a:rPr>
              <a:t> automata di bawah ini</a:t>
            </a:r>
          </a:p>
          <a:p>
            <a:pPr algn="just"/>
            <a:r>
              <a:rPr lang="en-US" sz="2000" dirty="0">
                <a:solidFill>
                  <a:srgbClr val="000000"/>
                </a:solidFill>
                <a:latin typeface="Montserrat" panose="02000505000000020004"/>
              </a:rPr>
              <a:t>2. Buat minimum-state equivalent DFA </a:t>
            </a:r>
            <a:r>
              <a:rPr lang="en-US" sz="2000" dirty="0" err="1">
                <a:solidFill>
                  <a:srgbClr val="000000"/>
                </a:solidFill>
                <a:latin typeface="Montserrat" panose="02000505000000020004"/>
              </a:rPr>
              <a:t>dari</a:t>
            </a:r>
            <a:r>
              <a:rPr lang="en-US" sz="2000" dirty="0">
                <a:solidFill>
                  <a:srgbClr val="000000"/>
                </a:solidFill>
                <a:latin typeface="Montserrat" panose="02000505000000020004"/>
              </a:rPr>
              <a:t> Automata di bawah ini  </a:t>
            </a:r>
            <a:endParaRPr lang="en-ID" sz="2000" dirty="0">
              <a:solidFill>
                <a:srgbClr val="000000"/>
              </a:solidFill>
              <a:latin typeface="Montserrat" panose="02000505000000020004"/>
            </a:endParaRPr>
          </a:p>
        </p:txBody>
      </p:sp>
      <p:pic>
        <p:nvPicPr>
          <p:cNvPr id="3" name="Picture 2">
            <a:extLst>
              <a:ext uri="{FF2B5EF4-FFF2-40B4-BE49-F238E27FC236}">
                <a16:creationId xmlns:a16="http://schemas.microsoft.com/office/drawing/2014/main" id="{60A87D6F-440F-44F8-927C-8F7F3FF1A04C}"/>
              </a:ext>
            </a:extLst>
          </p:cNvPr>
          <p:cNvPicPr>
            <a:picLocks noChangeAspect="1"/>
          </p:cNvPicPr>
          <p:nvPr/>
        </p:nvPicPr>
        <p:blipFill>
          <a:blip r:embed="rId2"/>
          <a:stretch>
            <a:fillRect/>
          </a:stretch>
        </p:blipFill>
        <p:spPr>
          <a:xfrm>
            <a:off x="2545755" y="2307772"/>
            <a:ext cx="4052490" cy="3327775"/>
          </a:xfrm>
          <a:prstGeom prst="rect">
            <a:avLst/>
          </a:prstGeom>
        </p:spPr>
      </p:pic>
    </p:spTree>
    <p:extLst>
      <p:ext uri="{BB962C8B-B14F-4D97-AF65-F5344CB8AC3E}">
        <p14:creationId xmlns:p14="http://schemas.microsoft.com/office/powerpoint/2010/main" val="611627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6CFF-5B03-46FC-B72D-66963639D5DF}"/>
              </a:ext>
            </a:extLst>
          </p:cNvPr>
          <p:cNvSpPr>
            <a:spLocks noGrp="1"/>
          </p:cNvSpPr>
          <p:nvPr>
            <p:ph type="title"/>
          </p:nvPr>
        </p:nvSpPr>
        <p:spPr>
          <a:xfrm>
            <a:off x="454083" y="101600"/>
            <a:ext cx="6353117" cy="668564"/>
          </a:xfrm>
        </p:spPr>
        <p:txBody>
          <a:bodyPr>
            <a:noAutofit/>
          </a:bodyPr>
          <a:lstStyle/>
          <a:p>
            <a:r>
              <a:rPr lang="en-US" sz="3600" dirty="0"/>
              <a:t>Tugas</a:t>
            </a:r>
            <a:endParaRPr lang="id-ID" sz="3600" dirty="0"/>
          </a:p>
        </p:txBody>
      </p:sp>
      <p:sp>
        <p:nvSpPr>
          <p:cNvPr id="6" name="TextBox 5">
            <a:extLst>
              <a:ext uri="{FF2B5EF4-FFF2-40B4-BE49-F238E27FC236}">
                <a16:creationId xmlns:a16="http://schemas.microsoft.com/office/drawing/2014/main" id="{B89AB76E-588F-4380-B586-5F14C088CA2A}"/>
              </a:ext>
            </a:extLst>
          </p:cNvPr>
          <p:cNvSpPr txBox="1"/>
          <p:nvPr/>
        </p:nvSpPr>
        <p:spPr>
          <a:xfrm>
            <a:off x="454083" y="888625"/>
            <a:ext cx="8443174" cy="707886"/>
          </a:xfrm>
          <a:prstGeom prst="rect">
            <a:avLst/>
          </a:prstGeom>
          <a:noFill/>
        </p:spPr>
        <p:txBody>
          <a:bodyPr wrap="square" rtlCol="0">
            <a:spAutoFit/>
          </a:bodyPr>
          <a:lstStyle/>
          <a:p>
            <a:pPr algn="just"/>
            <a:r>
              <a:rPr lang="en-US" sz="2000" dirty="0">
                <a:solidFill>
                  <a:srgbClr val="000000"/>
                </a:solidFill>
                <a:latin typeface="Montserrat" panose="02000505000000020004"/>
              </a:rPr>
              <a:t>3. </a:t>
            </a:r>
            <a:r>
              <a:rPr lang="en-US" sz="2000" dirty="0" err="1">
                <a:solidFill>
                  <a:srgbClr val="000000"/>
                </a:solidFill>
                <a:latin typeface="Montserrat" panose="02000505000000020004"/>
              </a:rPr>
              <a:t>Buatlah</a:t>
            </a:r>
            <a:r>
              <a:rPr lang="en-US" sz="2000" dirty="0">
                <a:solidFill>
                  <a:srgbClr val="000000"/>
                </a:solidFill>
                <a:latin typeface="Montserrat" panose="02000505000000020004"/>
              </a:rPr>
              <a:t> table indistinguishable </a:t>
            </a:r>
            <a:r>
              <a:rPr lang="en-US" sz="2000" dirty="0" err="1">
                <a:solidFill>
                  <a:srgbClr val="000000"/>
                </a:solidFill>
                <a:latin typeface="Montserrat" panose="02000505000000020004"/>
              </a:rPr>
              <a:t>dari</a:t>
            </a:r>
            <a:r>
              <a:rPr lang="en-US" sz="2000" dirty="0">
                <a:solidFill>
                  <a:srgbClr val="000000"/>
                </a:solidFill>
                <a:latin typeface="Montserrat" panose="02000505000000020004"/>
              </a:rPr>
              <a:t> automata di bawah ini</a:t>
            </a:r>
          </a:p>
          <a:p>
            <a:pPr algn="just"/>
            <a:r>
              <a:rPr lang="en-US" sz="2000" dirty="0">
                <a:solidFill>
                  <a:srgbClr val="000000"/>
                </a:solidFill>
                <a:latin typeface="Montserrat" panose="02000505000000020004"/>
              </a:rPr>
              <a:t>4. Buat minimum-state equivalent DFA </a:t>
            </a:r>
            <a:r>
              <a:rPr lang="en-US" sz="2000" dirty="0" err="1">
                <a:solidFill>
                  <a:srgbClr val="000000"/>
                </a:solidFill>
                <a:latin typeface="Montserrat" panose="02000505000000020004"/>
              </a:rPr>
              <a:t>dari</a:t>
            </a:r>
            <a:r>
              <a:rPr lang="en-US" sz="2000" dirty="0">
                <a:solidFill>
                  <a:srgbClr val="000000"/>
                </a:solidFill>
                <a:latin typeface="Montserrat" panose="02000505000000020004"/>
              </a:rPr>
              <a:t> Automata di bawah ini  </a:t>
            </a:r>
            <a:endParaRPr lang="en-ID" sz="2000" dirty="0">
              <a:solidFill>
                <a:srgbClr val="000000"/>
              </a:solidFill>
              <a:latin typeface="Montserrat" panose="02000505000000020004"/>
            </a:endParaRPr>
          </a:p>
        </p:txBody>
      </p:sp>
      <p:pic>
        <p:nvPicPr>
          <p:cNvPr id="4" name="Picture 3">
            <a:extLst>
              <a:ext uri="{FF2B5EF4-FFF2-40B4-BE49-F238E27FC236}">
                <a16:creationId xmlns:a16="http://schemas.microsoft.com/office/drawing/2014/main" id="{A2981D44-6986-4A36-9036-B1FCA2D47BBA}"/>
              </a:ext>
            </a:extLst>
          </p:cNvPr>
          <p:cNvPicPr>
            <a:picLocks noChangeAspect="1"/>
          </p:cNvPicPr>
          <p:nvPr/>
        </p:nvPicPr>
        <p:blipFill>
          <a:blip r:embed="rId2"/>
          <a:stretch>
            <a:fillRect/>
          </a:stretch>
        </p:blipFill>
        <p:spPr>
          <a:xfrm>
            <a:off x="2635403" y="1475253"/>
            <a:ext cx="3873194" cy="3559151"/>
          </a:xfrm>
          <a:prstGeom prst="rect">
            <a:avLst/>
          </a:prstGeom>
        </p:spPr>
      </p:pic>
      <p:sp>
        <p:nvSpPr>
          <p:cNvPr id="7" name="TextBox 6">
            <a:extLst>
              <a:ext uri="{FF2B5EF4-FFF2-40B4-BE49-F238E27FC236}">
                <a16:creationId xmlns:a16="http://schemas.microsoft.com/office/drawing/2014/main" id="{868AD28A-E13A-4289-8C60-77DDC88591F7}"/>
              </a:ext>
            </a:extLst>
          </p:cNvPr>
          <p:cNvSpPr txBox="1"/>
          <p:nvPr/>
        </p:nvSpPr>
        <p:spPr>
          <a:xfrm>
            <a:off x="454083" y="5261488"/>
            <a:ext cx="8443174" cy="1323439"/>
          </a:xfrm>
          <a:prstGeom prst="rect">
            <a:avLst/>
          </a:prstGeom>
          <a:noFill/>
        </p:spPr>
        <p:txBody>
          <a:bodyPr wrap="square" rtlCol="0">
            <a:spAutoFit/>
          </a:bodyPr>
          <a:lstStyle/>
          <a:p>
            <a:pPr algn="just"/>
            <a:r>
              <a:rPr lang="en-US" sz="2000" dirty="0">
                <a:solidFill>
                  <a:srgbClr val="000000"/>
                </a:solidFill>
                <a:latin typeface="Montserrat" panose="02000505000000020004"/>
              </a:rPr>
              <a:t>5. </a:t>
            </a:r>
            <a:r>
              <a:rPr lang="en-US" sz="2000" dirty="0" err="1">
                <a:solidFill>
                  <a:srgbClr val="000000"/>
                </a:solidFill>
                <a:latin typeface="Montserrat" panose="02000505000000020004"/>
              </a:rPr>
              <a:t>Misalkan</a:t>
            </a:r>
            <a:r>
              <a:rPr lang="en-US" sz="2000" dirty="0">
                <a:solidFill>
                  <a:srgbClr val="000000"/>
                </a:solidFill>
                <a:latin typeface="Montserrat" panose="02000505000000020004"/>
              </a:rPr>
              <a:t> p dan q adalah </a:t>
            </a:r>
            <a:r>
              <a:rPr lang="en-US" sz="2000" dirty="0" err="1">
                <a:solidFill>
                  <a:srgbClr val="000000"/>
                </a:solidFill>
                <a:latin typeface="Montserrat" panose="02000505000000020004"/>
              </a:rPr>
              <a:t>keadaan-keadaan</a:t>
            </a:r>
            <a:r>
              <a:rPr lang="en-US" sz="2000" dirty="0">
                <a:solidFill>
                  <a:srgbClr val="000000"/>
                </a:solidFill>
                <a:latin typeface="Montserrat" panose="02000505000000020004"/>
              </a:rPr>
              <a:t> yang dapat </a:t>
            </a:r>
            <a:r>
              <a:rPr lang="en-US" sz="2000" dirty="0" err="1">
                <a:solidFill>
                  <a:srgbClr val="000000"/>
                </a:solidFill>
                <a:latin typeface="Montserrat" panose="02000505000000020004"/>
              </a:rPr>
              <a:t>dibedakan</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dari</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sebuah</a:t>
            </a:r>
            <a:r>
              <a:rPr lang="en-US" sz="2000" dirty="0">
                <a:solidFill>
                  <a:srgbClr val="000000"/>
                </a:solidFill>
                <a:latin typeface="Montserrat" panose="02000505000000020004"/>
              </a:rPr>
              <a:t> DFA A yang diberikan dengan n </a:t>
            </a:r>
            <a:r>
              <a:rPr lang="en-US" sz="2000" dirty="0" err="1">
                <a:solidFill>
                  <a:srgbClr val="000000"/>
                </a:solidFill>
                <a:latin typeface="Montserrat" panose="02000505000000020004"/>
              </a:rPr>
              <a:t>keadaan</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Sebagai</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sebuah</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fungsi</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dari</a:t>
            </a:r>
            <a:r>
              <a:rPr lang="en-US" sz="2000" dirty="0">
                <a:solidFill>
                  <a:srgbClr val="000000"/>
                </a:solidFill>
                <a:latin typeface="Montserrat" panose="02000505000000020004"/>
              </a:rPr>
              <a:t> n, </a:t>
            </a:r>
            <a:r>
              <a:rPr lang="en-US" sz="2000" dirty="0" err="1">
                <a:solidFill>
                  <a:srgbClr val="000000"/>
                </a:solidFill>
                <a:latin typeface="Montserrat" panose="02000505000000020004"/>
              </a:rPr>
              <a:t>berapakah</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batas</a:t>
            </a:r>
            <a:r>
              <a:rPr lang="en-US" sz="2000" dirty="0">
                <a:solidFill>
                  <a:srgbClr val="000000"/>
                </a:solidFill>
                <a:latin typeface="Montserrat" panose="02000505000000020004"/>
              </a:rPr>
              <a:t> </a:t>
            </a:r>
            <a:r>
              <a:rPr lang="en-US" sz="2000" dirty="0" err="1">
                <a:solidFill>
                  <a:srgbClr val="000000"/>
                </a:solidFill>
                <a:latin typeface="Montserrat" panose="02000505000000020004"/>
              </a:rPr>
              <a:t>atas</a:t>
            </a:r>
            <a:r>
              <a:rPr lang="en-US" sz="2000" dirty="0">
                <a:solidFill>
                  <a:srgbClr val="000000"/>
                </a:solidFill>
                <a:latin typeface="Montserrat" panose="02000505000000020004"/>
              </a:rPr>
              <a:t> maksimal </a:t>
            </a:r>
            <a:r>
              <a:rPr lang="en-US" sz="2000" dirty="0" err="1">
                <a:solidFill>
                  <a:srgbClr val="000000"/>
                </a:solidFill>
                <a:latin typeface="Montserrat" panose="02000505000000020004"/>
              </a:rPr>
              <a:t>dari</a:t>
            </a:r>
            <a:r>
              <a:rPr lang="en-US" sz="2000" dirty="0">
                <a:solidFill>
                  <a:srgbClr val="000000"/>
                </a:solidFill>
                <a:latin typeface="Montserrat" panose="02000505000000020004"/>
              </a:rPr>
              <a:t> string </a:t>
            </a:r>
            <a:r>
              <a:rPr lang="en-US" sz="2000" dirty="0" err="1">
                <a:solidFill>
                  <a:srgbClr val="000000"/>
                </a:solidFill>
                <a:latin typeface="Montserrat" panose="02000505000000020004"/>
              </a:rPr>
              <a:t>terpendek</a:t>
            </a:r>
            <a:r>
              <a:rPr lang="en-US" sz="2000" dirty="0">
                <a:solidFill>
                  <a:srgbClr val="000000"/>
                </a:solidFill>
                <a:latin typeface="Montserrat" panose="02000505000000020004"/>
              </a:rPr>
              <a:t> yang dapat </a:t>
            </a:r>
            <a:r>
              <a:rPr lang="en-US" sz="2000" dirty="0" err="1">
                <a:solidFill>
                  <a:srgbClr val="000000"/>
                </a:solidFill>
                <a:latin typeface="Montserrat" panose="02000505000000020004"/>
              </a:rPr>
              <a:t>membedakan</a:t>
            </a:r>
            <a:r>
              <a:rPr lang="en-US" sz="2000" dirty="0">
                <a:solidFill>
                  <a:srgbClr val="000000"/>
                </a:solidFill>
                <a:latin typeface="Montserrat" panose="02000505000000020004"/>
              </a:rPr>
              <a:t> p dan q?</a:t>
            </a:r>
            <a:endParaRPr lang="en-ID" sz="2000" dirty="0">
              <a:solidFill>
                <a:srgbClr val="000000"/>
              </a:solidFill>
              <a:latin typeface="Montserrat" panose="02000505000000020004"/>
            </a:endParaRPr>
          </a:p>
        </p:txBody>
      </p:sp>
    </p:spTree>
    <p:extLst>
      <p:ext uri="{BB962C8B-B14F-4D97-AF65-F5344CB8AC3E}">
        <p14:creationId xmlns:p14="http://schemas.microsoft.com/office/powerpoint/2010/main" val="933286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D6624-ED7B-A2A2-4F5A-EF85C57512E9}"/>
              </a:ext>
            </a:extLst>
          </p:cNvPr>
          <p:cNvSpPr>
            <a:spLocks noGrp="1"/>
          </p:cNvSpPr>
          <p:nvPr>
            <p:ph type="title"/>
          </p:nvPr>
        </p:nvSpPr>
        <p:spPr/>
        <p:txBody>
          <a:bodyPr/>
          <a:lstStyle/>
          <a:p>
            <a:r>
              <a:rPr lang="en-US" dirty="0" err="1"/>
              <a:t>Penerapan</a:t>
            </a:r>
            <a:r>
              <a:rPr lang="en-US" dirty="0"/>
              <a:t> </a:t>
            </a:r>
            <a:endParaRPr lang="en-ID" dirty="0"/>
          </a:p>
        </p:txBody>
      </p:sp>
      <p:sp>
        <p:nvSpPr>
          <p:cNvPr id="3" name="Content Placeholder 2">
            <a:extLst>
              <a:ext uri="{FF2B5EF4-FFF2-40B4-BE49-F238E27FC236}">
                <a16:creationId xmlns:a16="http://schemas.microsoft.com/office/drawing/2014/main" id="{3055A83B-53BE-AF54-383F-3AE2D50A2DC5}"/>
              </a:ext>
            </a:extLst>
          </p:cNvPr>
          <p:cNvSpPr>
            <a:spLocks noGrp="1"/>
          </p:cNvSpPr>
          <p:nvPr>
            <p:ph sz="half" idx="2"/>
          </p:nvPr>
        </p:nvSpPr>
        <p:spPr>
          <a:xfrm>
            <a:off x="308309" y="904240"/>
            <a:ext cx="8285499" cy="5435599"/>
          </a:xfrm>
        </p:spPr>
        <p:txBody>
          <a:bodyPr>
            <a:normAutofit fontScale="77500" lnSpcReduction="20000"/>
          </a:bodyPr>
          <a:lstStyle/>
          <a:p>
            <a:pPr algn="just"/>
            <a:r>
              <a:rPr lang="id-ID" sz="2600" dirty="0">
                <a:solidFill>
                  <a:srgbClr val="7030A0"/>
                </a:solidFill>
                <a:latin typeface="Abadi" panose="020B0604020104020204" pitchFamily="34" charset="0"/>
                <a:ea typeface="Roboto" pitchFamily="2" charset="0"/>
                <a:cs typeface="Arial"/>
              </a:rPr>
              <a:t>Dikutub Selatan terdapat enam binatang yang terdiri dari induk pinguin, anak pinguin, induk singa laut, anak singa laut, induk beruangkutub dan anak beruang kutub. </a:t>
            </a:r>
          </a:p>
          <a:p>
            <a:pPr algn="just"/>
            <a:r>
              <a:rPr lang="id-ID" sz="2600" dirty="0">
                <a:solidFill>
                  <a:srgbClr val="7030A0"/>
                </a:solidFill>
                <a:latin typeface="Abadi" panose="020B0604020104020204" pitchFamily="34" charset="0"/>
                <a:ea typeface="Roboto" pitchFamily="2" charset="0"/>
                <a:cs typeface="Arial"/>
              </a:rPr>
              <a:t>Semua binatang ini hendak menyeberang ke gunung es pada sisi lainnya. </a:t>
            </a:r>
          </a:p>
          <a:p>
            <a:pPr algn="just"/>
            <a:r>
              <a:rPr lang="id-ID" sz="2600" dirty="0">
                <a:solidFill>
                  <a:srgbClr val="7030A0"/>
                </a:solidFill>
                <a:latin typeface="Abadi" panose="020B0604020104020204" pitchFamily="34" charset="0"/>
                <a:ea typeface="Roboto" pitchFamily="2" charset="0"/>
                <a:cs typeface="Arial"/>
              </a:rPr>
              <a:t>Diantara dua gunung es ini terdapat balok es yang hanya bisa ditempati untuk dua binatang saja. </a:t>
            </a:r>
          </a:p>
          <a:p>
            <a:pPr algn="just"/>
            <a:r>
              <a:rPr lang="id-ID" sz="2600" dirty="0">
                <a:solidFill>
                  <a:srgbClr val="7030A0"/>
                </a:solidFill>
                <a:latin typeface="Abadi" panose="020B0604020104020204" pitchFamily="34" charset="0"/>
                <a:ea typeface="Roboto" pitchFamily="2" charset="0"/>
                <a:cs typeface="Arial"/>
              </a:rPr>
              <a:t>Namun terdapat suatu masalah yaitu anak binatang tidak boleh ditinggal bersama induk binatang yang berlainan jenis dan singa laut harus menjadi yang pertama sampai disisi lainnya karena anak singa laut sedang terluka sehingga harus cepat sampai di kelompoknya. </a:t>
            </a:r>
          </a:p>
          <a:p>
            <a:pPr algn="just"/>
            <a:r>
              <a:rPr lang="id-ID" sz="2600" dirty="0">
                <a:solidFill>
                  <a:srgbClr val="7030A0"/>
                </a:solidFill>
                <a:latin typeface="Abadi" panose="020B0604020104020204" pitchFamily="34" charset="0"/>
                <a:ea typeface="Roboto" pitchFamily="2" charset="0"/>
                <a:cs typeface="Arial"/>
              </a:rPr>
              <a:t>Bantulah mereka untuk menyeberang ke gunung es pada sisi lainnya. </a:t>
            </a:r>
            <a:endParaRPr lang="en-US" sz="2600" dirty="0">
              <a:solidFill>
                <a:srgbClr val="7030A0"/>
              </a:solidFill>
              <a:latin typeface="Abadi" panose="020B0604020104020204" pitchFamily="34" charset="0"/>
              <a:ea typeface="Roboto" pitchFamily="2" charset="0"/>
              <a:cs typeface="Arial"/>
            </a:endParaRPr>
          </a:p>
          <a:p>
            <a:pPr algn="just"/>
            <a:endParaRPr lang="en-US" sz="2600" dirty="0">
              <a:solidFill>
                <a:srgbClr val="7030A0"/>
              </a:solidFill>
              <a:latin typeface="Abadi" panose="020B0604020104020204" pitchFamily="34" charset="0"/>
              <a:ea typeface="Roboto" pitchFamily="2" charset="0"/>
              <a:cs typeface="Arial"/>
            </a:endParaRPr>
          </a:p>
          <a:p>
            <a:pPr algn="just"/>
            <a:r>
              <a:rPr lang="en-US" sz="2600" dirty="0">
                <a:solidFill>
                  <a:srgbClr val="7030A0"/>
                </a:solidFill>
                <a:latin typeface="Abadi" panose="020B0604020104020204" pitchFamily="34" charset="0"/>
                <a:ea typeface="Roboto" pitchFamily="2" charset="0"/>
                <a:cs typeface="Arial"/>
              </a:rPr>
              <a:t>Solusi</a:t>
            </a:r>
            <a:endParaRPr lang="id-ID" sz="2600" dirty="0">
              <a:solidFill>
                <a:srgbClr val="7030A0"/>
              </a:solidFill>
              <a:latin typeface="Abadi" panose="020B0604020104020204" pitchFamily="34" charset="0"/>
              <a:ea typeface="Roboto" pitchFamily="2" charset="0"/>
              <a:cs typeface="Arial"/>
            </a:endParaRPr>
          </a:p>
          <a:p>
            <a:pPr marL="457200" marR="0" lvl="0" indent="-457200" algn="l" defTabSz="457200" rtl="0" eaLnBrk="1" fontAlgn="auto" latinLnBrk="0" hangingPunct="1">
              <a:lnSpc>
                <a:spcPct val="100000"/>
              </a:lnSpc>
              <a:spcBef>
                <a:spcPts val="0"/>
              </a:spcBef>
              <a:spcAft>
                <a:spcPts val="0"/>
              </a:spcAft>
              <a:buClrTx/>
              <a:buSzTx/>
              <a:buFontTx/>
              <a:buAutoNum type="arabicPeriod"/>
              <a:tabLst/>
              <a:defRPr/>
            </a:pPr>
            <a:r>
              <a:rPr lang="id-ID" sz="2600" dirty="0">
                <a:solidFill>
                  <a:srgbClr val="FF0000"/>
                </a:solidFill>
                <a:latin typeface="Abadi" panose="020B0604020104020204" pitchFamily="34" charset="0"/>
                <a:ea typeface="Roboto" pitchFamily="2" charset="0"/>
                <a:cs typeface="Arial"/>
              </a:rPr>
              <a:t>Input  (buat himpunan simbol masukan)</a:t>
            </a:r>
          </a:p>
          <a:p>
            <a:pPr marL="457200" marR="0" lvl="0" indent="-457200" algn="l" defTabSz="457200" rtl="0" eaLnBrk="1" fontAlgn="auto" latinLnBrk="0" hangingPunct="1">
              <a:lnSpc>
                <a:spcPct val="100000"/>
              </a:lnSpc>
              <a:spcBef>
                <a:spcPts val="0"/>
              </a:spcBef>
              <a:spcAft>
                <a:spcPts val="0"/>
              </a:spcAft>
              <a:buClrTx/>
              <a:buSzTx/>
              <a:buFontTx/>
              <a:buAutoNum type="arabicPeriod"/>
              <a:tabLst/>
              <a:defRPr/>
            </a:pPr>
            <a:r>
              <a:rPr lang="id-ID" sz="2600" dirty="0">
                <a:solidFill>
                  <a:srgbClr val="FF0000"/>
                </a:solidFill>
                <a:latin typeface="Abadi" panose="020B0604020104020204" pitchFamily="34" charset="0"/>
                <a:ea typeface="Roboto" pitchFamily="2" charset="0"/>
                <a:cs typeface="Arial"/>
              </a:rPr>
              <a:t>State (himpunan state berhingga )</a:t>
            </a:r>
          </a:p>
          <a:p>
            <a:pPr marL="457200" marR="0" lvl="0" indent="-457200" algn="l" defTabSz="457200" rtl="0" eaLnBrk="1" fontAlgn="auto" latinLnBrk="0" hangingPunct="1">
              <a:lnSpc>
                <a:spcPct val="100000"/>
              </a:lnSpc>
              <a:spcBef>
                <a:spcPts val="0"/>
              </a:spcBef>
              <a:spcAft>
                <a:spcPts val="0"/>
              </a:spcAft>
              <a:buClrTx/>
              <a:buSzTx/>
              <a:buFontTx/>
              <a:buAutoNum type="arabicPeriod"/>
              <a:tabLst/>
              <a:defRPr/>
            </a:pPr>
            <a:r>
              <a:rPr lang="id-ID" sz="2600" dirty="0">
                <a:solidFill>
                  <a:srgbClr val="FF0000"/>
                </a:solidFill>
                <a:latin typeface="Abadi" panose="020B0604020104020204" pitchFamily="34" charset="0"/>
                <a:ea typeface="Roboto" pitchFamily="2" charset="0"/>
                <a:cs typeface="Arial"/>
              </a:rPr>
              <a:t>Fungsi Transisi</a:t>
            </a:r>
          </a:p>
          <a:p>
            <a:pPr marL="457200" marR="0" lvl="0" indent="-457200" algn="l" defTabSz="457200" rtl="0" eaLnBrk="1" fontAlgn="auto" latinLnBrk="0" hangingPunct="1">
              <a:lnSpc>
                <a:spcPct val="100000"/>
              </a:lnSpc>
              <a:spcBef>
                <a:spcPts val="0"/>
              </a:spcBef>
              <a:spcAft>
                <a:spcPts val="0"/>
              </a:spcAft>
              <a:buClrTx/>
              <a:buSzTx/>
              <a:buFontTx/>
              <a:buAutoNum type="arabicPeriod"/>
              <a:tabLst/>
              <a:defRPr/>
            </a:pPr>
            <a:r>
              <a:rPr lang="id-ID" sz="2600" dirty="0">
                <a:solidFill>
                  <a:srgbClr val="FF0000"/>
                </a:solidFill>
                <a:latin typeface="Abadi" panose="020B0604020104020204" pitchFamily="34" charset="0"/>
                <a:ea typeface="Roboto" pitchFamily="2" charset="0"/>
                <a:cs typeface="Arial"/>
              </a:rPr>
              <a:t>Gambar Diagram Transisi </a:t>
            </a:r>
          </a:p>
          <a:p>
            <a:pPr marL="457200" marR="0" lvl="0" indent="-457200" algn="l" defTabSz="457200" rtl="0" eaLnBrk="1" fontAlgn="auto" latinLnBrk="0" hangingPunct="1">
              <a:lnSpc>
                <a:spcPct val="100000"/>
              </a:lnSpc>
              <a:spcBef>
                <a:spcPts val="0"/>
              </a:spcBef>
              <a:spcAft>
                <a:spcPts val="0"/>
              </a:spcAft>
              <a:buClrTx/>
              <a:buSzTx/>
              <a:buFontTx/>
              <a:buAutoNum type="arabicPeriod"/>
              <a:tabLst/>
              <a:defRPr/>
            </a:pPr>
            <a:r>
              <a:rPr lang="id-ID" sz="2600" dirty="0">
                <a:solidFill>
                  <a:srgbClr val="FF0000"/>
                </a:solidFill>
                <a:latin typeface="Abadi" panose="020B0604020104020204" pitchFamily="34" charset="0"/>
                <a:ea typeface="Roboto" pitchFamily="2" charset="0"/>
                <a:cs typeface="Arial"/>
              </a:rPr>
              <a:t>Buat Program dalam </a:t>
            </a:r>
            <a:r>
              <a:rPr lang="en-US" sz="2600" dirty="0">
                <a:solidFill>
                  <a:srgbClr val="FF0000"/>
                </a:solidFill>
                <a:latin typeface="Abadi" panose="020B0604020104020204" pitchFamily="34" charset="0"/>
                <a:ea typeface="Roboto" pitchFamily="2" charset="0"/>
                <a:cs typeface="Arial"/>
              </a:rPr>
              <a:t>python</a:t>
            </a:r>
            <a:r>
              <a:rPr lang="id-ID" sz="2600" dirty="0">
                <a:solidFill>
                  <a:srgbClr val="FF0000"/>
                </a:solidFill>
                <a:latin typeface="Abadi" panose="020B0604020104020204" pitchFamily="34" charset="0"/>
                <a:ea typeface="Roboto" pitchFamily="2" charset="0"/>
                <a:cs typeface="Arial"/>
              </a:rPr>
              <a:t> untuk menyelesaikan masalah tersebut.</a:t>
            </a:r>
            <a:endParaRPr kumimoji="0" lang="en-US" sz="2600" b="0" i="0" u="none" strike="noStrike" kern="1200" cap="none" spc="0" normalizeH="0" baseline="0" noProof="0" dirty="0">
              <a:ln>
                <a:noFill/>
              </a:ln>
              <a:solidFill>
                <a:srgbClr val="FF0000"/>
              </a:solidFill>
              <a:effectLst/>
              <a:uLnTx/>
              <a:uFillTx/>
              <a:latin typeface="Abadi" panose="020B0604020104020204" pitchFamily="34" charset="0"/>
              <a:ea typeface="Roboto" pitchFamily="2" charset="0"/>
              <a:cs typeface="Arial"/>
            </a:endParaRPr>
          </a:p>
          <a:p>
            <a:endParaRPr lang="en-ID" dirty="0"/>
          </a:p>
        </p:txBody>
      </p:sp>
    </p:spTree>
    <p:extLst>
      <p:ext uri="{BB962C8B-B14F-4D97-AF65-F5344CB8AC3E}">
        <p14:creationId xmlns:p14="http://schemas.microsoft.com/office/powerpoint/2010/main" val="1063609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F9E33A-672E-4499-A7BA-EE4327F4D3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94092" cy="6858000"/>
          </a:xfrm>
          <a:prstGeom prst="rect">
            <a:avLst/>
          </a:prstGeom>
        </p:spPr>
      </p:pic>
      <p:sp>
        <p:nvSpPr>
          <p:cNvPr id="16" name="TextBox 15">
            <a:extLst>
              <a:ext uri="{FF2B5EF4-FFF2-40B4-BE49-F238E27FC236}">
                <a16:creationId xmlns:a16="http://schemas.microsoft.com/office/drawing/2014/main" id="{26BC89EC-D40D-42F1-BD48-19B2C7F83B44}"/>
              </a:ext>
            </a:extLst>
          </p:cNvPr>
          <p:cNvSpPr txBox="1"/>
          <p:nvPr/>
        </p:nvSpPr>
        <p:spPr>
          <a:xfrm>
            <a:off x="348343" y="5332903"/>
            <a:ext cx="4049486" cy="757130"/>
          </a:xfrm>
          <a:prstGeom prst="rect">
            <a:avLst/>
          </a:prstGeom>
          <a:noFill/>
        </p:spPr>
        <p:txBody>
          <a:bodyPr wrap="square" rtlCol="0">
            <a:spAutoFit/>
          </a:bodyPr>
          <a:lstStyle/>
          <a:p>
            <a:pPr>
              <a:lnSpc>
                <a:spcPct val="90000"/>
              </a:lnSpc>
            </a:pPr>
            <a:r>
              <a:rPr lang="en-US" sz="4800" dirty="0">
                <a:solidFill>
                  <a:srgbClr val="FFE12E"/>
                </a:solidFill>
                <a:latin typeface="Montserrat" panose="02000505000000020004" pitchFamily="2" charset="0"/>
                <a:ea typeface="Roboto" pitchFamily="2" charset="0"/>
                <a:cs typeface="Arial"/>
              </a:rPr>
              <a:t>Thank You</a:t>
            </a:r>
          </a:p>
        </p:txBody>
      </p:sp>
      <p:sp>
        <p:nvSpPr>
          <p:cNvPr id="17" name="TextBox 16">
            <a:extLst>
              <a:ext uri="{FF2B5EF4-FFF2-40B4-BE49-F238E27FC236}">
                <a16:creationId xmlns:a16="http://schemas.microsoft.com/office/drawing/2014/main" id="{E0171AE4-0AA8-41EE-9C53-D4398596FF8A}"/>
              </a:ext>
            </a:extLst>
          </p:cNvPr>
          <p:cNvSpPr txBox="1"/>
          <p:nvPr/>
        </p:nvSpPr>
        <p:spPr>
          <a:xfrm>
            <a:off x="348343" y="5968113"/>
            <a:ext cx="4049486" cy="279500"/>
          </a:xfrm>
          <a:prstGeom prst="rect">
            <a:avLst/>
          </a:prstGeom>
          <a:noFill/>
        </p:spPr>
        <p:txBody>
          <a:bodyPr wrap="square" rtlCol="0">
            <a:spAutoFit/>
          </a:bodyPr>
          <a:lstStyle/>
          <a:p>
            <a:pPr>
              <a:lnSpc>
                <a:spcPct val="120000"/>
              </a:lnSpc>
            </a:pPr>
            <a:r>
              <a:rPr lang="en-US" sz="1100" dirty="0">
                <a:solidFill>
                  <a:schemeClr val="bg1"/>
                </a:solidFill>
                <a:latin typeface="Montserrat" panose="02000505000000020004" pitchFamily="2" charset="0"/>
                <a:ea typeface="Roboto" pitchFamily="2" charset="0"/>
                <a:cs typeface="Arial"/>
              </a:rPr>
              <a:t>ukrida.ac.id</a:t>
            </a:r>
          </a:p>
        </p:txBody>
      </p:sp>
    </p:spTree>
    <p:extLst>
      <p:ext uri="{BB962C8B-B14F-4D97-AF65-F5344CB8AC3E}">
        <p14:creationId xmlns:p14="http://schemas.microsoft.com/office/powerpoint/2010/main" val="2848738527"/>
      </p:ext>
    </p:extLst>
  </p:cSld>
  <p:clrMapOvr>
    <a:masterClrMapping/>
  </p:clrMapOvr>
</p:sld>
</file>

<file path=ppt/theme/theme1.xml><?xml version="1.0" encoding="utf-8"?>
<a:theme xmlns:a="http://schemas.openxmlformats.org/drawingml/2006/main" name="Custom Design">
  <a:themeElements>
    <a:clrScheme name="Ukrida Color">
      <a:dk1>
        <a:srgbClr val="00325A"/>
      </a:dk1>
      <a:lt1>
        <a:srgbClr val="FFFFFF"/>
      </a:lt1>
      <a:dk2>
        <a:srgbClr val="00325A"/>
      </a:dk2>
      <a:lt2>
        <a:srgbClr val="FFE12D"/>
      </a:lt2>
      <a:accent1>
        <a:srgbClr val="0080C6"/>
      </a:accent1>
      <a:accent2>
        <a:srgbClr val="ED7D31"/>
      </a:accent2>
      <a:accent3>
        <a:srgbClr val="A5A5A5"/>
      </a:accent3>
      <a:accent4>
        <a:srgbClr val="FFC000"/>
      </a:accent4>
      <a:accent5>
        <a:srgbClr val="5B9BD5"/>
      </a:accent5>
      <a:accent6>
        <a:srgbClr val="70AD47"/>
      </a:accent6>
      <a:hlink>
        <a:srgbClr val="0563C1"/>
      </a:hlink>
      <a:folHlink>
        <a:srgbClr val="2DA1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3467</TotalTime>
  <Words>2015</Words>
  <Application>Microsoft Office PowerPoint</Application>
  <PresentationFormat>On-screen Show (4:3)</PresentationFormat>
  <Paragraphs>93</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Abadi</vt:lpstr>
      <vt:lpstr>Arial</vt:lpstr>
      <vt:lpstr>Calibri</vt:lpstr>
      <vt:lpstr>Calibri Light</vt:lpstr>
      <vt:lpstr>Montserrat</vt:lpstr>
      <vt:lpstr>Montserrat Light</vt:lpstr>
      <vt:lpstr>Custom Design</vt:lpstr>
      <vt:lpstr>PowerPoint Presentation</vt:lpstr>
      <vt:lpstr>Minimisasi DFA(Hopcroft)</vt:lpstr>
      <vt:lpstr>Algoritma Minimisasi DFA(Hopcroft)</vt:lpstr>
      <vt:lpstr>Algoritma Minimisasi DFA(Hopcroft)</vt:lpstr>
      <vt:lpstr>Algoritma Minimisasi DFA(Hopcroft)</vt:lpstr>
      <vt:lpstr>Algoritma Minimisasi DFA(Hopcroft)</vt:lpstr>
      <vt:lpstr>Algoritma Minimisasi DFA(Hopcroft)</vt:lpstr>
      <vt:lpstr>Algoritma Minimisasi DFA(Hopcroft)</vt:lpstr>
      <vt:lpstr>Algoritma Minimisasi DFA(Teorema 4.23)</vt:lpstr>
      <vt:lpstr>Algoritma Minimisasi DFA(Teorema 4.23)</vt:lpstr>
      <vt:lpstr>Algoritma Minimisasi DFA(Teorema 4.24)</vt:lpstr>
      <vt:lpstr>Algoritma Minimisasi DFA(Teorema 4.24)</vt:lpstr>
      <vt:lpstr>Algoritma Minimisasi DFA(Teorema 4.24)</vt:lpstr>
      <vt:lpstr>Algoritma Minimisasi DFA(Teorema 4.24)</vt:lpstr>
      <vt:lpstr>Algoritma Minimisasi DFA(Teorema 4.24)</vt:lpstr>
      <vt:lpstr>Mengapa DFA yang telah Diminimalkan Tidak Dapat Dikalahkan?</vt:lpstr>
      <vt:lpstr>Mengapa DFA yang telah Diminimalkan Tidak Dapat Dikalahkan?</vt:lpstr>
      <vt:lpstr>Mengapa DFA yang telah Diminimalkan Tidak Dapat Dikalahkan?</vt:lpstr>
      <vt:lpstr>Mengapa DFA yang telah Diminimalkan Tidak Dapat Dikalahkan?</vt:lpstr>
      <vt:lpstr>Tugas</vt:lpstr>
      <vt:lpstr>Tugas</vt:lpstr>
      <vt:lpstr>Penerapan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PMP</dc:creator>
  <cp:lastModifiedBy>floren rp</cp:lastModifiedBy>
  <cp:revision>125</cp:revision>
  <dcterms:created xsi:type="dcterms:W3CDTF">2017-09-11T12:08:03Z</dcterms:created>
  <dcterms:modified xsi:type="dcterms:W3CDTF">2025-10-01T14:27:34Z</dcterms:modified>
</cp:coreProperties>
</file>